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8"/>
  </p:notesMasterIdLst>
  <p:sldIdLst>
    <p:sldId id="272" r:id="rId2"/>
    <p:sldId id="273" r:id="rId3"/>
    <p:sldId id="274" r:id="rId4"/>
    <p:sldId id="275" r:id="rId5"/>
    <p:sldId id="276" r:id="rId6"/>
    <p:sldId id="277" r:id="rId7"/>
    <p:sldId id="279" r:id="rId8"/>
    <p:sldId id="280" r:id="rId9"/>
    <p:sldId id="281" r:id="rId10"/>
    <p:sldId id="282" r:id="rId11"/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92000" cy="6875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57" d="100"/>
          <a:sy n="57" d="100"/>
        </p:scale>
        <p:origin x="962" y="22"/>
      </p:cViewPr>
      <p:guideLst>
        <p:guide orient="horz" pos="214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26936-06EC-41F3-9837-3FF7A6F78BDC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92150" y="1143000"/>
            <a:ext cx="5473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5B7F9-F475-4C95-86D1-0A3E918AF3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55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5B7F9-F475-4C95-86D1-0A3E918AF3A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227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5B7F9-F475-4C95-86D1-0A3E918AF3A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753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5221"/>
            <a:ext cx="9144000" cy="239368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11210"/>
            <a:ext cx="9144000" cy="165997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9F32-8ED3-4169-A1FA-21331A969732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466E-783D-46A8-9DB8-4EEAB2AB5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52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9F32-8ED3-4169-A1FA-21331A969732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466E-783D-46A8-9DB8-4EEAB2AB5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76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4092"/>
            <a:ext cx="10515600" cy="286000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01150"/>
            <a:ext cx="10515600" cy="150400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9F32-8ED3-4169-A1FA-21331A969732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466E-783D-46A8-9DB8-4EEAB2AB5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24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30274"/>
            <a:ext cx="5181600" cy="436241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30274"/>
            <a:ext cx="5181600" cy="436241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9F32-8ED3-4169-A1FA-21331A969732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466E-783D-46A8-9DB8-4EEAB2AB5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7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6055"/>
            <a:ext cx="10515600" cy="1328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5444"/>
            <a:ext cx="5157787" cy="8260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11454"/>
            <a:ext cx="5157787" cy="369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5444"/>
            <a:ext cx="5183188" cy="8260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11454"/>
            <a:ext cx="5183188" cy="369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9F32-8ED3-4169-A1FA-21331A969732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466E-783D-46A8-9DB8-4EEAB2AB5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50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9F32-8ED3-4169-A1FA-21331A969732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466E-783D-46A8-9DB8-4EEAB2AB5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901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9F32-8ED3-4169-A1FA-21331A969732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466E-783D-46A8-9DB8-4EEAB2AB5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52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8364"/>
            <a:ext cx="3932237" cy="16042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9940"/>
            <a:ext cx="6172200" cy="48860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62639"/>
            <a:ext cx="3932237" cy="38212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9F32-8ED3-4169-A1FA-21331A969732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466E-783D-46A8-9DB8-4EEAB2AB5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406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8364"/>
            <a:ext cx="3932237" cy="16042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9940"/>
            <a:ext cx="6172200" cy="48860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62639"/>
            <a:ext cx="3932237" cy="38212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9F32-8ED3-4169-A1FA-21331A969732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466E-783D-46A8-9DB8-4EEAB2AB5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40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9F32-8ED3-4169-A1FA-21331A969732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466E-783D-46A8-9DB8-4EEAB2AB5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515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6055"/>
            <a:ext cx="2628900" cy="58266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6055"/>
            <a:ext cx="7734300" cy="58266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9F32-8ED3-4169-A1FA-21331A969732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466E-783D-46A8-9DB8-4EEAB2AB5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54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6055"/>
            <a:ext cx="10515600" cy="1328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30274"/>
            <a:ext cx="10515600" cy="4362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72536"/>
            <a:ext cx="27432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49F32-8ED3-4169-A1FA-21331A969732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2536"/>
            <a:ext cx="41148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72536"/>
            <a:ext cx="27432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D466E-783D-46A8-9DB8-4EEAB2AB5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67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20.png"/><Relationship Id="rId5" Type="http://schemas.openxmlformats.org/officeDocument/2006/relationships/image" Target="../media/image30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3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3" Type="http://schemas.openxmlformats.org/officeDocument/2006/relationships/image" Target="../media/image61.png"/><Relationship Id="rId21" Type="http://schemas.openxmlformats.org/officeDocument/2006/relationships/image" Target="../media/image79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image" Target="../media/image60.png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32.png"/><Relationship Id="rId4" Type="http://schemas.openxmlformats.org/officeDocument/2006/relationships/image" Target="../media/image88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1.png"/><Relationship Id="rId7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96.png"/><Relationship Id="rId7" Type="http://schemas.openxmlformats.org/officeDocument/2006/relationships/image" Target="../media/image105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9.png"/><Relationship Id="rId7" Type="http://schemas.openxmlformats.org/officeDocument/2006/relationships/image" Target="../media/image112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10" Type="http://schemas.openxmlformats.org/officeDocument/2006/relationships/image" Target="../media/image20.png"/><Relationship Id="rId4" Type="http://schemas.openxmlformats.org/officeDocument/2006/relationships/image" Target="../media/image30.png"/><Relationship Id="rId9" Type="http://schemas.openxmlformats.org/officeDocument/2006/relationships/image" Target="../media/image1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20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30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Relationship Id="rId1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20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3" Type="http://schemas.openxmlformats.org/officeDocument/2006/relationships/image" Target="../media/image148.png"/><Relationship Id="rId21" Type="http://schemas.openxmlformats.org/officeDocument/2006/relationships/image" Target="../media/image20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image" Target="../media/image126.png"/><Relationship Id="rId16" Type="http://schemas.openxmlformats.org/officeDocument/2006/relationships/image" Target="../media/image161.png"/><Relationship Id="rId20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10" Type="http://schemas.openxmlformats.org/officeDocument/2006/relationships/image" Target="../media/image155.png"/><Relationship Id="rId19" Type="http://schemas.openxmlformats.org/officeDocument/2006/relationships/image" Target="../media/image164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12" Type="http://schemas.openxmlformats.org/officeDocument/2006/relationships/image" Target="../media/image20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png"/><Relationship Id="rId11" Type="http://schemas.openxmlformats.org/officeDocument/2006/relationships/image" Target="../media/image175.png"/><Relationship Id="rId5" Type="http://schemas.openxmlformats.org/officeDocument/2006/relationships/image" Target="../media/image169.png"/><Relationship Id="rId10" Type="http://schemas.openxmlformats.org/officeDocument/2006/relationships/image" Target="../media/image174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image" Target="../media/image189.png"/><Relationship Id="rId18" Type="http://schemas.openxmlformats.org/officeDocument/2006/relationships/image" Target="../media/image193.png"/><Relationship Id="rId3" Type="http://schemas.openxmlformats.org/officeDocument/2006/relationships/image" Target="../media/image180.png"/><Relationship Id="rId7" Type="http://schemas.openxmlformats.org/officeDocument/2006/relationships/image" Target="../media/image183.png"/><Relationship Id="rId12" Type="http://schemas.openxmlformats.org/officeDocument/2006/relationships/image" Target="../media/image188.png"/><Relationship Id="rId17" Type="http://schemas.openxmlformats.org/officeDocument/2006/relationships/image" Target="../media/image192.png"/><Relationship Id="rId2" Type="http://schemas.openxmlformats.org/officeDocument/2006/relationships/image" Target="../media/image179.png"/><Relationship Id="rId16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2.png"/><Relationship Id="rId11" Type="http://schemas.openxmlformats.org/officeDocument/2006/relationships/image" Target="../media/image187.png"/><Relationship Id="rId5" Type="http://schemas.openxmlformats.org/officeDocument/2006/relationships/image" Target="../media/image181.png"/><Relationship Id="rId15" Type="http://schemas.openxmlformats.org/officeDocument/2006/relationships/image" Target="../media/image190.png"/><Relationship Id="rId10" Type="http://schemas.openxmlformats.org/officeDocument/2006/relationships/image" Target="../media/image186.png"/><Relationship Id="rId4" Type="http://schemas.openxmlformats.org/officeDocument/2006/relationships/image" Target="../media/image100.png"/><Relationship Id="rId9" Type="http://schemas.openxmlformats.org/officeDocument/2006/relationships/image" Target="../media/image185.png"/><Relationship Id="rId1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5.png"/><Relationship Id="rId18" Type="http://schemas.openxmlformats.org/officeDocument/2006/relationships/image" Target="../media/image210.png"/><Relationship Id="rId26" Type="http://schemas.openxmlformats.org/officeDocument/2006/relationships/image" Target="../media/image218.png"/><Relationship Id="rId39" Type="http://schemas.openxmlformats.org/officeDocument/2006/relationships/image" Target="../media/image230.png"/><Relationship Id="rId21" Type="http://schemas.openxmlformats.org/officeDocument/2006/relationships/image" Target="../media/image213.png"/><Relationship Id="rId34" Type="http://schemas.openxmlformats.org/officeDocument/2006/relationships/image" Target="../media/image225.png"/><Relationship Id="rId7" Type="http://schemas.openxmlformats.org/officeDocument/2006/relationships/image" Target="../media/image199.png"/><Relationship Id="rId2" Type="http://schemas.openxmlformats.org/officeDocument/2006/relationships/image" Target="../media/image194.png"/><Relationship Id="rId16" Type="http://schemas.openxmlformats.org/officeDocument/2006/relationships/image" Target="../media/image208.png"/><Relationship Id="rId20" Type="http://schemas.openxmlformats.org/officeDocument/2006/relationships/image" Target="../media/image212.png"/><Relationship Id="rId29" Type="http://schemas.openxmlformats.org/officeDocument/2006/relationships/image" Target="../media/image221.png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8.png"/><Relationship Id="rId11" Type="http://schemas.openxmlformats.org/officeDocument/2006/relationships/image" Target="../media/image203.png"/><Relationship Id="rId24" Type="http://schemas.openxmlformats.org/officeDocument/2006/relationships/image" Target="../media/image216.png"/><Relationship Id="rId32" Type="http://schemas.openxmlformats.org/officeDocument/2006/relationships/image" Target="../media/image223.png"/><Relationship Id="rId37" Type="http://schemas.openxmlformats.org/officeDocument/2006/relationships/image" Target="../media/image228.png"/><Relationship Id="rId40" Type="http://schemas.openxmlformats.org/officeDocument/2006/relationships/image" Target="../media/image231.png"/><Relationship Id="rId5" Type="http://schemas.openxmlformats.org/officeDocument/2006/relationships/image" Target="../media/image197.png"/><Relationship Id="rId15" Type="http://schemas.openxmlformats.org/officeDocument/2006/relationships/image" Target="../media/image207.png"/><Relationship Id="rId23" Type="http://schemas.openxmlformats.org/officeDocument/2006/relationships/image" Target="../media/image215.png"/><Relationship Id="rId28" Type="http://schemas.openxmlformats.org/officeDocument/2006/relationships/image" Target="../media/image220.png"/><Relationship Id="rId36" Type="http://schemas.openxmlformats.org/officeDocument/2006/relationships/image" Target="../media/image227.png"/><Relationship Id="rId10" Type="http://schemas.openxmlformats.org/officeDocument/2006/relationships/image" Target="../media/image202.png"/><Relationship Id="rId19" Type="http://schemas.openxmlformats.org/officeDocument/2006/relationships/image" Target="../media/image211.png"/><Relationship Id="rId31" Type="http://schemas.openxmlformats.org/officeDocument/2006/relationships/image" Target="../media/image146.png"/><Relationship Id="rId4" Type="http://schemas.openxmlformats.org/officeDocument/2006/relationships/image" Target="../media/image196.png"/><Relationship Id="rId9" Type="http://schemas.openxmlformats.org/officeDocument/2006/relationships/image" Target="../media/image201.png"/><Relationship Id="rId14" Type="http://schemas.openxmlformats.org/officeDocument/2006/relationships/image" Target="../media/image206.png"/><Relationship Id="rId22" Type="http://schemas.openxmlformats.org/officeDocument/2006/relationships/image" Target="../media/image214.png"/><Relationship Id="rId27" Type="http://schemas.openxmlformats.org/officeDocument/2006/relationships/image" Target="../media/image219.png"/><Relationship Id="rId30" Type="http://schemas.openxmlformats.org/officeDocument/2006/relationships/image" Target="../media/image222.png"/><Relationship Id="rId35" Type="http://schemas.openxmlformats.org/officeDocument/2006/relationships/image" Target="../media/image226.png"/><Relationship Id="rId8" Type="http://schemas.openxmlformats.org/officeDocument/2006/relationships/image" Target="../media/image200.png"/><Relationship Id="rId3" Type="http://schemas.openxmlformats.org/officeDocument/2006/relationships/image" Target="../media/image195.png"/><Relationship Id="rId12" Type="http://schemas.openxmlformats.org/officeDocument/2006/relationships/image" Target="../media/image204.png"/><Relationship Id="rId17" Type="http://schemas.openxmlformats.org/officeDocument/2006/relationships/image" Target="../media/image209.png"/><Relationship Id="rId25" Type="http://schemas.openxmlformats.org/officeDocument/2006/relationships/image" Target="../media/image217.png"/><Relationship Id="rId33" Type="http://schemas.openxmlformats.org/officeDocument/2006/relationships/image" Target="../media/image224.png"/><Relationship Id="rId38" Type="http://schemas.openxmlformats.org/officeDocument/2006/relationships/image" Target="../media/image22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243.png"/><Relationship Id="rId3" Type="http://schemas.openxmlformats.org/officeDocument/2006/relationships/image" Target="../media/image233.png"/><Relationship Id="rId7" Type="http://schemas.openxmlformats.org/officeDocument/2006/relationships/image" Target="../media/image237.png"/><Relationship Id="rId12" Type="http://schemas.openxmlformats.org/officeDocument/2006/relationships/image" Target="../media/image242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6.png"/><Relationship Id="rId11" Type="http://schemas.openxmlformats.org/officeDocument/2006/relationships/image" Target="../media/image241.png"/><Relationship Id="rId5" Type="http://schemas.openxmlformats.org/officeDocument/2006/relationships/image" Target="../media/image235.png"/><Relationship Id="rId10" Type="http://schemas.openxmlformats.org/officeDocument/2006/relationships/image" Target="../media/image240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Relationship Id="rId1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8.png"/><Relationship Id="rId7" Type="http://schemas.openxmlformats.org/officeDocument/2006/relationships/image" Target="../media/image248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7.png"/><Relationship Id="rId5" Type="http://schemas.openxmlformats.org/officeDocument/2006/relationships/image" Target="../media/image246.png"/><Relationship Id="rId4" Type="http://schemas.openxmlformats.org/officeDocument/2006/relationships/image" Target="../media/image2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13" Type="http://schemas.openxmlformats.org/officeDocument/2006/relationships/image" Target="../media/image260.png"/><Relationship Id="rId3" Type="http://schemas.openxmlformats.org/officeDocument/2006/relationships/image" Target="../media/image250.png"/><Relationship Id="rId7" Type="http://schemas.openxmlformats.org/officeDocument/2006/relationships/image" Target="../media/image254.png"/><Relationship Id="rId12" Type="http://schemas.openxmlformats.org/officeDocument/2006/relationships/image" Target="../media/image259.png"/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3.png"/><Relationship Id="rId11" Type="http://schemas.openxmlformats.org/officeDocument/2006/relationships/image" Target="../media/image258.png"/><Relationship Id="rId5" Type="http://schemas.openxmlformats.org/officeDocument/2006/relationships/image" Target="../media/image252.png"/><Relationship Id="rId15" Type="http://schemas.openxmlformats.org/officeDocument/2006/relationships/image" Target="../media/image20.png"/><Relationship Id="rId10" Type="http://schemas.openxmlformats.org/officeDocument/2006/relationships/image" Target="../media/image257.png"/><Relationship Id="rId4" Type="http://schemas.openxmlformats.org/officeDocument/2006/relationships/image" Target="../media/image251.png"/><Relationship Id="rId9" Type="http://schemas.openxmlformats.org/officeDocument/2006/relationships/image" Target="../media/image256.png"/><Relationship Id="rId14" Type="http://schemas.openxmlformats.org/officeDocument/2006/relationships/image" Target="../media/image1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object 3">
            <a:extLst>
              <a:ext uri="{FF2B5EF4-FFF2-40B4-BE49-F238E27FC236}">
                <a16:creationId xmlns:a16="http://schemas.microsoft.com/office/drawing/2014/main" id="{25587749-86AF-DE2D-B5BE-B9797B354C5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1" y="13493"/>
            <a:ext cx="12191999" cy="6857999"/>
          </a:xfrm>
          <a:prstGeom prst="rect">
            <a:avLst/>
          </a:prstGeom>
        </p:spPr>
      </p:pic>
      <p:pic>
        <p:nvPicPr>
          <p:cNvPr id="21" name="object 4">
            <a:extLst>
              <a:ext uri="{FF2B5EF4-FFF2-40B4-BE49-F238E27FC236}">
                <a16:creationId xmlns:a16="http://schemas.microsoft.com/office/drawing/2014/main" id="{3256438B-1B7F-0E0E-1B18-A699668E95F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4763" y="3969"/>
            <a:ext cx="2905124" cy="2905124"/>
          </a:xfrm>
          <a:prstGeom prst="rect">
            <a:avLst/>
          </a:prstGeom>
        </p:spPr>
      </p:pic>
      <p:pic>
        <p:nvPicPr>
          <p:cNvPr id="22" name="object 5">
            <a:extLst>
              <a:ext uri="{FF2B5EF4-FFF2-40B4-BE49-F238E27FC236}">
                <a16:creationId xmlns:a16="http://schemas.microsoft.com/office/drawing/2014/main" id="{47A81E22-02C6-7634-6AAB-65EB4E78F60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77360" y="4052092"/>
            <a:ext cx="2438399" cy="2438399"/>
          </a:xfrm>
          <a:prstGeom prst="rect">
            <a:avLst/>
          </a:prstGeom>
        </p:spPr>
      </p:pic>
      <p:pic>
        <p:nvPicPr>
          <p:cNvPr id="23" name="object 6">
            <a:extLst>
              <a:ext uri="{FF2B5EF4-FFF2-40B4-BE49-F238E27FC236}">
                <a16:creationId xmlns:a16="http://schemas.microsoft.com/office/drawing/2014/main" id="{B395EF30-753C-116C-A0A5-ADEC0EEE56B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-4763" y="1672176"/>
            <a:ext cx="2922841" cy="4302632"/>
          </a:xfrm>
          <a:prstGeom prst="rect">
            <a:avLst/>
          </a:prstGeom>
        </p:spPr>
      </p:pic>
      <p:pic>
        <p:nvPicPr>
          <p:cNvPr id="11" name="object 9">
            <a:extLst>
              <a:ext uri="{FF2B5EF4-FFF2-40B4-BE49-F238E27FC236}">
                <a16:creationId xmlns:a16="http://schemas.microsoft.com/office/drawing/2014/main" id="{D0BE99C3-D868-A822-F39B-8FA166D8EA6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29260" y="2890042"/>
            <a:ext cx="1142999" cy="38099"/>
          </a:xfrm>
          <a:prstGeom prst="rect">
            <a:avLst/>
          </a:prstGeom>
        </p:spPr>
      </p:pic>
      <p:pic>
        <p:nvPicPr>
          <p:cNvPr id="12" name="object 10">
            <a:extLst>
              <a:ext uri="{FF2B5EF4-FFF2-40B4-BE49-F238E27FC236}">
                <a16:creationId xmlns:a16="http://schemas.microsoft.com/office/drawing/2014/main" id="{3685288E-FDAD-6272-BA72-18B7592D90F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38710" y="1718468"/>
            <a:ext cx="190499" cy="190499"/>
          </a:xfrm>
          <a:prstGeom prst="rect">
            <a:avLst/>
          </a:prstGeom>
        </p:spPr>
      </p:pic>
      <p:sp>
        <p:nvSpPr>
          <p:cNvPr id="13" name="object 11">
            <a:extLst>
              <a:ext uri="{FF2B5EF4-FFF2-40B4-BE49-F238E27FC236}">
                <a16:creationId xmlns:a16="http://schemas.microsoft.com/office/drawing/2014/main" id="{F01EE188-E10E-27DB-53DC-A8DCBD74C56E}"/>
              </a:ext>
            </a:extLst>
          </p:cNvPr>
          <p:cNvSpPr/>
          <p:nvPr/>
        </p:nvSpPr>
        <p:spPr>
          <a:xfrm>
            <a:off x="3967160" y="3309142"/>
            <a:ext cx="742950" cy="723900"/>
          </a:xfrm>
          <a:custGeom>
            <a:avLst/>
            <a:gdLst/>
            <a:ahLst/>
            <a:cxnLst/>
            <a:rect l="l" t="t" r="r" b="b"/>
            <a:pathLst>
              <a:path w="742950" h="723900">
                <a:moveTo>
                  <a:pt x="361949" y="723899"/>
                </a:moveTo>
                <a:lnTo>
                  <a:pt x="317641" y="721177"/>
                </a:lnTo>
                <a:lnTo>
                  <a:pt x="274003" y="713052"/>
                </a:lnTo>
                <a:lnTo>
                  <a:pt x="231688" y="699647"/>
                </a:lnTo>
                <a:lnTo>
                  <a:pt x="191327" y="681160"/>
                </a:lnTo>
                <a:lnTo>
                  <a:pt x="153533" y="657872"/>
                </a:lnTo>
                <a:lnTo>
                  <a:pt x="118878" y="630137"/>
                </a:lnTo>
                <a:lnTo>
                  <a:pt x="87879" y="598368"/>
                </a:lnTo>
                <a:lnTo>
                  <a:pt x="60999" y="563038"/>
                </a:lnTo>
                <a:lnTo>
                  <a:pt x="38645" y="524684"/>
                </a:lnTo>
                <a:lnTo>
                  <a:pt x="21157" y="483887"/>
                </a:lnTo>
                <a:lnTo>
                  <a:pt x="8794" y="441255"/>
                </a:lnTo>
                <a:lnTo>
                  <a:pt x="1742" y="397427"/>
                </a:lnTo>
                <a:lnTo>
                  <a:pt x="0" y="361949"/>
                </a:lnTo>
                <a:lnTo>
                  <a:pt x="108" y="353064"/>
                </a:lnTo>
                <a:lnTo>
                  <a:pt x="3917" y="308840"/>
                </a:lnTo>
                <a:lnTo>
                  <a:pt x="13110" y="265415"/>
                </a:lnTo>
                <a:lnTo>
                  <a:pt x="27551" y="223437"/>
                </a:lnTo>
                <a:lnTo>
                  <a:pt x="47022" y="183542"/>
                </a:lnTo>
                <a:lnTo>
                  <a:pt x="71228" y="146336"/>
                </a:lnTo>
                <a:lnTo>
                  <a:pt x="99806" y="112372"/>
                </a:lnTo>
                <a:lnTo>
                  <a:pt x="132331" y="82158"/>
                </a:lnTo>
                <a:lnTo>
                  <a:pt x="168309" y="56153"/>
                </a:lnTo>
                <a:lnTo>
                  <a:pt x="207195" y="34750"/>
                </a:lnTo>
                <a:lnTo>
                  <a:pt x="248410" y="18268"/>
                </a:lnTo>
                <a:lnTo>
                  <a:pt x="291336" y="6954"/>
                </a:lnTo>
                <a:lnTo>
                  <a:pt x="335326" y="980"/>
                </a:lnTo>
                <a:lnTo>
                  <a:pt x="380999" y="0"/>
                </a:lnTo>
                <a:lnTo>
                  <a:pt x="389885" y="109"/>
                </a:lnTo>
                <a:lnTo>
                  <a:pt x="434109" y="3917"/>
                </a:lnTo>
                <a:lnTo>
                  <a:pt x="477534" y="13110"/>
                </a:lnTo>
                <a:lnTo>
                  <a:pt x="519511" y="27551"/>
                </a:lnTo>
                <a:lnTo>
                  <a:pt x="559406" y="47023"/>
                </a:lnTo>
                <a:lnTo>
                  <a:pt x="596613" y="71228"/>
                </a:lnTo>
                <a:lnTo>
                  <a:pt x="630577" y="99806"/>
                </a:lnTo>
                <a:lnTo>
                  <a:pt x="660790" y="132331"/>
                </a:lnTo>
                <a:lnTo>
                  <a:pt x="686796" y="168309"/>
                </a:lnTo>
                <a:lnTo>
                  <a:pt x="708198" y="207196"/>
                </a:lnTo>
                <a:lnTo>
                  <a:pt x="724680" y="248410"/>
                </a:lnTo>
                <a:lnTo>
                  <a:pt x="735994" y="291336"/>
                </a:lnTo>
                <a:lnTo>
                  <a:pt x="741969" y="335326"/>
                </a:lnTo>
                <a:lnTo>
                  <a:pt x="742949" y="361949"/>
                </a:lnTo>
                <a:lnTo>
                  <a:pt x="742841" y="370835"/>
                </a:lnTo>
                <a:lnTo>
                  <a:pt x="739032" y="415058"/>
                </a:lnTo>
                <a:lnTo>
                  <a:pt x="729839" y="458483"/>
                </a:lnTo>
                <a:lnTo>
                  <a:pt x="715397" y="500461"/>
                </a:lnTo>
                <a:lnTo>
                  <a:pt x="695926" y="540356"/>
                </a:lnTo>
                <a:lnTo>
                  <a:pt x="671721" y="577563"/>
                </a:lnTo>
                <a:lnTo>
                  <a:pt x="643143" y="611527"/>
                </a:lnTo>
                <a:lnTo>
                  <a:pt x="610619" y="641741"/>
                </a:lnTo>
                <a:lnTo>
                  <a:pt x="574639" y="667745"/>
                </a:lnTo>
                <a:lnTo>
                  <a:pt x="535753" y="689148"/>
                </a:lnTo>
                <a:lnTo>
                  <a:pt x="494539" y="705630"/>
                </a:lnTo>
                <a:lnTo>
                  <a:pt x="451612" y="716944"/>
                </a:lnTo>
                <a:lnTo>
                  <a:pt x="407624" y="722919"/>
                </a:lnTo>
                <a:lnTo>
                  <a:pt x="361949" y="723899"/>
                </a:lnTo>
                <a:close/>
              </a:path>
            </a:pathLst>
          </a:custGeom>
          <a:solidFill>
            <a:srgbClr val="21C45D">
              <a:alpha val="19999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pic>
        <p:nvPicPr>
          <p:cNvPr id="14" name="object 12">
            <a:extLst>
              <a:ext uri="{FF2B5EF4-FFF2-40B4-BE49-F238E27FC236}">
                <a16:creationId xmlns:a16="http://schemas.microsoft.com/office/drawing/2014/main" id="{2A6D848C-FD8E-02FE-53EA-B9B342DE18F8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57660" y="3499643"/>
            <a:ext cx="361949" cy="342899"/>
          </a:xfrm>
          <a:prstGeom prst="rect">
            <a:avLst/>
          </a:prstGeom>
        </p:spPr>
      </p:pic>
      <p:sp>
        <p:nvSpPr>
          <p:cNvPr id="15" name="object 13">
            <a:extLst>
              <a:ext uri="{FF2B5EF4-FFF2-40B4-BE49-F238E27FC236}">
                <a16:creationId xmlns:a16="http://schemas.microsoft.com/office/drawing/2014/main" id="{E523E226-9110-BAAD-22D0-CBFDB38DC6A5}"/>
              </a:ext>
            </a:extLst>
          </p:cNvPr>
          <p:cNvSpPr/>
          <p:nvPr/>
        </p:nvSpPr>
        <p:spPr>
          <a:xfrm>
            <a:off x="5700710" y="3309142"/>
            <a:ext cx="666750" cy="723900"/>
          </a:xfrm>
          <a:custGeom>
            <a:avLst/>
            <a:gdLst/>
            <a:ahLst/>
            <a:cxnLst/>
            <a:rect l="l" t="t" r="r" b="b"/>
            <a:pathLst>
              <a:path w="666750" h="723900">
                <a:moveTo>
                  <a:pt x="333374" y="723899"/>
                </a:moveTo>
                <a:lnTo>
                  <a:pt x="292563" y="721392"/>
                </a:lnTo>
                <a:lnTo>
                  <a:pt x="252371" y="713908"/>
                </a:lnTo>
                <a:lnTo>
                  <a:pt x="213396" y="701561"/>
                </a:lnTo>
                <a:lnTo>
                  <a:pt x="176222" y="684534"/>
                </a:lnTo>
                <a:lnTo>
                  <a:pt x="141413" y="663085"/>
                </a:lnTo>
                <a:lnTo>
                  <a:pt x="109493" y="637539"/>
                </a:lnTo>
                <a:lnTo>
                  <a:pt x="80941" y="608278"/>
                </a:lnTo>
                <a:lnTo>
                  <a:pt x="56183" y="575737"/>
                </a:lnTo>
                <a:lnTo>
                  <a:pt x="35594" y="540411"/>
                </a:lnTo>
                <a:lnTo>
                  <a:pt x="19486" y="502835"/>
                </a:lnTo>
                <a:lnTo>
                  <a:pt x="8100" y="463569"/>
                </a:lnTo>
                <a:lnTo>
                  <a:pt x="1605" y="423201"/>
                </a:lnTo>
                <a:lnTo>
                  <a:pt x="0" y="390524"/>
                </a:lnTo>
                <a:lnTo>
                  <a:pt x="100" y="325191"/>
                </a:lnTo>
                <a:lnTo>
                  <a:pt x="3608" y="284458"/>
                </a:lnTo>
                <a:lnTo>
                  <a:pt x="12075" y="244461"/>
                </a:lnTo>
                <a:lnTo>
                  <a:pt x="25375" y="205797"/>
                </a:lnTo>
                <a:lnTo>
                  <a:pt x="43310" y="169052"/>
                </a:lnTo>
                <a:lnTo>
                  <a:pt x="65604" y="134783"/>
                </a:lnTo>
                <a:lnTo>
                  <a:pt x="91926" y="103500"/>
                </a:lnTo>
                <a:lnTo>
                  <a:pt x="121884" y="75672"/>
                </a:lnTo>
                <a:lnTo>
                  <a:pt x="155022" y="51720"/>
                </a:lnTo>
                <a:lnTo>
                  <a:pt x="190837" y="32007"/>
                </a:lnTo>
                <a:lnTo>
                  <a:pt x="228798" y="16826"/>
                </a:lnTo>
                <a:lnTo>
                  <a:pt x="268336" y="6405"/>
                </a:lnTo>
                <a:lnTo>
                  <a:pt x="308852" y="903"/>
                </a:lnTo>
                <a:lnTo>
                  <a:pt x="333374" y="0"/>
                </a:lnTo>
                <a:lnTo>
                  <a:pt x="341558" y="100"/>
                </a:lnTo>
                <a:lnTo>
                  <a:pt x="382291" y="3607"/>
                </a:lnTo>
                <a:lnTo>
                  <a:pt x="422287" y="12075"/>
                </a:lnTo>
                <a:lnTo>
                  <a:pt x="460951" y="25376"/>
                </a:lnTo>
                <a:lnTo>
                  <a:pt x="497696" y="43310"/>
                </a:lnTo>
                <a:lnTo>
                  <a:pt x="531965" y="65605"/>
                </a:lnTo>
                <a:lnTo>
                  <a:pt x="563248" y="91927"/>
                </a:lnTo>
                <a:lnTo>
                  <a:pt x="591076" y="121883"/>
                </a:lnTo>
                <a:lnTo>
                  <a:pt x="615028" y="155021"/>
                </a:lnTo>
                <a:lnTo>
                  <a:pt x="634741" y="190838"/>
                </a:lnTo>
                <a:lnTo>
                  <a:pt x="649923" y="228798"/>
                </a:lnTo>
                <a:lnTo>
                  <a:pt x="660343" y="268336"/>
                </a:lnTo>
                <a:lnTo>
                  <a:pt x="665847" y="308853"/>
                </a:lnTo>
                <a:lnTo>
                  <a:pt x="666749" y="390524"/>
                </a:lnTo>
                <a:lnTo>
                  <a:pt x="666649" y="398708"/>
                </a:lnTo>
                <a:lnTo>
                  <a:pt x="663142" y="439441"/>
                </a:lnTo>
                <a:lnTo>
                  <a:pt x="654674" y="479438"/>
                </a:lnTo>
                <a:lnTo>
                  <a:pt x="641372" y="518101"/>
                </a:lnTo>
                <a:lnTo>
                  <a:pt x="623438" y="554846"/>
                </a:lnTo>
                <a:lnTo>
                  <a:pt x="601143" y="589115"/>
                </a:lnTo>
                <a:lnTo>
                  <a:pt x="574822" y="620398"/>
                </a:lnTo>
                <a:lnTo>
                  <a:pt x="544864" y="648226"/>
                </a:lnTo>
                <a:lnTo>
                  <a:pt x="511726" y="672178"/>
                </a:lnTo>
                <a:lnTo>
                  <a:pt x="475910" y="691892"/>
                </a:lnTo>
                <a:lnTo>
                  <a:pt x="437950" y="707072"/>
                </a:lnTo>
                <a:lnTo>
                  <a:pt x="398412" y="717493"/>
                </a:lnTo>
                <a:lnTo>
                  <a:pt x="357897" y="722997"/>
                </a:lnTo>
                <a:lnTo>
                  <a:pt x="333374" y="723899"/>
                </a:lnTo>
                <a:close/>
              </a:path>
            </a:pathLst>
          </a:custGeom>
          <a:solidFill>
            <a:srgbClr val="21C45D">
              <a:alpha val="19999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pic>
        <p:nvPicPr>
          <p:cNvPr id="16" name="object 14">
            <a:extLst>
              <a:ext uri="{FF2B5EF4-FFF2-40B4-BE49-F238E27FC236}">
                <a16:creationId xmlns:a16="http://schemas.microsoft.com/office/drawing/2014/main" id="{D674235E-850E-A9A5-09D4-DAB42B7ABD5A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91210" y="3499643"/>
            <a:ext cx="285749" cy="342899"/>
          </a:xfrm>
          <a:prstGeom prst="rect">
            <a:avLst/>
          </a:prstGeom>
        </p:spPr>
      </p:pic>
      <p:sp>
        <p:nvSpPr>
          <p:cNvPr id="17" name="object 15">
            <a:extLst>
              <a:ext uri="{FF2B5EF4-FFF2-40B4-BE49-F238E27FC236}">
                <a16:creationId xmlns:a16="http://schemas.microsoft.com/office/drawing/2014/main" id="{EE726B98-8C9F-0A0B-5B54-0613BB1A7AFE}"/>
              </a:ext>
            </a:extLst>
          </p:cNvPr>
          <p:cNvSpPr/>
          <p:nvPr/>
        </p:nvSpPr>
        <p:spPr>
          <a:xfrm>
            <a:off x="7415210" y="3309142"/>
            <a:ext cx="704850" cy="723900"/>
          </a:xfrm>
          <a:custGeom>
            <a:avLst/>
            <a:gdLst/>
            <a:ahLst/>
            <a:cxnLst/>
            <a:rect l="l" t="t" r="r" b="b"/>
            <a:pathLst>
              <a:path w="704850" h="723900">
                <a:moveTo>
                  <a:pt x="352424" y="723899"/>
                </a:moveTo>
                <a:lnTo>
                  <a:pt x="309280" y="721249"/>
                </a:lnTo>
                <a:lnTo>
                  <a:pt x="266791" y="713338"/>
                </a:lnTo>
                <a:lnTo>
                  <a:pt x="225590" y="700285"/>
                </a:lnTo>
                <a:lnTo>
                  <a:pt x="186292" y="682285"/>
                </a:lnTo>
                <a:lnTo>
                  <a:pt x="149492" y="659610"/>
                </a:lnTo>
                <a:lnTo>
                  <a:pt x="115749" y="632604"/>
                </a:lnTo>
                <a:lnTo>
                  <a:pt x="85566" y="601671"/>
                </a:lnTo>
                <a:lnTo>
                  <a:pt x="59392" y="567270"/>
                </a:lnTo>
                <a:lnTo>
                  <a:pt x="37628" y="529926"/>
                </a:lnTo>
                <a:lnTo>
                  <a:pt x="20600" y="490202"/>
                </a:lnTo>
                <a:lnTo>
                  <a:pt x="8562" y="448694"/>
                </a:lnTo>
                <a:lnTo>
                  <a:pt x="1696" y="406018"/>
                </a:lnTo>
                <a:lnTo>
                  <a:pt x="0" y="371474"/>
                </a:lnTo>
                <a:lnTo>
                  <a:pt x="106" y="343773"/>
                </a:lnTo>
                <a:lnTo>
                  <a:pt x="3813" y="300713"/>
                </a:lnTo>
                <a:lnTo>
                  <a:pt x="12764" y="258431"/>
                </a:lnTo>
                <a:lnTo>
                  <a:pt x="26825" y="217557"/>
                </a:lnTo>
                <a:lnTo>
                  <a:pt x="45784" y="178712"/>
                </a:lnTo>
                <a:lnTo>
                  <a:pt x="69353" y="142485"/>
                </a:lnTo>
                <a:lnTo>
                  <a:pt x="97179" y="109415"/>
                </a:lnTo>
                <a:lnTo>
                  <a:pt x="128848" y="79996"/>
                </a:lnTo>
                <a:lnTo>
                  <a:pt x="163879" y="54675"/>
                </a:lnTo>
                <a:lnTo>
                  <a:pt x="201742" y="33835"/>
                </a:lnTo>
                <a:lnTo>
                  <a:pt x="241872" y="17788"/>
                </a:lnTo>
                <a:lnTo>
                  <a:pt x="283669" y="6771"/>
                </a:lnTo>
                <a:lnTo>
                  <a:pt x="326501" y="954"/>
                </a:lnTo>
                <a:lnTo>
                  <a:pt x="352424" y="0"/>
                </a:lnTo>
                <a:lnTo>
                  <a:pt x="361076" y="106"/>
                </a:lnTo>
                <a:lnTo>
                  <a:pt x="404136" y="3814"/>
                </a:lnTo>
                <a:lnTo>
                  <a:pt x="446417" y="12765"/>
                </a:lnTo>
                <a:lnTo>
                  <a:pt x="487291" y="26826"/>
                </a:lnTo>
                <a:lnTo>
                  <a:pt x="526135" y="45785"/>
                </a:lnTo>
                <a:lnTo>
                  <a:pt x="562363" y="69353"/>
                </a:lnTo>
                <a:lnTo>
                  <a:pt x="595434" y="97180"/>
                </a:lnTo>
                <a:lnTo>
                  <a:pt x="624853" y="128848"/>
                </a:lnTo>
                <a:lnTo>
                  <a:pt x="650173" y="163880"/>
                </a:lnTo>
                <a:lnTo>
                  <a:pt x="671013" y="201743"/>
                </a:lnTo>
                <a:lnTo>
                  <a:pt x="687061" y="241872"/>
                </a:lnTo>
                <a:lnTo>
                  <a:pt x="698077" y="283670"/>
                </a:lnTo>
                <a:lnTo>
                  <a:pt x="703895" y="326501"/>
                </a:lnTo>
                <a:lnTo>
                  <a:pt x="704849" y="371474"/>
                </a:lnTo>
                <a:lnTo>
                  <a:pt x="704744" y="380126"/>
                </a:lnTo>
                <a:lnTo>
                  <a:pt x="701036" y="423186"/>
                </a:lnTo>
                <a:lnTo>
                  <a:pt x="692084" y="465468"/>
                </a:lnTo>
                <a:lnTo>
                  <a:pt x="678022" y="506341"/>
                </a:lnTo>
                <a:lnTo>
                  <a:pt x="659063" y="545186"/>
                </a:lnTo>
                <a:lnTo>
                  <a:pt x="635495" y="581413"/>
                </a:lnTo>
                <a:lnTo>
                  <a:pt x="607669" y="614484"/>
                </a:lnTo>
                <a:lnTo>
                  <a:pt x="576000" y="643902"/>
                </a:lnTo>
                <a:lnTo>
                  <a:pt x="540968" y="669223"/>
                </a:lnTo>
                <a:lnTo>
                  <a:pt x="503105" y="690063"/>
                </a:lnTo>
                <a:lnTo>
                  <a:pt x="462975" y="706111"/>
                </a:lnTo>
                <a:lnTo>
                  <a:pt x="421178" y="717127"/>
                </a:lnTo>
                <a:lnTo>
                  <a:pt x="378348" y="722945"/>
                </a:lnTo>
                <a:lnTo>
                  <a:pt x="352424" y="723899"/>
                </a:lnTo>
                <a:close/>
              </a:path>
            </a:pathLst>
          </a:custGeom>
          <a:solidFill>
            <a:srgbClr val="21C45D">
              <a:alpha val="19999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pic>
        <p:nvPicPr>
          <p:cNvPr id="18" name="object 16">
            <a:extLst>
              <a:ext uri="{FF2B5EF4-FFF2-40B4-BE49-F238E27FC236}">
                <a16:creationId xmlns:a16="http://schemas.microsoft.com/office/drawing/2014/main" id="{D7123DC8-E882-94FD-71B5-1B3ED97B7C47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05710" y="3499643"/>
            <a:ext cx="323849" cy="342899"/>
          </a:xfrm>
          <a:prstGeom prst="rect">
            <a:avLst/>
          </a:prstGeom>
        </p:spPr>
      </p:pic>
      <p:pic>
        <p:nvPicPr>
          <p:cNvPr id="19" name="object 17">
            <a:extLst>
              <a:ext uri="{FF2B5EF4-FFF2-40B4-BE49-F238E27FC236}">
                <a16:creationId xmlns:a16="http://schemas.microsoft.com/office/drawing/2014/main" id="{DEBF7310-AD3C-D9C2-15CA-71FA353B90CE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95935" y="5023643"/>
            <a:ext cx="133349" cy="152399"/>
          </a:xfrm>
          <a:prstGeom prst="rect">
            <a:avLst/>
          </a:prstGeom>
        </p:spPr>
      </p:pic>
      <p:sp>
        <p:nvSpPr>
          <p:cNvPr id="5" name="object 18">
            <a:extLst>
              <a:ext uri="{FF2B5EF4-FFF2-40B4-BE49-F238E27FC236}">
                <a16:creationId xmlns:a16="http://schemas.microsoft.com/office/drawing/2014/main" id="{ADEA1205-C8E9-8030-F565-5A9600B8B390}"/>
              </a:ext>
            </a:extLst>
          </p:cNvPr>
          <p:cNvSpPr txBox="1"/>
          <p:nvPr/>
        </p:nvSpPr>
        <p:spPr>
          <a:xfrm>
            <a:off x="5192709" y="1652428"/>
            <a:ext cx="2684465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solidFill>
                  <a:srgbClr val="4ADE80"/>
                </a:solidFill>
                <a:latin typeface="Malgun Gothic Semilight"/>
                <a:cs typeface="Malgun Gothic Semilight"/>
              </a:rPr>
              <a:t>초격차 제조 경쟁력의 시작</a:t>
            </a:r>
            <a:endParaRPr sz="1700" dirty="0">
              <a:latin typeface="Malgun Gothic Semilight"/>
              <a:cs typeface="Malgun Gothic Semilight"/>
            </a:endParaRPr>
          </a:p>
        </p:txBody>
      </p:sp>
      <p:sp>
        <p:nvSpPr>
          <p:cNvPr id="6" name="object 19">
            <a:extLst>
              <a:ext uri="{FF2B5EF4-FFF2-40B4-BE49-F238E27FC236}">
                <a16:creationId xmlns:a16="http://schemas.microsoft.com/office/drawing/2014/main" id="{44E4432B-135E-CDDF-97B7-971AF65DF7B5}"/>
              </a:ext>
            </a:extLst>
          </p:cNvPr>
          <p:cNvSpPr txBox="1">
            <a:spLocks noGrp="1"/>
          </p:cNvSpPr>
          <p:nvPr/>
        </p:nvSpPr>
        <p:spPr>
          <a:xfrm>
            <a:off x="2949573" y="1964847"/>
            <a:ext cx="7918452" cy="79444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3050" b="1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50" dirty="0">
                <a:solidFill>
                  <a:srgbClr val="FFFFFF"/>
                </a:solidFill>
              </a:rPr>
              <a:t>대덕전자 </a:t>
            </a:r>
            <a:r>
              <a:rPr sz="4950" dirty="0">
                <a:solidFill>
                  <a:srgbClr val="FFFFFF"/>
                </a:solidFill>
                <a:latin typeface="Trebuchet MS"/>
                <a:cs typeface="Trebuchet MS"/>
              </a:rPr>
              <a:t>AI </a:t>
            </a:r>
            <a:r>
              <a:rPr sz="5050" dirty="0">
                <a:solidFill>
                  <a:srgbClr val="FFFFFF"/>
                </a:solidFill>
              </a:rPr>
              <a:t>트랜스폼 제안</a:t>
            </a:r>
            <a:endParaRPr sz="5050" dirty="0">
              <a:latin typeface="Trebuchet MS"/>
              <a:cs typeface="Trebuchet MS"/>
            </a:endParaRPr>
          </a:p>
        </p:txBody>
      </p:sp>
      <p:sp>
        <p:nvSpPr>
          <p:cNvPr id="7" name="object 20">
            <a:extLst>
              <a:ext uri="{FF2B5EF4-FFF2-40B4-BE49-F238E27FC236}">
                <a16:creationId xmlns:a16="http://schemas.microsoft.com/office/drawing/2014/main" id="{1EC518F1-0DED-4247-F2CA-ED68E20EF5BC}"/>
              </a:ext>
            </a:extLst>
          </p:cNvPr>
          <p:cNvSpPr txBox="1"/>
          <p:nvPr/>
        </p:nvSpPr>
        <p:spPr>
          <a:xfrm>
            <a:off x="3638550" y="4143405"/>
            <a:ext cx="1462721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D0D5DA"/>
                </a:solidFill>
                <a:latin typeface="Malgun Gothic"/>
                <a:cs typeface="Malgun Gothic"/>
              </a:rPr>
              <a:t>지능형 품질 관리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8" name="object 21">
            <a:extLst>
              <a:ext uri="{FF2B5EF4-FFF2-40B4-BE49-F238E27FC236}">
                <a16:creationId xmlns:a16="http://schemas.microsoft.com/office/drawing/2014/main" id="{76B20817-D78E-C319-B3FC-741E1EE45B95}"/>
              </a:ext>
            </a:extLst>
          </p:cNvPr>
          <p:cNvSpPr txBox="1"/>
          <p:nvPr/>
        </p:nvSpPr>
        <p:spPr>
          <a:xfrm>
            <a:off x="5430835" y="4143405"/>
            <a:ext cx="1582357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D0D5DA"/>
                </a:solidFill>
                <a:latin typeface="Franklin Gothic Demi"/>
                <a:cs typeface="Franklin Gothic Demi"/>
              </a:rPr>
              <a:t>AI </a:t>
            </a:r>
            <a:r>
              <a:rPr sz="1350" dirty="0">
                <a:solidFill>
                  <a:srgbClr val="D0D5DA"/>
                </a:solidFill>
                <a:latin typeface="Malgun Gothic"/>
                <a:cs typeface="Malgun Gothic"/>
              </a:rPr>
              <a:t>기반 지식 관리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9" name="object 22">
            <a:extLst>
              <a:ext uri="{FF2B5EF4-FFF2-40B4-BE49-F238E27FC236}">
                <a16:creationId xmlns:a16="http://schemas.microsoft.com/office/drawing/2014/main" id="{5C44F475-6B42-E8DB-F780-886F97079C80}"/>
              </a:ext>
            </a:extLst>
          </p:cNvPr>
          <p:cNvSpPr txBox="1"/>
          <p:nvPr/>
        </p:nvSpPr>
        <p:spPr>
          <a:xfrm>
            <a:off x="7078660" y="4143405"/>
            <a:ext cx="1722439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D0D5DA"/>
                </a:solidFill>
                <a:latin typeface="Malgun Gothic"/>
                <a:cs typeface="Malgun Gothic"/>
              </a:rPr>
              <a:t>디지털 트윈 시스템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0" name="object 23">
            <a:extLst>
              <a:ext uri="{FF2B5EF4-FFF2-40B4-BE49-F238E27FC236}">
                <a16:creationId xmlns:a16="http://schemas.microsoft.com/office/drawing/2014/main" id="{49A3F99A-669A-0EB9-B1EC-40E433275126}"/>
              </a:ext>
            </a:extLst>
          </p:cNvPr>
          <p:cNvSpPr txBox="1"/>
          <p:nvPr/>
        </p:nvSpPr>
        <p:spPr>
          <a:xfrm>
            <a:off x="5792785" y="4984902"/>
            <a:ext cx="824865" cy="21672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solidFill>
                  <a:srgbClr val="9CA2AF"/>
                </a:solidFill>
                <a:latin typeface="Arial"/>
                <a:cs typeface="Arial"/>
              </a:rPr>
              <a:t>2025-0</a:t>
            </a:r>
            <a:r>
              <a:rPr lang="en-US" sz="1300" dirty="0">
                <a:solidFill>
                  <a:srgbClr val="9CA2AF"/>
                </a:solidFill>
                <a:latin typeface="Arial"/>
                <a:cs typeface="Arial"/>
              </a:rPr>
              <a:t>9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9D06E9B-58E3-DBCC-08E4-3AE642863612}"/>
              </a:ext>
            </a:extLst>
          </p:cNvPr>
          <p:cNvSpPr/>
          <p:nvPr/>
        </p:nvSpPr>
        <p:spPr>
          <a:xfrm>
            <a:off x="8858249" y="1"/>
            <a:ext cx="3333751" cy="3333751"/>
          </a:xfrm>
          <a:custGeom>
            <a:avLst/>
            <a:gdLst/>
            <a:ahLst/>
            <a:cxnLst/>
            <a:rect l="l" t="t" r="r" b="b"/>
            <a:pathLst>
              <a:path w="3333750" h="3333750">
                <a:moveTo>
                  <a:pt x="2381249" y="3333749"/>
                </a:moveTo>
                <a:lnTo>
                  <a:pt x="2322810" y="3333032"/>
                </a:lnTo>
                <a:lnTo>
                  <a:pt x="2264406" y="3330880"/>
                </a:lnTo>
                <a:lnTo>
                  <a:pt x="2206073" y="3327297"/>
                </a:lnTo>
                <a:lnTo>
                  <a:pt x="2147846" y="3322283"/>
                </a:lnTo>
                <a:lnTo>
                  <a:pt x="2089760" y="3315841"/>
                </a:lnTo>
                <a:lnTo>
                  <a:pt x="2031849" y="3307976"/>
                </a:lnTo>
                <a:lnTo>
                  <a:pt x="1974146" y="3298691"/>
                </a:lnTo>
                <a:lnTo>
                  <a:pt x="1916689" y="3287994"/>
                </a:lnTo>
                <a:lnTo>
                  <a:pt x="1859514" y="3275889"/>
                </a:lnTo>
                <a:lnTo>
                  <a:pt x="1802652" y="3262385"/>
                </a:lnTo>
                <a:lnTo>
                  <a:pt x="1746140" y="3247490"/>
                </a:lnTo>
                <a:lnTo>
                  <a:pt x="1690009" y="3231213"/>
                </a:lnTo>
                <a:lnTo>
                  <a:pt x="1634294" y="3213563"/>
                </a:lnTo>
                <a:lnTo>
                  <a:pt x="1579030" y="3194551"/>
                </a:lnTo>
                <a:lnTo>
                  <a:pt x="1524248" y="3174188"/>
                </a:lnTo>
                <a:lnTo>
                  <a:pt x="1469984" y="3152487"/>
                </a:lnTo>
                <a:lnTo>
                  <a:pt x="1416268" y="3129461"/>
                </a:lnTo>
                <a:lnTo>
                  <a:pt x="1363132" y="3105123"/>
                </a:lnTo>
                <a:lnTo>
                  <a:pt x="1310612" y="3079490"/>
                </a:lnTo>
                <a:lnTo>
                  <a:pt x="1258737" y="3052574"/>
                </a:lnTo>
                <a:lnTo>
                  <a:pt x="1207536" y="3024394"/>
                </a:lnTo>
                <a:lnTo>
                  <a:pt x="1157043" y="2994965"/>
                </a:lnTo>
                <a:lnTo>
                  <a:pt x="1107286" y="2964307"/>
                </a:lnTo>
                <a:lnTo>
                  <a:pt x="1058298" y="2932436"/>
                </a:lnTo>
                <a:lnTo>
                  <a:pt x="1010106" y="2899373"/>
                </a:lnTo>
                <a:lnTo>
                  <a:pt x="962741" y="2865137"/>
                </a:lnTo>
                <a:lnTo>
                  <a:pt x="916230" y="2829749"/>
                </a:lnTo>
                <a:lnTo>
                  <a:pt x="870601" y="2793230"/>
                </a:lnTo>
                <a:lnTo>
                  <a:pt x="825881" y="2755602"/>
                </a:lnTo>
                <a:lnTo>
                  <a:pt x="782100" y="2716889"/>
                </a:lnTo>
                <a:lnTo>
                  <a:pt x="739281" y="2677113"/>
                </a:lnTo>
                <a:lnTo>
                  <a:pt x="697451" y="2636297"/>
                </a:lnTo>
                <a:lnTo>
                  <a:pt x="656635" y="2594467"/>
                </a:lnTo>
                <a:lnTo>
                  <a:pt x="616859" y="2551649"/>
                </a:lnTo>
                <a:lnTo>
                  <a:pt x="578146" y="2507867"/>
                </a:lnTo>
                <a:lnTo>
                  <a:pt x="540519" y="2463148"/>
                </a:lnTo>
                <a:lnTo>
                  <a:pt x="503999" y="2417519"/>
                </a:lnTo>
                <a:lnTo>
                  <a:pt x="468611" y="2371008"/>
                </a:lnTo>
                <a:lnTo>
                  <a:pt x="434375" y="2323642"/>
                </a:lnTo>
                <a:lnTo>
                  <a:pt x="401312" y="2275451"/>
                </a:lnTo>
                <a:lnTo>
                  <a:pt x="369441" y="2226462"/>
                </a:lnTo>
                <a:lnTo>
                  <a:pt x="338782" y="2176706"/>
                </a:lnTo>
                <a:lnTo>
                  <a:pt x="309354" y="2126213"/>
                </a:lnTo>
                <a:lnTo>
                  <a:pt x="281174" y="2075013"/>
                </a:lnTo>
                <a:lnTo>
                  <a:pt x="254259" y="2023136"/>
                </a:lnTo>
                <a:lnTo>
                  <a:pt x="228624" y="1970615"/>
                </a:lnTo>
                <a:lnTo>
                  <a:pt x="204287" y="1917480"/>
                </a:lnTo>
                <a:lnTo>
                  <a:pt x="181261" y="1863764"/>
                </a:lnTo>
                <a:lnTo>
                  <a:pt x="159559" y="1809499"/>
                </a:lnTo>
                <a:lnTo>
                  <a:pt x="139197" y="1754718"/>
                </a:lnTo>
                <a:lnTo>
                  <a:pt x="120185" y="1699454"/>
                </a:lnTo>
                <a:lnTo>
                  <a:pt x="102534" y="1643740"/>
                </a:lnTo>
                <a:lnTo>
                  <a:pt x="86257" y="1587609"/>
                </a:lnTo>
                <a:lnTo>
                  <a:pt x="71361" y="1531096"/>
                </a:lnTo>
                <a:lnTo>
                  <a:pt x="57858" y="1474234"/>
                </a:lnTo>
                <a:lnTo>
                  <a:pt x="45754" y="1417058"/>
                </a:lnTo>
                <a:lnTo>
                  <a:pt x="35056" y="1359602"/>
                </a:lnTo>
                <a:lnTo>
                  <a:pt x="25772" y="1301901"/>
                </a:lnTo>
                <a:lnTo>
                  <a:pt x="17907" y="1243990"/>
                </a:lnTo>
                <a:lnTo>
                  <a:pt x="11466" y="1185903"/>
                </a:lnTo>
                <a:lnTo>
                  <a:pt x="6451" y="1127675"/>
                </a:lnTo>
                <a:lnTo>
                  <a:pt x="2867" y="1069342"/>
                </a:lnTo>
                <a:lnTo>
                  <a:pt x="716" y="1010938"/>
                </a:lnTo>
                <a:lnTo>
                  <a:pt x="0" y="952499"/>
                </a:lnTo>
                <a:lnTo>
                  <a:pt x="178" y="923276"/>
                </a:lnTo>
                <a:lnTo>
                  <a:pt x="1613" y="864854"/>
                </a:lnTo>
                <a:lnTo>
                  <a:pt x="4480" y="806477"/>
                </a:lnTo>
                <a:lnTo>
                  <a:pt x="8780" y="748197"/>
                </a:lnTo>
                <a:lnTo>
                  <a:pt x="14509" y="690031"/>
                </a:lnTo>
                <a:lnTo>
                  <a:pt x="21662" y="632031"/>
                </a:lnTo>
                <a:lnTo>
                  <a:pt x="30238" y="574216"/>
                </a:lnTo>
                <a:lnTo>
                  <a:pt x="40228" y="516638"/>
                </a:lnTo>
                <a:lnTo>
                  <a:pt x="51631" y="459313"/>
                </a:lnTo>
                <a:lnTo>
                  <a:pt x="64434" y="402294"/>
                </a:lnTo>
                <a:lnTo>
                  <a:pt x="78637" y="345598"/>
                </a:lnTo>
                <a:lnTo>
                  <a:pt x="94223" y="289277"/>
                </a:lnTo>
                <a:lnTo>
                  <a:pt x="111190" y="233346"/>
                </a:lnTo>
                <a:lnTo>
                  <a:pt x="129521" y="177856"/>
                </a:lnTo>
                <a:lnTo>
                  <a:pt x="149211" y="122825"/>
                </a:lnTo>
                <a:lnTo>
                  <a:pt x="170243" y="68302"/>
                </a:lnTo>
                <a:lnTo>
                  <a:pt x="192610" y="14304"/>
                </a:lnTo>
                <a:lnTo>
                  <a:pt x="3333750" y="0"/>
                </a:lnTo>
                <a:lnTo>
                  <a:pt x="3333750" y="3134901"/>
                </a:lnTo>
                <a:lnTo>
                  <a:pt x="3292512" y="3152487"/>
                </a:lnTo>
                <a:lnTo>
                  <a:pt x="3238248" y="3174188"/>
                </a:lnTo>
                <a:lnTo>
                  <a:pt x="3183467" y="3194551"/>
                </a:lnTo>
                <a:lnTo>
                  <a:pt x="3128203" y="3213563"/>
                </a:lnTo>
                <a:lnTo>
                  <a:pt x="3072488" y="3231213"/>
                </a:lnTo>
                <a:lnTo>
                  <a:pt x="3016358" y="3247490"/>
                </a:lnTo>
                <a:lnTo>
                  <a:pt x="2959845" y="3262385"/>
                </a:lnTo>
                <a:lnTo>
                  <a:pt x="2902985" y="3275889"/>
                </a:lnTo>
                <a:lnTo>
                  <a:pt x="2845808" y="3287994"/>
                </a:lnTo>
                <a:lnTo>
                  <a:pt x="2788353" y="3298691"/>
                </a:lnTo>
                <a:lnTo>
                  <a:pt x="2730651" y="3307976"/>
                </a:lnTo>
                <a:lnTo>
                  <a:pt x="2672742" y="3315841"/>
                </a:lnTo>
                <a:lnTo>
                  <a:pt x="2614652" y="3322283"/>
                </a:lnTo>
                <a:lnTo>
                  <a:pt x="2556425" y="3327297"/>
                </a:lnTo>
                <a:lnTo>
                  <a:pt x="2498096" y="3330880"/>
                </a:lnTo>
                <a:lnTo>
                  <a:pt x="2439689" y="3333032"/>
                </a:lnTo>
                <a:lnTo>
                  <a:pt x="2381249" y="3333749"/>
                </a:lnTo>
                <a:close/>
              </a:path>
            </a:pathLst>
          </a:custGeom>
          <a:solidFill>
            <a:srgbClr val="FF6E40">
              <a:alpha val="78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4E3EA20-B4F0-386C-1402-BCC970840876}"/>
              </a:ext>
            </a:extLst>
          </p:cNvPr>
          <p:cNvSpPr/>
          <p:nvPr/>
        </p:nvSpPr>
        <p:spPr>
          <a:xfrm>
            <a:off x="0" y="4953107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823263" y="1904892"/>
                </a:moveTo>
                <a:lnTo>
                  <a:pt x="0" y="1904892"/>
                </a:lnTo>
                <a:lnTo>
                  <a:pt x="0" y="81627"/>
                </a:lnTo>
                <a:lnTo>
                  <a:pt x="44757" y="66606"/>
                </a:lnTo>
                <a:lnTo>
                  <a:pt x="95184" y="51647"/>
                </a:lnTo>
                <a:lnTo>
                  <a:pt x="146126" y="38553"/>
                </a:lnTo>
                <a:lnTo>
                  <a:pt x="197514" y="27345"/>
                </a:lnTo>
                <a:lnTo>
                  <a:pt x="249280" y="18035"/>
                </a:lnTo>
                <a:lnTo>
                  <a:pt x="301355" y="10636"/>
                </a:lnTo>
                <a:lnTo>
                  <a:pt x="353668" y="5160"/>
                </a:lnTo>
                <a:lnTo>
                  <a:pt x="406144" y="1613"/>
                </a:lnTo>
                <a:lnTo>
                  <a:pt x="458715" y="0"/>
                </a:lnTo>
                <a:lnTo>
                  <a:pt x="493784" y="0"/>
                </a:lnTo>
                <a:lnTo>
                  <a:pt x="546355" y="1613"/>
                </a:lnTo>
                <a:lnTo>
                  <a:pt x="598831" y="5160"/>
                </a:lnTo>
                <a:lnTo>
                  <a:pt x="651144" y="10636"/>
                </a:lnTo>
                <a:lnTo>
                  <a:pt x="703219" y="18035"/>
                </a:lnTo>
                <a:lnTo>
                  <a:pt x="754985" y="27345"/>
                </a:lnTo>
                <a:lnTo>
                  <a:pt x="806372" y="38553"/>
                </a:lnTo>
                <a:lnTo>
                  <a:pt x="857315" y="51647"/>
                </a:lnTo>
                <a:lnTo>
                  <a:pt x="907742" y="66606"/>
                </a:lnTo>
                <a:lnTo>
                  <a:pt x="957581" y="83410"/>
                </a:lnTo>
                <a:lnTo>
                  <a:pt x="1006768" y="102038"/>
                </a:lnTo>
                <a:lnTo>
                  <a:pt x="1055238" y="122464"/>
                </a:lnTo>
                <a:lnTo>
                  <a:pt x="1102923" y="144661"/>
                </a:lnTo>
                <a:lnTo>
                  <a:pt x="1149757" y="168597"/>
                </a:lnTo>
                <a:lnTo>
                  <a:pt x="1195679" y="194240"/>
                </a:lnTo>
                <a:lnTo>
                  <a:pt x="1240627" y="221557"/>
                </a:lnTo>
                <a:lnTo>
                  <a:pt x="1284540" y="250510"/>
                </a:lnTo>
                <a:lnTo>
                  <a:pt x="1327355" y="281058"/>
                </a:lnTo>
                <a:lnTo>
                  <a:pt x="1369016" y="313162"/>
                </a:lnTo>
                <a:lnTo>
                  <a:pt x="1409470" y="346779"/>
                </a:lnTo>
                <a:lnTo>
                  <a:pt x="1448659" y="381862"/>
                </a:lnTo>
                <a:lnTo>
                  <a:pt x="1486528" y="418363"/>
                </a:lnTo>
                <a:lnTo>
                  <a:pt x="1523028" y="456232"/>
                </a:lnTo>
                <a:lnTo>
                  <a:pt x="1558112" y="495420"/>
                </a:lnTo>
                <a:lnTo>
                  <a:pt x="1591729" y="535875"/>
                </a:lnTo>
                <a:lnTo>
                  <a:pt x="1623832" y="577536"/>
                </a:lnTo>
                <a:lnTo>
                  <a:pt x="1654381" y="620351"/>
                </a:lnTo>
                <a:lnTo>
                  <a:pt x="1683334" y="664263"/>
                </a:lnTo>
                <a:lnTo>
                  <a:pt x="1710651" y="709211"/>
                </a:lnTo>
                <a:lnTo>
                  <a:pt x="1736294" y="755133"/>
                </a:lnTo>
                <a:lnTo>
                  <a:pt x="1760230" y="801967"/>
                </a:lnTo>
                <a:lnTo>
                  <a:pt x="1782426" y="849652"/>
                </a:lnTo>
                <a:lnTo>
                  <a:pt x="1802853" y="898123"/>
                </a:lnTo>
                <a:lnTo>
                  <a:pt x="1821480" y="947309"/>
                </a:lnTo>
                <a:lnTo>
                  <a:pt x="1838285" y="997149"/>
                </a:lnTo>
                <a:lnTo>
                  <a:pt x="1853244" y="1047575"/>
                </a:lnTo>
                <a:lnTo>
                  <a:pt x="1866338" y="1098517"/>
                </a:lnTo>
                <a:lnTo>
                  <a:pt x="1877546" y="1149905"/>
                </a:lnTo>
                <a:lnTo>
                  <a:pt x="1886856" y="1201671"/>
                </a:lnTo>
                <a:lnTo>
                  <a:pt x="1894255" y="1253747"/>
                </a:lnTo>
                <a:lnTo>
                  <a:pt x="1899731" y="1306060"/>
                </a:lnTo>
                <a:lnTo>
                  <a:pt x="1903278" y="1358536"/>
                </a:lnTo>
                <a:lnTo>
                  <a:pt x="1904892" y="1411107"/>
                </a:lnTo>
                <a:lnTo>
                  <a:pt x="1904892" y="1446176"/>
                </a:lnTo>
                <a:lnTo>
                  <a:pt x="1903278" y="1498748"/>
                </a:lnTo>
                <a:lnTo>
                  <a:pt x="1899731" y="1551224"/>
                </a:lnTo>
                <a:lnTo>
                  <a:pt x="1894255" y="1603536"/>
                </a:lnTo>
                <a:lnTo>
                  <a:pt x="1886856" y="1655611"/>
                </a:lnTo>
                <a:lnTo>
                  <a:pt x="1877546" y="1707377"/>
                </a:lnTo>
                <a:lnTo>
                  <a:pt x="1866338" y="1758764"/>
                </a:lnTo>
                <a:lnTo>
                  <a:pt x="1853244" y="1809707"/>
                </a:lnTo>
                <a:lnTo>
                  <a:pt x="1838285" y="1860134"/>
                </a:lnTo>
                <a:lnTo>
                  <a:pt x="1823263" y="1904892"/>
                </a:lnTo>
                <a:close/>
              </a:path>
            </a:pathLst>
          </a:custGeom>
          <a:solidFill>
            <a:srgbClr val="FF6E40">
              <a:alpha val="78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96D5324B-7D8A-E33D-F872-43742CFE1170}"/>
              </a:ext>
            </a:extLst>
          </p:cNvPr>
          <p:cNvSpPr/>
          <p:nvPr/>
        </p:nvSpPr>
        <p:spPr>
          <a:xfrm>
            <a:off x="7315199" y="3428999"/>
            <a:ext cx="1905001" cy="1905001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499" y="1904999"/>
                </a:moveTo>
                <a:lnTo>
                  <a:pt x="905762" y="1903852"/>
                </a:lnTo>
                <a:lnTo>
                  <a:pt x="859138" y="1900413"/>
                </a:lnTo>
                <a:lnTo>
                  <a:pt x="812738" y="1894689"/>
                </a:lnTo>
                <a:lnTo>
                  <a:pt x="766675" y="1886696"/>
                </a:lnTo>
                <a:lnTo>
                  <a:pt x="721061" y="1876453"/>
                </a:lnTo>
                <a:lnTo>
                  <a:pt x="676004" y="1863985"/>
                </a:lnTo>
                <a:lnTo>
                  <a:pt x="631611" y="1849320"/>
                </a:lnTo>
                <a:lnTo>
                  <a:pt x="587993" y="1832494"/>
                </a:lnTo>
                <a:lnTo>
                  <a:pt x="545253" y="1813549"/>
                </a:lnTo>
                <a:lnTo>
                  <a:pt x="503494" y="1792529"/>
                </a:lnTo>
                <a:lnTo>
                  <a:pt x="462815" y="1769486"/>
                </a:lnTo>
                <a:lnTo>
                  <a:pt x="423318" y="1744474"/>
                </a:lnTo>
                <a:lnTo>
                  <a:pt x="385095" y="1717554"/>
                </a:lnTo>
                <a:lnTo>
                  <a:pt x="348239" y="1688792"/>
                </a:lnTo>
                <a:lnTo>
                  <a:pt x="312839" y="1658255"/>
                </a:lnTo>
                <a:lnTo>
                  <a:pt x="278980" y="1626018"/>
                </a:lnTo>
                <a:lnTo>
                  <a:pt x="246743" y="1592159"/>
                </a:lnTo>
                <a:lnTo>
                  <a:pt x="216207" y="1556759"/>
                </a:lnTo>
                <a:lnTo>
                  <a:pt x="187443" y="1519903"/>
                </a:lnTo>
                <a:lnTo>
                  <a:pt x="160524" y="1481679"/>
                </a:lnTo>
                <a:lnTo>
                  <a:pt x="135512" y="1442182"/>
                </a:lnTo>
                <a:lnTo>
                  <a:pt x="112469" y="1401505"/>
                </a:lnTo>
                <a:lnTo>
                  <a:pt x="91449" y="1359745"/>
                </a:lnTo>
                <a:lnTo>
                  <a:pt x="72503" y="1317005"/>
                </a:lnTo>
                <a:lnTo>
                  <a:pt x="55678" y="1273387"/>
                </a:lnTo>
                <a:lnTo>
                  <a:pt x="41013" y="1228996"/>
                </a:lnTo>
                <a:lnTo>
                  <a:pt x="28544" y="1183938"/>
                </a:lnTo>
                <a:lnTo>
                  <a:pt x="18301" y="1138323"/>
                </a:lnTo>
                <a:lnTo>
                  <a:pt x="10308" y="1092260"/>
                </a:lnTo>
                <a:lnTo>
                  <a:pt x="4586" y="1045861"/>
                </a:lnTo>
                <a:lnTo>
                  <a:pt x="1147" y="999237"/>
                </a:lnTo>
                <a:lnTo>
                  <a:pt x="0" y="952499"/>
                </a:lnTo>
                <a:lnTo>
                  <a:pt x="286" y="929124"/>
                </a:lnTo>
                <a:lnTo>
                  <a:pt x="2580" y="882430"/>
                </a:lnTo>
                <a:lnTo>
                  <a:pt x="7162" y="835903"/>
                </a:lnTo>
                <a:lnTo>
                  <a:pt x="14021" y="789658"/>
                </a:lnTo>
                <a:lnTo>
                  <a:pt x="23142" y="743806"/>
                </a:lnTo>
                <a:lnTo>
                  <a:pt x="34502" y="698456"/>
                </a:lnTo>
                <a:lnTo>
                  <a:pt x="48073" y="653718"/>
                </a:lnTo>
                <a:lnTo>
                  <a:pt x="63823" y="609699"/>
                </a:lnTo>
                <a:lnTo>
                  <a:pt x="81713" y="566507"/>
                </a:lnTo>
                <a:lnTo>
                  <a:pt x="101703" y="524244"/>
                </a:lnTo>
                <a:lnTo>
                  <a:pt x="123741" y="483014"/>
                </a:lnTo>
                <a:lnTo>
                  <a:pt x="147775" y="442914"/>
                </a:lnTo>
                <a:lnTo>
                  <a:pt x="173749" y="404042"/>
                </a:lnTo>
                <a:lnTo>
                  <a:pt x="201598" y="366491"/>
                </a:lnTo>
                <a:lnTo>
                  <a:pt x="231257" y="330352"/>
                </a:lnTo>
                <a:lnTo>
                  <a:pt x="262653" y="295712"/>
                </a:lnTo>
                <a:lnTo>
                  <a:pt x="295711" y="262654"/>
                </a:lnTo>
                <a:lnTo>
                  <a:pt x="330352" y="231258"/>
                </a:lnTo>
                <a:lnTo>
                  <a:pt x="366491" y="201599"/>
                </a:lnTo>
                <a:lnTo>
                  <a:pt x="404041" y="173750"/>
                </a:lnTo>
                <a:lnTo>
                  <a:pt x="442913" y="147776"/>
                </a:lnTo>
                <a:lnTo>
                  <a:pt x="483013" y="123742"/>
                </a:lnTo>
                <a:lnTo>
                  <a:pt x="524244" y="101703"/>
                </a:lnTo>
                <a:lnTo>
                  <a:pt x="566506" y="81715"/>
                </a:lnTo>
                <a:lnTo>
                  <a:pt x="609699" y="63824"/>
                </a:lnTo>
                <a:lnTo>
                  <a:pt x="653717" y="48074"/>
                </a:lnTo>
                <a:lnTo>
                  <a:pt x="698455" y="34503"/>
                </a:lnTo>
                <a:lnTo>
                  <a:pt x="743804" y="23143"/>
                </a:lnTo>
                <a:lnTo>
                  <a:pt x="789657" y="14023"/>
                </a:lnTo>
                <a:lnTo>
                  <a:pt x="835903" y="7163"/>
                </a:lnTo>
                <a:lnTo>
                  <a:pt x="882429" y="2580"/>
                </a:lnTo>
                <a:lnTo>
                  <a:pt x="929124" y="286"/>
                </a:lnTo>
                <a:lnTo>
                  <a:pt x="952499" y="0"/>
                </a:lnTo>
                <a:lnTo>
                  <a:pt x="975875" y="286"/>
                </a:lnTo>
                <a:lnTo>
                  <a:pt x="1022569" y="2580"/>
                </a:lnTo>
                <a:lnTo>
                  <a:pt x="1069095" y="7163"/>
                </a:lnTo>
                <a:lnTo>
                  <a:pt x="1115340" y="14023"/>
                </a:lnTo>
                <a:lnTo>
                  <a:pt x="1161193" y="23143"/>
                </a:lnTo>
                <a:lnTo>
                  <a:pt x="1206543" y="34503"/>
                </a:lnTo>
                <a:lnTo>
                  <a:pt x="1251281" y="48074"/>
                </a:lnTo>
                <a:lnTo>
                  <a:pt x="1295299" y="63824"/>
                </a:lnTo>
                <a:lnTo>
                  <a:pt x="1338492" y="81715"/>
                </a:lnTo>
                <a:lnTo>
                  <a:pt x="1380754" y="101703"/>
                </a:lnTo>
                <a:lnTo>
                  <a:pt x="1421984" y="123742"/>
                </a:lnTo>
                <a:lnTo>
                  <a:pt x="1462084" y="147776"/>
                </a:lnTo>
                <a:lnTo>
                  <a:pt x="1500956" y="173750"/>
                </a:lnTo>
                <a:lnTo>
                  <a:pt x="1538507" y="201599"/>
                </a:lnTo>
                <a:lnTo>
                  <a:pt x="1574646" y="231258"/>
                </a:lnTo>
                <a:lnTo>
                  <a:pt x="1609286" y="262654"/>
                </a:lnTo>
                <a:lnTo>
                  <a:pt x="1642344" y="295712"/>
                </a:lnTo>
                <a:lnTo>
                  <a:pt x="1673741" y="330352"/>
                </a:lnTo>
                <a:lnTo>
                  <a:pt x="1703400" y="366491"/>
                </a:lnTo>
                <a:lnTo>
                  <a:pt x="1731249" y="404042"/>
                </a:lnTo>
                <a:lnTo>
                  <a:pt x="1757222" y="442914"/>
                </a:lnTo>
                <a:lnTo>
                  <a:pt x="1781257" y="483014"/>
                </a:lnTo>
                <a:lnTo>
                  <a:pt x="1803295" y="524244"/>
                </a:lnTo>
                <a:lnTo>
                  <a:pt x="1823283" y="566507"/>
                </a:lnTo>
                <a:lnTo>
                  <a:pt x="1841174" y="609699"/>
                </a:lnTo>
                <a:lnTo>
                  <a:pt x="1856924" y="653717"/>
                </a:lnTo>
                <a:lnTo>
                  <a:pt x="1870496" y="698455"/>
                </a:lnTo>
                <a:lnTo>
                  <a:pt x="1881855" y="743805"/>
                </a:lnTo>
                <a:lnTo>
                  <a:pt x="1890976" y="789658"/>
                </a:lnTo>
                <a:lnTo>
                  <a:pt x="1897836" y="835903"/>
                </a:lnTo>
                <a:lnTo>
                  <a:pt x="1902419" y="882429"/>
                </a:lnTo>
                <a:lnTo>
                  <a:pt x="1904712" y="929124"/>
                </a:lnTo>
                <a:lnTo>
                  <a:pt x="1904999" y="952499"/>
                </a:lnTo>
                <a:lnTo>
                  <a:pt x="1904712" y="975875"/>
                </a:lnTo>
                <a:lnTo>
                  <a:pt x="1902419" y="1022570"/>
                </a:lnTo>
                <a:lnTo>
                  <a:pt x="1897836" y="1069096"/>
                </a:lnTo>
                <a:lnTo>
                  <a:pt x="1890976" y="1115341"/>
                </a:lnTo>
                <a:lnTo>
                  <a:pt x="1881855" y="1161193"/>
                </a:lnTo>
                <a:lnTo>
                  <a:pt x="1870496" y="1206543"/>
                </a:lnTo>
                <a:lnTo>
                  <a:pt x="1856925" y="1251281"/>
                </a:lnTo>
                <a:lnTo>
                  <a:pt x="1841174" y="1295299"/>
                </a:lnTo>
                <a:lnTo>
                  <a:pt x="1823284" y="1338491"/>
                </a:lnTo>
                <a:lnTo>
                  <a:pt x="1803295" y="1380754"/>
                </a:lnTo>
                <a:lnTo>
                  <a:pt x="1781257" y="1421984"/>
                </a:lnTo>
                <a:lnTo>
                  <a:pt x="1757222" y="1462084"/>
                </a:lnTo>
                <a:lnTo>
                  <a:pt x="1731249" y="1500956"/>
                </a:lnTo>
                <a:lnTo>
                  <a:pt x="1703400" y="1538507"/>
                </a:lnTo>
                <a:lnTo>
                  <a:pt x="1673741" y="1574646"/>
                </a:lnTo>
                <a:lnTo>
                  <a:pt x="1642344" y="1609286"/>
                </a:lnTo>
                <a:lnTo>
                  <a:pt x="1609286" y="1642345"/>
                </a:lnTo>
                <a:lnTo>
                  <a:pt x="1574646" y="1673741"/>
                </a:lnTo>
                <a:lnTo>
                  <a:pt x="1538507" y="1703399"/>
                </a:lnTo>
                <a:lnTo>
                  <a:pt x="1500956" y="1731248"/>
                </a:lnTo>
                <a:lnTo>
                  <a:pt x="1462084" y="1757222"/>
                </a:lnTo>
                <a:lnTo>
                  <a:pt x="1421984" y="1781257"/>
                </a:lnTo>
                <a:lnTo>
                  <a:pt x="1380754" y="1803295"/>
                </a:lnTo>
                <a:lnTo>
                  <a:pt x="1338492" y="1823284"/>
                </a:lnTo>
                <a:lnTo>
                  <a:pt x="1295299" y="1841174"/>
                </a:lnTo>
                <a:lnTo>
                  <a:pt x="1251281" y="1856924"/>
                </a:lnTo>
                <a:lnTo>
                  <a:pt x="1206543" y="1870495"/>
                </a:lnTo>
                <a:lnTo>
                  <a:pt x="1161193" y="1881855"/>
                </a:lnTo>
                <a:lnTo>
                  <a:pt x="1115340" y="1890976"/>
                </a:lnTo>
                <a:lnTo>
                  <a:pt x="1069095" y="1897836"/>
                </a:lnTo>
                <a:lnTo>
                  <a:pt x="1022569" y="1902419"/>
                </a:lnTo>
                <a:lnTo>
                  <a:pt x="975875" y="1904712"/>
                </a:lnTo>
                <a:lnTo>
                  <a:pt x="952499" y="1904999"/>
                </a:lnTo>
                <a:close/>
              </a:path>
            </a:pathLst>
          </a:custGeom>
          <a:solidFill>
            <a:srgbClr val="FF6E40">
              <a:alpha val="78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4110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AA9CD3C1-69F2-F6C4-FEE7-581537282D9F}"/>
              </a:ext>
            </a:extLst>
          </p:cNvPr>
          <p:cNvSpPr txBox="1">
            <a:spLocks noGrp="1"/>
          </p:cNvSpPr>
          <p:nvPr/>
        </p:nvSpPr>
        <p:spPr>
          <a:xfrm>
            <a:off x="374649" y="362062"/>
            <a:ext cx="3746500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lvl1pPr>
              <a:defRPr sz="3050" b="1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0" dirty="0">
                <a:latin typeface="Malgun Gothic"/>
                <a:cs typeface="Malgun Gothic"/>
              </a:rPr>
              <a:t>제안 배경 및 비전</a:t>
            </a:r>
            <a:endParaRPr sz="2800" dirty="0">
              <a:latin typeface="Malgun Gothic"/>
              <a:cs typeface="Malgun Gothic"/>
            </a:endParaRP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34DC0F5F-0C67-2DF7-48EA-7ADAC23B0F94}"/>
              </a:ext>
            </a:extLst>
          </p:cNvPr>
          <p:cNvGrpSpPr/>
          <p:nvPr/>
        </p:nvGrpSpPr>
        <p:grpSpPr>
          <a:xfrm>
            <a:off x="387349" y="1350851"/>
            <a:ext cx="5562600" cy="4162703"/>
            <a:chOff x="380999" y="1209674"/>
            <a:chExt cx="5562600" cy="4162703"/>
          </a:xfrm>
        </p:grpSpPr>
        <p:sp>
          <p:nvSpPr>
            <p:cNvPr id="36" name="object 5">
              <a:extLst>
                <a:ext uri="{FF2B5EF4-FFF2-40B4-BE49-F238E27FC236}">
                  <a16:creationId xmlns:a16="http://schemas.microsoft.com/office/drawing/2014/main" id="{877597E1-755A-FD79-5CA9-F039C8E241AE}"/>
                </a:ext>
              </a:extLst>
            </p:cNvPr>
            <p:cNvSpPr/>
            <p:nvPr/>
          </p:nvSpPr>
          <p:spPr>
            <a:xfrm>
              <a:off x="400049" y="1714499"/>
              <a:ext cx="5543550" cy="990600"/>
            </a:xfrm>
            <a:custGeom>
              <a:avLst/>
              <a:gdLst/>
              <a:ahLst/>
              <a:cxnLst/>
              <a:rect l="l" t="t" r="r" b="b"/>
              <a:pathLst>
                <a:path w="5543550" h="990600">
                  <a:moveTo>
                    <a:pt x="5472352" y="990599"/>
                  </a:moveTo>
                  <a:lnTo>
                    <a:pt x="53397" y="990599"/>
                  </a:lnTo>
                  <a:lnTo>
                    <a:pt x="49681" y="990111"/>
                  </a:lnTo>
                  <a:lnTo>
                    <a:pt x="14085" y="964743"/>
                  </a:lnTo>
                  <a:lnTo>
                    <a:pt x="366" y="924358"/>
                  </a:lnTo>
                  <a:lnTo>
                    <a:pt x="0" y="919403"/>
                  </a:lnTo>
                  <a:lnTo>
                    <a:pt x="0" y="9143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472352" y="0"/>
                  </a:lnTo>
                  <a:lnTo>
                    <a:pt x="5513843" y="15621"/>
                  </a:lnTo>
                  <a:lnTo>
                    <a:pt x="5539663" y="51661"/>
                  </a:lnTo>
                  <a:lnTo>
                    <a:pt x="5543549" y="71196"/>
                  </a:lnTo>
                  <a:lnTo>
                    <a:pt x="5543549" y="919403"/>
                  </a:lnTo>
                  <a:lnTo>
                    <a:pt x="5527927" y="960894"/>
                  </a:lnTo>
                  <a:lnTo>
                    <a:pt x="5491887" y="986714"/>
                  </a:lnTo>
                  <a:lnTo>
                    <a:pt x="5477307" y="990111"/>
                  </a:lnTo>
                  <a:lnTo>
                    <a:pt x="5472352" y="9905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7" name="object 6">
              <a:extLst>
                <a:ext uri="{FF2B5EF4-FFF2-40B4-BE49-F238E27FC236}">
                  <a16:creationId xmlns:a16="http://schemas.microsoft.com/office/drawing/2014/main" id="{EFBB5C7E-0419-0424-883F-D03CEBDC5158}"/>
                </a:ext>
              </a:extLst>
            </p:cNvPr>
            <p:cNvSpPr/>
            <p:nvPr/>
          </p:nvSpPr>
          <p:spPr>
            <a:xfrm>
              <a:off x="380999" y="1714777"/>
              <a:ext cx="70485" cy="990600"/>
            </a:xfrm>
            <a:custGeom>
              <a:avLst/>
              <a:gdLst/>
              <a:ahLst/>
              <a:cxnLst/>
              <a:rect l="l" t="t" r="r" b="b"/>
              <a:pathLst>
                <a:path w="70484" h="990600">
                  <a:moveTo>
                    <a:pt x="70449" y="990044"/>
                  </a:moveTo>
                  <a:lnTo>
                    <a:pt x="33857" y="977491"/>
                  </a:lnTo>
                  <a:lnTo>
                    <a:pt x="5800" y="943282"/>
                  </a:lnTo>
                  <a:lnTo>
                    <a:pt x="0" y="9141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14122"/>
                  </a:lnTo>
                  <a:lnTo>
                    <a:pt x="44514" y="956464"/>
                  </a:lnTo>
                  <a:lnTo>
                    <a:pt x="66287" y="988388"/>
                  </a:lnTo>
                  <a:lnTo>
                    <a:pt x="70449" y="990044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8" name="object 7">
              <a:extLst>
                <a:ext uri="{FF2B5EF4-FFF2-40B4-BE49-F238E27FC236}">
                  <a16:creationId xmlns:a16="http://schemas.microsoft.com/office/drawing/2014/main" id="{24A22229-F231-B90F-69C1-09AFCAF7B7D8}"/>
                </a:ext>
              </a:extLst>
            </p:cNvPr>
            <p:cNvSpPr/>
            <p:nvPr/>
          </p:nvSpPr>
          <p:spPr>
            <a:xfrm>
              <a:off x="400049" y="2933700"/>
              <a:ext cx="5543550" cy="990600"/>
            </a:xfrm>
            <a:custGeom>
              <a:avLst/>
              <a:gdLst/>
              <a:ahLst/>
              <a:cxnLst/>
              <a:rect l="l" t="t" r="r" b="b"/>
              <a:pathLst>
                <a:path w="5543550" h="990600">
                  <a:moveTo>
                    <a:pt x="5472352" y="990599"/>
                  </a:moveTo>
                  <a:lnTo>
                    <a:pt x="53397" y="990599"/>
                  </a:lnTo>
                  <a:lnTo>
                    <a:pt x="49681" y="990111"/>
                  </a:lnTo>
                  <a:lnTo>
                    <a:pt x="14085" y="964743"/>
                  </a:lnTo>
                  <a:lnTo>
                    <a:pt x="366" y="924358"/>
                  </a:lnTo>
                  <a:lnTo>
                    <a:pt x="0" y="919403"/>
                  </a:lnTo>
                  <a:lnTo>
                    <a:pt x="0" y="9143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5472352" y="0"/>
                  </a:lnTo>
                  <a:lnTo>
                    <a:pt x="5513843" y="15621"/>
                  </a:lnTo>
                  <a:lnTo>
                    <a:pt x="5539663" y="51661"/>
                  </a:lnTo>
                  <a:lnTo>
                    <a:pt x="5543549" y="71196"/>
                  </a:lnTo>
                  <a:lnTo>
                    <a:pt x="5543549" y="919403"/>
                  </a:lnTo>
                  <a:lnTo>
                    <a:pt x="5527927" y="960893"/>
                  </a:lnTo>
                  <a:lnTo>
                    <a:pt x="5491887" y="986713"/>
                  </a:lnTo>
                  <a:lnTo>
                    <a:pt x="5477307" y="990111"/>
                  </a:lnTo>
                  <a:lnTo>
                    <a:pt x="5472352" y="9905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9" name="object 8">
              <a:extLst>
                <a:ext uri="{FF2B5EF4-FFF2-40B4-BE49-F238E27FC236}">
                  <a16:creationId xmlns:a16="http://schemas.microsoft.com/office/drawing/2014/main" id="{E2C3D594-F89B-9D0E-7DEC-514D16706957}"/>
                </a:ext>
              </a:extLst>
            </p:cNvPr>
            <p:cNvSpPr/>
            <p:nvPr/>
          </p:nvSpPr>
          <p:spPr>
            <a:xfrm>
              <a:off x="380999" y="2933977"/>
              <a:ext cx="70485" cy="990600"/>
            </a:xfrm>
            <a:custGeom>
              <a:avLst/>
              <a:gdLst/>
              <a:ahLst/>
              <a:cxnLst/>
              <a:rect l="l" t="t" r="r" b="b"/>
              <a:pathLst>
                <a:path w="70484" h="990600">
                  <a:moveTo>
                    <a:pt x="70450" y="990044"/>
                  </a:moveTo>
                  <a:lnTo>
                    <a:pt x="33857" y="977491"/>
                  </a:lnTo>
                  <a:lnTo>
                    <a:pt x="5800" y="943282"/>
                  </a:lnTo>
                  <a:lnTo>
                    <a:pt x="0" y="9141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14122"/>
                  </a:lnTo>
                  <a:lnTo>
                    <a:pt x="44514" y="956464"/>
                  </a:lnTo>
                  <a:lnTo>
                    <a:pt x="66287" y="988388"/>
                  </a:lnTo>
                  <a:lnTo>
                    <a:pt x="70450" y="990044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0" name="object 9">
              <a:extLst>
                <a:ext uri="{FF2B5EF4-FFF2-40B4-BE49-F238E27FC236}">
                  <a16:creationId xmlns:a16="http://schemas.microsoft.com/office/drawing/2014/main" id="{08D228DE-A042-0175-28AE-B9D48F7DB23D}"/>
                </a:ext>
              </a:extLst>
            </p:cNvPr>
            <p:cNvSpPr/>
            <p:nvPr/>
          </p:nvSpPr>
          <p:spPr>
            <a:xfrm>
              <a:off x="400049" y="4152899"/>
              <a:ext cx="5543550" cy="1219200"/>
            </a:xfrm>
            <a:custGeom>
              <a:avLst/>
              <a:gdLst/>
              <a:ahLst/>
              <a:cxnLst/>
              <a:rect l="l" t="t" r="r" b="b"/>
              <a:pathLst>
                <a:path w="5543550" h="1219200">
                  <a:moveTo>
                    <a:pt x="5472352" y="1219199"/>
                  </a:moveTo>
                  <a:lnTo>
                    <a:pt x="53397" y="1219199"/>
                  </a:lnTo>
                  <a:lnTo>
                    <a:pt x="49681" y="1218710"/>
                  </a:lnTo>
                  <a:lnTo>
                    <a:pt x="14085" y="1193343"/>
                  </a:lnTo>
                  <a:lnTo>
                    <a:pt x="366" y="1152957"/>
                  </a:lnTo>
                  <a:lnTo>
                    <a:pt x="0" y="1148002"/>
                  </a:lnTo>
                  <a:lnTo>
                    <a:pt x="0" y="11429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5472352" y="0"/>
                  </a:lnTo>
                  <a:lnTo>
                    <a:pt x="5513843" y="15621"/>
                  </a:lnTo>
                  <a:lnTo>
                    <a:pt x="5539663" y="51661"/>
                  </a:lnTo>
                  <a:lnTo>
                    <a:pt x="5543549" y="71196"/>
                  </a:lnTo>
                  <a:lnTo>
                    <a:pt x="5543549" y="1148002"/>
                  </a:lnTo>
                  <a:lnTo>
                    <a:pt x="5527927" y="1189493"/>
                  </a:lnTo>
                  <a:lnTo>
                    <a:pt x="5491887" y="1215312"/>
                  </a:lnTo>
                  <a:lnTo>
                    <a:pt x="5477307" y="1218710"/>
                  </a:lnTo>
                  <a:lnTo>
                    <a:pt x="5472352" y="12191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1" name="object 10">
              <a:extLst>
                <a:ext uri="{FF2B5EF4-FFF2-40B4-BE49-F238E27FC236}">
                  <a16:creationId xmlns:a16="http://schemas.microsoft.com/office/drawing/2014/main" id="{FE0781CA-DEA4-7150-8153-27E314D592D4}"/>
                </a:ext>
              </a:extLst>
            </p:cNvPr>
            <p:cNvSpPr/>
            <p:nvPr/>
          </p:nvSpPr>
          <p:spPr>
            <a:xfrm>
              <a:off x="380999" y="4153177"/>
              <a:ext cx="70485" cy="1219200"/>
            </a:xfrm>
            <a:custGeom>
              <a:avLst/>
              <a:gdLst/>
              <a:ahLst/>
              <a:cxnLst/>
              <a:rect l="l" t="t" r="r" b="b"/>
              <a:pathLst>
                <a:path w="70484" h="1219200">
                  <a:moveTo>
                    <a:pt x="70450" y="1218644"/>
                  </a:moveTo>
                  <a:lnTo>
                    <a:pt x="33857" y="1206091"/>
                  </a:lnTo>
                  <a:lnTo>
                    <a:pt x="5800" y="1171882"/>
                  </a:lnTo>
                  <a:lnTo>
                    <a:pt x="0" y="11427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142722"/>
                  </a:lnTo>
                  <a:lnTo>
                    <a:pt x="44514" y="1185064"/>
                  </a:lnTo>
                  <a:lnTo>
                    <a:pt x="66287" y="1216988"/>
                  </a:lnTo>
                  <a:lnTo>
                    <a:pt x="70450" y="1218644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42" name="object 11">
              <a:extLst>
                <a:ext uri="{FF2B5EF4-FFF2-40B4-BE49-F238E27FC236}">
                  <a16:creationId xmlns:a16="http://schemas.microsoft.com/office/drawing/2014/main" id="{4FD45B97-E157-F426-6364-DB569F08AB4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999" y="1209674"/>
              <a:ext cx="228599" cy="228599"/>
            </a:xfrm>
            <a:prstGeom prst="rect">
              <a:avLst/>
            </a:prstGeom>
          </p:spPr>
        </p:pic>
        <p:pic>
          <p:nvPicPr>
            <p:cNvPr id="43" name="object 12">
              <a:extLst>
                <a:ext uri="{FF2B5EF4-FFF2-40B4-BE49-F238E27FC236}">
                  <a16:creationId xmlns:a16="http://schemas.microsoft.com/office/drawing/2014/main" id="{06AB5AFA-115A-A5CA-3A0B-6353F75E6C7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499" y="1904999"/>
              <a:ext cx="190499" cy="266699"/>
            </a:xfrm>
            <a:prstGeom prst="rect">
              <a:avLst/>
            </a:prstGeom>
          </p:spPr>
        </p:pic>
      </p:grpSp>
      <p:sp>
        <p:nvSpPr>
          <p:cNvPr id="4" name="object 13">
            <a:extLst>
              <a:ext uri="{FF2B5EF4-FFF2-40B4-BE49-F238E27FC236}">
                <a16:creationId xmlns:a16="http://schemas.microsoft.com/office/drawing/2014/main" id="{A6D508A0-34C2-3498-AB2C-3AE9F93A4F83}"/>
              </a:ext>
            </a:extLst>
          </p:cNvPr>
          <p:cNvSpPr txBox="1"/>
          <p:nvPr/>
        </p:nvSpPr>
        <p:spPr>
          <a:xfrm>
            <a:off x="734479" y="1300200"/>
            <a:ext cx="2789771" cy="30008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b="1" dirty="0">
                <a:solidFill>
                  <a:srgbClr val="374050"/>
                </a:solidFill>
                <a:latin typeface="Arial"/>
                <a:cs typeface="Arial"/>
              </a:rPr>
              <a:t>AI </a:t>
            </a:r>
            <a:r>
              <a:rPr sz="1700" dirty="0">
                <a:solidFill>
                  <a:srgbClr val="374050"/>
                </a:solidFill>
                <a:latin typeface="Malgun Gothic"/>
                <a:cs typeface="Malgun Gothic"/>
              </a:rPr>
              <a:t>트</a:t>
            </a:r>
            <a:r>
              <a:rPr sz="1850" dirty="0">
                <a:solidFill>
                  <a:srgbClr val="374050"/>
                </a:solidFill>
                <a:latin typeface="Malgun Gothic"/>
                <a:cs typeface="Malgun Gothic"/>
              </a:rPr>
              <a:t>랜</a:t>
            </a:r>
            <a:r>
              <a:rPr sz="1750" dirty="0">
                <a:solidFill>
                  <a:srgbClr val="374050"/>
                </a:solidFill>
                <a:latin typeface="Malgun Gothic"/>
                <a:cs typeface="Malgun Gothic"/>
              </a:rPr>
              <a:t>스</a:t>
            </a:r>
            <a:r>
              <a:rPr sz="1800" dirty="0">
                <a:solidFill>
                  <a:srgbClr val="374050"/>
                </a:solidFill>
                <a:latin typeface="Malgun Gothic"/>
                <a:cs typeface="Malgun Gothic"/>
              </a:rPr>
              <a:t>폼</a:t>
            </a:r>
            <a:r>
              <a:rPr sz="1850" dirty="0">
                <a:solidFill>
                  <a:srgbClr val="374050"/>
                </a:solidFill>
                <a:latin typeface="Malgun Gothic"/>
                <a:cs typeface="Malgun Gothic"/>
              </a:rPr>
              <a:t>의 필</a:t>
            </a:r>
            <a:r>
              <a:rPr sz="1750" dirty="0">
                <a:solidFill>
                  <a:srgbClr val="374050"/>
                </a:solidFill>
                <a:latin typeface="Malgun Gothic"/>
                <a:cs typeface="Malgun Gothic"/>
              </a:rPr>
              <a:t>요</a:t>
            </a:r>
            <a:r>
              <a:rPr sz="1850" dirty="0">
                <a:solidFill>
                  <a:srgbClr val="374050"/>
                </a:solidFill>
                <a:latin typeface="Malgun Gothic"/>
                <a:cs typeface="Malgun Gothic"/>
              </a:rPr>
              <a:t>성</a:t>
            </a:r>
            <a:endParaRPr sz="1850" dirty="0">
              <a:latin typeface="Malgun Gothic"/>
              <a:cs typeface="Malgun Gothic"/>
            </a:endParaRPr>
          </a:p>
        </p:txBody>
      </p:sp>
      <p:sp>
        <p:nvSpPr>
          <p:cNvPr id="5" name="object 14">
            <a:extLst>
              <a:ext uri="{FF2B5EF4-FFF2-40B4-BE49-F238E27FC236}">
                <a16:creationId xmlns:a16="http://schemas.microsoft.com/office/drawing/2014/main" id="{04F9FF0A-0F02-0AC2-1482-3EC0A8119A17}"/>
              </a:ext>
            </a:extLst>
          </p:cNvPr>
          <p:cNvSpPr txBox="1"/>
          <p:nvPr/>
        </p:nvSpPr>
        <p:spPr>
          <a:xfrm>
            <a:off x="869950" y="1952357"/>
            <a:ext cx="4911090" cy="933716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미세 결함 관리의 한계</a:t>
            </a:r>
            <a:endParaRPr sz="1250" dirty="0">
              <a:latin typeface="Malgun Gothic"/>
              <a:cs typeface="Malgun Gothic"/>
            </a:endParaRPr>
          </a:p>
          <a:p>
            <a:pPr marL="12700" marR="5080">
              <a:lnSpc>
                <a:spcPts val="1800"/>
              </a:lnSpc>
              <a:spcBef>
                <a:spcPts val="90"/>
              </a:spcBef>
            </a:pP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PCB/PKG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기판 제조 공정은 미세한 핀홀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과열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냉땜 등 수많은 </a:t>
            </a:r>
            <a:r>
              <a:rPr sz="1200" dirty="0" err="1">
                <a:solidFill>
                  <a:srgbClr val="4A5462"/>
                </a:solidFill>
                <a:latin typeface="Malgun Gothic"/>
                <a:cs typeface="Malgun Gothic"/>
              </a:rPr>
              <a:t>잠재적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 err="1">
                <a:solidFill>
                  <a:srgbClr val="4A5462"/>
                </a:solidFill>
                <a:latin typeface="Malgun Gothic"/>
                <a:cs typeface="Malgun Gothic"/>
              </a:rPr>
              <a:t>불량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 유형을 가지고 있으며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이 중 상당수는 육안으로 식별하기 어렵습니다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6" name="object 15">
            <a:extLst>
              <a:ext uri="{FF2B5EF4-FFF2-40B4-BE49-F238E27FC236}">
                <a16:creationId xmlns:a16="http://schemas.microsoft.com/office/drawing/2014/main" id="{302FB130-0A91-4871-89CD-E6DE65154606}"/>
              </a:ext>
            </a:extLst>
          </p:cNvPr>
          <p:cNvGrpSpPr/>
          <p:nvPr/>
        </p:nvGrpSpPr>
        <p:grpSpPr>
          <a:xfrm>
            <a:off x="577850" y="1350851"/>
            <a:ext cx="11239499" cy="5067578"/>
            <a:chOff x="571500" y="1209674"/>
            <a:chExt cx="11239499" cy="5067578"/>
          </a:xfrm>
        </p:grpSpPr>
        <p:pic>
          <p:nvPicPr>
            <p:cNvPr id="29" name="object 16">
              <a:extLst>
                <a:ext uri="{FF2B5EF4-FFF2-40B4-BE49-F238E27FC236}">
                  <a16:creationId xmlns:a16="http://schemas.microsoft.com/office/drawing/2014/main" id="{ED7F82A3-51CB-BBC1-797E-78DFD94C5A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500" y="3124199"/>
              <a:ext cx="171449" cy="266699"/>
            </a:xfrm>
            <a:prstGeom prst="rect">
              <a:avLst/>
            </a:prstGeom>
          </p:spPr>
        </p:pic>
        <p:pic>
          <p:nvPicPr>
            <p:cNvPr id="30" name="object 17">
              <a:extLst>
                <a:ext uri="{FF2B5EF4-FFF2-40B4-BE49-F238E27FC236}">
                  <a16:creationId xmlns:a16="http://schemas.microsoft.com/office/drawing/2014/main" id="{4A257393-ABD4-0F76-D076-9C8A10DE668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500" y="4343399"/>
              <a:ext cx="238124" cy="266699"/>
            </a:xfrm>
            <a:prstGeom prst="rect">
              <a:avLst/>
            </a:prstGeom>
          </p:spPr>
        </p:pic>
        <p:sp>
          <p:nvSpPr>
            <p:cNvPr id="31" name="object 18">
              <a:extLst>
                <a:ext uri="{FF2B5EF4-FFF2-40B4-BE49-F238E27FC236}">
                  <a16:creationId xmlns:a16="http://schemas.microsoft.com/office/drawing/2014/main" id="{90FDCF04-1AC0-BB14-0DF6-D0FDEB417C0E}"/>
                </a:ext>
              </a:extLst>
            </p:cNvPr>
            <p:cNvSpPr/>
            <p:nvPr/>
          </p:nvSpPr>
          <p:spPr>
            <a:xfrm>
              <a:off x="6267449" y="1676399"/>
              <a:ext cx="5543550" cy="1866900"/>
            </a:xfrm>
            <a:custGeom>
              <a:avLst/>
              <a:gdLst/>
              <a:ahLst/>
              <a:cxnLst/>
              <a:rect l="l" t="t" r="r" b="b"/>
              <a:pathLst>
                <a:path w="5543550" h="1866900">
                  <a:moveTo>
                    <a:pt x="5472352" y="1866899"/>
                  </a:moveTo>
                  <a:lnTo>
                    <a:pt x="53397" y="1866899"/>
                  </a:lnTo>
                  <a:lnTo>
                    <a:pt x="49680" y="1866411"/>
                  </a:lnTo>
                  <a:lnTo>
                    <a:pt x="14084" y="1841043"/>
                  </a:lnTo>
                  <a:lnTo>
                    <a:pt x="365" y="1800658"/>
                  </a:lnTo>
                  <a:lnTo>
                    <a:pt x="0" y="1795703"/>
                  </a:lnTo>
                  <a:lnTo>
                    <a:pt x="0" y="1790699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472352" y="0"/>
                  </a:lnTo>
                  <a:lnTo>
                    <a:pt x="5513844" y="15621"/>
                  </a:lnTo>
                  <a:lnTo>
                    <a:pt x="5539663" y="51661"/>
                  </a:lnTo>
                  <a:lnTo>
                    <a:pt x="5543549" y="71196"/>
                  </a:lnTo>
                  <a:lnTo>
                    <a:pt x="5543549" y="1795703"/>
                  </a:lnTo>
                  <a:lnTo>
                    <a:pt x="5527927" y="1837193"/>
                  </a:lnTo>
                  <a:lnTo>
                    <a:pt x="5491887" y="1863013"/>
                  </a:lnTo>
                  <a:lnTo>
                    <a:pt x="5477308" y="1866411"/>
                  </a:lnTo>
                  <a:lnTo>
                    <a:pt x="5472352" y="18668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2" name="object 19">
              <a:extLst>
                <a:ext uri="{FF2B5EF4-FFF2-40B4-BE49-F238E27FC236}">
                  <a16:creationId xmlns:a16="http://schemas.microsoft.com/office/drawing/2014/main" id="{863A5AAB-1535-4DFE-F988-F785DC3F006F}"/>
                </a:ext>
              </a:extLst>
            </p:cNvPr>
            <p:cNvSpPr/>
            <p:nvPr/>
          </p:nvSpPr>
          <p:spPr>
            <a:xfrm>
              <a:off x="6248399" y="1676677"/>
              <a:ext cx="70485" cy="1866900"/>
            </a:xfrm>
            <a:custGeom>
              <a:avLst/>
              <a:gdLst/>
              <a:ahLst/>
              <a:cxnLst/>
              <a:rect l="l" t="t" r="r" b="b"/>
              <a:pathLst>
                <a:path w="70485" h="1866900">
                  <a:moveTo>
                    <a:pt x="70450" y="1866344"/>
                  </a:moveTo>
                  <a:lnTo>
                    <a:pt x="33857" y="1853791"/>
                  </a:lnTo>
                  <a:lnTo>
                    <a:pt x="5800" y="1819582"/>
                  </a:lnTo>
                  <a:lnTo>
                    <a:pt x="0" y="17904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1790422"/>
                  </a:lnTo>
                  <a:lnTo>
                    <a:pt x="44515" y="1832764"/>
                  </a:lnTo>
                  <a:lnTo>
                    <a:pt x="66287" y="1864688"/>
                  </a:lnTo>
                  <a:lnTo>
                    <a:pt x="70450" y="1866344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3" name="object 20">
              <a:extLst>
                <a:ext uri="{FF2B5EF4-FFF2-40B4-BE49-F238E27FC236}">
                  <a16:creationId xmlns:a16="http://schemas.microsoft.com/office/drawing/2014/main" id="{DE09E471-3F26-FA1D-1681-32832E99FDDD}"/>
                </a:ext>
              </a:extLst>
            </p:cNvPr>
            <p:cNvSpPr/>
            <p:nvPr/>
          </p:nvSpPr>
          <p:spPr>
            <a:xfrm>
              <a:off x="6267449" y="5591174"/>
              <a:ext cx="5543550" cy="685800"/>
            </a:xfrm>
            <a:custGeom>
              <a:avLst/>
              <a:gdLst/>
              <a:ahLst/>
              <a:cxnLst/>
              <a:rect l="l" t="t" r="r" b="b"/>
              <a:pathLst>
                <a:path w="5543550" h="685800">
                  <a:moveTo>
                    <a:pt x="5472352" y="685799"/>
                  </a:moveTo>
                  <a:lnTo>
                    <a:pt x="53397" y="685799"/>
                  </a:lnTo>
                  <a:lnTo>
                    <a:pt x="49680" y="685311"/>
                  </a:lnTo>
                  <a:lnTo>
                    <a:pt x="14084" y="659942"/>
                  </a:lnTo>
                  <a:lnTo>
                    <a:pt x="365" y="619558"/>
                  </a:lnTo>
                  <a:lnTo>
                    <a:pt x="0" y="614603"/>
                  </a:lnTo>
                  <a:lnTo>
                    <a:pt x="0" y="609599"/>
                  </a:lnTo>
                  <a:lnTo>
                    <a:pt x="0" y="71196"/>
                  </a:lnTo>
                  <a:lnTo>
                    <a:pt x="11715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5472352" y="0"/>
                  </a:lnTo>
                  <a:lnTo>
                    <a:pt x="5513844" y="15621"/>
                  </a:lnTo>
                  <a:lnTo>
                    <a:pt x="5539663" y="51661"/>
                  </a:lnTo>
                  <a:lnTo>
                    <a:pt x="5543549" y="71196"/>
                  </a:lnTo>
                  <a:lnTo>
                    <a:pt x="5543549" y="614603"/>
                  </a:lnTo>
                  <a:lnTo>
                    <a:pt x="5527927" y="656093"/>
                  </a:lnTo>
                  <a:lnTo>
                    <a:pt x="5491887" y="681914"/>
                  </a:lnTo>
                  <a:lnTo>
                    <a:pt x="5477308" y="685311"/>
                  </a:lnTo>
                  <a:lnTo>
                    <a:pt x="5472352" y="6857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4" name="object 21">
              <a:extLst>
                <a:ext uri="{FF2B5EF4-FFF2-40B4-BE49-F238E27FC236}">
                  <a16:creationId xmlns:a16="http://schemas.microsoft.com/office/drawing/2014/main" id="{640AD3BC-21D1-A166-9826-55B166948614}"/>
                </a:ext>
              </a:extLst>
            </p:cNvPr>
            <p:cNvSpPr/>
            <p:nvPr/>
          </p:nvSpPr>
          <p:spPr>
            <a:xfrm>
              <a:off x="6248399" y="5591452"/>
              <a:ext cx="70485" cy="685800"/>
            </a:xfrm>
            <a:custGeom>
              <a:avLst/>
              <a:gdLst/>
              <a:ahLst/>
              <a:cxnLst/>
              <a:rect l="l" t="t" r="r" b="b"/>
              <a:pathLst>
                <a:path w="70485" h="685800">
                  <a:moveTo>
                    <a:pt x="70450" y="685244"/>
                  </a:moveTo>
                  <a:lnTo>
                    <a:pt x="33857" y="672691"/>
                  </a:lnTo>
                  <a:lnTo>
                    <a:pt x="5800" y="638482"/>
                  </a:lnTo>
                  <a:lnTo>
                    <a:pt x="0" y="6093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609322"/>
                  </a:lnTo>
                  <a:lnTo>
                    <a:pt x="44515" y="651664"/>
                  </a:lnTo>
                  <a:lnTo>
                    <a:pt x="66287" y="683588"/>
                  </a:lnTo>
                  <a:lnTo>
                    <a:pt x="70450" y="68524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35" name="object 22">
              <a:extLst>
                <a:ext uri="{FF2B5EF4-FFF2-40B4-BE49-F238E27FC236}">
                  <a16:creationId xmlns:a16="http://schemas.microsoft.com/office/drawing/2014/main" id="{F0EFC25A-857D-E6F9-FA4B-521B2CE52EA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8399" y="1209674"/>
              <a:ext cx="171449" cy="228599"/>
            </a:xfrm>
            <a:prstGeom prst="rect">
              <a:avLst/>
            </a:prstGeom>
          </p:spPr>
        </p:pic>
      </p:grpSp>
      <p:sp>
        <p:nvSpPr>
          <p:cNvPr id="7" name="object 23">
            <a:extLst>
              <a:ext uri="{FF2B5EF4-FFF2-40B4-BE49-F238E27FC236}">
                <a16:creationId xmlns:a16="http://schemas.microsoft.com/office/drawing/2014/main" id="{5A6AE0BC-942B-D896-2682-01715FB18BE8}"/>
              </a:ext>
            </a:extLst>
          </p:cNvPr>
          <p:cNvSpPr txBox="1"/>
          <p:nvPr/>
        </p:nvSpPr>
        <p:spPr>
          <a:xfrm>
            <a:off x="850900" y="3171557"/>
            <a:ext cx="4843145" cy="71818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방대한 데이터 처리의 비효율</a:t>
            </a:r>
            <a:endParaRPr sz="1250" dirty="0">
              <a:latin typeface="Malgun Gothic"/>
              <a:cs typeface="Malgun Gothic"/>
            </a:endParaRPr>
          </a:p>
          <a:p>
            <a:pPr marL="12700" marR="5080">
              <a:lnSpc>
                <a:spcPts val="1800"/>
              </a:lnSpc>
              <a:spcBef>
                <a:spcPts val="90"/>
              </a:spcBef>
            </a:pP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제조업은 소매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금융 등 타 산업보다 훨씬 많은 데이터를 생성하며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그 </a:t>
            </a:r>
            <a:r>
              <a:rPr sz="1200" dirty="0" err="1">
                <a:solidFill>
                  <a:srgbClr val="4A5462"/>
                </a:solidFill>
                <a:latin typeface="Malgun Gothic"/>
                <a:cs typeface="Malgun Gothic"/>
              </a:rPr>
              <a:t>양이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 매년 기하급수적으로 증가하고 있습니다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24">
            <a:extLst>
              <a:ext uri="{FF2B5EF4-FFF2-40B4-BE49-F238E27FC236}">
                <a16:creationId xmlns:a16="http://schemas.microsoft.com/office/drawing/2014/main" id="{F105CB60-F12D-620A-0542-C381A68B5720}"/>
              </a:ext>
            </a:extLst>
          </p:cNvPr>
          <p:cNvSpPr txBox="1"/>
          <p:nvPr/>
        </p:nvSpPr>
        <p:spPr>
          <a:xfrm>
            <a:off x="917575" y="4390757"/>
            <a:ext cx="4869180" cy="94678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>
            <a:defPPr>
              <a:defRPr kern="0"/>
            </a:defPPr>
          </a:lstStyle>
          <a:p>
            <a:pPr marL="12700" algn="just">
              <a:lnSpc>
                <a:spcPct val="100000"/>
              </a:lnSpc>
              <a:spcBef>
                <a:spcPts val="459"/>
              </a:spcBef>
            </a:pP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고숙련 인력 의존성</a:t>
            </a:r>
            <a:endParaRPr sz="1250" dirty="0">
              <a:latin typeface="Malgun Gothic"/>
              <a:cs typeface="Malgun Gothic"/>
            </a:endParaRPr>
          </a:p>
          <a:p>
            <a:pPr marL="12700" marR="5080" algn="just">
              <a:lnSpc>
                <a:spcPts val="1800"/>
              </a:lnSpc>
              <a:spcBef>
                <a:spcPts val="90"/>
              </a:spcBef>
            </a:pP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사람의 실수로 인한 제품 불량은 전체의 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64%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를 차지할 정도로 </a:t>
            </a:r>
            <a:r>
              <a:rPr sz="1200" dirty="0" err="1">
                <a:solidFill>
                  <a:srgbClr val="4A5462"/>
                </a:solidFill>
                <a:latin typeface="Malgun Gothic"/>
                <a:cs typeface="Malgun Gothic"/>
              </a:rPr>
              <a:t>고숙련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 err="1">
                <a:solidFill>
                  <a:srgbClr val="4A5462"/>
                </a:solidFill>
                <a:latin typeface="Malgun Gothic"/>
                <a:cs typeface="Malgun Gothic"/>
              </a:rPr>
              <a:t>인력에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 대한 의존도가 높으며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이는 품질 편차와 직원의 </a:t>
            </a:r>
            <a:r>
              <a:rPr sz="1200" dirty="0" err="1">
                <a:solidFill>
                  <a:srgbClr val="4A5462"/>
                </a:solidFill>
                <a:latin typeface="Malgun Gothic"/>
                <a:cs typeface="Malgun Gothic"/>
              </a:rPr>
              <a:t>피로도를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 err="1">
                <a:solidFill>
                  <a:srgbClr val="4A5462"/>
                </a:solidFill>
                <a:latin typeface="Malgun Gothic"/>
                <a:cs typeface="Malgun Gothic"/>
              </a:rPr>
              <a:t>유발합니다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" name="object 25">
            <a:extLst>
              <a:ext uri="{FF2B5EF4-FFF2-40B4-BE49-F238E27FC236}">
                <a16:creationId xmlns:a16="http://schemas.microsoft.com/office/drawing/2014/main" id="{3E8DED46-4A57-C3C1-8412-B88592EB201A}"/>
              </a:ext>
            </a:extLst>
          </p:cNvPr>
          <p:cNvSpPr txBox="1"/>
          <p:nvPr/>
        </p:nvSpPr>
        <p:spPr>
          <a:xfrm>
            <a:off x="6544729" y="1300200"/>
            <a:ext cx="374650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b="1" dirty="0">
                <a:solidFill>
                  <a:srgbClr val="374050"/>
                </a:solidFill>
                <a:latin typeface="Arial"/>
                <a:cs typeface="Arial"/>
              </a:rPr>
              <a:t>AI-Augmented Manufacturing </a:t>
            </a:r>
            <a:r>
              <a:rPr sz="1850" dirty="0">
                <a:solidFill>
                  <a:srgbClr val="374050"/>
                </a:solidFill>
                <a:latin typeface="Malgun Gothic"/>
                <a:cs typeface="Malgun Gothic"/>
              </a:rPr>
              <a:t>비전</a:t>
            </a:r>
            <a:endParaRPr sz="1850">
              <a:latin typeface="Malgun Gothic"/>
              <a:cs typeface="Malgun Gothic"/>
            </a:endParaRPr>
          </a:p>
        </p:txBody>
      </p:sp>
      <p:sp>
        <p:nvSpPr>
          <p:cNvPr id="10" name="object 26">
            <a:extLst>
              <a:ext uri="{FF2B5EF4-FFF2-40B4-BE49-F238E27FC236}">
                <a16:creationId xmlns:a16="http://schemas.microsoft.com/office/drawing/2014/main" id="{C4F3EA30-34A1-3DA9-FCBC-2F4AD6B9CB93}"/>
              </a:ext>
            </a:extLst>
          </p:cNvPr>
          <p:cNvSpPr txBox="1"/>
          <p:nvPr/>
        </p:nvSpPr>
        <p:spPr>
          <a:xfrm>
            <a:off x="6432549" y="1960551"/>
            <a:ext cx="5207635" cy="1548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대덕전자의 </a:t>
            </a:r>
            <a:r>
              <a:rPr sz="1200" b="1" dirty="0">
                <a:solidFill>
                  <a:srgbClr val="1F2937"/>
                </a:solidFill>
                <a:latin typeface="Arial"/>
                <a:cs typeface="Arial"/>
              </a:rPr>
              <a:t>AI </a:t>
            </a:r>
            <a:r>
              <a:rPr sz="1200" dirty="0">
                <a:solidFill>
                  <a:srgbClr val="1F2937"/>
                </a:solidFill>
                <a:latin typeface="Malgun Gothic"/>
                <a:cs typeface="Malgun Gothic"/>
              </a:rPr>
              <a:t>증</a:t>
            </a: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강 제조 비전</a:t>
            </a:r>
            <a:endParaRPr sz="125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25000"/>
              </a:lnSpc>
              <a:spcBef>
                <a:spcPts val="590"/>
              </a:spcBef>
            </a:pP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AI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는 단순한 비용 절감을 넘어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제조 공정 자체를 재설계하고 새로운 비즈니스 가치를 창출하는 핵심 동력이 될 것입니다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  <a:p>
            <a:pPr marL="12700" marR="80645" algn="just">
              <a:lnSpc>
                <a:spcPct val="125000"/>
              </a:lnSpc>
              <a:spcBef>
                <a:spcPts val="900"/>
              </a:spcBef>
            </a:pP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AI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증강 제조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: AI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가 인간의 역량을 완전히 대체하는 것이 아니라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200" dirty="0" err="1">
                <a:solidFill>
                  <a:srgbClr val="374050"/>
                </a:solidFill>
                <a:latin typeface="Malgun Gothic"/>
                <a:cs typeface="Malgun Gothic"/>
              </a:rPr>
              <a:t>숙련된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dirty="0" err="1">
                <a:solidFill>
                  <a:srgbClr val="374050"/>
                </a:solidFill>
                <a:latin typeface="Malgun Gothic"/>
                <a:cs typeface="Malgun Gothic"/>
              </a:rPr>
              <a:t>엔지니어와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 현장 작업자의 의사결정 및 생산성을 향상시키는 보조 도구로 작용합 니다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" name="object 27">
            <a:extLst>
              <a:ext uri="{FF2B5EF4-FFF2-40B4-BE49-F238E27FC236}">
                <a16:creationId xmlns:a16="http://schemas.microsoft.com/office/drawing/2014/main" id="{87362A40-A328-F57B-1237-7B5327D6EB2E}"/>
              </a:ext>
            </a:extLst>
          </p:cNvPr>
          <p:cNvSpPr txBox="1"/>
          <p:nvPr/>
        </p:nvSpPr>
        <p:spPr>
          <a:xfrm>
            <a:off x="6242049" y="3865551"/>
            <a:ext cx="1780539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세 가지 핵심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목</a:t>
            </a:r>
            <a:r>
              <a:rPr sz="1150" dirty="0">
                <a:solidFill>
                  <a:srgbClr val="374050"/>
                </a:solidFill>
                <a:latin typeface="Malgun Gothic"/>
                <a:cs typeface="Malgun Gothic"/>
              </a:rPr>
              <a:t>표</a:t>
            </a:r>
            <a:endParaRPr sz="1150" dirty="0">
              <a:latin typeface="Malgun Gothic"/>
              <a:cs typeface="Malgun Gothic"/>
            </a:endParaRPr>
          </a:p>
        </p:txBody>
      </p:sp>
      <p:grpSp>
        <p:nvGrpSpPr>
          <p:cNvPr id="12" name="object 28">
            <a:extLst>
              <a:ext uri="{FF2B5EF4-FFF2-40B4-BE49-F238E27FC236}">
                <a16:creationId xmlns:a16="http://schemas.microsoft.com/office/drawing/2014/main" id="{E04F349E-124E-AD36-69B5-6FAF26C67EA6}"/>
              </a:ext>
            </a:extLst>
          </p:cNvPr>
          <p:cNvGrpSpPr/>
          <p:nvPr/>
        </p:nvGrpSpPr>
        <p:grpSpPr>
          <a:xfrm>
            <a:off x="6254748" y="4294077"/>
            <a:ext cx="1781175" cy="1248092"/>
            <a:chOff x="6248398" y="4152900"/>
            <a:chExt cx="1781175" cy="1248092"/>
          </a:xfrm>
        </p:grpSpPr>
        <p:sp>
          <p:nvSpPr>
            <p:cNvPr id="26" name="object 29">
              <a:extLst>
                <a:ext uri="{FF2B5EF4-FFF2-40B4-BE49-F238E27FC236}">
                  <a16:creationId xmlns:a16="http://schemas.microsoft.com/office/drawing/2014/main" id="{44F61184-86BD-B5CF-7730-DD2520E99E3B}"/>
                </a:ext>
              </a:extLst>
            </p:cNvPr>
            <p:cNvSpPr/>
            <p:nvPr/>
          </p:nvSpPr>
          <p:spPr>
            <a:xfrm>
              <a:off x="6248398" y="4167187"/>
              <a:ext cx="1781175" cy="1233805"/>
            </a:xfrm>
            <a:custGeom>
              <a:avLst/>
              <a:gdLst/>
              <a:ahLst/>
              <a:cxnLst/>
              <a:rect l="l" t="t" r="r" b="b"/>
              <a:pathLst>
                <a:path w="1781175" h="1233804">
                  <a:moveTo>
                    <a:pt x="1709978" y="1233487"/>
                  </a:moveTo>
                  <a:lnTo>
                    <a:pt x="71196" y="1233487"/>
                  </a:lnTo>
                  <a:lnTo>
                    <a:pt x="66241" y="1232999"/>
                  </a:lnTo>
                  <a:lnTo>
                    <a:pt x="29705" y="1217865"/>
                  </a:lnTo>
                  <a:lnTo>
                    <a:pt x="3885" y="1181824"/>
                  </a:lnTo>
                  <a:lnTo>
                    <a:pt x="0" y="1162290"/>
                  </a:lnTo>
                  <a:lnTo>
                    <a:pt x="0" y="1157287"/>
                  </a:lnTo>
                  <a:lnTo>
                    <a:pt x="0" y="57847"/>
                  </a:lnTo>
                  <a:lnTo>
                    <a:pt x="18780" y="21008"/>
                  </a:lnTo>
                  <a:lnTo>
                    <a:pt x="56426" y="1982"/>
                  </a:lnTo>
                  <a:lnTo>
                    <a:pt x="71196" y="0"/>
                  </a:lnTo>
                  <a:lnTo>
                    <a:pt x="1709978" y="0"/>
                  </a:lnTo>
                  <a:lnTo>
                    <a:pt x="1751469" y="12692"/>
                  </a:lnTo>
                  <a:lnTo>
                    <a:pt x="1777289" y="41975"/>
                  </a:lnTo>
                  <a:lnTo>
                    <a:pt x="1781175" y="57847"/>
                  </a:lnTo>
                  <a:lnTo>
                    <a:pt x="1781175" y="1162290"/>
                  </a:lnTo>
                  <a:lnTo>
                    <a:pt x="1765553" y="1203781"/>
                  </a:lnTo>
                  <a:lnTo>
                    <a:pt x="1729512" y="1229601"/>
                  </a:lnTo>
                  <a:lnTo>
                    <a:pt x="1714933" y="1232999"/>
                  </a:lnTo>
                  <a:lnTo>
                    <a:pt x="1709978" y="1233487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7" name="object 30">
              <a:extLst>
                <a:ext uri="{FF2B5EF4-FFF2-40B4-BE49-F238E27FC236}">
                  <a16:creationId xmlns:a16="http://schemas.microsoft.com/office/drawing/2014/main" id="{723F2E19-73A6-AFFF-BDE8-CE7185A9264F}"/>
                </a:ext>
              </a:extLst>
            </p:cNvPr>
            <p:cNvSpPr/>
            <p:nvPr/>
          </p:nvSpPr>
          <p:spPr>
            <a:xfrm>
              <a:off x="6248777" y="4152900"/>
              <a:ext cx="1780539" cy="69215"/>
            </a:xfrm>
            <a:custGeom>
              <a:avLst/>
              <a:gdLst/>
              <a:ahLst/>
              <a:cxnLst/>
              <a:rect l="l" t="t" r="r" b="b"/>
              <a:pathLst>
                <a:path w="1780540" h="69214">
                  <a:moveTo>
                    <a:pt x="0" y="68698"/>
                  </a:moveTo>
                  <a:lnTo>
                    <a:pt x="16888" y="27882"/>
                  </a:lnTo>
                  <a:lnTo>
                    <a:pt x="53734" y="3262"/>
                  </a:lnTo>
                  <a:lnTo>
                    <a:pt x="75822" y="0"/>
                  </a:lnTo>
                  <a:lnTo>
                    <a:pt x="1704597" y="0"/>
                  </a:lnTo>
                  <a:lnTo>
                    <a:pt x="1746937" y="12829"/>
                  </a:lnTo>
                  <a:lnTo>
                    <a:pt x="1764043" y="28574"/>
                  </a:lnTo>
                  <a:lnTo>
                    <a:pt x="75822" y="28574"/>
                  </a:lnTo>
                  <a:lnTo>
                    <a:pt x="68315" y="28801"/>
                  </a:lnTo>
                  <a:lnTo>
                    <a:pt x="27504" y="39366"/>
                  </a:lnTo>
                  <a:lnTo>
                    <a:pt x="1554" y="63808"/>
                  </a:lnTo>
                  <a:lnTo>
                    <a:pt x="0" y="68698"/>
                  </a:lnTo>
                  <a:close/>
                </a:path>
                <a:path w="1780540" h="69214">
                  <a:moveTo>
                    <a:pt x="1780419" y="68698"/>
                  </a:moveTo>
                  <a:lnTo>
                    <a:pt x="1752912" y="39366"/>
                  </a:lnTo>
                  <a:lnTo>
                    <a:pt x="1712103" y="28801"/>
                  </a:lnTo>
                  <a:lnTo>
                    <a:pt x="1704597" y="28574"/>
                  </a:lnTo>
                  <a:lnTo>
                    <a:pt x="1764043" y="28574"/>
                  </a:lnTo>
                  <a:lnTo>
                    <a:pt x="1779346" y="61331"/>
                  </a:lnTo>
                  <a:lnTo>
                    <a:pt x="1780419" y="68698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8" name="object 31">
              <a:extLst>
                <a:ext uri="{FF2B5EF4-FFF2-40B4-BE49-F238E27FC236}">
                  <a16:creationId xmlns:a16="http://schemas.microsoft.com/office/drawing/2014/main" id="{0EE0E4A0-5184-4955-6168-34FC296EB3B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9924" y="4295774"/>
              <a:ext cx="228599" cy="304799"/>
            </a:xfrm>
            <a:prstGeom prst="rect">
              <a:avLst/>
            </a:prstGeom>
          </p:spPr>
        </p:pic>
      </p:grpSp>
      <p:sp>
        <p:nvSpPr>
          <p:cNvPr id="13" name="object 32">
            <a:extLst>
              <a:ext uri="{FF2B5EF4-FFF2-40B4-BE49-F238E27FC236}">
                <a16:creationId xmlns:a16="http://schemas.microsoft.com/office/drawing/2014/main" id="{F6B7EB9C-11B7-779C-5EC1-A78137CC247D}"/>
              </a:ext>
            </a:extLst>
          </p:cNvPr>
          <p:cNvSpPr txBox="1"/>
          <p:nvPr/>
        </p:nvSpPr>
        <p:spPr>
          <a:xfrm>
            <a:off x="6393704" y="4755618"/>
            <a:ext cx="1628883" cy="471283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>
            <a:defPPr>
              <a:defRPr kern="0"/>
            </a:defPPr>
          </a:lstStyle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1200" dirty="0">
                <a:solidFill>
                  <a:srgbClr val="1F2937"/>
                </a:solidFill>
                <a:latin typeface="Malgun Gothic"/>
                <a:cs typeface="Malgun Gothic"/>
              </a:rPr>
              <a:t>불</a:t>
            </a: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량률 제로</a:t>
            </a:r>
            <a:endParaRPr sz="1250" dirty="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AI 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비전 검사로 품질 혁신</a:t>
            </a:r>
            <a:endParaRPr sz="1050" dirty="0">
              <a:latin typeface="Malgun Gothic"/>
              <a:cs typeface="Malgun Gothic"/>
            </a:endParaRPr>
          </a:p>
        </p:txBody>
      </p:sp>
      <p:grpSp>
        <p:nvGrpSpPr>
          <p:cNvPr id="14" name="object 33">
            <a:extLst>
              <a:ext uri="{FF2B5EF4-FFF2-40B4-BE49-F238E27FC236}">
                <a16:creationId xmlns:a16="http://schemas.microsoft.com/office/drawing/2014/main" id="{EBECF8F2-0610-31B2-161D-F3762BDEAF7A}"/>
              </a:ext>
            </a:extLst>
          </p:cNvPr>
          <p:cNvGrpSpPr/>
          <p:nvPr/>
        </p:nvGrpSpPr>
        <p:grpSpPr>
          <a:xfrm>
            <a:off x="8150223" y="4294077"/>
            <a:ext cx="1771650" cy="1248092"/>
            <a:chOff x="8143873" y="4152900"/>
            <a:chExt cx="1771650" cy="1248092"/>
          </a:xfrm>
        </p:grpSpPr>
        <p:sp>
          <p:nvSpPr>
            <p:cNvPr id="23" name="object 34">
              <a:extLst>
                <a:ext uri="{FF2B5EF4-FFF2-40B4-BE49-F238E27FC236}">
                  <a16:creationId xmlns:a16="http://schemas.microsoft.com/office/drawing/2014/main" id="{54E85977-A7AF-F2B1-C59C-0D74007684E4}"/>
                </a:ext>
              </a:extLst>
            </p:cNvPr>
            <p:cNvSpPr/>
            <p:nvPr/>
          </p:nvSpPr>
          <p:spPr>
            <a:xfrm>
              <a:off x="8143873" y="4167187"/>
              <a:ext cx="1771650" cy="1233805"/>
            </a:xfrm>
            <a:custGeom>
              <a:avLst/>
              <a:gdLst/>
              <a:ahLst/>
              <a:cxnLst/>
              <a:rect l="l" t="t" r="r" b="b"/>
              <a:pathLst>
                <a:path w="1771650" h="1233804">
                  <a:moveTo>
                    <a:pt x="1700453" y="1233487"/>
                  </a:moveTo>
                  <a:lnTo>
                    <a:pt x="71196" y="1233487"/>
                  </a:lnTo>
                  <a:lnTo>
                    <a:pt x="66241" y="1232999"/>
                  </a:lnTo>
                  <a:lnTo>
                    <a:pt x="29705" y="1217865"/>
                  </a:lnTo>
                  <a:lnTo>
                    <a:pt x="3885" y="1181824"/>
                  </a:lnTo>
                  <a:lnTo>
                    <a:pt x="0" y="1162290"/>
                  </a:lnTo>
                  <a:lnTo>
                    <a:pt x="0" y="1157287"/>
                  </a:lnTo>
                  <a:lnTo>
                    <a:pt x="0" y="57847"/>
                  </a:lnTo>
                  <a:lnTo>
                    <a:pt x="18780" y="21008"/>
                  </a:lnTo>
                  <a:lnTo>
                    <a:pt x="56426" y="1982"/>
                  </a:lnTo>
                  <a:lnTo>
                    <a:pt x="71196" y="0"/>
                  </a:lnTo>
                  <a:lnTo>
                    <a:pt x="1700453" y="0"/>
                  </a:lnTo>
                  <a:lnTo>
                    <a:pt x="1741944" y="12692"/>
                  </a:lnTo>
                  <a:lnTo>
                    <a:pt x="1767763" y="41975"/>
                  </a:lnTo>
                  <a:lnTo>
                    <a:pt x="1771649" y="57847"/>
                  </a:lnTo>
                  <a:lnTo>
                    <a:pt x="1771649" y="1162290"/>
                  </a:lnTo>
                  <a:lnTo>
                    <a:pt x="1756026" y="1203781"/>
                  </a:lnTo>
                  <a:lnTo>
                    <a:pt x="1719987" y="1229601"/>
                  </a:lnTo>
                  <a:lnTo>
                    <a:pt x="1705409" y="1232999"/>
                  </a:lnTo>
                  <a:lnTo>
                    <a:pt x="1700453" y="1233487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4" name="object 35">
              <a:extLst>
                <a:ext uri="{FF2B5EF4-FFF2-40B4-BE49-F238E27FC236}">
                  <a16:creationId xmlns:a16="http://schemas.microsoft.com/office/drawing/2014/main" id="{AECE9E2C-0DD0-71A6-0D1C-405EEE6080AB}"/>
                </a:ext>
              </a:extLst>
            </p:cNvPr>
            <p:cNvSpPr/>
            <p:nvPr/>
          </p:nvSpPr>
          <p:spPr>
            <a:xfrm>
              <a:off x="8144251" y="4152900"/>
              <a:ext cx="1771014" cy="69215"/>
            </a:xfrm>
            <a:custGeom>
              <a:avLst/>
              <a:gdLst/>
              <a:ahLst/>
              <a:cxnLst/>
              <a:rect l="l" t="t" r="r" b="b"/>
              <a:pathLst>
                <a:path w="1771015" h="69214">
                  <a:moveTo>
                    <a:pt x="0" y="68698"/>
                  </a:moveTo>
                  <a:lnTo>
                    <a:pt x="16888" y="27882"/>
                  </a:lnTo>
                  <a:lnTo>
                    <a:pt x="53734" y="3262"/>
                  </a:lnTo>
                  <a:lnTo>
                    <a:pt x="75822" y="0"/>
                  </a:lnTo>
                  <a:lnTo>
                    <a:pt x="1695072" y="0"/>
                  </a:lnTo>
                  <a:lnTo>
                    <a:pt x="1737413" y="12829"/>
                  </a:lnTo>
                  <a:lnTo>
                    <a:pt x="1754518" y="28574"/>
                  </a:lnTo>
                  <a:lnTo>
                    <a:pt x="75822" y="28574"/>
                  </a:lnTo>
                  <a:lnTo>
                    <a:pt x="68315" y="28801"/>
                  </a:lnTo>
                  <a:lnTo>
                    <a:pt x="27504" y="39366"/>
                  </a:lnTo>
                  <a:lnTo>
                    <a:pt x="1554" y="63808"/>
                  </a:lnTo>
                  <a:lnTo>
                    <a:pt x="0" y="68698"/>
                  </a:lnTo>
                  <a:close/>
                </a:path>
                <a:path w="1771015" h="69214">
                  <a:moveTo>
                    <a:pt x="1770894" y="68698"/>
                  </a:moveTo>
                  <a:lnTo>
                    <a:pt x="1743388" y="39366"/>
                  </a:lnTo>
                  <a:lnTo>
                    <a:pt x="1702578" y="28801"/>
                  </a:lnTo>
                  <a:lnTo>
                    <a:pt x="1695072" y="28574"/>
                  </a:lnTo>
                  <a:lnTo>
                    <a:pt x="1754518" y="28574"/>
                  </a:lnTo>
                  <a:lnTo>
                    <a:pt x="1769821" y="61331"/>
                  </a:lnTo>
                  <a:lnTo>
                    <a:pt x="1770894" y="68698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5" name="object 36">
              <a:extLst>
                <a:ext uri="{FF2B5EF4-FFF2-40B4-BE49-F238E27FC236}">
                  <a16:creationId xmlns:a16="http://schemas.microsoft.com/office/drawing/2014/main" id="{C7BE0D54-E384-442D-77BC-C718EB50FAC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15399" y="4295774"/>
              <a:ext cx="228599" cy="304799"/>
            </a:xfrm>
            <a:prstGeom prst="rect">
              <a:avLst/>
            </a:prstGeom>
          </p:spPr>
        </p:pic>
      </p:grpSp>
      <p:sp>
        <p:nvSpPr>
          <p:cNvPr id="15" name="object 37">
            <a:extLst>
              <a:ext uri="{FF2B5EF4-FFF2-40B4-BE49-F238E27FC236}">
                <a16:creationId xmlns:a16="http://schemas.microsoft.com/office/drawing/2014/main" id="{4783F6F7-B9B9-45C0-411C-D83DC0713B42}"/>
              </a:ext>
            </a:extLst>
          </p:cNvPr>
          <p:cNvSpPr txBox="1"/>
          <p:nvPr/>
        </p:nvSpPr>
        <p:spPr>
          <a:xfrm>
            <a:off x="8417979" y="4755618"/>
            <a:ext cx="1319312" cy="637162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>
            <a:defPPr>
              <a:defRPr kern="0"/>
            </a:defPPr>
          </a:lstStyle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생산성 향상</a:t>
            </a:r>
            <a:endParaRPr sz="1250" dirty="0">
              <a:latin typeface="Malgun Gothic"/>
              <a:cs typeface="Malgun Gothic"/>
            </a:endParaRPr>
          </a:p>
          <a:p>
            <a:pPr marL="12700" marR="5080" algn="ctr">
              <a:lnSpc>
                <a:spcPct val="119000"/>
              </a:lnSpc>
              <a:spcBef>
                <a:spcPts val="11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납기 준수율 증가로 고객 신뢰 높임</a:t>
            </a:r>
            <a:endParaRPr sz="1050" dirty="0">
              <a:latin typeface="Malgun Gothic"/>
              <a:cs typeface="Malgun Gothic"/>
            </a:endParaRPr>
          </a:p>
        </p:txBody>
      </p:sp>
      <p:grpSp>
        <p:nvGrpSpPr>
          <p:cNvPr id="16" name="object 38">
            <a:extLst>
              <a:ext uri="{FF2B5EF4-FFF2-40B4-BE49-F238E27FC236}">
                <a16:creationId xmlns:a16="http://schemas.microsoft.com/office/drawing/2014/main" id="{34C9F684-7F5D-8F42-2930-FFFA81C09D1D}"/>
              </a:ext>
            </a:extLst>
          </p:cNvPr>
          <p:cNvGrpSpPr/>
          <p:nvPr/>
        </p:nvGrpSpPr>
        <p:grpSpPr>
          <a:xfrm>
            <a:off x="10036174" y="4294077"/>
            <a:ext cx="1781175" cy="1248092"/>
            <a:chOff x="10029824" y="4152900"/>
            <a:chExt cx="1781175" cy="1248092"/>
          </a:xfrm>
        </p:grpSpPr>
        <p:sp>
          <p:nvSpPr>
            <p:cNvPr id="20" name="object 39">
              <a:extLst>
                <a:ext uri="{FF2B5EF4-FFF2-40B4-BE49-F238E27FC236}">
                  <a16:creationId xmlns:a16="http://schemas.microsoft.com/office/drawing/2014/main" id="{C49BFF68-C76E-D6DD-2D7B-62CC33D738C4}"/>
                </a:ext>
              </a:extLst>
            </p:cNvPr>
            <p:cNvSpPr/>
            <p:nvPr/>
          </p:nvSpPr>
          <p:spPr>
            <a:xfrm>
              <a:off x="10029824" y="4167187"/>
              <a:ext cx="1781175" cy="1233805"/>
            </a:xfrm>
            <a:custGeom>
              <a:avLst/>
              <a:gdLst/>
              <a:ahLst/>
              <a:cxnLst/>
              <a:rect l="l" t="t" r="r" b="b"/>
              <a:pathLst>
                <a:path w="1781175" h="1233804">
                  <a:moveTo>
                    <a:pt x="1709978" y="1233487"/>
                  </a:moveTo>
                  <a:lnTo>
                    <a:pt x="71196" y="1233487"/>
                  </a:lnTo>
                  <a:lnTo>
                    <a:pt x="66241" y="1232999"/>
                  </a:lnTo>
                  <a:lnTo>
                    <a:pt x="29705" y="1217865"/>
                  </a:lnTo>
                  <a:lnTo>
                    <a:pt x="3885" y="1181824"/>
                  </a:lnTo>
                  <a:lnTo>
                    <a:pt x="0" y="1157287"/>
                  </a:lnTo>
                  <a:lnTo>
                    <a:pt x="1" y="57847"/>
                  </a:lnTo>
                  <a:lnTo>
                    <a:pt x="18780" y="21008"/>
                  </a:lnTo>
                  <a:lnTo>
                    <a:pt x="56426" y="1982"/>
                  </a:lnTo>
                  <a:lnTo>
                    <a:pt x="71196" y="0"/>
                  </a:lnTo>
                  <a:lnTo>
                    <a:pt x="1709978" y="0"/>
                  </a:lnTo>
                  <a:lnTo>
                    <a:pt x="1751469" y="12692"/>
                  </a:lnTo>
                  <a:lnTo>
                    <a:pt x="1777289" y="41975"/>
                  </a:lnTo>
                  <a:lnTo>
                    <a:pt x="1781174" y="57847"/>
                  </a:lnTo>
                  <a:lnTo>
                    <a:pt x="1781174" y="1162290"/>
                  </a:lnTo>
                  <a:lnTo>
                    <a:pt x="1765552" y="1203781"/>
                  </a:lnTo>
                  <a:lnTo>
                    <a:pt x="1729512" y="1229601"/>
                  </a:lnTo>
                  <a:lnTo>
                    <a:pt x="1709978" y="1233487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1" name="object 40">
              <a:extLst>
                <a:ext uri="{FF2B5EF4-FFF2-40B4-BE49-F238E27FC236}">
                  <a16:creationId xmlns:a16="http://schemas.microsoft.com/office/drawing/2014/main" id="{79F38ECC-59C3-6B44-239C-1F7F982E238E}"/>
                </a:ext>
              </a:extLst>
            </p:cNvPr>
            <p:cNvSpPr/>
            <p:nvPr/>
          </p:nvSpPr>
          <p:spPr>
            <a:xfrm>
              <a:off x="10030202" y="4152900"/>
              <a:ext cx="1780539" cy="69215"/>
            </a:xfrm>
            <a:custGeom>
              <a:avLst/>
              <a:gdLst/>
              <a:ahLst/>
              <a:cxnLst/>
              <a:rect l="l" t="t" r="r" b="b"/>
              <a:pathLst>
                <a:path w="1780540" h="69214">
                  <a:moveTo>
                    <a:pt x="0" y="68698"/>
                  </a:moveTo>
                  <a:lnTo>
                    <a:pt x="16887" y="27882"/>
                  </a:lnTo>
                  <a:lnTo>
                    <a:pt x="53734" y="3262"/>
                  </a:lnTo>
                  <a:lnTo>
                    <a:pt x="75822" y="0"/>
                  </a:lnTo>
                  <a:lnTo>
                    <a:pt x="1704597" y="0"/>
                  </a:lnTo>
                  <a:lnTo>
                    <a:pt x="1746938" y="12829"/>
                  </a:lnTo>
                  <a:lnTo>
                    <a:pt x="1764043" y="28574"/>
                  </a:lnTo>
                  <a:lnTo>
                    <a:pt x="75822" y="28574"/>
                  </a:lnTo>
                  <a:lnTo>
                    <a:pt x="68315" y="28801"/>
                  </a:lnTo>
                  <a:lnTo>
                    <a:pt x="27504" y="39366"/>
                  </a:lnTo>
                  <a:lnTo>
                    <a:pt x="1554" y="63808"/>
                  </a:lnTo>
                  <a:lnTo>
                    <a:pt x="0" y="68698"/>
                  </a:lnTo>
                  <a:close/>
                </a:path>
                <a:path w="1780540" h="69214">
                  <a:moveTo>
                    <a:pt x="1780419" y="68698"/>
                  </a:moveTo>
                  <a:lnTo>
                    <a:pt x="1752913" y="39366"/>
                  </a:lnTo>
                  <a:lnTo>
                    <a:pt x="1712103" y="28801"/>
                  </a:lnTo>
                  <a:lnTo>
                    <a:pt x="1704597" y="28574"/>
                  </a:lnTo>
                  <a:lnTo>
                    <a:pt x="1764043" y="28574"/>
                  </a:lnTo>
                  <a:lnTo>
                    <a:pt x="1779346" y="61331"/>
                  </a:lnTo>
                  <a:lnTo>
                    <a:pt x="1780419" y="68698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2" name="object 41">
              <a:extLst>
                <a:ext uri="{FF2B5EF4-FFF2-40B4-BE49-F238E27FC236}">
                  <a16:creationId xmlns:a16="http://schemas.microsoft.com/office/drawing/2014/main" id="{58F5BFE2-C104-6E9E-478C-D5B99A370D4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82299" y="4295774"/>
              <a:ext cx="285749" cy="304799"/>
            </a:xfrm>
            <a:prstGeom prst="rect">
              <a:avLst/>
            </a:prstGeom>
          </p:spPr>
        </p:pic>
      </p:grpSp>
      <p:sp>
        <p:nvSpPr>
          <p:cNvPr id="17" name="object 42">
            <a:extLst>
              <a:ext uri="{FF2B5EF4-FFF2-40B4-BE49-F238E27FC236}">
                <a16:creationId xmlns:a16="http://schemas.microsoft.com/office/drawing/2014/main" id="{C0CB22F9-CF3E-1954-BFB6-5F7D4F3977F9}"/>
              </a:ext>
            </a:extLst>
          </p:cNvPr>
          <p:cNvSpPr txBox="1"/>
          <p:nvPr/>
        </p:nvSpPr>
        <p:spPr>
          <a:xfrm>
            <a:off x="10159800" y="4755618"/>
            <a:ext cx="1657291" cy="637162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>
            <a:defPPr>
              <a:defRPr kern="0"/>
            </a:defPPr>
          </a:lstStyle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공장 최적화</a:t>
            </a:r>
            <a:endParaRPr sz="1250" dirty="0">
              <a:latin typeface="Malgun Gothic"/>
              <a:cs typeface="Malgun Gothic"/>
            </a:endParaRPr>
          </a:p>
          <a:p>
            <a:pPr marL="12065" marR="5080" algn="ctr">
              <a:lnSpc>
                <a:spcPct val="119000"/>
              </a:lnSpc>
              <a:spcBef>
                <a:spcPts val="110"/>
              </a:spcBef>
            </a:pP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AI 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기반 예측 및 자율 시스 템으로 효율성 확보</a:t>
            </a:r>
            <a:endParaRPr sz="1050" dirty="0">
              <a:latin typeface="Malgun Gothic"/>
              <a:cs typeface="Malgun Gothic"/>
            </a:endParaRPr>
          </a:p>
        </p:txBody>
      </p:sp>
      <p:pic>
        <p:nvPicPr>
          <p:cNvPr id="18" name="object 43">
            <a:extLst>
              <a:ext uri="{FF2B5EF4-FFF2-40B4-BE49-F238E27FC236}">
                <a16:creationId xmlns:a16="http://schemas.microsoft.com/office/drawing/2014/main" id="{EC6B9B2A-989E-EF06-2E4C-C485B499EDD6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07149" y="5875226"/>
            <a:ext cx="171449" cy="152399"/>
          </a:xfrm>
          <a:prstGeom prst="rect">
            <a:avLst/>
          </a:prstGeom>
        </p:spPr>
      </p:pic>
      <p:sp>
        <p:nvSpPr>
          <p:cNvPr id="19" name="object 44">
            <a:extLst>
              <a:ext uri="{FF2B5EF4-FFF2-40B4-BE49-F238E27FC236}">
                <a16:creationId xmlns:a16="http://schemas.microsoft.com/office/drawing/2014/main" id="{ED61F7CD-007B-9528-5E74-0FD5C5130DBF}"/>
              </a:ext>
            </a:extLst>
          </p:cNvPr>
          <p:cNvSpPr txBox="1"/>
          <p:nvPr/>
        </p:nvSpPr>
        <p:spPr>
          <a:xfrm>
            <a:off x="6394449" y="5797756"/>
            <a:ext cx="5268595" cy="451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080" indent="28956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1D40AF"/>
                </a:solidFill>
                <a:latin typeface="Malgun Gothic"/>
                <a:cs typeface="Malgun Gothic"/>
              </a:rPr>
              <a:t>대덕전자는 단순한 제조업체를 넘어</a:t>
            </a:r>
            <a:r>
              <a:rPr sz="1200" dirty="0">
                <a:solidFill>
                  <a:srgbClr val="1D40AF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1D40AF"/>
                </a:solidFill>
                <a:latin typeface="Malgun Gothic"/>
                <a:cs typeface="Malgun Gothic"/>
              </a:rPr>
              <a:t>글로벌 시장에서 압도적인 초격차 경 쟁력을 갖춘 기업으로 도약할 것입니다</a:t>
            </a:r>
            <a:r>
              <a:rPr sz="1200" dirty="0">
                <a:solidFill>
                  <a:srgbClr val="1D40AF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44" name="object 26">
            <a:extLst>
              <a:ext uri="{FF2B5EF4-FFF2-40B4-BE49-F238E27FC236}">
                <a16:creationId xmlns:a16="http://schemas.microsoft.com/office/drawing/2014/main" id="{CDE34FF6-01B2-1CEC-C6F9-4FFC2071488B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12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F5A70005-B07E-3002-E5C7-04F4B46BB711}"/>
              </a:ext>
            </a:extLst>
          </p:cNvPr>
          <p:cNvSpPr txBox="1">
            <a:spLocks noGrp="1"/>
          </p:cNvSpPr>
          <p:nvPr/>
        </p:nvSpPr>
        <p:spPr>
          <a:xfrm>
            <a:off x="374650" y="303573"/>
            <a:ext cx="6483984" cy="44371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dirty="0"/>
              <a:t>대덕전자 현황 분석</a:t>
            </a: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63D631F3-391C-8ECB-CFC5-C3E8AFAB17A8}"/>
              </a:ext>
            </a:extLst>
          </p:cNvPr>
          <p:cNvGrpSpPr/>
          <p:nvPr/>
        </p:nvGrpSpPr>
        <p:grpSpPr>
          <a:xfrm>
            <a:off x="387338" y="879363"/>
            <a:ext cx="5600712" cy="4381778"/>
            <a:chOff x="380987" y="1104899"/>
            <a:chExt cx="5600712" cy="4381778"/>
          </a:xfrm>
        </p:grpSpPr>
        <p:sp>
          <p:nvSpPr>
            <p:cNvPr id="45" name="object 5">
              <a:extLst>
                <a:ext uri="{FF2B5EF4-FFF2-40B4-BE49-F238E27FC236}">
                  <a16:creationId xmlns:a16="http://schemas.microsoft.com/office/drawing/2014/main" id="{6B242F9A-E71A-A6EF-7A0C-9F625292A08C}"/>
                </a:ext>
              </a:extLst>
            </p:cNvPr>
            <p:cNvSpPr/>
            <p:nvPr/>
          </p:nvSpPr>
          <p:spPr>
            <a:xfrm>
              <a:off x="380987" y="1104899"/>
              <a:ext cx="5600700" cy="3238500"/>
            </a:xfrm>
            <a:custGeom>
              <a:avLst/>
              <a:gdLst/>
              <a:ahLst/>
              <a:cxnLst/>
              <a:rect l="l" t="t" r="r" b="b"/>
              <a:pathLst>
                <a:path w="5600700" h="3238500">
                  <a:moveTo>
                    <a:pt x="5600700" y="2319109"/>
                  </a:moveTo>
                  <a:lnTo>
                    <a:pt x="5585079" y="2277605"/>
                  </a:lnTo>
                  <a:lnTo>
                    <a:pt x="5549049" y="2251786"/>
                  </a:lnTo>
                  <a:lnTo>
                    <a:pt x="5529504" y="2247900"/>
                  </a:lnTo>
                  <a:lnTo>
                    <a:pt x="72453" y="2247900"/>
                  </a:lnTo>
                  <a:lnTo>
                    <a:pt x="38442" y="2266683"/>
                  </a:lnTo>
                  <a:lnTo>
                    <a:pt x="20891" y="2304338"/>
                  </a:lnTo>
                  <a:lnTo>
                    <a:pt x="19050" y="2319109"/>
                  </a:lnTo>
                  <a:lnTo>
                    <a:pt x="19050" y="3162300"/>
                  </a:lnTo>
                  <a:lnTo>
                    <a:pt x="19050" y="3167303"/>
                  </a:lnTo>
                  <a:lnTo>
                    <a:pt x="30772" y="3208794"/>
                  </a:lnTo>
                  <a:lnTo>
                    <a:pt x="61379" y="3236061"/>
                  </a:lnTo>
                  <a:lnTo>
                    <a:pt x="72453" y="3238500"/>
                  </a:lnTo>
                  <a:lnTo>
                    <a:pt x="5529504" y="3238500"/>
                  </a:lnTo>
                  <a:lnTo>
                    <a:pt x="5570994" y="3222879"/>
                  </a:lnTo>
                  <a:lnTo>
                    <a:pt x="5596814" y="3186849"/>
                  </a:lnTo>
                  <a:lnTo>
                    <a:pt x="5600700" y="3167303"/>
                  </a:lnTo>
                  <a:lnTo>
                    <a:pt x="5600700" y="2319109"/>
                  </a:lnTo>
                  <a:close/>
                </a:path>
                <a:path w="5600700" h="3238500">
                  <a:moveTo>
                    <a:pt x="5600700" y="71208"/>
                  </a:moveTo>
                  <a:lnTo>
                    <a:pt x="5585079" y="29705"/>
                  </a:lnTo>
                  <a:lnTo>
                    <a:pt x="5549049" y="3886"/>
                  </a:lnTo>
                  <a:lnTo>
                    <a:pt x="5529504" y="0"/>
                  </a:lnTo>
                  <a:lnTo>
                    <a:pt x="71208" y="0"/>
                  </a:lnTo>
                  <a:lnTo>
                    <a:pt x="29718" y="15633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0" y="1600200"/>
                  </a:lnTo>
                  <a:lnTo>
                    <a:pt x="0" y="1605203"/>
                  </a:lnTo>
                  <a:lnTo>
                    <a:pt x="15633" y="1646694"/>
                  </a:lnTo>
                  <a:lnTo>
                    <a:pt x="51663" y="1672513"/>
                  </a:lnTo>
                  <a:lnTo>
                    <a:pt x="71208" y="1676400"/>
                  </a:lnTo>
                  <a:lnTo>
                    <a:pt x="5529504" y="1676400"/>
                  </a:lnTo>
                  <a:lnTo>
                    <a:pt x="5570994" y="1660779"/>
                  </a:lnTo>
                  <a:lnTo>
                    <a:pt x="5596814" y="1624749"/>
                  </a:lnTo>
                  <a:lnTo>
                    <a:pt x="5600700" y="1605203"/>
                  </a:lnTo>
                  <a:lnTo>
                    <a:pt x="5600700" y="712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6" name="object 6">
              <a:extLst>
                <a:ext uri="{FF2B5EF4-FFF2-40B4-BE49-F238E27FC236}">
                  <a16:creationId xmlns:a16="http://schemas.microsoft.com/office/drawing/2014/main" id="{0E178095-DAD3-970E-C1D2-CC9929AC1C16}"/>
                </a:ext>
              </a:extLst>
            </p:cNvPr>
            <p:cNvSpPr/>
            <p:nvPr/>
          </p:nvSpPr>
          <p:spPr>
            <a:xfrm>
              <a:off x="380999" y="3353077"/>
              <a:ext cx="70485" cy="990600"/>
            </a:xfrm>
            <a:custGeom>
              <a:avLst/>
              <a:gdLst/>
              <a:ahLst/>
              <a:cxnLst/>
              <a:rect l="l" t="t" r="r" b="b"/>
              <a:pathLst>
                <a:path w="70484" h="990600">
                  <a:moveTo>
                    <a:pt x="70450" y="990044"/>
                  </a:moveTo>
                  <a:lnTo>
                    <a:pt x="33857" y="977491"/>
                  </a:lnTo>
                  <a:lnTo>
                    <a:pt x="5800" y="943282"/>
                  </a:lnTo>
                  <a:lnTo>
                    <a:pt x="0" y="9141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14122"/>
                  </a:lnTo>
                  <a:lnTo>
                    <a:pt x="44514" y="956464"/>
                  </a:lnTo>
                  <a:lnTo>
                    <a:pt x="66287" y="988388"/>
                  </a:lnTo>
                  <a:lnTo>
                    <a:pt x="70450" y="990044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7" name="object 7">
              <a:extLst>
                <a:ext uri="{FF2B5EF4-FFF2-40B4-BE49-F238E27FC236}">
                  <a16:creationId xmlns:a16="http://schemas.microsoft.com/office/drawing/2014/main" id="{739C4016-7FB8-8BA7-5A0C-DE36552A92AE}"/>
                </a:ext>
              </a:extLst>
            </p:cNvPr>
            <p:cNvSpPr/>
            <p:nvPr/>
          </p:nvSpPr>
          <p:spPr>
            <a:xfrm>
              <a:off x="400049" y="4495799"/>
              <a:ext cx="5581650" cy="990600"/>
            </a:xfrm>
            <a:custGeom>
              <a:avLst/>
              <a:gdLst/>
              <a:ahLst/>
              <a:cxnLst/>
              <a:rect l="l" t="t" r="r" b="b"/>
              <a:pathLst>
                <a:path w="5581650" h="990600">
                  <a:moveTo>
                    <a:pt x="5510452" y="990599"/>
                  </a:moveTo>
                  <a:lnTo>
                    <a:pt x="53397" y="990599"/>
                  </a:lnTo>
                  <a:lnTo>
                    <a:pt x="49681" y="990111"/>
                  </a:lnTo>
                  <a:lnTo>
                    <a:pt x="14085" y="964742"/>
                  </a:lnTo>
                  <a:lnTo>
                    <a:pt x="366" y="924358"/>
                  </a:lnTo>
                  <a:lnTo>
                    <a:pt x="0" y="919403"/>
                  </a:lnTo>
                  <a:lnTo>
                    <a:pt x="0" y="9143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510452" y="0"/>
                  </a:lnTo>
                  <a:lnTo>
                    <a:pt x="5551943" y="15621"/>
                  </a:lnTo>
                  <a:lnTo>
                    <a:pt x="5577762" y="51661"/>
                  </a:lnTo>
                  <a:lnTo>
                    <a:pt x="5581649" y="71196"/>
                  </a:lnTo>
                  <a:lnTo>
                    <a:pt x="5581649" y="919403"/>
                  </a:lnTo>
                  <a:lnTo>
                    <a:pt x="5566026" y="960893"/>
                  </a:lnTo>
                  <a:lnTo>
                    <a:pt x="5529987" y="986713"/>
                  </a:lnTo>
                  <a:lnTo>
                    <a:pt x="5515407" y="990111"/>
                  </a:lnTo>
                  <a:lnTo>
                    <a:pt x="5510452" y="990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8" name="object 8">
              <a:extLst>
                <a:ext uri="{FF2B5EF4-FFF2-40B4-BE49-F238E27FC236}">
                  <a16:creationId xmlns:a16="http://schemas.microsoft.com/office/drawing/2014/main" id="{D4AE9E23-7679-0275-EEB3-451052DE1B42}"/>
                </a:ext>
              </a:extLst>
            </p:cNvPr>
            <p:cNvSpPr/>
            <p:nvPr/>
          </p:nvSpPr>
          <p:spPr>
            <a:xfrm>
              <a:off x="380999" y="4496077"/>
              <a:ext cx="70485" cy="990600"/>
            </a:xfrm>
            <a:custGeom>
              <a:avLst/>
              <a:gdLst/>
              <a:ahLst/>
              <a:cxnLst/>
              <a:rect l="l" t="t" r="r" b="b"/>
              <a:pathLst>
                <a:path w="70484" h="990600">
                  <a:moveTo>
                    <a:pt x="70450" y="990044"/>
                  </a:moveTo>
                  <a:lnTo>
                    <a:pt x="33857" y="977491"/>
                  </a:lnTo>
                  <a:lnTo>
                    <a:pt x="5800" y="943282"/>
                  </a:lnTo>
                  <a:lnTo>
                    <a:pt x="0" y="9141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14122"/>
                  </a:lnTo>
                  <a:lnTo>
                    <a:pt x="44514" y="956464"/>
                  </a:lnTo>
                  <a:lnTo>
                    <a:pt x="66287" y="988388"/>
                  </a:lnTo>
                  <a:lnTo>
                    <a:pt x="70450" y="990044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49" name="object 9">
              <a:extLst>
                <a:ext uri="{FF2B5EF4-FFF2-40B4-BE49-F238E27FC236}">
                  <a16:creationId xmlns:a16="http://schemas.microsoft.com/office/drawing/2014/main" id="{16AC38DD-4505-35BB-9301-8047E9D3DE0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399" y="1304924"/>
              <a:ext cx="142874" cy="190499"/>
            </a:xfrm>
            <a:prstGeom prst="rect">
              <a:avLst/>
            </a:prstGeom>
          </p:spPr>
        </p:pic>
      </p:grpSp>
      <p:sp>
        <p:nvSpPr>
          <p:cNvPr id="4" name="object 10">
            <a:extLst>
              <a:ext uri="{FF2B5EF4-FFF2-40B4-BE49-F238E27FC236}">
                <a16:creationId xmlns:a16="http://schemas.microsoft.com/office/drawing/2014/main" id="{1D23421D-FBC5-F7B3-9A85-F26DF219656C}"/>
              </a:ext>
            </a:extLst>
          </p:cNvPr>
          <p:cNvSpPr txBox="1"/>
          <p:nvPr/>
        </p:nvSpPr>
        <p:spPr>
          <a:xfrm>
            <a:off x="746124" y="1013349"/>
            <a:ext cx="1311275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기업 개요</a:t>
            </a:r>
            <a:endParaRPr sz="1700" dirty="0">
              <a:latin typeface="Malgun Gothic"/>
              <a:cs typeface="Malgun Gothic"/>
            </a:endParaRPr>
          </a:p>
        </p:txBody>
      </p:sp>
      <p:sp>
        <p:nvSpPr>
          <p:cNvPr id="5" name="object 11">
            <a:extLst>
              <a:ext uri="{FF2B5EF4-FFF2-40B4-BE49-F238E27FC236}">
                <a16:creationId xmlns:a16="http://schemas.microsoft.com/office/drawing/2014/main" id="{A04377E4-E638-488C-0B3C-3508A9453798}"/>
              </a:ext>
            </a:extLst>
          </p:cNvPr>
          <p:cNvSpPr txBox="1"/>
          <p:nvPr/>
        </p:nvSpPr>
        <p:spPr>
          <a:xfrm>
            <a:off x="527051" y="1386881"/>
            <a:ext cx="5271135" cy="11580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lang="en-US"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한국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최초로 </a:t>
            </a:r>
            <a:r>
              <a:rPr sz="1300" dirty="0">
                <a:solidFill>
                  <a:srgbClr val="4A5462"/>
                </a:solidFill>
                <a:latin typeface="Microsoft Sans Serif"/>
                <a:cs typeface="Microsoft Sans Serif"/>
              </a:rPr>
              <a:t>PCB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를 양산하며 </a:t>
            </a:r>
            <a:r>
              <a:rPr sz="1300" dirty="0">
                <a:solidFill>
                  <a:srgbClr val="4A5462"/>
                </a:solidFill>
                <a:latin typeface="Microsoft Sans Serif"/>
                <a:cs typeface="Microsoft Sans Serif"/>
              </a:rPr>
              <a:t>60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년 이상 국내 전자 산업 발전에 기여해 온 역사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깊은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기업</a:t>
            </a:r>
            <a:r>
              <a:rPr lang="ko-KR" altLang="en-US" sz="1350" dirty="0">
                <a:solidFill>
                  <a:srgbClr val="4A5462"/>
                </a:solidFill>
                <a:latin typeface="Malgun Gothic"/>
                <a:cs typeface="Malgun Gothic"/>
              </a:rPr>
              <a:t>으로 </a:t>
            </a:r>
            <a:r>
              <a:rPr lang="en-US" altLang="ko-KR" sz="1350" dirty="0">
                <a:solidFill>
                  <a:srgbClr val="4A5462"/>
                </a:solidFill>
                <a:latin typeface="Malgun Gothic"/>
                <a:cs typeface="Malgun Gothic"/>
              </a:rPr>
              <a:t>, </a:t>
            </a:r>
            <a:r>
              <a:rPr lang="ko-KR" altLang="en-US" sz="1350" dirty="0">
                <a:solidFill>
                  <a:srgbClr val="4A5462"/>
                </a:solidFill>
                <a:latin typeface="Malgun Gothic"/>
                <a:cs typeface="Malgun Gothic"/>
              </a:rPr>
              <a:t>스마트 제조 시스템 도입으로 공정 데이터 수집 및 분석 시스템 운영 중 </a:t>
            </a:r>
            <a:r>
              <a:rPr lang="en-US" altLang="ko-KR" sz="1300" dirty="0">
                <a:solidFill>
                  <a:srgbClr val="4A5462"/>
                </a:solidFill>
                <a:latin typeface="Microsoft Sans Serif"/>
                <a:cs typeface="Microsoft Sans Serif"/>
              </a:rPr>
              <a:t>JMP </a:t>
            </a:r>
            <a:r>
              <a:rPr lang="ko-KR" altLang="en-US" sz="1350" dirty="0">
                <a:solidFill>
                  <a:srgbClr val="4A5462"/>
                </a:solidFill>
                <a:latin typeface="Malgun Gothic"/>
                <a:cs typeface="Malgun Gothic"/>
              </a:rPr>
              <a:t>데이터 분석 솔루션을 활용하여 엔지니어들의 분석 시간 </a:t>
            </a:r>
            <a:r>
              <a:rPr lang="en-US" altLang="ko-KR" sz="1300" dirty="0">
                <a:solidFill>
                  <a:srgbClr val="4A5462"/>
                </a:solidFill>
                <a:latin typeface="Microsoft Sans Serif"/>
                <a:cs typeface="Microsoft Sans Serif"/>
              </a:rPr>
              <a:t>90% </a:t>
            </a:r>
            <a:r>
              <a:rPr lang="ko-KR" altLang="en-US" sz="1350" dirty="0">
                <a:solidFill>
                  <a:srgbClr val="4A5462"/>
                </a:solidFill>
                <a:latin typeface="Malgun Gothic"/>
                <a:cs typeface="Malgun Gothic"/>
              </a:rPr>
              <a:t>단축</a:t>
            </a:r>
            <a:endParaRPr lang="ko-KR" altLang="en-US" sz="1350" dirty="0">
              <a:latin typeface="Malgun Gothic"/>
              <a:cs typeface="Malgun Gothic"/>
            </a:endParaRPr>
          </a:p>
          <a:p>
            <a:pPr marL="12700" marR="5080">
              <a:lnSpc>
                <a:spcPct val="111100"/>
              </a:lnSpc>
              <a:spcBef>
                <a:spcPts val="95"/>
              </a:spcBef>
            </a:pPr>
            <a:endParaRPr sz="1350" dirty="0">
              <a:latin typeface="Malgun Gothic"/>
              <a:cs typeface="Malgun Gothic"/>
            </a:endParaRPr>
          </a:p>
        </p:txBody>
      </p:sp>
      <p:pic>
        <p:nvPicPr>
          <p:cNvPr id="33" name="object 14">
            <a:extLst>
              <a:ext uri="{FF2B5EF4-FFF2-40B4-BE49-F238E27FC236}">
                <a16:creationId xmlns:a16="http://schemas.microsoft.com/office/drawing/2014/main" id="{B636998E-473D-917D-E5C1-CB6045081AE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350" y="2755789"/>
            <a:ext cx="190499" cy="190499"/>
          </a:xfrm>
          <a:prstGeom prst="rect">
            <a:avLst/>
          </a:prstGeom>
        </p:spPr>
      </p:pic>
      <p:pic>
        <p:nvPicPr>
          <p:cNvPr id="34" name="object 15">
            <a:extLst>
              <a:ext uri="{FF2B5EF4-FFF2-40B4-BE49-F238E27FC236}">
                <a16:creationId xmlns:a16="http://schemas.microsoft.com/office/drawing/2014/main" id="{3B89D55B-5F53-EA72-A1D3-D5B2E17A973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9243" y="5260863"/>
            <a:ext cx="2057399" cy="1371599"/>
          </a:xfrm>
          <a:prstGeom prst="rect">
            <a:avLst/>
          </a:prstGeom>
        </p:spPr>
      </p:pic>
      <p:sp>
        <p:nvSpPr>
          <p:cNvPr id="35" name="object 16">
            <a:extLst>
              <a:ext uri="{FF2B5EF4-FFF2-40B4-BE49-F238E27FC236}">
                <a16:creationId xmlns:a16="http://schemas.microsoft.com/office/drawing/2014/main" id="{31BC2DB5-9031-7805-0554-2A58FEA6BFAF}"/>
              </a:ext>
            </a:extLst>
          </p:cNvPr>
          <p:cNvSpPr/>
          <p:nvPr/>
        </p:nvSpPr>
        <p:spPr>
          <a:xfrm>
            <a:off x="6235700" y="1298463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5510452" y="1523999"/>
                </a:moveTo>
                <a:lnTo>
                  <a:pt x="53397" y="1523999"/>
                </a:lnTo>
                <a:lnTo>
                  <a:pt x="49680" y="1523511"/>
                </a:lnTo>
                <a:lnTo>
                  <a:pt x="14084" y="1498143"/>
                </a:lnTo>
                <a:lnTo>
                  <a:pt x="365" y="1457758"/>
                </a:lnTo>
                <a:lnTo>
                  <a:pt x="0" y="1452803"/>
                </a:lnTo>
                <a:lnTo>
                  <a:pt x="0" y="1447799"/>
                </a:lnTo>
                <a:lnTo>
                  <a:pt x="0" y="71196"/>
                </a:lnTo>
                <a:lnTo>
                  <a:pt x="11714" y="29705"/>
                </a:lnTo>
                <a:lnTo>
                  <a:pt x="42319" y="2440"/>
                </a:lnTo>
                <a:lnTo>
                  <a:pt x="53397" y="0"/>
                </a:lnTo>
                <a:lnTo>
                  <a:pt x="5510452" y="0"/>
                </a:lnTo>
                <a:lnTo>
                  <a:pt x="5551944" y="15621"/>
                </a:lnTo>
                <a:lnTo>
                  <a:pt x="5577763" y="51661"/>
                </a:lnTo>
                <a:lnTo>
                  <a:pt x="5581649" y="71196"/>
                </a:lnTo>
                <a:lnTo>
                  <a:pt x="5581649" y="1452803"/>
                </a:lnTo>
                <a:lnTo>
                  <a:pt x="5566027" y="1494294"/>
                </a:lnTo>
                <a:lnTo>
                  <a:pt x="5529987" y="1520113"/>
                </a:lnTo>
                <a:lnTo>
                  <a:pt x="5515408" y="1523511"/>
                </a:lnTo>
                <a:lnTo>
                  <a:pt x="5510452" y="1523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6" name="object 17">
            <a:extLst>
              <a:ext uri="{FF2B5EF4-FFF2-40B4-BE49-F238E27FC236}">
                <a16:creationId xmlns:a16="http://schemas.microsoft.com/office/drawing/2014/main" id="{5924E645-5E32-1CB6-B7DF-83A28AEE1072}"/>
              </a:ext>
            </a:extLst>
          </p:cNvPr>
          <p:cNvSpPr/>
          <p:nvPr/>
        </p:nvSpPr>
        <p:spPr>
          <a:xfrm>
            <a:off x="6216650" y="1298741"/>
            <a:ext cx="70485" cy="1524000"/>
          </a:xfrm>
          <a:custGeom>
            <a:avLst/>
            <a:gdLst/>
            <a:ahLst/>
            <a:cxnLst/>
            <a:rect l="l" t="t" r="r" b="b"/>
            <a:pathLst>
              <a:path w="70485" h="1524000">
                <a:moveTo>
                  <a:pt x="70450" y="1523444"/>
                </a:moveTo>
                <a:lnTo>
                  <a:pt x="33857" y="1510891"/>
                </a:lnTo>
                <a:lnTo>
                  <a:pt x="5800" y="1476682"/>
                </a:lnTo>
                <a:lnTo>
                  <a:pt x="0" y="1447522"/>
                </a:lnTo>
                <a:lnTo>
                  <a:pt x="0" y="75922"/>
                </a:lnTo>
                <a:lnTo>
                  <a:pt x="12829" y="33579"/>
                </a:lnTo>
                <a:lnTo>
                  <a:pt x="47038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1" y="9389"/>
                </a:lnTo>
                <a:lnTo>
                  <a:pt x="40999" y="46761"/>
                </a:lnTo>
                <a:lnTo>
                  <a:pt x="38100" y="75922"/>
                </a:lnTo>
                <a:lnTo>
                  <a:pt x="38100" y="1447522"/>
                </a:lnTo>
                <a:lnTo>
                  <a:pt x="44514" y="1489864"/>
                </a:lnTo>
                <a:lnTo>
                  <a:pt x="66287" y="1521788"/>
                </a:lnTo>
                <a:lnTo>
                  <a:pt x="70450" y="1523444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7" name="object 18">
            <a:extLst>
              <a:ext uri="{FF2B5EF4-FFF2-40B4-BE49-F238E27FC236}">
                <a16:creationId xmlns:a16="http://schemas.microsoft.com/office/drawing/2014/main" id="{CC45F5CC-978D-5F6F-9297-A69539DE2563}"/>
              </a:ext>
            </a:extLst>
          </p:cNvPr>
          <p:cNvSpPr/>
          <p:nvPr/>
        </p:nvSpPr>
        <p:spPr>
          <a:xfrm>
            <a:off x="6235700" y="2974863"/>
            <a:ext cx="5581650" cy="1143000"/>
          </a:xfrm>
          <a:custGeom>
            <a:avLst/>
            <a:gdLst/>
            <a:ahLst/>
            <a:cxnLst/>
            <a:rect l="l" t="t" r="r" b="b"/>
            <a:pathLst>
              <a:path w="5581650" h="1143000">
                <a:moveTo>
                  <a:pt x="5510452" y="1142999"/>
                </a:moveTo>
                <a:lnTo>
                  <a:pt x="53397" y="1142999"/>
                </a:lnTo>
                <a:lnTo>
                  <a:pt x="49680" y="1142511"/>
                </a:lnTo>
                <a:lnTo>
                  <a:pt x="14084" y="1117143"/>
                </a:lnTo>
                <a:lnTo>
                  <a:pt x="365" y="1076758"/>
                </a:lnTo>
                <a:lnTo>
                  <a:pt x="0" y="1071803"/>
                </a:lnTo>
                <a:lnTo>
                  <a:pt x="0" y="1066799"/>
                </a:lnTo>
                <a:lnTo>
                  <a:pt x="0" y="71196"/>
                </a:lnTo>
                <a:lnTo>
                  <a:pt x="11714" y="29705"/>
                </a:lnTo>
                <a:lnTo>
                  <a:pt x="42319" y="2440"/>
                </a:lnTo>
                <a:lnTo>
                  <a:pt x="53397" y="0"/>
                </a:lnTo>
                <a:lnTo>
                  <a:pt x="5510452" y="0"/>
                </a:lnTo>
                <a:lnTo>
                  <a:pt x="5551944" y="15621"/>
                </a:lnTo>
                <a:lnTo>
                  <a:pt x="5577763" y="51661"/>
                </a:lnTo>
                <a:lnTo>
                  <a:pt x="5581649" y="71196"/>
                </a:lnTo>
                <a:lnTo>
                  <a:pt x="5581649" y="1071803"/>
                </a:lnTo>
                <a:lnTo>
                  <a:pt x="5566027" y="1113294"/>
                </a:lnTo>
                <a:lnTo>
                  <a:pt x="5529987" y="1139113"/>
                </a:lnTo>
                <a:lnTo>
                  <a:pt x="5515408" y="1142511"/>
                </a:lnTo>
                <a:lnTo>
                  <a:pt x="5510452" y="1142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8" name="object 19">
            <a:extLst>
              <a:ext uri="{FF2B5EF4-FFF2-40B4-BE49-F238E27FC236}">
                <a16:creationId xmlns:a16="http://schemas.microsoft.com/office/drawing/2014/main" id="{68BEDDA8-900D-6FD1-7422-9C8F50918709}"/>
              </a:ext>
            </a:extLst>
          </p:cNvPr>
          <p:cNvSpPr/>
          <p:nvPr/>
        </p:nvSpPr>
        <p:spPr>
          <a:xfrm>
            <a:off x="6216650" y="2975141"/>
            <a:ext cx="70485" cy="1143000"/>
          </a:xfrm>
          <a:custGeom>
            <a:avLst/>
            <a:gdLst/>
            <a:ahLst/>
            <a:cxnLst/>
            <a:rect l="l" t="t" r="r" b="b"/>
            <a:pathLst>
              <a:path w="70485" h="1143000">
                <a:moveTo>
                  <a:pt x="70450" y="1142444"/>
                </a:moveTo>
                <a:lnTo>
                  <a:pt x="33857" y="1129891"/>
                </a:lnTo>
                <a:lnTo>
                  <a:pt x="5800" y="1095682"/>
                </a:lnTo>
                <a:lnTo>
                  <a:pt x="0" y="1066522"/>
                </a:lnTo>
                <a:lnTo>
                  <a:pt x="0" y="75922"/>
                </a:lnTo>
                <a:lnTo>
                  <a:pt x="12829" y="33579"/>
                </a:lnTo>
                <a:lnTo>
                  <a:pt x="47038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1" y="9389"/>
                </a:lnTo>
                <a:lnTo>
                  <a:pt x="40999" y="46761"/>
                </a:lnTo>
                <a:lnTo>
                  <a:pt x="38100" y="75922"/>
                </a:lnTo>
                <a:lnTo>
                  <a:pt x="38100" y="1066522"/>
                </a:lnTo>
                <a:lnTo>
                  <a:pt x="44514" y="1108864"/>
                </a:lnTo>
                <a:lnTo>
                  <a:pt x="66287" y="1140788"/>
                </a:lnTo>
                <a:lnTo>
                  <a:pt x="70450" y="1142444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9" name="object 20">
            <a:extLst>
              <a:ext uri="{FF2B5EF4-FFF2-40B4-BE49-F238E27FC236}">
                <a16:creationId xmlns:a16="http://schemas.microsoft.com/office/drawing/2014/main" id="{FCDF640B-08C9-0FD9-ABEF-FCA49309E99B}"/>
              </a:ext>
            </a:extLst>
          </p:cNvPr>
          <p:cNvSpPr/>
          <p:nvPr/>
        </p:nvSpPr>
        <p:spPr>
          <a:xfrm>
            <a:off x="6235700" y="4270263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5510452" y="1523999"/>
                </a:moveTo>
                <a:lnTo>
                  <a:pt x="53397" y="1523999"/>
                </a:lnTo>
                <a:lnTo>
                  <a:pt x="49680" y="1523511"/>
                </a:lnTo>
                <a:lnTo>
                  <a:pt x="14084" y="1498142"/>
                </a:lnTo>
                <a:lnTo>
                  <a:pt x="365" y="1457757"/>
                </a:lnTo>
                <a:lnTo>
                  <a:pt x="0" y="1452803"/>
                </a:lnTo>
                <a:lnTo>
                  <a:pt x="0" y="1447799"/>
                </a:lnTo>
                <a:lnTo>
                  <a:pt x="0" y="71196"/>
                </a:lnTo>
                <a:lnTo>
                  <a:pt x="11714" y="29704"/>
                </a:lnTo>
                <a:lnTo>
                  <a:pt x="42319" y="2440"/>
                </a:lnTo>
                <a:lnTo>
                  <a:pt x="53397" y="0"/>
                </a:lnTo>
                <a:lnTo>
                  <a:pt x="5510452" y="0"/>
                </a:lnTo>
                <a:lnTo>
                  <a:pt x="5551944" y="15621"/>
                </a:lnTo>
                <a:lnTo>
                  <a:pt x="5577763" y="51661"/>
                </a:lnTo>
                <a:lnTo>
                  <a:pt x="5581649" y="71196"/>
                </a:lnTo>
                <a:lnTo>
                  <a:pt x="5581649" y="1452803"/>
                </a:lnTo>
                <a:lnTo>
                  <a:pt x="5566027" y="1494293"/>
                </a:lnTo>
                <a:lnTo>
                  <a:pt x="5529987" y="1520113"/>
                </a:lnTo>
                <a:lnTo>
                  <a:pt x="5515408" y="1523511"/>
                </a:lnTo>
                <a:lnTo>
                  <a:pt x="5510452" y="1523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40" name="object 21">
            <a:extLst>
              <a:ext uri="{FF2B5EF4-FFF2-40B4-BE49-F238E27FC236}">
                <a16:creationId xmlns:a16="http://schemas.microsoft.com/office/drawing/2014/main" id="{12AE67F6-329F-4E7C-66AB-321AF04CF5F5}"/>
              </a:ext>
            </a:extLst>
          </p:cNvPr>
          <p:cNvSpPr/>
          <p:nvPr/>
        </p:nvSpPr>
        <p:spPr>
          <a:xfrm>
            <a:off x="6216650" y="4270541"/>
            <a:ext cx="70485" cy="1524000"/>
          </a:xfrm>
          <a:custGeom>
            <a:avLst/>
            <a:gdLst/>
            <a:ahLst/>
            <a:cxnLst/>
            <a:rect l="l" t="t" r="r" b="b"/>
            <a:pathLst>
              <a:path w="70485" h="1524000">
                <a:moveTo>
                  <a:pt x="70449" y="1523444"/>
                </a:moveTo>
                <a:lnTo>
                  <a:pt x="33857" y="1510891"/>
                </a:lnTo>
                <a:lnTo>
                  <a:pt x="5800" y="1476681"/>
                </a:lnTo>
                <a:lnTo>
                  <a:pt x="0" y="1447522"/>
                </a:lnTo>
                <a:lnTo>
                  <a:pt x="0" y="75922"/>
                </a:lnTo>
                <a:lnTo>
                  <a:pt x="12829" y="33579"/>
                </a:lnTo>
                <a:lnTo>
                  <a:pt x="47038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1" y="9389"/>
                </a:lnTo>
                <a:lnTo>
                  <a:pt x="40999" y="46761"/>
                </a:lnTo>
                <a:lnTo>
                  <a:pt x="38100" y="75922"/>
                </a:lnTo>
                <a:lnTo>
                  <a:pt x="38100" y="1447522"/>
                </a:lnTo>
                <a:lnTo>
                  <a:pt x="44514" y="1489863"/>
                </a:lnTo>
                <a:lnTo>
                  <a:pt x="66287" y="1521788"/>
                </a:lnTo>
                <a:lnTo>
                  <a:pt x="70449" y="1523444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41" name="object 22">
            <a:extLst>
              <a:ext uri="{FF2B5EF4-FFF2-40B4-BE49-F238E27FC236}">
                <a16:creationId xmlns:a16="http://schemas.microsoft.com/office/drawing/2014/main" id="{B1D48BF3-7283-865B-9C18-C6D8C86A0CBA}"/>
              </a:ext>
            </a:extLst>
          </p:cNvPr>
          <p:cNvSpPr/>
          <p:nvPr/>
        </p:nvSpPr>
        <p:spPr>
          <a:xfrm>
            <a:off x="6235700" y="5946663"/>
            <a:ext cx="5581650" cy="685800"/>
          </a:xfrm>
          <a:custGeom>
            <a:avLst/>
            <a:gdLst/>
            <a:ahLst/>
            <a:cxnLst/>
            <a:rect l="l" t="t" r="r" b="b"/>
            <a:pathLst>
              <a:path w="5581650" h="685800">
                <a:moveTo>
                  <a:pt x="5510452" y="685799"/>
                </a:moveTo>
                <a:lnTo>
                  <a:pt x="53397" y="685799"/>
                </a:lnTo>
                <a:lnTo>
                  <a:pt x="49680" y="685311"/>
                </a:lnTo>
                <a:lnTo>
                  <a:pt x="14084" y="659942"/>
                </a:lnTo>
                <a:lnTo>
                  <a:pt x="365" y="619558"/>
                </a:lnTo>
                <a:lnTo>
                  <a:pt x="0" y="614603"/>
                </a:lnTo>
                <a:lnTo>
                  <a:pt x="0" y="609599"/>
                </a:lnTo>
                <a:lnTo>
                  <a:pt x="0" y="71196"/>
                </a:lnTo>
                <a:lnTo>
                  <a:pt x="11714" y="29705"/>
                </a:lnTo>
                <a:lnTo>
                  <a:pt x="42319" y="2439"/>
                </a:lnTo>
                <a:lnTo>
                  <a:pt x="53397" y="0"/>
                </a:lnTo>
                <a:lnTo>
                  <a:pt x="5510452" y="0"/>
                </a:lnTo>
                <a:lnTo>
                  <a:pt x="5551944" y="15621"/>
                </a:lnTo>
                <a:lnTo>
                  <a:pt x="5577763" y="51661"/>
                </a:lnTo>
                <a:lnTo>
                  <a:pt x="5581649" y="71196"/>
                </a:lnTo>
                <a:lnTo>
                  <a:pt x="5581649" y="614603"/>
                </a:lnTo>
                <a:lnTo>
                  <a:pt x="5566027" y="656093"/>
                </a:lnTo>
                <a:lnTo>
                  <a:pt x="5529987" y="681913"/>
                </a:lnTo>
                <a:lnTo>
                  <a:pt x="5515408" y="685311"/>
                </a:lnTo>
                <a:lnTo>
                  <a:pt x="5510452" y="6857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42" name="object 23">
            <a:extLst>
              <a:ext uri="{FF2B5EF4-FFF2-40B4-BE49-F238E27FC236}">
                <a16:creationId xmlns:a16="http://schemas.microsoft.com/office/drawing/2014/main" id="{D568BCD8-FB5B-F5B3-0DDA-652451ABB8B5}"/>
              </a:ext>
            </a:extLst>
          </p:cNvPr>
          <p:cNvSpPr/>
          <p:nvPr/>
        </p:nvSpPr>
        <p:spPr>
          <a:xfrm>
            <a:off x="6216650" y="5946941"/>
            <a:ext cx="70485" cy="685800"/>
          </a:xfrm>
          <a:custGeom>
            <a:avLst/>
            <a:gdLst/>
            <a:ahLst/>
            <a:cxnLst/>
            <a:rect l="l" t="t" r="r" b="b"/>
            <a:pathLst>
              <a:path w="70485" h="685800">
                <a:moveTo>
                  <a:pt x="70450" y="685244"/>
                </a:moveTo>
                <a:lnTo>
                  <a:pt x="33857" y="672691"/>
                </a:lnTo>
                <a:lnTo>
                  <a:pt x="5800" y="638481"/>
                </a:lnTo>
                <a:lnTo>
                  <a:pt x="0" y="609322"/>
                </a:lnTo>
                <a:lnTo>
                  <a:pt x="0" y="75922"/>
                </a:lnTo>
                <a:lnTo>
                  <a:pt x="12829" y="33579"/>
                </a:lnTo>
                <a:lnTo>
                  <a:pt x="47038" y="5521"/>
                </a:lnTo>
                <a:lnTo>
                  <a:pt x="70449" y="0"/>
                </a:lnTo>
                <a:lnTo>
                  <a:pt x="66287" y="1655"/>
                </a:lnTo>
                <a:lnTo>
                  <a:pt x="56951" y="9388"/>
                </a:lnTo>
                <a:lnTo>
                  <a:pt x="40999" y="46760"/>
                </a:lnTo>
                <a:lnTo>
                  <a:pt x="38100" y="75922"/>
                </a:lnTo>
                <a:lnTo>
                  <a:pt x="38100" y="609322"/>
                </a:lnTo>
                <a:lnTo>
                  <a:pt x="44514" y="651663"/>
                </a:lnTo>
                <a:lnTo>
                  <a:pt x="66287" y="683587"/>
                </a:lnTo>
                <a:lnTo>
                  <a:pt x="70450" y="685244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pic>
        <p:nvPicPr>
          <p:cNvPr id="43" name="object 24">
            <a:extLst>
              <a:ext uri="{FF2B5EF4-FFF2-40B4-BE49-F238E27FC236}">
                <a16:creationId xmlns:a16="http://schemas.microsoft.com/office/drawing/2014/main" id="{F5FB0DE3-0C59-5AD6-7C05-8AE996E2C27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16650" y="1050814"/>
            <a:ext cx="190499" cy="190499"/>
          </a:xfrm>
          <a:prstGeom prst="rect">
            <a:avLst/>
          </a:prstGeom>
        </p:spPr>
      </p:pic>
      <p:pic>
        <p:nvPicPr>
          <p:cNvPr id="44" name="object 25">
            <a:extLst>
              <a:ext uri="{FF2B5EF4-FFF2-40B4-BE49-F238E27FC236}">
                <a16:creationId xmlns:a16="http://schemas.microsoft.com/office/drawing/2014/main" id="{E11778C8-DDF3-6EF9-862E-228564BB628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07150" y="1488964"/>
            <a:ext cx="152399" cy="152399"/>
          </a:xfrm>
          <a:prstGeom prst="rect">
            <a:avLst/>
          </a:prstGeom>
        </p:spPr>
      </p:pic>
      <p:sp>
        <p:nvSpPr>
          <p:cNvPr id="8" name="object 26">
            <a:extLst>
              <a:ext uri="{FF2B5EF4-FFF2-40B4-BE49-F238E27FC236}">
                <a16:creationId xmlns:a16="http://schemas.microsoft.com/office/drawing/2014/main" id="{4508CA8E-22AA-227E-E3B6-C30E1F7976D2}"/>
              </a:ext>
            </a:extLst>
          </p:cNvPr>
          <p:cNvSpPr txBox="1"/>
          <p:nvPr/>
        </p:nvSpPr>
        <p:spPr>
          <a:xfrm>
            <a:off x="641350" y="2689749"/>
            <a:ext cx="1599564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핵심 제품군</a:t>
            </a:r>
            <a:endParaRPr sz="1700" dirty="0">
              <a:latin typeface="Malgun Gothic"/>
              <a:cs typeface="Malgun Gothic"/>
            </a:endParaRPr>
          </a:p>
        </p:txBody>
      </p:sp>
      <p:sp>
        <p:nvSpPr>
          <p:cNvPr id="9" name="object 27">
            <a:extLst>
              <a:ext uri="{FF2B5EF4-FFF2-40B4-BE49-F238E27FC236}">
                <a16:creationId xmlns:a16="http://schemas.microsoft.com/office/drawing/2014/main" id="{D54A217D-0263-88A5-0AA7-535254711BFE}"/>
              </a:ext>
            </a:extLst>
          </p:cNvPr>
          <p:cNvSpPr txBox="1"/>
          <p:nvPr/>
        </p:nvSpPr>
        <p:spPr>
          <a:xfrm>
            <a:off x="565151" y="3250783"/>
            <a:ext cx="2661286" cy="545021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50000"/>
              </a:lnSpc>
              <a:spcBef>
                <a:spcPts val="250"/>
              </a:spcBef>
            </a:pPr>
            <a:r>
              <a:rPr sz="1400" b="1" dirty="0">
                <a:solidFill>
                  <a:srgbClr val="1F2937"/>
                </a:solidFill>
                <a:latin typeface="Arial"/>
                <a:cs typeface="Arial"/>
              </a:rPr>
              <a:t>FC-BGA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150" dirty="0">
                <a:solidFill>
                  <a:srgbClr val="4A5462"/>
                </a:solidFill>
                <a:latin typeface="Malgun Gothic"/>
                <a:cs typeface="Malgun Gothic"/>
              </a:rPr>
              <a:t>고밀도</a:t>
            </a:r>
            <a:r>
              <a:rPr sz="1150" dirty="0">
                <a:solidFill>
                  <a:srgbClr val="4A5462"/>
                </a:solidFill>
                <a:latin typeface="Microsoft Sans Serif"/>
                <a:cs typeface="Microsoft Sans Serif"/>
              </a:rPr>
              <a:t>·</a:t>
            </a:r>
            <a:r>
              <a:rPr sz="1150" dirty="0">
                <a:solidFill>
                  <a:srgbClr val="4A5462"/>
                </a:solidFill>
                <a:latin typeface="Malgun Gothic"/>
                <a:cs typeface="Malgun Gothic"/>
              </a:rPr>
              <a:t>고다층 반도체 패키징 기판</a:t>
            </a:r>
            <a:endParaRPr sz="1150" dirty="0">
              <a:latin typeface="Malgun Gothic"/>
              <a:cs typeface="Malgun Gothic"/>
            </a:endParaRPr>
          </a:p>
        </p:txBody>
      </p:sp>
      <p:sp>
        <p:nvSpPr>
          <p:cNvPr id="10" name="object 28">
            <a:extLst>
              <a:ext uri="{FF2B5EF4-FFF2-40B4-BE49-F238E27FC236}">
                <a16:creationId xmlns:a16="http://schemas.microsoft.com/office/drawing/2014/main" id="{B0F17604-D45E-6761-2C95-E054C0682CEC}"/>
              </a:ext>
            </a:extLst>
          </p:cNvPr>
          <p:cNvSpPr txBox="1"/>
          <p:nvPr/>
        </p:nvSpPr>
        <p:spPr>
          <a:xfrm>
            <a:off x="565151" y="3868753"/>
            <a:ext cx="3099434" cy="19428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150" dirty="0">
                <a:solidFill>
                  <a:srgbClr val="4A5462"/>
                </a:solidFill>
                <a:latin typeface="Malgun Gothic"/>
                <a:cs typeface="Malgun Gothic"/>
              </a:rPr>
              <a:t>서버</a:t>
            </a:r>
            <a:r>
              <a:rPr sz="1150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150" dirty="0">
                <a:solidFill>
                  <a:srgbClr val="4A5462"/>
                </a:solidFill>
                <a:latin typeface="Malgun Gothic"/>
                <a:cs typeface="Malgun Gothic"/>
              </a:rPr>
              <a:t>자율주행</a:t>
            </a:r>
            <a:r>
              <a:rPr sz="1150" dirty="0">
                <a:solidFill>
                  <a:srgbClr val="4A5462"/>
                </a:solidFill>
                <a:latin typeface="Microsoft Sans Serif"/>
                <a:cs typeface="Microsoft Sans Serif"/>
              </a:rPr>
              <a:t>, 5G </a:t>
            </a:r>
            <a:r>
              <a:rPr sz="1150" dirty="0">
                <a:solidFill>
                  <a:srgbClr val="4A5462"/>
                </a:solidFill>
                <a:latin typeface="Malgun Gothic"/>
                <a:cs typeface="Malgun Gothic"/>
              </a:rPr>
              <a:t>통신 등 고부가가치 시장</a:t>
            </a:r>
            <a:endParaRPr sz="1150" dirty="0">
              <a:latin typeface="Malgun Gothic"/>
              <a:cs typeface="Malgun Gothic"/>
            </a:endParaRPr>
          </a:p>
        </p:txBody>
      </p:sp>
      <p:sp>
        <p:nvSpPr>
          <p:cNvPr id="11" name="object 29">
            <a:extLst>
              <a:ext uri="{FF2B5EF4-FFF2-40B4-BE49-F238E27FC236}">
                <a16:creationId xmlns:a16="http://schemas.microsoft.com/office/drawing/2014/main" id="{3F22E7CC-D817-2552-B406-685F44C86392}"/>
              </a:ext>
            </a:extLst>
          </p:cNvPr>
          <p:cNvSpPr txBox="1"/>
          <p:nvPr/>
        </p:nvSpPr>
        <p:spPr>
          <a:xfrm>
            <a:off x="4349750" y="3265262"/>
            <a:ext cx="1731645" cy="41101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>
            <a:defPPr>
              <a:defRPr kern="0"/>
            </a:defPPr>
          </a:lstStyle>
          <a:p>
            <a:pPr marL="12700" algn="r">
              <a:lnSpc>
                <a:spcPct val="100000"/>
              </a:lnSpc>
              <a:spcBef>
                <a:spcPts val="185"/>
              </a:spcBef>
            </a:pPr>
            <a:r>
              <a:rPr sz="1350" b="1" dirty="0">
                <a:solidFill>
                  <a:srgbClr val="16A24A"/>
                </a:solidFill>
                <a:latin typeface="Arial"/>
                <a:cs typeface="Arial"/>
              </a:rPr>
              <a:t>5,400</a:t>
            </a:r>
            <a:r>
              <a:rPr sz="1350" b="1" dirty="0">
                <a:solidFill>
                  <a:srgbClr val="16A24A"/>
                </a:solidFill>
                <a:latin typeface="Malgun Gothic"/>
                <a:cs typeface="Malgun Gothic"/>
              </a:rPr>
              <a:t>억 원</a:t>
            </a:r>
            <a:endParaRPr lang="en-US" sz="1350" b="1" dirty="0">
              <a:latin typeface="Malgun Gothic"/>
              <a:cs typeface="Malgun Gothic"/>
            </a:endParaRPr>
          </a:p>
          <a:p>
            <a:pPr marL="12700" algn="r">
              <a:lnSpc>
                <a:spcPct val="100000"/>
              </a:lnSpc>
              <a:spcBef>
                <a:spcPts val="185"/>
              </a:spcBef>
            </a:pPr>
            <a:r>
              <a:rPr sz="1000" dirty="0" err="1">
                <a:solidFill>
                  <a:srgbClr val="6A7280"/>
                </a:solidFill>
                <a:latin typeface="Malgun Gothic"/>
                <a:cs typeface="Malgun Gothic"/>
              </a:rPr>
              <a:t>투자</a:t>
            </a:r>
            <a:r>
              <a:rPr sz="1000" dirty="0">
                <a:solidFill>
                  <a:srgbClr val="6A7280"/>
                </a:solidFill>
                <a:latin typeface="Malgun Gothic"/>
                <a:cs typeface="Malgun Gothic"/>
              </a:rPr>
              <a:t> 규모</a:t>
            </a:r>
            <a:endParaRPr sz="1000" dirty="0">
              <a:latin typeface="Malgun Gothic"/>
              <a:cs typeface="Malgun Gothic"/>
            </a:endParaRP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5945654F-8F04-22E5-6DAD-5011A717C446}"/>
              </a:ext>
            </a:extLst>
          </p:cNvPr>
          <p:cNvSpPr txBox="1"/>
          <p:nvPr/>
        </p:nvSpPr>
        <p:spPr>
          <a:xfrm>
            <a:off x="565151" y="4393782"/>
            <a:ext cx="3187699" cy="492122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400" b="1" dirty="0">
                <a:solidFill>
                  <a:srgbClr val="1F2937"/>
                </a:solidFill>
                <a:latin typeface="Arial"/>
                <a:cs typeface="Arial"/>
              </a:rPr>
              <a:t>MLB (Multi-Layer Board)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50000"/>
              </a:lnSpc>
              <a:spcBef>
                <a:spcPts val="145"/>
              </a:spcBef>
            </a:pPr>
            <a:r>
              <a:rPr sz="1150" dirty="0">
                <a:solidFill>
                  <a:srgbClr val="4A5462"/>
                </a:solidFill>
                <a:latin typeface="Microsoft Sans Serif"/>
                <a:cs typeface="Microsoft Sans Serif"/>
              </a:rPr>
              <a:t>18</a:t>
            </a:r>
            <a:r>
              <a:rPr sz="1150" dirty="0">
                <a:solidFill>
                  <a:srgbClr val="4A5462"/>
                </a:solidFill>
                <a:latin typeface="Malgun Gothic"/>
                <a:cs typeface="Malgun Gothic"/>
              </a:rPr>
              <a:t>층 이상 고다층 </a:t>
            </a:r>
            <a:r>
              <a:rPr sz="1150" dirty="0">
                <a:solidFill>
                  <a:srgbClr val="4A5462"/>
                </a:solidFill>
                <a:latin typeface="Microsoft Sans Serif"/>
                <a:cs typeface="Microsoft Sans Serif"/>
              </a:rPr>
              <a:t>PCB, </a:t>
            </a:r>
            <a:r>
              <a:rPr sz="1150" dirty="0">
                <a:solidFill>
                  <a:srgbClr val="4A5462"/>
                </a:solidFill>
                <a:latin typeface="Malgun Gothic"/>
                <a:cs typeface="Malgun Gothic"/>
              </a:rPr>
              <a:t>데이터 전송 효율 우수</a:t>
            </a:r>
            <a:endParaRPr sz="1150" dirty="0">
              <a:latin typeface="Malgun Gothic"/>
              <a:cs typeface="Malgun Gothic"/>
            </a:endParaRPr>
          </a:p>
        </p:txBody>
      </p:sp>
      <p:sp>
        <p:nvSpPr>
          <p:cNvPr id="13" name="object 31">
            <a:extLst>
              <a:ext uri="{FF2B5EF4-FFF2-40B4-BE49-F238E27FC236}">
                <a16:creationId xmlns:a16="http://schemas.microsoft.com/office/drawing/2014/main" id="{ECDFBAAB-E658-DA7F-D5E8-4206FBDE8505}"/>
              </a:ext>
            </a:extLst>
          </p:cNvPr>
          <p:cNvSpPr txBox="1"/>
          <p:nvPr/>
        </p:nvSpPr>
        <p:spPr>
          <a:xfrm>
            <a:off x="565151" y="4945078"/>
            <a:ext cx="3099434" cy="19428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150" dirty="0">
                <a:solidFill>
                  <a:srgbClr val="4A5462"/>
                </a:solidFill>
                <a:latin typeface="Malgun Gothic"/>
                <a:cs typeface="Malgun Gothic"/>
              </a:rPr>
              <a:t>가속기</a:t>
            </a:r>
            <a:r>
              <a:rPr sz="1150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150" dirty="0">
                <a:solidFill>
                  <a:srgbClr val="4A5462"/>
                </a:solidFill>
                <a:latin typeface="Malgun Gothic"/>
                <a:cs typeface="Malgun Gothic"/>
              </a:rPr>
              <a:t>고성능 </a:t>
            </a:r>
            <a:r>
              <a:rPr sz="1150" dirty="0">
                <a:solidFill>
                  <a:srgbClr val="4A5462"/>
                </a:solidFill>
                <a:latin typeface="Microsoft Sans Serif"/>
                <a:cs typeface="Microsoft Sans Serif"/>
              </a:rPr>
              <a:t>GPU, </a:t>
            </a:r>
            <a:r>
              <a:rPr sz="1150" dirty="0">
                <a:solidFill>
                  <a:srgbClr val="4A5462"/>
                </a:solidFill>
                <a:latin typeface="Malgun Gothic"/>
                <a:cs typeface="Malgun Gothic"/>
              </a:rPr>
              <a:t>서버</a:t>
            </a:r>
            <a:r>
              <a:rPr sz="1150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150" dirty="0">
                <a:solidFill>
                  <a:srgbClr val="4A5462"/>
                </a:solidFill>
                <a:latin typeface="Malgun Gothic"/>
                <a:cs typeface="Malgun Gothic"/>
              </a:rPr>
              <a:t>네트워크 장비</a:t>
            </a:r>
            <a:endParaRPr sz="1150" dirty="0">
              <a:latin typeface="Malgun Gothic"/>
              <a:cs typeface="Malgun Gothic"/>
            </a:endParaRPr>
          </a:p>
        </p:txBody>
      </p:sp>
      <p:sp>
        <p:nvSpPr>
          <p:cNvPr id="14" name="object 32">
            <a:extLst>
              <a:ext uri="{FF2B5EF4-FFF2-40B4-BE49-F238E27FC236}">
                <a16:creationId xmlns:a16="http://schemas.microsoft.com/office/drawing/2014/main" id="{BFD5BBB7-3A4C-B334-A7EF-69D93E7D3D04}"/>
              </a:ext>
            </a:extLst>
          </p:cNvPr>
          <p:cNvSpPr txBox="1"/>
          <p:nvPr/>
        </p:nvSpPr>
        <p:spPr>
          <a:xfrm>
            <a:off x="4067176" y="4408262"/>
            <a:ext cx="1953272" cy="41101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>
            <a:defPPr>
              <a:defRPr kern="0"/>
            </a:defPPr>
          </a:lstStyle>
          <a:p>
            <a:pPr marL="431165" algn="r">
              <a:lnSpc>
                <a:spcPct val="100000"/>
              </a:lnSpc>
              <a:spcBef>
                <a:spcPts val="185"/>
              </a:spcBef>
            </a:pPr>
            <a:r>
              <a:rPr sz="1350" b="1" dirty="0">
                <a:solidFill>
                  <a:srgbClr val="16A24A"/>
                </a:solidFill>
                <a:latin typeface="Arial"/>
                <a:cs typeface="Arial"/>
              </a:rPr>
              <a:t>4,000</a:t>
            </a:r>
            <a:r>
              <a:rPr sz="1350" b="1" dirty="0">
                <a:solidFill>
                  <a:srgbClr val="16A24A"/>
                </a:solidFill>
                <a:latin typeface="Malgun Gothic"/>
                <a:cs typeface="Malgun Gothic"/>
              </a:rPr>
              <a:t>억 원</a:t>
            </a:r>
            <a:endParaRPr lang="en-US" sz="1350" b="1" dirty="0">
              <a:solidFill>
                <a:srgbClr val="16A24A"/>
              </a:solidFill>
              <a:latin typeface="Malgun Gothic"/>
              <a:cs typeface="Malgun Gothic"/>
            </a:endParaRPr>
          </a:p>
          <a:p>
            <a:pPr marL="431165" algn="r">
              <a:lnSpc>
                <a:spcPct val="100000"/>
              </a:lnSpc>
              <a:spcBef>
                <a:spcPts val="185"/>
              </a:spcBef>
            </a:pPr>
            <a:r>
              <a:rPr sz="1000" dirty="0" err="1">
                <a:solidFill>
                  <a:srgbClr val="6A7280"/>
                </a:solidFill>
                <a:latin typeface="Malgun Gothic"/>
                <a:cs typeface="Malgun Gothic"/>
              </a:rPr>
              <a:t>연간</a:t>
            </a:r>
            <a:r>
              <a:rPr sz="1000" dirty="0">
                <a:solidFill>
                  <a:srgbClr val="6A7280"/>
                </a:solidFill>
                <a:latin typeface="Malgun Gothic"/>
                <a:cs typeface="Malgun Gothic"/>
              </a:rPr>
              <a:t> 생산능력 확대 계획</a:t>
            </a:r>
            <a:endParaRPr sz="1000" dirty="0">
              <a:latin typeface="Malgun Gothic"/>
              <a:cs typeface="Malgun Gothic"/>
            </a:endParaRPr>
          </a:p>
        </p:txBody>
      </p:sp>
      <p:sp>
        <p:nvSpPr>
          <p:cNvPr id="15" name="object 33">
            <a:extLst>
              <a:ext uri="{FF2B5EF4-FFF2-40B4-BE49-F238E27FC236}">
                <a16:creationId xmlns:a16="http://schemas.microsoft.com/office/drawing/2014/main" id="{404C3522-B17A-21FA-855F-3A9D6C160817}"/>
              </a:ext>
            </a:extLst>
          </p:cNvPr>
          <p:cNvSpPr txBox="1"/>
          <p:nvPr/>
        </p:nvSpPr>
        <p:spPr>
          <a:xfrm>
            <a:off x="6470649" y="984774"/>
            <a:ext cx="2987675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제조 환경의 구조적 도전과제</a:t>
            </a:r>
            <a:endParaRPr sz="1700" dirty="0">
              <a:latin typeface="Malgun Gothic"/>
              <a:cs typeface="Malgun Gothic"/>
            </a:endParaRPr>
          </a:p>
        </p:txBody>
      </p:sp>
      <p:sp>
        <p:nvSpPr>
          <p:cNvPr id="16" name="object 34">
            <a:extLst>
              <a:ext uri="{FF2B5EF4-FFF2-40B4-BE49-F238E27FC236}">
                <a16:creationId xmlns:a16="http://schemas.microsoft.com/office/drawing/2014/main" id="{A74DD15B-78CE-6061-1C3B-FE59FAAEDA66}"/>
              </a:ext>
            </a:extLst>
          </p:cNvPr>
          <p:cNvSpPr txBox="1"/>
          <p:nvPr/>
        </p:nvSpPr>
        <p:spPr>
          <a:xfrm>
            <a:off x="6623050" y="1446927"/>
            <a:ext cx="2746373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1F2937"/>
                </a:solidFill>
                <a:latin typeface="Malgun Gothic"/>
                <a:cs typeface="Malgun Gothic"/>
              </a:rPr>
              <a:t>복잡해지는 공정 관리의 한계</a:t>
            </a:r>
            <a:endParaRPr sz="1350" dirty="0">
              <a:latin typeface="Malgun Gothic"/>
              <a:cs typeface="Malgun Gothic"/>
            </a:endParaRPr>
          </a:p>
        </p:txBody>
      </p:sp>
      <p:pic>
        <p:nvPicPr>
          <p:cNvPr id="27" name="object 37">
            <a:extLst>
              <a:ext uri="{FF2B5EF4-FFF2-40B4-BE49-F238E27FC236}">
                <a16:creationId xmlns:a16="http://schemas.microsoft.com/office/drawing/2014/main" id="{25E6CBD0-E4E4-77C9-CD47-92273A6086E2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07150" y="3165363"/>
            <a:ext cx="190499" cy="152399"/>
          </a:xfrm>
          <a:prstGeom prst="rect">
            <a:avLst/>
          </a:prstGeom>
        </p:spPr>
      </p:pic>
      <p:sp>
        <p:nvSpPr>
          <p:cNvPr id="28" name="object 38">
            <a:extLst>
              <a:ext uri="{FF2B5EF4-FFF2-40B4-BE49-F238E27FC236}">
                <a16:creationId xmlns:a16="http://schemas.microsoft.com/office/drawing/2014/main" id="{184DB02A-B358-6A6F-A6E7-EE877774622A}"/>
              </a:ext>
            </a:extLst>
          </p:cNvPr>
          <p:cNvSpPr/>
          <p:nvPr/>
        </p:nvSpPr>
        <p:spPr>
          <a:xfrm>
            <a:off x="9369424" y="3432063"/>
            <a:ext cx="1219200" cy="228600"/>
          </a:xfrm>
          <a:custGeom>
            <a:avLst/>
            <a:gdLst/>
            <a:ahLst/>
            <a:cxnLst/>
            <a:rect l="l" t="t" r="r" b="b"/>
            <a:pathLst>
              <a:path w="1219200" h="228600">
                <a:moveTo>
                  <a:pt x="1112405" y="228599"/>
                </a:moveTo>
                <a:lnTo>
                  <a:pt x="106795" y="228599"/>
                </a:lnTo>
                <a:lnTo>
                  <a:pt x="99362" y="227867"/>
                </a:lnTo>
                <a:lnTo>
                  <a:pt x="57038" y="213506"/>
                </a:lnTo>
                <a:lnTo>
                  <a:pt x="23431" y="184041"/>
                </a:lnTo>
                <a:lnTo>
                  <a:pt x="3659" y="143959"/>
                </a:lnTo>
                <a:lnTo>
                  <a:pt x="0" y="121805"/>
                </a:lnTo>
                <a:lnTo>
                  <a:pt x="0" y="114299"/>
                </a:lnTo>
                <a:lnTo>
                  <a:pt x="0" y="106794"/>
                </a:lnTo>
                <a:lnTo>
                  <a:pt x="11571" y="63625"/>
                </a:lnTo>
                <a:lnTo>
                  <a:pt x="38784" y="28170"/>
                </a:lnTo>
                <a:lnTo>
                  <a:pt x="77492" y="5828"/>
                </a:lnTo>
                <a:lnTo>
                  <a:pt x="106795" y="0"/>
                </a:lnTo>
                <a:lnTo>
                  <a:pt x="1112405" y="0"/>
                </a:lnTo>
                <a:lnTo>
                  <a:pt x="1155574" y="11572"/>
                </a:lnTo>
                <a:lnTo>
                  <a:pt x="1191030" y="38784"/>
                </a:lnTo>
                <a:lnTo>
                  <a:pt x="1213370" y="77492"/>
                </a:lnTo>
                <a:lnTo>
                  <a:pt x="1219199" y="106794"/>
                </a:lnTo>
                <a:lnTo>
                  <a:pt x="1219199" y="121805"/>
                </a:lnTo>
                <a:lnTo>
                  <a:pt x="1207627" y="164973"/>
                </a:lnTo>
                <a:lnTo>
                  <a:pt x="1180415" y="200428"/>
                </a:lnTo>
                <a:lnTo>
                  <a:pt x="1141706" y="222771"/>
                </a:lnTo>
                <a:lnTo>
                  <a:pt x="1119837" y="227867"/>
                </a:lnTo>
                <a:lnTo>
                  <a:pt x="1112405" y="228599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29" name="object 39">
            <a:extLst>
              <a:ext uri="{FF2B5EF4-FFF2-40B4-BE49-F238E27FC236}">
                <a16:creationId xmlns:a16="http://schemas.microsoft.com/office/drawing/2014/main" id="{8E8F91DB-5D62-93C4-058E-1AE4F3E3653F}"/>
              </a:ext>
            </a:extLst>
          </p:cNvPr>
          <p:cNvSpPr/>
          <p:nvPr/>
        </p:nvSpPr>
        <p:spPr>
          <a:xfrm>
            <a:off x="9369425" y="3432063"/>
            <a:ext cx="771525" cy="228600"/>
          </a:xfrm>
          <a:custGeom>
            <a:avLst/>
            <a:gdLst/>
            <a:ahLst/>
            <a:cxnLst/>
            <a:rect l="l" t="t" r="r" b="b"/>
            <a:pathLst>
              <a:path w="771525" h="228600">
                <a:moveTo>
                  <a:pt x="771524" y="228600"/>
                </a:moveTo>
                <a:lnTo>
                  <a:pt x="114300" y="228600"/>
                </a:lnTo>
                <a:lnTo>
                  <a:pt x="103040" y="228056"/>
                </a:lnTo>
                <a:lnTo>
                  <a:pt x="60363" y="215087"/>
                </a:lnTo>
                <a:lnTo>
                  <a:pt x="25899" y="186775"/>
                </a:lnTo>
                <a:lnTo>
                  <a:pt x="4893" y="147429"/>
                </a:lnTo>
                <a:lnTo>
                  <a:pt x="0" y="114300"/>
                </a:lnTo>
                <a:lnTo>
                  <a:pt x="543" y="103040"/>
                </a:lnTo>
                <a:lnTo>
                  <a:pt x="13510" y="60364"/>
                </a:lnTo>
                <a:lnTo>
                  <a:pt x="41823" y="25900"/>
                </a:lnTo>
                <a:lnTo>
                  <a:pt x="81169" y="4893"/>
                </a:lnTo>
                <a:lnTo>
                  <a:pt x="114300" y="0"/>
                </a:lnTo>
                <a:lnTo>
                  <a:pt x="771524" y="0"/>
                </a:lnTo>
                <a:lnTo>
                  <a:pt x="771524" y="228600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pic>
        <p:nvPicPr>
          <p:cNvPr id="30" name="object 40">
            <a:extLst>
              <a:ext uri="{FF2B5EF4-FFF2-40B4-BE49-F238E27FC236}">
                <a16:creationId xmlns:a16="http://schemas.microsoft.com/office/drawing/2014/main" id="{06908823-5AE1-277A-B6B3-4226DE6CE12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07150" y="4460763"/>
            <a:ext cx="133349" cy="152399"/>
          </a:xfrm>
          <a:prstGeom prst="rect">
            <a:avLst/>
          </a:prstGeom>
        </p:spPr>
      </p:pic>
      <p:pic>
        <p:nvPicPr>
          <p:cNvPr id="32" name="object 42">
            <a:extLst>
              <a:ext uri="{FF2B5EF4-FFF2-40B4-BE49-F238E27FC236}">
                <a16:creationId xmlns:a16="http://schemas.microsoft.com/office/drawing/2014/main" id="{8F71C7F3-A5A7-08E3-4B68-E261C4D78DA8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69050" y="6108588"/>
            <a:ext cx="104774" cy="152399"/>
          </a:xfrm>
          <a:prstGeom prst="rect">
            <a:avLst/>
          </a:prstGeom>
        </p:spPr>
      </p:pic>
      <p:sp>
        <p:nvSpPr>
          <p:cNvPr id="18" name="object 43">
            <a:extLst>
              <a:ext uri="{FF2B5EF4-FFF2-40B4-BE49-F238E27FC236}">
                <a16:creationId xmlns:a16="http://schemas.microsoft.com/office/drawing/2014/main" id="{E7C81A18-7CC6-E923-69C3-46A603F4DAF7}"/>
              </a:ext>
            </a:extLst>
          </p:cNvPr>
          <p:cNvSpPr txBox="1"/>
          <p:nvPr/>
        </p:nvSpPr>
        <p:spPr>
          <a:xfrm>
            <a:off x="6482993" y="1729781"/>
            <a:ext cx="4740274" cy="9146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298450" marR="5080" indent="-285750">
              <a:lnSpc>
                <a:spcPct val="1111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미세한 핀홀</a:t>
            </a:r>
            <a:r>
              <a:rPr sz="1300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과열</a:t>
            </a:r>
            <a:r>
              <a:rPr sz="1300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냉땜 등 수많은 잠재적 불량 유형 육안으로 식별하기 어려운 미세 결함</a:t>
            </a:r>
            <a:endParaRPr sz="1350" dirty="0">
              <a:latin typeface="Malgun Gothic"/>
              <a:cs typeface="Malgun Gothic"/>
            </a:endParaRPr>
          </a:p>
          <a:p>
            <a:pPr marL="298450" marR="120014" indent="-285750">
              <a:lnSpc>
                <a:spcPct val="1111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제품 층수와 집적도 증가에 따른 공정 복잡도 증가 품질 관리가 생산성 및 수익성 저하의 직접적 원인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9" name="object 44">
            <a:extLst>
              <a:ext uri="{FF2B5EF4-FFF2-40B4-BE49-F238E27FC236}">
                <a16:creationId xmlns:a16="http://schemas.microsoft.com/office/drawing/2014/main" id="{FEA0C242-B854-6602-952B-A140D65FDD92}"/>
              </a:ext>
            </a:extLst>
          </p:cNvPr>
          <p:cNvSpPr txBox="1"/>
          <p:nvPr/>
        </p:nvSpPr>
        <p:spPr>
          <a:xfrm>
            <a:off x="6661150" y="3123327"/>
            <a:ext cx="2355849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1F2937"/>
                </a:solidFill>
                <a:latin typeface="Malgun Gothic"/>
                <a:cs typeface="Malgun Gothic"/>
              </a:rPr>
              <a:t>고숙련 인력 의존성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20" name="object 45">
            <a:extLst>
              <a:ext uri="{FF2B5EF4-FFF2-40B4-BE49-F238E27FC236}">
                <a16:creationId xmlns:a16="http://schemas.microsoft.com/office/drawing/2014/main" id="{B605E30A-CF10-A48E-D7B5-BA0050EDD45C}"/>
              </a:ext>
            </a:extLst>
          </p:cNvPr>
          <p:cNvSpPr txBox="1"/>
          <p:nvPr/>
        </p:nvSpPr>
        <p:spPr>
          <a:xfrm>
            <a:off x="6394450" y="3428127"/>
            <a:ext cx="3028950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사람의 실수로 인한 제품 불량 비율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21" name="object 46">
            <a:extLst>
              <a:ext uri="{FF2B5EF4-FFF2-40B4-BE49-F238E27FC236}">
                <a16:creationId xmlns:a16="http://schemas.microsoft.com/office/drawing/2014/main" id="{CB6E1A3A-F545-5832-C34C-A4F3A522E86A}"/>
              </a:ext>
            </a:extLst>
          </p:cNvPr>
          <p:cNvSpPr txBox="1"/>
          <p:nvPr/>
        </p:nvSpPr>
        <p:spPr>
          <a:xfrm>
            <a:off x="10948358" y="3416148"/>
            <a:ext cx="408928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F2937"/>
                </a:solidFill>
                <a:latin typeface="Arial"/>
                <a:cs typeface="Arial"/>
              </a:rPr>
              <a:t>64%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2" name="object 47">
            <a:extLst>
              <a:ext uri="{FF2B5EF4-FFF2-40B4-BE49-F238E27FC236}">
                <a16:creationId xmlns:a16="http://schemas.microsoft.com/office/drawing/2014/main" id="{CCA6E9AD-451E-F854-6B0B-FC3DE5599D8E}"/>
              </a:ext>
            </a:extLst>
          </p:cNvPr>
          <p:cNvSpPr txBox="1"/>
          <p:nvPr/>
        </p:nvSpPr>
        <p:spPr>
          <a:xfrm>
            <a:off x="6394450" y="3732926"/>
            <a:ext cx="5185410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고숙련 인력에 대한 높은 의존도는 품질 편차와 직원 피로도 유발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23" name="object 48">
            <a:extLst>
              <a:ext uri="{FF2B5EF4-FFF2-40B4-BE49-F238E27FC236}">
                <a16:creationId xmlns:a16="http://schemas.microsoft.com/office/drawing/2014/main" id="{EBA0416A-D5CC-A9EE-119E-0DC9EBA5210F}"/>
              </a:ext>
            </a:extLst>
          </p:cNvPr>
          <p:cNvSpPr txBox="1"/>
          <p:nvPr/>
        </p:nvSpPr>
        <p:spPr>
          <a:xfrm>
            <a:off x="6604000" y="4418726"/>
            <a:ext cx="3206749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1F2937"/>
                </a:solidFill>
                <a:latin typeface="Malgun Gothic"/>
                <a:cs typeface="Malgun Gothic"/>
              </a:rPr>
              <a:t>급증하는 데이터의 비효율적 활용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24" name="object 49">
            <a:extLst>
              <a:ext uri="{FF2B5EF4-FFF2-40B4-BE49-F238E27FC236}">
                <a16:creationId xmlns:a16="http://schemas.microsoft.com/office/drawing/2014/main" id="{668A759E-CD09-EAD4-C997-01219ADAFD23}"/>
              </a:ext>
            </a:extLst>
          </p:cNvPr>
          <p:cNvSpPr txBox="1"/>
          <p:nvPr/>
        </p:nvSpPr>
        <p:spPr>
          <a:xfrm>
            <a:off x="6498896" y="4701581"/>
            <a:ext cx="5127953" cy="9401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298450" marR="253365" indent="-285750">
              <a:lnSpc>
                <a:spcPct val="1111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제조업은 소매</a:t>
            </a:r>
            <a:r>
              <a:rPr sz="1300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금융 등 타 산업보다 훨씬 많은 데이터 생성 데이터 양이 매년 기하급수적으로 증가</a:t>
            </a:r>
            <a:endParaRPr sz="135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비표준화된 포맷으로 산재된 데이터</a:t>
            </a:r>
            <a:endParaRPr sz="135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데이터 간의 의미적 연결성 부족으로 </a:t>
            </a:r>
            <a:r>
              <a:rPr sz="1300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모델 학습 효율성 저하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25" name="object 50">
            <a:extLst>
              <a:ext uri="{FF2B5EF4-FFF2-40B4-BE49-F238E27FC236}">
                <a16:creationId xmlns:a16="http://schemas.microsoft.com/office/drawing/2014/main" id="{864FC7DC-16BD-A43C-9F48-1F3D602E0445}"/>
              </a:ext>
            </a:extLst>
          </p:cNvPr>
          <p:cNvSpPr txBox="1"/>
          <p:nvPr/>
        </p:nvSpPr>
        <p:spPr>
          <a:xfrm>
            <a:off x="6356350" y="6035081"/>
            <a:ext cx="5223510" cy="4662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marR="5080" indent="22860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1D40AF"/>
                </a:solidFill>
                <a:latin typeface="Malgun Gothic"/>
                <a:cs typeface="Malgun Gothic"/>
              </a:rPr>
              <a:t>시장 트렌드</a:t>
            </a:r>
            <a:r>
              <a:rPr sz="1350" dirty="0">
                <a:solidFill>
                  <a:srgbClr val="1D40AF"/>
                </a:solidFill>
                <a:latin typeface="Comic Sans MS"/>
                <a:cs typeface="Comic Sans MS"/>
              </a:rPr>
              <a:t>: </a:t>
            </a:r>
            <a:r>
              <a:rPr sz="1350" dirty="0">
                <a:solidFill>
                  <a:srgbClr val="1D40AF"/>
                </a:solidFill>
                <a:latin typeface="Malgun Gothic"/>
                <a:cs typeface="Malgun Gothic"/>
              </a:rPr>
              <a:t>글로벌 제조업 경쟁 격화에 따른 </a:t>
            </a:r>
            <a:r>
              <a:rPr sz="1300" dirty="0">
                <a:solidFill>
                  <a:srgbClr val="1D40AF"/>
                </a:solidFill>
                <a:latin typeface="Franklin Gothic Demi"/>
                <a:cs typeface="Franklin Gothic Demi"/>
              </a:rPr>
              <a:t>AI </a:t>
            </a:r>
            <a:r>
              <a:rPr sz="1350" dirty="0">
                <a:solidFill>
                  <a:srgbClr val="1D40AF"/>
                </a:solidFill>
                <a:latin typeface="Malgun Gothic"/>
                <a:cs typeface="Malgun Gothic"/>
              </a:rPr>
              <a:t>기반 </a:t>
            </a:r>
            <a:r>
              <a:rPr sz="1350" dirty="0" err="1">
                <a:solidFill>
                  <a:srgbClr val="1D40AF"/>
                </a:solidFill>
                <a:latin typeface="Malgun Gothic"/>
                <a:cs typeface="Malgun Gothic"/>
              </a:rPr>
              <a:t>효율성</a:t>
            </a:r>
            <a:r>
              <a:rPr sz="1350" dirty="0">
                <a:solidFill>
                  <a:srgbClr val="1D40AF"/>
                </a:solidFill>
                <a:latin typeface="Malgun Gothic"/>
                <a:cs typeface="Malgun Gothic"/>
              </a:rPr>
              <a:t> 및</a:t>
            </a:r>
            <a:endParaRPr lang="en-US" sz="1350" dirty="0">
              <a:solidFill>
                <a:srgbClr val="1D40AF"/>
              </a:solidFill>
              <a:latin typeface="Malgun Gothic"/>
              <a:cs typeface="Malgun Gothic"/>
            </a:endParaRPr>
          </a:p>
          <a:p>
            <a:pPr marL="12700" marR="5080" indent="228600">
              <a:lnSpc>
                <a:spcPct val="111100"/>
              </a:lnSpc>
              <a:spcBef>
                <a:spcPts val="95"/>
              </a:spcBef>
            </a:pPr>
            <a:r>
              <a:rPr sz="1350" dirty="0" err="1">
                <a:solidFill>
                  <a:srgbClr val="1D40AF"/>
                </a:solidFill>
                <a:latin typeface="Malgun Gothic"/>
                <a:cs typeface="Malgun Gothic"/>
              </a:rPr>
              <a:t>비용</a:t>
            </a:r>
            <a:r>
              <a:rPr sz="1350" dirty="0">
                <a:solidFill>
                  <a:srgbClr val="1D40AF"/>
                </a:solidFill>
                <a:latin typeface="Malgun Gothic"/>
                <a:cs typeface="Malgun Gothic"/>
              </a:rPr>
              <a:t> 절감 압박 증가</a:t>
            </a:r>
            <a:endParaRPr sz="1350" dirty="0">
              <a:latin typeface="Malgun Gothic"/>
              <a:cs typeface="Malgun Gothic"/>
            </a:endParaRPr>
          </a:p>
        </p:txBody>
      </p:sp>
      <p:pic>
        <p:nvPicPr>
          <p:cNvPr id="7" name="object 26">
            <a:extLst>
              <a:ext uri="{FF2B5EF4-FFF2-40B4-BE49-F238E27FC236}">
                <a16:creationId xmlns:a16="http://schemas.microsoft.com/office/drawing/2014/main" id="{FAD6DC94-7545-52D3-2E9A-3D0F3AD822EC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67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D17C60EB-E42A-144C-934A-AF6DFF8F11D1}"/>
              </a:ext>
            </a:extLst>
          </p:cNvPr>
          <p:cNvSpPr txBox="1">
            <a:spLocks noGrp="1"/>
          </p:cNvSpPr>
          <p:nvPr/>
        </p:nvSpPr>
        <p:spPr>
          <a:xfrm>
            <a:off x="374650" y="309674"/>
            <a:ext cx="5346700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dirty="0"/>
              <a:t>AI 트랜스폼 3대 핵심 혁신 영역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FB0E28FA-D8D0-9056-D0D2-C88084E65E4A}"/>
              </a:ext>
            </a:extLst>
          </p:cNvPr>
          <p:cNvSpPr txBox="1"/>
          <p:nvPr/>
        </p:nvSpPr>
        <p:spPr>
          <a:xfrm>
            <a:off x="2499618" y="1297194"/>
            <a:ext cx="7492107" cy="451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951355" marR="5080" indent="-1939289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대덕전자의 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AI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트랜스폼은 세 가지 핵심 영역에 집중하여 초격차 경쟁력을 확보합니다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.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각 영역은 상호 연결 되어 제조 공정의 혁신적인 개선을 이끌어냅니다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A6A66356-B432-F60D-442A-EEA781CA40D3}"/>
              </a:ext>
            </a:extLst>
          </p:cNvPr>
          <p:cNvGrpSpPr/>
          <p:nvPr/>
        </p:nvGrpSpPr>
        <p:grpSpPr>
          <a:xfrm>
            <a:off x="387350" y="2108089"/>
            <a:ext cx="3610253" cy="4286249"/>
            <a:chOff x="380999" y="1943100"/>
            <a:chExt cx="3610253" cy="4286249"/>
          </a:xfrm>
        </p:grpSpPr>
        <p:sp>
          <p:nvSpPr>
            <p:cNvPr id="42" name="object 6">
              <a:extLst>
                <a:ext uri="{FF2B5EF4-FFF2-40B4-BE49-F238E27FC236}">
                  <a16:creationId xmlns:a16="http://schemas.microsoft.com/office/drawing/2014/main" id="{BF6326BD-6D68-F929-59A9-E6A9D7A600EC}"/>
                </a:ext>
              </a:extLst>
            </p:cNvPr>
            <p:cNvSpPr/>
            <p:nvPr/>
          </p:nvSpPr>
          <p:spPr>
            <a:xfrm>
              <a:off x="380999" y="1962149"/>
              <a:ext cx="3609975" cy="4267200"/>
            </a:xfrm>
            <a:custGeom>
              <a:avLst/>
              <a:gdLst/>
              <a:ahLst/>
              <a:cxnLst/>
              <a:rect l="l" t="t" r="r" b="b"/>
              <a:pathLst>
                <a:path w="3609975" h="4267200">
                  <a:moveTo>
                    <a:pt x="3538777" y="4267199"/>
                  </a:moveTo>
                  <a:lnTo>
                    <a:pt x="71196" y="4267199"/>
                  </a:lnTo>
                  <a:lnTo>
                    <a:pt x="66241" y="4266711"/>
                  </a:lnTo>
                  <a:lnTo>
                    <a:pt x="29705" y="4251576"/>
                  </a:lnTo>
                  <a:lnTo>
                    <a:pt x="3885" y="4215536"/>
                  </a:lnTo>
                  <a:lnTo>
                    <a:pt x="0" y="4196002"/>
                  </a:lnTo>
                  <a:lnTo>
                    <a:pt x="0" y="419099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538777" y="0"/>
                  </a:lnTo>
                  <a:lnTo>
                    <a:pt x="3580268" y="11716"/>
                  </a:lnTo>
                  <a:lnTo>
                    <a:pt x="3607533" y="42319"/>
                  </a:lnTo>
                  <a:lnTo>
                    <a:pt x="3609974" y="53397"/>
                  </a:lnTo>
                  <a:lnTo>
                    <a:pt x="3609974" y="4196002"/>
                  </a:lnTo>
                  <a:lnTo>
                    <a:pt x="3594352" y="4237492"/>
                  </a:lnTo>
                  <a:lnTo>
                    <a:pt x="3558311" y="4263313"/>
                  </a:lnTo>
                  <a:lnTo>
                    <a:pt x="3543732" y="4266711"/>
                  </a:lnTo>
                  <a:lnTo>
                    <a:pt x="3538777" y="426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3" name="object 7">
              <a:extLst>
                <a:ext uri="{FF2B5EF4-FFF2-40B4-BE49-F238E27FC236}">
                  <a16:creationId xmlns:a16="http://schemas.microsoft.com/office/drawing/2014/main" id="{F07853D5-5EB3-6EF2-918E-66F983F71F57}"/>
                </a:ext>
              </a:extLst>
            </p:cNvPr>
            <p:cNvSpPr/>
            <p:nvPr/>
          </p:nvSpPr>
          <p:spPr>
            <a:xfrm>
              <a:off x="381277" y="1943100"/>
              <a:ext cx="3609975" cy="70485"/>
            </a:xfrm>
            <a:custGeom>
              <a:avLst/>
              <a:gdLst/>
              <a:ahLst/>
              <a:cxnLst/>
              <a:rect l="l" t="t" r="r" b="b"/>
              <a:pathLst>
                <a:path w="3609975" h="70485">
                  <a:moveTo>
                    <a:pt x="0" y="70449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3533497" y="0"/>
                  </a:lnTo>
                  <a:lnTo>
                    <a:pt x="3575839" y="12829"/>
                  </a:lnTo>
                  <a:lnTo>
                    <a:pt x="3599406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3609975" h="70485">
                  <a:moveTo>
                    <a:pt x="3609419" y="70449"/>
                  </a:moveTo>
                  <a:lnTo>
                    <a:pt x="3575839" y="44514"/>
                  </a:lnTo>
                  <a:lnTo>
                    <a:pt x="3533497" y="38099"/>
                  </a:lnTo>
                  <a:lnTo>
                    <a:pt x="3599406" y="38099"/>
                  </a:lnTo>
                  <a:lnTo>
                    <a:pt x="3609334" y="68693"/>
                  </a:lnTo>
                  <a:lnTo>
                    <a:pt x="3609419" y="704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4" name="object 8">
              <a:extLst>
                <a:ext uri="{FF2B5EF4-FFF2-40B4-BE49-F238E27FC236}">
                  <a16:creationId xmlns:a16="http://schemas.microsoft.com/office/drawing/2014/main" id="{A8AEFE91-B7A1-8EA5-FB86-86865B853B64}"/>
                </a:ext>
              </a:extLst>
            </p:cNvPr>
            <p:cNvSpPr/>
            <p:nvPr/>
          </p:nvSpPr>
          <p:spPr>
            <a:xfrm>
              <a:off x="1800224" y="22097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2"/>
                  </a:lnTo>
                  <a:lnTo>
                    <a:pt x="243882" y="736471"/>
                  </a:lnTo>
                  <a:lnTo>
                    <a:pt x="201397" y="717012"/>
                  </a:lnTo>
                  <a:lnTo>
                    <a:pt x="161614" y="692498"/>
                  </a:lnTo>
                  <a:lnTo>
                    <a:pt x="125135" y="663302"/>
                  </a:lnTo>
                  <a:lnTo>
                    <a:pt x="92505" y="629860"/>
                  </a:lnTo>
                  <a:lnTo>
                    <a:pt x="64209" y="592671"/>
                  </a:lnTo>
                  <a:lnTo>
                    <a:pt x="40680" y="552298"/>
                  </a:lnTo>
                  <a:lnTo>
                    <a:pt x="22271" y="509354"/>
                  </a:lnTo>
                  <a:lnTo>
                    <a:pt x="9257" y="464480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3" y="325095"/>
                  </a:lnTo>
                  <a:lnTo>
                    <a:pt x="13800" y="279384"/>
                  </a:lnTo>
                  <a:lnTo>
                    <a:pt x="29001" y="235197"/>
                  </a:lnTo>
                  <a:lnTo>
                    <a:pt x="49498" y="193203"/>
                  </a:lnTo>
                  <a:lnTo>
                    <a:pt x="74977" y="154038"/>
                  </a:lnTo>
                  <a:lnTo>
                    <a:pt x="105059" y="118286"/>
                  </a:lnTo>
                  <a:lnTo>
                    <a:pt x="139295" y="86483"/>
                  </a:lnTo>
                  <a:lnTo>
                    <a:pt x="177167" y="59109"/>
                  </a:lnTo>
                  <a:lnTo>
                    <a:pt x="218101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4" y="13800"/>
                  </a:lnTo>
                  <a:lnTo>
                    <a:pt x="526802" y="29001"/>
                  </a:lnTo>
                  <a:lnTo>
                    <a:pt x="568796" y="49498"/>
                  </a:lnTo>
                  <a:lnTo>
                    <a:pt x="607961" y="74977"/>
                  </a:lnTo>
                  <a:lnTo>
                    <a:pt x="643713" y="105059"/>
                  </a:lnTo>
                  <a:lnTo>
                    <a:pt x="675517" y="139295"/>
                  </a:lnTo>
                  <a:lnTo>
                    <a:pt x="702890" y="177167"/>
                  </a:lnTo>
                  <a:lnTo>
                    <a:pt x="725420" y="218101"/>
                  </a:lnTo>
                  <a:lnTo>
                    <a:pt x="742769" y="261484"/>
                  </a:lnTo>
                  <a:lnTo>
                    <a:pt x="754679" y="306670"/>
                  </a:lnTo>
                  <a:lnTo>
                    <a:pt x="760968" y="352974"/>
                  </a:lnTo>
                  <a:lnTo>
                    <a:pt x="761999" y="380999"/>
                  </a:lnTo>
                  <a:lnTo>
                    <a:pt x="761885" y="390352"/>
                  </a:lnTo>
                  <a:lnTo>
                    <a:pt x="757876" y="436904"/>
                  </a:lnTo>
                  <a:lnTo>
                    <a:pt x="748199" y="482614"/>
                  </a:lnTo>
                  <a:lnTo>
                    <a:pt x="732997" y="526801"/>
                  </a:lnTo>
                  <a:lnTo>
                    <a:pt x="712502" y="568796"/>
                  </a:lnTo>
                  <a:lnTo>
                    <a:pt x="687022" y="607961"/>
                  </a:lnTo>
                  <a:lnTo>
                    <a:pt x="656940" y="643712"/>
                  </a:lnTo>
                  <a:lnTo>
                    <a:pt x="622703" y="675516"/>
                  </a:lnTo>
                  <a:lnTo>
                    <a:pt x="584831" y="702890"/>
                  </a:lnTo>
                  <a:lnTo>
                    <a:pt x="543898" y="725420"/>
                  </a:lnTo>
                  <a:lnTo>
                    <a:pt x="500515" y="742769"/>
                  </a:lnTo>
                  <a:lnTo>
                    <a:pt x="455329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5" name="object 9">
              <a:extLst>
                <a:ext uri="{FF2B5EF4-FFF2-40B4-BE49-F238E27FC236}">
                  <a16:creationId xmlns:a16="http://schemas.microsoft.com/office/drawing/2014/main" id="{13016794-237D-1A99-C26D-A6185CB22FEC}"/>
                </a:ext>
              </a:extLst>
            </p:cNvPr>
            <p:cNvSpPr/>
            <p:nvPr/>
          </p:nvSpPr>
          <p:spPr>
            <a:xfrm>
              <a:off x="1895474" y="3543299"/>
              <a:ext cx="571500" cy="28575"/>
            </a:xfrm>
            <a:custGeom>
              <a:avLst/>
              <a:gdLst/>
              <a:ahLst/>
              <a:cxnLst/>
              <a:rect l="l" t="t" r="r" b="b"/>
              <a:pathLst>
                <a:path w="571500" h="28575">
                  <a:moveTo>
                    <a:pt x="571499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571499" y="0"/>
                  </a:lnTo>
                  <a:lnTo>
                    <a:pt x="571499" y="2857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46" name="object 10">
              <a:extLst>
                <a:ext uri="{FF2B5EF4-FFF2-40B4-BE49-F238E27FC236}">
                  <a16:creationId xmlns:a16="http://schemas.microsoft.com/office/drawing/2014/main" id="{22B307CF-DD03-FC69-FF12-82E15A8BA4C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9774" y="2400299"/>
              <a:ext cx="342899" cy="380999"/>
            </a:xfrm>
            <a:prstGeom prst="rect">
              <a:avLst/>
            </a:prstGeom>
          </p:spPr>
        </p:pic>
      </p:grpSp>
      <p:sp>
        <p:nvSpPr>
          <p:cNvPr id="5" name="object 11">
            <a:extLst>
              <a:ext uri="{FF2B5EF4-FFF2-40B4-BE49-F238E27FC236}">
                <a16:creationId xmlns:a16="http://schemas.microsoft.com/office/drawing/2014/main" id="{143FB0E2-AAC7-B18D-309C-9A35D3AADD65}"/>
              </a:ext>
            </a:extLst>
          </p:cNvPr>
          <p:cNvSpPr txBox="1"/>
          <p:nvPr/>
        </p:nvSpPr>
        <p:spPr>
          <a:xfrm>
            <a:off x="1314351" y="3305212"/>
            <a:ext cx="2061162" cy="30008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1F2937"/>
                </a:solidFill>
                <a:latin typeface="Malgun Gothic"/>
                <a:cs typeface="Malgun Gothic"/>
              </a:rPr>
              <a:t>지</a:t>
            </a:r>
            <a:r>
              <a:rPr sz="1800" dirty="0">
                <a:solidFill>
                  <a:srgbClr val="1F2937"/>
                </a:solidFill>
                <a:latin typeface="Malgun Gothic"/>
                <a:cs typeface="Malgun Gothic"/>
              </a:rPr>
              <a:t>능</a:t>
            </a:r>
            <a:r>
              <a:rPr sz="1850" dirty="0">
                <a:solidFill>
                  <a:srgbClr val="1F2937"/>
                </a:solidFill>
                <a:latin typeface="Malgun Gothic"/>
                <a:cs typeface="Malgun Gothic"/>
              </a:rPr>
              <a:t>형 품질 관리</a:t>
            </a:r>
            <a:endParaRPr sz="1850" dirty="0">
              <a:latin typeface="Malgun Gothic"/>
              <a:cs typeface="Malgun Gothic"/>
            </a:endParaRPr>
          </a:p>
        </p:txBody>
      </p:sp>
      <p:grpSp>
        <p:nvGrpSpPr>
          <p:cNvPr id="6" name="object 12">
            <a:extLst>
              <a:ext uri="{FF2B5EF4-FFF2-40B4-BE49-F238E27FC236}">
                <a16:creationId xmlns:a16="http://schemas.microsoft.com/office/drawing/2014/main" id="{01EF6024-978C-907E-E4F8-7F968A0D6879}"/>
              </a:ext>
            </a:extLst>
          </p:cNvPr>
          <p:cNvGrpSpPr/>
          <p:nvPr/>
        </p:nvGrpSpPr>
        <p:grpSpPr>
          <a:xfrm>
            <a:off x="615950" y="3965464"/>
            <a:ext cx="2105025" cy="1943099"/>
            <a:chOff x="609599" y="3800475"/>
            <a:chExt cx="2105025" cy="1943099"/>
          </a:xfrm>
        </p:grpSpPr>
        <p:pic>
          <p:nvPicPr>
            <p:cNvPr id="38" name="object 13">
              <a:extLst>
                <a:ext uri="{FF2B5EF4-FFF2-40B4-BE49-F238E27FC236}">
                  <a16:creationId xmlns:a16="http://schemas.microsoft.com/office/drawing/2014/main" id="{E82040BD-EB90-4467-A8D1-05195905290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" y="3800475"/>
              <a:ext cx="152399" cy="152399"/>
            </a:xfrm>
            <a:prstGeom prst="rect">
              <a:avLst/>
            </a:prstGeom>
          </p:spPr>
        </p:pic>
        <p:pic>
          <p:nvPicPr>
            <p:cNvPr id="39" name="object 14">
              <a:extLst>
                <a:ext uri="{FF2B5EF4-FFF2-40B4-BE49-F238E27FC236}">
                  <a16:creationId xmlns:a16="http://schemas.microsoft.com/office/drawing/2014/main" id="{21796EDC-23D6-2DB6-0C6E-B0F292B7D4A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" y="4371975"/>
              <a:ext cx="152399" cy="152399"/>
            </a:xfrm>
            <a:prstGeom prst="rect">
              <a:avLst/>
            </a:prstGeom>
          </p:spPr>
        </p:pic>
        <p:pic>
          <p:nvPicPr>
            <p:cNvPr id="40" name="object 15">
              <a:extLst>
                <a:ext uri="{FF2B5EF4-FFF2-40B4-BE49-F238E27FC236}">
                  <a16:creationId xmlns:a16="http://schemas.microsoft.com/office/drawing/2014/main" id="{7962E967-6BB5-30F0-4D8F-A301238104E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" y="4943475"/>
              <a:ext cx="152399" cy="152399"/>
            </a:xfrm>
            <a:prstGeom prst="rect">
              <a:avLst/>
            </a:prstGeom>
          </p:spPr>
        </p:pic>
        <p:sp>
          <p:nvSpPr>
            <p:cNvPr id="41" name="object 16">
              <a:extLst>
                <a:ext uri="{FF2B5EF4-FFF2-40B4-BE49-F238E27FC236}">
                  <a16:creationId xmlns:a16="http://schemas.microsoft.com/office/drawing/2014/main" id="{CDB5452F-C4D2-365E-72D1-BE6F13A6FCA1}"/>
                </a:ext>
              </a:extLst>
            </p:cNvPr>
            <p:cNvSpPr/>
            <p:nvPr/>
          </p:nvSpPr>
          <p:spPr>
            <a:xfrm>
              <a:off x="1647824" y="551497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5" y="228599"/>
                  </a:moveTo>
                  <a:lnTo>
                    <a:pt x="106795" y="228599"/>
                  </a:lnTo>
                  <a:lnTo>
                    <a:pt x="99362" y="227867"/>
                  </a:lnTo>
                  <a:lnTo>
                    <a:pt x="57038" y="213505"/>
                  </a:lnTo>
                  <a:lnTo>
                    <a:pt x="23432" y="184041"/>
                  </a:lnTo>
                  <a:lnTo>
                    <a:pt x="3660" y="143959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960005" y="0"/>
                  </a:lnTo>
                  <a:lnTo>
                    <a:pt x="1003174" y="11571"/>
                  </a:lnTo>
                  <a:lnTo>
                    <a:pt x="1038629" y="38783"/>
                  </a:lnTo>
                  <a:lnTo>
                    <a:pt x="1060971" y="77492"/>
                  </a:lnTo>
                  <a:lnTo>
                    <a:pt x="1066800" y="106794"/>
                  </a:lnTo>
                  <a:lnTo>
                    <a:pt x="1066800" y="121804"/>
                  </a:lnTo>
                  <a:lnTo>
                    <a:pt x="1055227" y="164974"/>
                  </a:lnTo>
                  <a:lnTo>
                    <a:pt x="1028015" y="200429"/>
                  </a:lnTo>
                  <a:lnTo>
                    <a:pt x="989306" y="222771"/>
                  </a:lnTo>
                  <a:lnTo>
                    <a:pt x="967437" y="227867"/>
                  </a:lnTo>
                  <a:lnTo>
                    <a:pt x="960005" y="2285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7" name="object 17">
            <a:extLst>
              <a:ext uri="{FF2B5EF4-FFF2-40B4-BE49-F238E27FC236}">
                <a16:creationId xmlns:a16="http://schemas.microsoft.com/office/drawing/2014/main" id="{589363FE-A4A2-11A9-CB42-C9C59869949A}"/>
              </a:ext>
            </a:extLst>
          </p:cNvPr>
          <p:cNvSpPr txBox="1"/>
          <p:nvPr/>
        </p:nvSpPr>
        <p:spPr>
          <a:xfrm>
            <a:off x="831851" y="3878468"/>
            <a:ext cx="3165474" cy="16044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89535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딥러닝 기반 비전 검사로 육안으로 식별하 기 어려운 미세 결함까지 자동 검출</a:t>
            </a:r>
            <a:endParaRPr sz="1200" dirty="0">
              <a:latin typeface="Malgun Gothic"/>
              <a:cs typeface="Malgun Gothic"/>
            </a:endParaRPr>
          </a:p>
          <a:p>
            <a:pPr marL="12700" marR="5080">
              <a:lnSpc>
                <a:spcPct val="125000"/>
              </a:lnSpc>
              <a:spcBef>
                <a:spcPts val="900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머신러닝 및 다변량 분석으로 생산량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품질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설비 상태에 영향을 미치는 숨은 패턴 발견</a:t>
            </a:r>
            <a:endParaRPr sz="1200" dirty="0">
              <a:latin typeface="Malgun Gothic"/>
              <a:cs typeface="Malgun Gothic"/>
            </a:endParaRPr>
          </a:p>
          <a:p>
            <a:pPr marL="12700" marR="46990">
              <a:lnSpc>
                <a:spcPct val="125000"/>
              </a:lnSpc>
              <a:spcBef>
                <a:spcPts val="900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실시간 센서 데이터 분석을 통한 이상 징후 조기 감지 및 품질 저하 예방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8" name="object 18">
            <a:extLst>
              <a:ext uri="{FF2B5EF4-FFF2-40B4-BE49-F238E27FC236}">
                <a16:creationId xmlns:a16="http://schemas.microsoft.com/office/drawing/2014/main" id="{EC326B4E-DE76-6FD6-5C37-BC2B9022BBB6}"/>
              </a:ext>
            </a:extLst>
          </p:cNvPr>
          <p:cNvSpPr txBox="1"/>
          <p:nvPr/>
        </p:nvSpPr>
        <p:spPr>
          <a:xfrm>
            <a:off x="1759347" y="5695839"/>
            <a:ext cx="86296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66533"/>
                </a:solidFill>
                <a:latin typeface="Malgun Gothic"/>
                <a:cs typeface="Malgun Gothic"/>
              </a:rPr>
              <a:t>불량률 제로화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9" name="object 19">
            <a:extLst>
              <a:ext uri="{FF2B5EF4-FFF2-40B4-BE49-F238E27FC236}">
                <a16:creationId xmlns:a16="http://schemas.microsoft.com/office/drawing/2014/main" id="{FB04B1C3-9686-C195-8D6A-090FE8079C5C}"/>
              </a:ext>
            </a:extLst>
          </p:cNvPr>
          <p:cNvGrpSpPr/>
          <p:nvPr/>
        </p:nvGrpSpPr>
        <p:grpSpPr>
          <a:xfrm>
            <a:off x="4302125" y="2108089"/>
            <a:ext cx="3600728" cy="4286249"/>
            <a:chOff x="4295774" y="1943100"/>
            <a:chExt cx="3600728" cy="4286249"/>
          </a:xfrm>
        </p:grpSpPr>
        <p:sp>
          <p:nvSpPr>
            <p:cNvPr id="33" name="object 20">
              <a:extLst>
                <a:ext uri="{FF2B5EF4-FFF2-40B4-BE49-F238E27FC236}">
                  <a16:creationId xmlns:a16="http://schemas.microsoft.com/office/drawing/2014/main" id="{1B621CE0-CC5A-AFFA-9ADC-4BCBA1DC00FA}"/>
                </a:ext>
              </a:extLst>
            </p:cNvPr>
            <p:cNvSpPr/>
            <p:nvPr/>
          </p:nvSpPr>
          <p:spPr>
            <a:xfrm>
              <a:off x="4295774" y="1962149"/>
              <a:ext cx="3600450" cy="4267200"/>
            </a:xfrm>
            <a:custGeom>
              <a:avLst/>
              <a:gdLst/>
              <a:ahLst/>
              <a:cxnLst/>
              <a:rect l="l" t="t" r="r" b="b"/>
              <a:pathLst>
                <a:path w="3600450" h="4267200">
                  <a:moveTo>
                    <a:pt x="3529253" y="4267199"/>
                  </a:moveTo>
                  <a:lnTo>
                    <a:pt x="71196" y="4267199"/>
                  </a:lnTo>
                  <a:lnTo>
                    <a:pt x="66241" y="4266711"/>
                  </a:lnTo>
                  <a:lnTo>
                    <a:pt x="29705" y="4251576"/>
                  </a:lnTo>
                  <a:lnTo>
                    <a:pt x="3885" y="4215536"/>
                  </a:lnTo>
                  <a:lnTo>
                    <a:pt x="0" y="4196002"/>
                  </a:lnTo>
                  <a:lnTo>
                    <a:pt x="0" y="419099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529253" y="0"/>
                  </a:lnTo>
                  <a:lnTo>
                    <a:pt x="3570744" y="11716"/>
                  </a:lnTo>
                  <a:lnTo>
                    <a:pt x="3598009" y="42319"/>
                  </a:lnTo>
                  <a:lnTo>
                    <a:pt x="3600449" y="53397"/>
                  </a:lnTo>
                  <a:lnTo>
                    <a:pt x="3600449" y="4196002"/>
                  </a:lnTo>
                  <a:lnTo>
                    <a:pt x="3584827" y="4237492"/>
                  </a:lnTo>
                  <a:lnTo>
                    <a:pt x="3548786" y="4263313"/>
                  </a:lnTo>
                  <a:lnTo>
                    <a:pt x="3534208" y="4266711"/>
                  </a:lnTo>
                  <a:lnTo>
                    <a:pt x="3529253" y="426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4" name="object 21">
              <a:extLst>
                <a:ext uri="{FF2B5EF4-FFF2-40B4-BE49-F238E27FC236}">
                  <a16:creationId xmlns:a16="http://schemas.microsoft.com/office/drawing/2014/main" id="{FA6518BC-94A1-8741-DC46-705EA97AA48B}"/>
                </a:ext>
              </a:extLst>
            </p:cNvPr>
            <p:cNvSpPr/>
            <p:nvPr/>
          </p:nvSpPr>
          <p:spPr>
            <a:xfrm>
              <a:off x="4296052" y="1943100"/>
              <a:ext cx="3600450" cy="70485"/>
            </a:xfrm>
            <a:custGeom>
              <a:avLst/>
              <a:gdLst/>
              <a:ahLst/>
              <a:cxnLst/>
              <a:rect l="l" t="t" r="r" b="b"/>
              <a:pathLst>
                <a:path w="3600450" h="70485">
                  <a:moveTo>
                    <a:pt x="0" y="70449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3523972" y="0"/>
                  </a:lnTo>
                  <a:lnTo>
                    <a:pt x="3566313" y="12829"/>
                  </a:lnTo>
                  <a:lnTo>
                    <a:pt x="358988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3600450" h="70485">
                  <a:moveTo>
                    <a:pt x="3599894" y="70449"/>
                  </a:moveTo>
                  <a:lnTo>
                    <a:pt x="3566313" y="44514"/>
                  </a:lnTo>
                  <a:lnTo>
                    <a:pt x="3523972" y="38099"/>
                  </a:lnTo>
                  <a:lnTo>
                    <a:pt x="3589880" y="38099"/>
                  </a:lnTo>
                  <a:lnTo>
                    <a:pt x="3599809" y="68693"/>
                  </a:lnTo>
                  <a:lnTo>
                    <a:pt x="3599894" y="704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5" name="object 22">
              <a:extLst>
                <a:ext uri="{FF2B5EF4-FFF2-40B4-BE49-F238E27FC236}">
                  <a16:creationId xmlns:a16="http://schemas.microsoft.com/office/drawing/2014/main" id="{8C6AA5B9-DD49-801A-72A2-CCB8DEB97D3D}"/>
                </a:ext>
              </a:extLst>
            </p:cNvPr>
            <p:cNvSpPr/>
            <p:nvPr/>
          </p:nvSpPr>
          <p:spPr>
            <a:xfrm>
              <a:off x="5714999" y="22097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2"/>
                  </a:lnTo>
                  <a:lnTo>
                    <a:pt x="243881" y="736471"/>
                  </a:lnTo>
                  <a:lnTo>
                    <a:pt x="201397" y="717012"/>
                  </a:lnTo>
                  <a:lnTo>
                    <a:pt x="161614" y="692498"/>
                  </a:lnTo>
                  <a:lnTo>
                    <a:pt x="125135" y="663302"/>
                  </a:lnTo>
                  <a:lnTo>
                    <a:pt x="92505" y="629860"/>
                  </a:lnTo>
                  <a:lnTo>
                    <a:pt x="64209" y="592671"/>
                  </a:lnTo>
                  <a:lnTo>
                    <a:pt x="40679" y="552298"/>
                  </a:lnTo>
                  <a:lnTo>
                    <a:pt x="22271" y="509354"/>
                  </a:lnTo>
                  <a:lnTo>
                    <a:pt x="9257" y="464480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2" y="325095"/>
                  </a:lnTo>
                  <a:lnTo>
                    <a:pt x="13799" y="279384"/>
                  </a:lnTo>
                  <a:lnTo>
                    <a:pt x="29001" y="235197"/>
                  </a:lnTo>
                  <a:lnTo>
                    <a:pt x="49498" y="193203"/>
                  </a:lnTo>
                  <a:lnTo>
                    <a:pt x="74977" y="154038"/>
                  </a:lnTo>
                  <a:lnTo>
                    <a:pt x="105059" y="118286"/>
                  </a:lnTo>
                  <a:lnTo>
                    <a:pt x="139296" y="86483"/>
                  </a:lnTo>
                  <a:lnTo>
                    <a:pt x="177167" y="59109"/>
                  </a:lnTo>
                  <a:lnTo>
                    <a:pt x="218100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5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5" y="13800"/>
                  </a:lnTo>
                  <a:lnTo>
                    <a:pt x="526802" y="29001"/>
                  </a:lnTo>
                  <a:lnTo>
                    <a:pt x="568796" y="49498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6" y="139295"/>
                  </a:lnTo>
                  <a:lnTo>
                    <a:pt x="702890" y="177167"/>
                  </a:lnTo>
                  <a:lnTo>
                    <a:pt x="725420" y="218101"/>
                  </a:lnTo>
                  <a:lnTo>
                    <a:pt x="742770" y="261484"/>
                  </a:lnTo>
                  <a:lnTo>
                    <a:pt x="754678" y="306670"/>
                  </a:lnTo>
                  <a:lnTo>
                    <a:pt x="760968" y="352974"/>
                  </a:lnTo>
                  <a:lnTo>
                    <a:pt x="761999" y="380999"/>
                  </a:lnTo>
                  <a:lnTo>
                    <a:pt x="761885" y="390352"/>
                  </a:lnTo>
                  <a:lnTo>
                    <a:pt x="757876" y="436904"/>
                  </a:lnTo>
                  <a:lnTo>
                    <a:pt x="748199" y="482614"/>
                  </a:lnTo>
                  <a:lnTo>
                    <a:pt x="732997" y="526801"/>
                  </a:lnTo>
                  <a:lnTo>
                    <a:pt x="712501" y="568796"/>
                  </a:lnTo>
                  <a:lnTo>
                    <a:pt x="687021" y="607961"/>
                  </a:lnTo>
                  <a:lnTo>
                    <a:pt x="656939" y="643712"/>
                  </a:lnTo>
                  <a:lnTo>
                    <a:pt x="622703" y="675516"/>
                  </a:lnTo>
                  <a:lnTo>
                    <a:pt x="584831" y="702890"/>
                  </a:lnTo>
                  <a:lnTo>
                    <a:pt x="543898" y="725420"/>
                  </a:lnTo>
                  <a:lnTo>
                    <a:pt x="500515" y="742769"/>
                  </a:lnTo>
                  <a:lnTo>
                    <a:pt x="455329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6" name="object 23">
              <a:extLst>
                <a:ext uri="{FF2B5EF4-FFF2-40B4-BE49-F238E27FC236}">
                  <a16:creationId xmlns:a16="http://schemas.microsoft.com/office/drawing/2014/main" id="{2D5A874C-50EC-F44A-C8AB-33C59784D8EC}"/>
                </a:ext>
              </a:extLst>
            </p:cNvPr>
            <p:cNvSpPr/>
            <p:nvPr/>
          </p:nvSpPr>
          <p:spPr>
            <a:xfrm>
              <a:off x="5810249" y="3543299"/>
              <a:ext cx="571500" cy="28575"/>
            </a:xfrm>
            <a:custGeom>
              <a:avLst/>
              <a:gdLst/>
              <a:ahLst/>
              <a:cxnLst/>
              <a:rect l="l" t="t" r="r" b="b"/>
              <a:pathLst>
                <a:path w="571500" h="28575">
                  <a:moveTo>
                    <a:pt x="571499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571499" y="0"/>
                  </a:lnTo>
                  <a:lnTo>
                    <a:pt x="571499" y="285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37" name="object 24">
              <a:extLst>
                <a:ext uri="{FF2B5EF4-FFF2-40B4-BE49-F238E27FC236}">
                  <a16:creationId xmlns:a16="http://schemas.microsoft.com/office/drawing/2014/main" id="{654C498D-F86D-B443-AF69-2272C27241C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4549" y="2400299"/>
              <a:ext cx="342899" cy="380999"/>
            </a:xfrm>
            <a:prstGeom prst="rect">
              <a:avLst/>
            </a:prstGeom>
          </p:spPr>
        </p:pic>
      </p:grpSp>
      <p:sp>
        <p:nvSpPr>
          <p:cNvPr id="10" name="object 25">
            <a:extLst>
              <a:ext uri="{FF2B5EF4-FFF2-40B4-BE49-F238E27FC236}">
                <a16:creationId xmlns:a16="http://schemas.microsoft.com/office/drawing/2014/main" id="{FB5C5824-884B-2440-B3BA-A18F66A5F397}"/>
              </a:ext>
            </a:extLst>
          </p:cNvPr>
          <p:cNvSpPr txBox="1"/>
          <p:nvPr/>
        </p:nvSpPr>
        <p:spPr>
          <a:xfrm>
            <a:off x="5194152" y="3305212"/>
            <a:ext cx="2086610" cy="30008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b="1" dirty="0">
                <a:solidFill>
                  <a:srgbClr val="1F2937"/>
                </a:solidFill>
                <a:latin typeface="Arial"/>
                <a:cs typeface="Arial"/>
              </a:rPr>
              <a:t>AI </a:t>
            </a:r>
            <a:r>
              <a:rPr sz="1850" dirty="0">
                <a:solidFill>
                  <a:srgbClr val="1F2937"/>
                </a:solidFill>
                <a:latin typeface="Malgun Gothic"/>
                <a:cs typeface="Malgun Gothic"/>
              </a:rPr>
              <a:t>기반 지식 관리</a:t>
            </a:r>
            <a:endParaRPr sz="1850" dirty="0">
              <a:latin typeface="Malgun Gothic"/>
              <a:cs typeface="Malgun Gothic"/>
            </a:endParaRPr>
          </a:p>
        </p:txBody>
      </p:sp>
      <p:grpSp>
        <p:nvGrpSpPr>
          <p:cNvPr id="11" name="object 26">
            <a:extLst>
              <a:ext uri="{FF2B5EF4-FFF2-40B4-BE49-F238E27FC236}">
                <a16:creationId xmlns:a16="http://schemas.microsoft.com/office/drawing/2014/main" id="{1C5FDE80-5519-BEE9-5380-75E83CEC26F1}"/>
              </a:ext>
            </a:extLst>
          </p:cNvPr>
          <p:cNvGrpSpPr/>
          <p:nvPr/>
        </p:nvGrpSpPr>
        <p:grpSpPr>
          <a:xfrm>
            <a:off x="4540251" y="3965464"/>
            <a:ext cx="2028824" cy="1943099"/>
            <a:chOff x="4533900" y="3800475"/>
            <a:chExt cx="2028824" cy="1943099"/>
          </a:xfrm>
        </p:grpSpPr>
        <p:pic>
          <p:nvPicPr>
            <p:cNvPr id="29" name="object 27">
              <a:extLst>
                <a:ext uri="{FF2B5EF4-FFF2-40B4-BE49-F238E27FC236}">
                  <a16:creationId xmlns:a16="http://schemas.microsoft.com/office/drawing/2014/main" id="{C95A4330-4FB5-78CA-DA01-206A95385EF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3900" y="3800475"/>
              <a:ext cx="142874" cy="152399"/>
            </a:xfrm>
            <a:prstGeom prst="rect">
              <a:avLst/>
            </a:prstGeom>
          </p:spPr>
        </p:pic>
        <p:pic>
          <p:nvPicPr>
            <p:cNvPr id="30" name="object 28">
              <a:extLst>
                <a:ext uri="{FF2B5EF4-FFF2-40B4-BE49-F238E27FC236}">
                  <a16:creationId xmlns:a16="http://schemas.microsoft.com/office/drawing/2014/main" id="{9256AE22-E156-4A3F-87A9-688533F7A5C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3900" y="4371975"/>
              <a:ext cx="142874" cy="152399"/>
            </a:xfrm>
            <a:prstGeom prst="rect">
              <a:avLst/>
            </a:prstGeom>
          </p:spPr>
        </p:pic>
        <p:pic>
          <p:nvPicPr>
            <p:cNvPr id="31" name="object 29">
              <a:extLst>
                <a:ext uri="{FF2B5EF4-FFF2-40B4-BE49-F238E27FC236}">
                  <a16:creationId xmlns:a16="http://schemas.microsoft.com/office/drawing/2014/main" id="{2C8EB927-6BA1-C7B3-CFDE-9B4D50F0EDB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3900" y="4943475"/>
              <a:ext cx="142874" cy="152399"/>
            </a:xfrm>
            <a:prstGeom prst="rect">
              <a:avLst/>
            </a:prstGeom>
          </p:spPr>
        </p:pic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295C9EF4-930E-56C2-45F4-96EFD7491271}"/>
                </a:ext>
              </a:extLst>
            </p:cNvPr>
            <p:cNvSpPr/>
            <p:nvPr/>
          </p:nvSpPr>
          <p:spPr>
            <a:xfrm>
              <a:off x="5629274" y="5514974"/>
              <a:ext cx="933450" cy="228600"/>
            </a:xfrm>
            <a:custGeom>
              <a:avLst/>
              <a:gdLst/>
              <a:ahLst/>
              <a:cxnLst/>
              <a:rect l="l" t="t" r="r" b="b"/>
              <a:pathLst>
                <a:path w="933450" h="228600">
                  <a:moveTo>
                    <a:pt x="826655" y="228599"/>
                  </a:moveTo>
                  <a:lnTo>
                    <a:pt x="106795" y="228599"/>
                  </a:lnTo>
                  <a:lnTo>
                    <a:pt x="99361" y="227867"/>
                  </a:lnTo>
                  <a:lnTo>
                    <a:pt x="57037" y="213505"/>
                  </a:lnTo>
                  <a:lnTo>
                    <a:pt x="23432" y="184041"/>
                  </a:lnTo>
                  <a:lnTo>
                    <a:pt x="3660" y="143959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1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826655" y="0"/>
                  </a:lnTo>
                  <a:lnTo>
                    <a:pt x="869824" y="11571"/>
                  </a:lnTo>
                  <a:lnTo>
                    <a:pt x="905278" y="38783"/>
                  </a:lnTo>
                  <a:lnTo>
                    <a:pt x="927621" y="77492"/>
                  </a:lnTo>
                  <a:lnTo>
                    <a:pt x="933449" y="106794"/>
                  </a:lnTo>
                  <a:lnTo>
                    <a:pt x="933449" y="121804"/>
                  </a:lnTo>
                  <a:lnTo>
                    <a:pt x="921876" y="164974"/>
                  </a:lnTo>
                  <a:lnTo>
                    <a:pt x="894665" y="200429"/>
                  </a:lnTo>
                  <a:lnTo>
                    <a:pt x="855957" y="222771"/>
                  </a:lnTo>
                  <a:lnTo>
                    <a:pt x="834087" y="227867"/>
                  </a:lnTo>
                  <a:lnTo>
                    <a:pt x="826655" y="228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12" name="object 31">
            <a:extLst>
              <a:ext uri="{FF2B5EF4-FFF2-40B4-BE49-F238E27FC236}">
                <a16:creationId xmlns:a16="http://schemas.microsoft.com/office/drawing/2014/main" id="{AF2698CE-CC87-2780-3B6E-CEF044CDC25A}"/>
              </a:ext>
            </a:extLst>
          </p:cNvPr>
          <p:cNvSpPr txBox="1"/>
          <p:nvPr/>
        </p:nvSpPr>
        <p:spPr>
          <a:xfrm>
            <a:off x="4743351" y="3878468"/>
            <a:ext cx="3000474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58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온톨로지 및 지식 그래프를 통한 산재된 제 조 지식의 체계적 통합</a:t>
            </a:r>
            <a:endParaRPr sz="1200" dirty="0">
              <a:latin typeface="Malgun Gothic"/>
              <a:cs typeface="Malgun Gothic"/>
            </a:endParaRPr>
          </a:p>
          <a:p>
            <a:pPr marL="12700" marR="5080">
              <a:lnSpc>
                <a:spcPct val="125000"/>
              </a:lnSpc>
              <a:spcBef>
                <a:spcPts val="900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대규모 언어 모델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(LLM)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을 활용한 기술 문서 분석 및 연구 개발 효율화</a:t>
            </a:r>
            <a:endParaRPr sz="1200" dirty="0">
              <a:latin typeface="Malgun Gothic"/>
              <a:cs typeface="Malgun Gothic"/>
            </a:endParaRPr>
          </a:p>
          <a:p>
            <a:pPr marL="12700" marR="97790">
              <a:lnSpc>
                <a:spcPct val="125000"/>
              </a:lnSpc>
              <a:spcBef>
                <a:spcPts val="900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설비 로그와 같은 비정형 데이터 분석으로 이상 징후 탐지 및 원인 자동 분류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3" name="object 32">
            <a:extLst>
              <a:ext uri="{FF2B5EF4-FFF2-40B4-BE49-F238E27FC236}">
                <a16:creationId xmlns:a16="http://schemas.microsoft.com/office/drawing/2014/main" id="{500DEE55-835E-7479-DEDA-3F649EA5995D}"/>
              </a:ext>
            </a:extLst>
          </p:cNvPr>
          <p:cNvSpPr txBox="1"/>
          <p:nvPr/>
        </p:nvSpPr>
        <p:spPr>
          <a:xfrm>
            <a:off x="5737672" y="5695839"/>
            <a:ext cx="72961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D40AF"/>
                </a:solidFill>
                <a:latin typeface="Malgun Gothic"/>
                <a:cs typeface="Malgun Gothic"/>
              </a:rPr>
              <a:t>지식 자산화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14" name="object 33">
            <a:extLst>
              <a:ext uri="{FF2B5EF4-FFF2-40B4-BE49-F238E27FC236}">
                <a16:creationId xmlns:a16="http://schemas.microsoft.com/office/drawing/2014/main" id="{0B1949E6-3721-7759-EDD2-7FC2B09F9D5B}"/>
              </a:ext>
            </a:extLst>
          </p:cNvPr>
          <p:cNvGrpSpPr/>
          <p:nvPr/>
        </p:nvGrpSpPr>
        <p:grpSpPr>
          <a:xfrm>
            <a:off x="8207374" y="2108089"/>
            <a:ext cx="3610254" cy="4286249"/>
            <a:chOff x="8201023" y="1943100"/>
            <a:chExt cx="3610254" cy="4286249"/>
          </a:xfrm>
        </p:grpSpPr>
        <p:sp>
          <p:nvSpPr>
            <p:cNvPr id="24" name="object 34">
              <a:extLst>
                <a:ext uri="{FF2B5EF4-FFF2-40B4-BE49-F238E27FC236}">
                  <a16:creationId xmlns:a16="http://schemas.microsoft.com/office/drawing/2014/main" id="{F416272F-3DD3-D63E-FD75-3972CE2FD7AC}"/>
                </a:ext>
              </a:extLst>
            </p:cNvPr>
            <p:cNvSpPr/>
            <p:nvPr/>
          </p:nvSpPr>
          <p:spPr>
            <a:xfrm>
              <a:off x="8201023" y="1962149"/>
              <a:ext cx="3609975" cy="4267200"/>
            </a:xfrm>
            <a:custGeom>
              <a:avLst/>
              <a:gdLst/>
              <a:ahLst/>
              <a:cxnLst/>
              <a:rect l="l" t="t" r="r" b="b"/>
              <a:pathLst>
                <a:path w="3609975" h="4267200">
                  <a:moveTo>
                    <a:pt x="3538778" y="4267199"/>
                  </a:moveTo>
                  <a:lnTo>
                    <a:pt x="71196" y="4267199"/>
                  </a:lnTo>
                  <a:lnTo>
                    <a:pt x="66241" y="4266711"/>
                  </a:lnTo>
                  <a:lnTo>
                    <a:pt x="29704" y="4251576"/>
                  </a:lnTo>
                  <a:lnTo>
                    <a:pt x="3885" y="4215536"/>
                  </a:lnTo>
                  <a:lnTo>
                    <a:pt x="0" y="4196002"/>
                  </a:lnTo>
                  <a:lnTo>
                    <a:pt x="0" y="4190999"/>
                  </a:lnTo>
                  <a:lnTo>
                    <a:pt x="0" y="53397"/>
                  </a:lnTo>
                  <a:lnTo>
                    <a:pt x="18779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538778" y="0"/>
                  </a:lnTo>
                  <a:lnTo>
                    <a:pt x="3580270" y="11716"/>
                  </a:lnTo>
                  <a:lnTo>
                    <a:pt x="3607535" y="42319"/>
                  </a:lnTo>
                  <a:lnTo>
                    <a:pt x="3609975" y="53397"/>
                  </a:lnTo>
                  <a:lnTo>
                    <a:pt x="3609975" y="4196002"/>
                  </a:lnTo>
                  <a:lnTo>
                    <a:pt x="3594352" y="4237492"/>
                  </a:lnTo>
                  <a:lnTo>
                    <a:pt x="3558313" y="4263313"/>
                  </a:lnTo>
                  <a:lnTo>
                    <a:pt x="3543733" y="4266711"/>
                  </a:lnTo>
                  <a:lnTo>
                    <a:pt x="3538778" y="426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5" name="object 35">
              <a:extLst>
                <a:ext uri="{FF2B5EF4-FFF2-40B4-BE49-F238E27FC236}">
                  <a16:creationId xmlns:a16="http://schemas.microsoft.com/office/drawing/2014/main" id="{C9662B26-07E2-FCA7-C1D1-DA86EFACFFDF}"/>
                </a:ext>
              </a:extLst>
            </p:cNvPr>
            <p:cNvSpPr/>
            <p:nvPr/>
          </p:nvSpPr>
          <p:spPr>
            <a:xfrm>
              <a:off x="8201302" y="1943100"/>
              <a:ext cx="3609975" cy="70485"/>
            </a:xfrm>
            <a:custGeom>
              <a:avLst/>
              <a:gdLst/>
              <a:ahLst/>
              <a:cxnLst/>
              <a:rect l="l" t="t" r="r" b="b"/>
              <a:pathLst>
                <a:path w="3609975" h="70485">
                  <a:moveTo>
                    <a:pt x="0" y="70450"/>
                  </a:moveTo>
                  <a:lnTo>
                    <a:pt x="12551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3533497" y="0"/>
                  </a:lnTo>
                  <a:lnTo>
                    <a:pt x="3575838" y="12829"/>
                  </a:lnTo>
                  <a:lnTo>
                    <a:pt x="3599405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3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3609975" h="70485">
                  <a:moveTo>
                    <a:pt x="3609419" y="70450"/>
                  </a:moveTo>
                  <a:lnTo>
                    <a:pt x="3575838" y="44514"/>
                  </a:lnTo>
                  <a:lnTo>
                    <a:pt x="3533497" y="38099"/>
                  </a:lnTo>
                  <a:lnTo>
                    <a:pt x="3599405" y="38099"/>
                  </a:lnTo>
                  <a:lnTo>
                    <a:pt x="3609334" y="68693"/>
                  </a:lnTo>
                  <a:lnTo>
                    <a:pt x="3609419" y="70450"/>
                  </a:lnTo>
                  <a:close/>
                </a:path>
              </a:pathLst>
            </a:custGeom>
            <a:solidFill>
              <a:srgbClr val="A754F6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6" name="object 36">
              <a:extLst>
                <a:ext uri="{FF2B5EF4-FFF2-40B4-BE49-F238E27FC236}">
                  <a16:creationId xmlns:a16="http://schemas.microsoft.com/office/drawing/2014/main" id="{853F58B5-1E94-5219-D4D4-78F826A75BD9}"/>
                </a:ext>
              </a:extLst>
            </p:cNvPr>
            <p:cNvSpPr/>
            <p:nvPr/>
          </p:nvSpPr>
          <p:spPr>
            <a:xfrm>
              <a:off x="9629773" y="22097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7" y="759134"/>
                  </a:lnTo>
                  <a:lnTo>
                    <a:pt x="288424" y="750582"/>
                  </a:lnTo>
                  <a:lnTo>
                    <a:pt x="243881" y="736471"/>
                  </a:lnTo>
                  <a:lnTo>
                    <a:pt x="201396" y="717012"/>
                  </a:lnTo>
                  <a:lnTo>
                    <a:pt x="161613" y="692498"/>
                  </a:lnTo>
                  <a:lnTo>
                    <a:pt x="125135" y="663302"/>
                  </a:lnTo>
                  <a:lnTo>
                    <a:pt x="92505" y="629860"/>
                  </a:lnTo>
                  <a:lnTo>
                    <a:pt x="64209" y="592671"/>
                  </a:lnTo>
                  <a:lnTo>
                    <a:pt x="40680" y="552298"/>
                  </a:lnTo>
                  <a:lnTo>
                    <a:pt x="22271" y="509354"/>
                  </a:lnTo>
                  <a:lnTo>
                    <a:pt x="9257" y="464480"/>
                  </a:lnTo>
                  <a:lnTo>
                    <a:pt x="1835" y="418344"/>
                  </a:lnTo>
                  <a:lnTo>
                    <a:pt x="0" y="380999"/>
                  </a:lnTo>
                  <a:lnTo>
                    <a:pt x="115" y="371647"/>
                  </a:lnTo>
                  <a:lnTo>
                    <a:pt x="4124" y="325095"/>
                  </a:lnTo>
                  <a:lnTo>
                    <a:pt x="13800" y="279384"/>
                  </a:lnTo>
                  <a:lnTo>
                    <a:pt x="29001" y="235197"/>
                  </a:lnTo>
                  <a:lnTo>
                    <a:pt x="49498" y="193203"/>
                  </a:lnTo>
                  <a:lnTo>
                    <a:pt x="74977" y="154038"/>
                  </a:lnTo>
                  <a:lnTo>
                    <a:pt x="105059" y="118286"/>
                  </a:lnTo>
                  <a:lnTo>
                    <a:pt x="139295" y="86483"/>
                  </a:lnTo>
                  <a:lnTo>
                    <a:pt x="177166" y="59109"/>
                  </a:lnTo>
                  <a:lnTo>
                    <a:pt x="218100" y="36579"/>
                  </a:lnTo>
                  <a:lnTo>
                    <a:pt x="261483" y="19230"/>
                  </a:lnTo>
                  <a:lnTo>
                    <a:pt x="306669" y="7320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3" y="4123"/>
                  </a:lnTo>
                  <a:lnTo>
                    <a:pt x="482614" y="13800"/>
                  </a:lnTo>
                  <a:lnTo>
                    <a:pt x="526801" y="29001"/>
                  </a:lnTo>
                  <a:lnTo>
                    <a:pt x="568796" y="49498"/>
                  </a:lnTo>
                  <a:lnTo>
                    <a:pt x="607960" y="74977"/>
                  </a:lnTo>
                  <a:lnTo>
                    <a:pt x="643711" y="105059"/>
                  </a:lnTo>
                  <a:lnTo>
                    <a:pt x="675516" y="139295"/>
                  </a:lnTo>
                  <a:lnTo>
                    <a:pt x="702890" y="177167"/>
                  </a:lnTo>
                  <a:lnTo>
                    <a:pt x="725419" y="218101"/>
                  </a:lnTo>
                  <a:lnTo>
                    <a:pt x="742769" y="261484"/>
                  </a:lnTo>
                  <a:lnTo>
                    <a:pt x="754678" y="306670"/>
                  </a:lnTo>
                  <a:lnTo>
                    <a:pt x="760968" y="352974"/>
                  </a:lnTo>
                  <a:lnTo>
                    <a:pt x="761999" y="380999"/>
                  </a:lnTo>
                  <a:lnTo>
                    <a:pt x="761885" y="390352"/>
                  </a:lnTo>
                  <a:lnTo>
                    <a:pt x="757876" y="436904"/>
                  </a:lnTo>
                  <a:lnTo>
                    <a:pt x="748199" y="482614"/>
                  </a:lnTo>
                  <a:lnTo>
                    <a:pt x="732997" y="526801"/>
                  </a:lnTo>
                  <a:lnTo>
                    <a:pt x="712501" y="568796"/>
                  </a:lnTo>
                  <a:lnTo>
                    <a:pt x="687021" y="607961"/>
                  </a:lnTo>
                  <a:lnTo>
                    <a:pt x="656939" y="643712"/>
                  </a:lnTo>
                  <a:lnTo>
                    <a:pt x="622702" y="675516"/>
                  </a:lnTo>
                  <a:lnTo>
                    <a:pt x="584830" y="702890"/>
                  </a:lnTo>
                  <a:lnTo>
                    <a:pt x="543897" y="725420"/>
                  </a:lnTo>
                  <a:lnTo>
                    <a:pt x="500513" y="742769"/>
                  </a:lnTo>
                  <a:lnTo>
                    <a:pt x="455328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7" name="object 37">
              <a:extLst>
                <a:ext uri="{FF2B5EF4-FFF2-40B4-BE49-F238E27FC236}">
                  <a16:creationId xmlns:a16="http://schemas.microsoft.com/office/drawing/2014/main" id="{D2ABAC0F-832A-63E1-7DD1-9EB148982280}"/>
                </a:ext>
              </a:extLst>
            </p:cNvPr>
            <p:cNvSpPr/>
            <p:nvPr/>
          </p:nvSpPr>
          <p:spPr>
            <a:xfrm>
              <a:off x="9725023" y="3571874"/>
              <a:ext cx="571500" cy="28575"/>
            </a:xfrm>
            <a:custGeom>
              <a:avLst/>
              <a:gdLst/>
              <a:ahLst/>
              <a:cxnLst/>
              <a:rect l="l" t="t" r="r" b="b"/>
              <a:pathLst>
                <a:path w="571500" h="28575">
                  <a:moveTo>
                    <a:pt x="571499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571499" y="0"/>
                  </a:lnTo>
                  <a:lnTo>
                    <a:pt x="571499" y="28574"/>
                  </a:lnTo>
                  <a:close/>
                </a:path>
              </a:pathLst>
            </a:custGeom>
            <a:solidFill>
              <a:srgbClr val="A754F6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8" name="object 38">
              <a:extLst>
                <a:ext uri="{FF2B5EF4-FFF2-40B4-BE49-F238E27FC236}">
                  <a16:creationId xmlns:a16="http://schemas.microsoft.com/office/drawing/2014/main" id="{BD50A9F2-86F2-D1C8-12AC-29C1435E973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10749" y="2400299"/>
              <a:ext cx="390524" cy="380999"/>
            </a:xfrm>
            <a:prstGeom prst="rect">
              <a:avLst/>
            </a:prstGeom>
          </p:spPr>
        </p:pic>
      </p:grpSp>
      <p:sp>
        <p:nvSpPr>
          <p:cNvPr id="15" name="object 39">
            <a:extLst>
              <a:ext uri="{FF2B5EF4-FFF2-40B4-BE49-F238E27FC236}">
                <a16:creationId xmlns:a16="http://schemas.microsoft.com/office/drawing/2014/main" id="{FDCE741A-FBB6-857F-D239-EFD3565988AE}"/>
              </a:ext>
            </a:extLst>
          </p:cNvPr>
          <p:cNvSpPr txBox="1"/>
          <p:nvPr/>
        </p:nvSpPr>
        <p:spPr>
          <a:xfrm>
            <a:off x="8106212" y="3285984"/>
            <a:ext cx="3711137" cy="2945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sz="1850" dirty="0">
                <a:solidFill>
                  <a:srgbClr val="1F2937"/>
                </a:solidFill>
                <a:latin typeface="Malgun Gothic"/>
                <a:cs typeface="Malgun Gothic"/>
              </a:rPr>
              <a:t>디지털 </a:t>
            </a:r>
            <a:r>
              <a:rPr sz="1700" dirty="0">
                <a:solidFill>
                  <a:srgbClr val="1F2937"/>
                </a:solidFill>
                <a:latin typeface="Malgun Gothic"/>
                <a:cs typeface="Malgun Gothic"/>
              </a:rPr>
              <a:t>트</a:t>
            </a:r>
            <a:r>
              <a:rPr sz="1850" dirty="0">
                <a:solidFill>
                  <a:srgbClr val="1F2937"/>
                </a:solidFill>
                <a:latin typeface="Malgun Gothic"/>
                <a:cs typeface="Malgun Gothic"/>
              </a:rPr>
              <a:t>윈 기반 자율 제조 시스템</a:t>
            </a:r>
            <a:endParaRPr sz="1850" dirty="0">
              <a:latin typeface="Malgun Gothic"/>
              <a:cs typeface="Malgun Gothic"/>
            </a:endParaRPr>
          </a:p>
        </p:txBody>
      </p:sp>
      <p:grpSp>
        <p:nvGrpSpPr>
          <p:cNvPr id="16" name="object 40">
            <a:extLst>
              <a:ext uri="{FF2B5EF4-FFF2-40B4-BE49-F238E27FC236}">
                <a16:creationId xmlns:a16="http://schemas.microsoft.com/office/drawing/2014/main" id="{C63086C6-8C99-293D-ECE8-B0CD901B4752}"/>
              </a:ext>
            </a:extLst>
          </p:cNvPr>
          <p:cNvGrpSpPr/>
          <p:nvPr/>
        </p:nvGrpSpPr>
        <p:grpSpPr>
          <a:xfrm>
            <a:off x="8435976" y="3936310"/>
            <a:ext cx="2114549" cy="1943099"/>
            <a:chOff x="8429625" y="4105275"/>
            <a:chExt cx="2114549" cy="1943099"/>
          </a:xfrm>
        </p:grpSpPr>
        <p:pic>
          <p:nvPicPr>
            <p:cNvPr id="20" name="object 41">
              <a:extLst>
                <a:ext uri="{FF2B5EF4-FFF2-40B4-BE49-F238E27FC236}">
                  <a16:creationId xmlns:a16="http://schemas.microsoft.com/office/drawing/2014/main" id="{BF0583C1-80C1-213D-3AE4-83BFD530B5F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9625" y="4105275"/>
              <a:ext cx="152399" cy="152399"/>
            </a:xfrm>
            <a:prstGeom prst="rect">
              <a:avLst/>
            </a:prstGeom>
          </p:spPr>
        </p:pic>
        <p:pic>
          <p:nvPicPr>
            <p:cNvPr id="21" name="object 42">
              <a:extLst>
                <a:ext uri="{FF2B5EF4-FFF2-40B4-BE49-F238E27FC236}">
                  <a16:creationId xmlns:a16="http://schemas.microsoft.com/office/drawing/2014/main" id="{C29E08E1-939D-B595-276B-522F0EC7DAF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9625" y="4676775"/>
              <a:ext cx="152399" cy="152399"/>
            </a:xfrm>
            <a:prstGeom prst="rect">
              <a:avLst/>
            </a:prstGeom>
          </p:spPr>
        </p:pic>
        <p:pic>
          <p:nvPicPr>
            <p:cNvPr id="22" name="object 43">
              <a:extLst>
                <a:ext uri="{FF2B5EF4-FFF2-40B4-BE49-F238E27FC236}">
                  <a16:creationId xmlns:a16="http://schemas.microsoft.com/office/drawing/2014/main" id="{1B4A9877-1F03-0203-A177-BAC799114EC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9625" y="5248275"/>
              <a:ext cx="152399" cy="152399"/>
            </a:xfrm>
            <a:prstGeom prst="rect">
              <a:avLst/>
            </a:prstGeom>
          </p:spPr>
        </p:pic>
        <p:sp>
          <p:nvSpPr>
            <p:cNvPr id="23" name="object 44">
              <a:extLst>
                <a:ext uri="{FF2B5EF4-FFF2-40B4-BE49-F238E27FC236}">
                  <a16:creationId xmlns:a16="http://schemas.microsoft.com/office/drawing/2014/main" id="{D0F0C526-18B9-3D6C-333A-8EA1638253E3}"/>
                </a:ext>
              </a:extLst>
            </p:cNvPr>
            <p:cNvSpPr/>
            <p:nvPr/>
          </p:nvSpPr>
          <p:spPr>
            <a:xfrm>
              <a:off x="9477374" y="581977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4" y="228599"/>
                  </a:moveTo>
                  <a:lnTo>
                    <a:pt x="106794" y="228599"/>
                  </a:lnTo>
                  <a:lnTo>
                    <a:pt x="99360" y="227867"/>
                  </a:lnTo>
                  <a:lnTo>
                    <a:pt x="57037" y="213505"/>
                  </a:lnTo>
                  <a:lnTo>
                    <a:pt x="23431" y="184040"/>
                  </a:lnTo>
                  <a:lnTo>
                    <a:pt x="3659" y="143959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1" y="63624"/>
                  </a:lnTo>
                  <a:lnTo>
                    <a:pt x="38784" y="28169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960004" y="0"/>
                  </a:lnTo>
                  <a:lnTo>
                    <a:pt x="1003173" y="11571"/>
                  </a:lnTo>
                  <a:lnTo>
                    <a:pt x="1038627" y="38783"/>
                  </a:lnTo>
                  <a:lnTo>
                    <a:pt x="1060968" y="77492"/>
                  </a:lnTo>
                  <a:lnTo>
                    <a:pt x="1066799" y="106794"/>
                  </a:lnTo>
                  <a:lnTo>
                    <a:pt x="1066799" y="121804"/>
                  </a:lnTo>
                  <a:lnTo>
                    <a:pt x="1055225" y="164973"/>
                  </a:lnTo>
                  <a:lnTo>
                    <a:pt x="1028013" y="200428"/>
                  </a:lnTo>
                  <a:lnTo>
                    <a:pt x="989305" y="222770"/>
                  </a:lnTo>
                  <a:lnTo>
                    <a:pt x="967436" y="227867"/>
                  </a:lnTo>
                  <a:lnTo>
                    <a:pt x="960004" y="2285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17" name="object 45">
            <a:extLst>
              <a:ext uri="{FF2B5EF4-FFF2-40B4-BE49-F238E27FC236}">
                <a16:creationId xmlns:a16="http://schemas.microsoft.com/office/drawing/2014/main" id="{32E73B8A-82DB-EE88-E64A-B36F1FD14C4F}"/>
              </a:ext>
            </a:extLst>
          </p:cNvPr>
          <p:cNvSpPr txBox="1"/>
          <p:nvPr/>
        </p:nvSpPr>
        <p:spPr>
          <a:xfrm>
            <a:off x="8655001" y="3849314"/>
            <a:ext cx="3162348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6985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물리적 공장의 가상 복제본 구축을 통한 실 시간 시뮬레이션 및 최적화</a:t>
            </a:r>
            <a:endParaRPr sz="1200" dirty="0">
              <a:latin typeface="Malgun Gothic"/>
              <a:cs typeface="Malgun Gothic"/>
            </a:endParaRPr>
          </a:p>
          <a:p>
            <a:pPr marL="12700" marR="5080">
              <a:lnSpc>
                <a:spcPct val="125000"/>
              </a:lnSpc>
              <a:spcBef>
                <a:spcPts val="900"/>
              </a:spcBef>
            </a:pP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IoT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센서 데이터 기반 예측 유지보수로 설비 가동 중단 최소화</a:t>
            </a:r>
            <a:endParaRPr sz="1200" dirty="0">
              <a:latin typeface="Malgun Gothic"/>
              <a:cs typeface="Malgun Gothic"/>
            </a:endParaRPr>
          </a:p>
          <a:p>
            <a:pPr marL="12700" marR="163195">
              <a:lnSpc>
                <a:spcPct val="125000"/>
              </a:lnSpc>
              <a:spcBef>
                <a:spcPts val="900"/>
              </a:spcBef>
            </a:pP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AI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가 실시간으로 생산 조건을 자율적으로 조정하여 품질과 생산성 최적화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8" name="object 46">
            <a:extLst>
              <a:ext uri="{FF2B5EF4-FFF2-40B4-BE49-F238E27FC236}">
                <a16:creationId xmlns:a16="http://schemas.microsoft.com/office/drawing/2014/main" id="{0D65D0DA-93C3-9F91-5B91-4987ED2F2EEC}"/>
              </a:ext>
            </a:extLst>
          </p:cNvPr>
          <p:cNvSpPr txBox="1"/>
          <p:nvPr/>
        </p:nvSpPr>
        <p:spPr>
          <a:xfrm>
            <a:off x="9582498" y="5666684"/>
            <a:ext cx="86296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A20A7"/>
                </a:solidFill>
                <a:latin typeface="Malgun Gothic"/>
                <a:cs typeface="Malgun Gothic"/>
              </a:rPr>
              <a:t>효율성 극대화</a:t>
            </a:r>
            <a:endParaRPr sz="1050">
              <a:latin typeface="Malgun Gothic"/>
              <a:cs typeface="Malgun Gothic"/>
            </a:endParaRPr>
          </a:p>
        </p:txBody>
      </p:sp>
      <p:pic>
        <p:nvPicPr>
          <p:cNvPr id="19" name="object 26">
            <a:extLst>
              <a:ext uri="{FF2B5EF4-FFF2-40B4-BE49-F238E27FC236}">
                <a16:creationId xmlns:a16="http://schemas.microsoft.com/office/drawing/2014/main" id="{B96A653D-39F5-005B-8A9E-53D222EEDE5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945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12D3F8F7-318B-50D1-AF98-FC6C482B7245}"/>
              </a:ext>
            </a:extLst>
          </p:cNvPr>
          <p:cNvSpPr txBox="1">
            <a:spLocks noGrp="1"/>
          </p:cNvSpPr>
          <p:nvPr/>
        </p:nvSpPr>
        <p:spPr>
          <a:xfrm>
            <a:off x="406400" y="362175"/>
            <a:ext cx="7073900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dirty="0"/>
              <a:t>혁신 1: 지능형 품질 관리 및 공정 최적화</a:t>
            </a:r>
          </a:p>
        </p:txBody>
      </p:sp>
      <p:sp>
        <p:nvSpPr>
          <p:cNvPr id="40" name="object 5">
            <a:extLst>
              <a:ext uri="{FF2B5EF4-FFF2-40B4-BE49-F238E27FC236}">
                <a16:creationId xmlns:a16="http://schemas.microsoft.com/office/drawing/2014/main" id="{F2F5BED1-745F-45A9-AA7A-BB440250B51E}"/>
              </a:ext>
            </a:extLst>
          </p:cNvPr>
          <p:cNvSpPr/>
          <p:nvPr/>
        </p:nvSpPr>
        <p:spPr>
          <a:xfrm>
            <a:off x="387350" y="1022239"/>
            <a:ext cx="5562600" cy="838200"/>
          </a:xfrm>
          <a:custGeom>
            <a:avLst/>
            <a:gdLst/>
            <a:ahLst/>
            <a:cxnLst/>
            <a:rect l="l" t="t" r="r" b="b"/>
            <a:pathLst>
              <a:path w="5562600" h="838200">
                <a:moveTo>
                  <a:pt x="5491402" y="838199"/>
                </a:moveTo>
                <a:lnTo>
                  <a:pt x="71196" y="838199"/>
                </a:lnTo>
                <a:lnTo>
                  <a:pt x="66241" y="837711"/>
                </a:lnTo>
                <a:lnTo>
                  <a:pt x="29705" y="822577"/>
                </a:lnTo>
                <a:lnTo>
                  <a:pt x="3885" y="786537"/>
                </a:lnTo>
                <a:lnTo>
                  <a:pt x="0" y="767003"/>
                </a:lnTo>
                <a:lnTo>
                  <a:pt x="0" y="7619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5491402" y="0"/>
                </a:lnTo>
                <a:lnTo>
                  <a:pt x="5532893" y="15621"/>
                </a:lnTo>
                <a:lnTo>
                  <a:pt x="5558713" y="51661"/>
                </a:lnTo>
                <a:lnTo>
                  <a:pt x="5562599" y="71196"/>
                </a:lnTo>
                <a:lnTo>
                  <a:pt x="5562599" y="767003"/>
                </a:lnTo>
                <a:lnTo>
                  <a:pt x="5546977" y="808494"/>
                </a:lnTo>
                <a:lnTo>
                  <a:pt x="5510937" y="834314"/>
                </a:lnTo>
                <a:lnTo>
                  <a:pt x="5496357" y="837711"/>
                </a:lnTo>
                <a:lnTo>
                  <a:pt x="5491402" y="838199"/>
                </a:lnTo>
                <a:close/>
              </a:path>
            </a:pathLst>
          </a:custGeom>
          <a:solidFill>
            <a:srgbClr val="F0FDF4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41" name="object 6">
            <a:extLst>
              <a:ext uri="{FF2B5EF4-FFF2-40B4-BE49-F238E27FC236}">
                <a16:creationId xmlns:a16="http://schemas.microsoft.com/office/drawing/2014/main" id="{C46E9F04-7D46-E3C5-8B62-F932238F0CF0}"/>
              </a:ext>
            </a:extLst>
          </p:cNvPr>
          <p:cNvSpPr/>
          <p:nvPr/>
        </p:nvSpPr>
        <p:spPr>
          <a:xfrm>
            <a:off x="387350" y="1717564"/>
            <a:ext cx="5562600" cy="3733800"/>
          </a:xfrm>
          <a:custGeom>
            <a:avLst/>
            <a:gdLst/>
            <a:ahLst/>
            <a:cxnLst/>
            <a:rect l="l" t="t" r="r" b="b"/>
            <a:pathLst>
              <a:path w="5562600" h="3733800">
                <a:moveTo>
                  <a:pt x="5491402" y="3733799"/>
                </a:moveTo>
                <a:lnTo>
                  <a:pt x="71196" y="3733799"/>
                </a:lnTo>
                <a:lnTo>
                  <a:pt x="66241" y="3733311"/>
                </a:lnTo>
                <a:lnTo>
                  <a:pt x="29705" y="3718177"/>
                </a:lnTo>
                <a:lnTo>
                  <a:pt x="3885" y="3682136"/>
                </a:lnTo>
                <a:lnTo>
                  <a:pt x="0" y="3662602"/>
                </a:lnTo>
                <a:lnTo>
                  <a:pt x="0" y="36575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5491402" y="0"/>
                </a:lnTo>
                <a:lnTo>
                  <a:pt x="5532893" y="15621"/>
                </a:lnTo>
                <a:lnTo>
                  <a:pt x="5558713" y="51661"/>
                </a:lnTo>
                <a:lnTo>
                  <a:pt x="5562599" y="71196"/>
                </a:lnTo>
                <a:lnTo>
                  <a:pt x="5562599" y="3662602"/>
                </a:lnTo>
                <a:lnTo>
                  <a:pt x="5546977" y="3704093"/>
                </a:lnTo>
                <a:lnTo>
                  <a:pt x="5510937" y="3729913"/>
                </a:lnTo>
                <a:lnTo>
                  <a:pt x="5496357" y="3733311"/>
                </a:lnTo>
                <a:lnTo>
                  <a:pt x="5491402" y="3733799"/>
                </a:lnTo>
                <a:close/>
              </a:path>
            </a:pathLst>
          </a:custGeom>
          <a:solidFill>
            <a:srgbClr val="FFFFFF">
              <a:alpha val="90199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42" name="object 7">
            <a:extLst>
              <a:ext uri="{FF2B5EF4-FFF2-40B4-BE49-F238E27FC236}">
                <a16:creationId xmlns:a16="http://schemas.microsoft.com/office/drawing/2014/main" id="{1D55C5A6-2B85-F2DF-C716-959353793A52}"/>
              </a:ext>
            </a:extLst>
          </p:cNvPr>
          <p:cNvSpPr/>
          <p:nvPr/>
        </p:nvSpPr>
        <p:spPr>
          <a:xfrm>
            <a:off x="387350" y="5603764"/>
            <a:ext cx="5562600" cy="609600"/>
          </a:xfrm>
          <a:custGeom>
            <a:avLst/>
            <a:gdLst/>
            <a:ahLst/>
            <a:cxnLst/>
            <a:rect l="l" t="t" r="r" b="b"/>
            <a:pathLst>
              <a:path w="5562600" h="609600">
                <a:moveTo>
                  <a:pt x="55625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5562599" y="0"/>
                </a:lnTo>
                <a:lnTo>
                  <a:pt x="5562599" y="609599"/>
                </a:lnTo>
                <a:close/>
              </a:path>
            </a:pathLst>
          </a:custGeom>
          <a:solidFill>
            <a:srgbClr val="F0F0F0">
              <a:alpha val="79998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43" name="object 8">
            <a:extLst>
              <a:ext uri="{FF2B5EF4-FFF2-40B4-BE49-F238E27FC236}">
                <a16:creationId xmlns:a16="http://schemas.microsoft.com/office/drawing/2014/main" id="{D0C0F2D4-6D01-5FA5-A8FA-4162BA644E94}"/>
              </a:ext>
            </a:extLst>
          </p:cNvPr>
          <p:cNvSpPr/>
          <p:nvPr/>
        </p:nvSpPr>
        <p:spPr>
          <a:xfrm>
            <a:off x="387350" y="5603764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0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38099" y="0"/>
                </a:lnTo>
                <a:lnTo>
                  <a:pt x="38099" y="609599"/>
                </a:lnTo>
                <a:close/>
              </a:path>
            </a:pathLst>
          </a:custGeom>
          <a:solidFill>
            <a:srgbClr val="21C45D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44" name="object 9">
            <a:extLst>
              <a:ext uri="{FF2B5EF4-FFF2-40B4-BE49-F238E27FC236}">
                <a16:creationId xmlns:a16="http://schemas.microsoft.com/office/drawing/2014/main" id="{8E3F1BC8-034E-F71F-361A-20F2F4D42A79}"/>
              </a:ext>
            </a:extLst>
          </p:cNvPr>
          <p:cNvSpPr/>
          <p:nvPr/>
        </p:nvSpPr>
        <p:spPr>
          <a:xfrm>
            <a:off x="539750" y="1174639"/>
            <a:ext cx="485775" cy="533400"/>
          </a:xfrm>
          <a:custGeom>
            <a:avLst/>
            <a:gdLst/>
            <a:ahLst/>
            <a:cxnLst/>
            <a:rect l="l" t="t" r="r" b="b"/>
            <a:pathLst>
              <a:path w="485775" h="533400">
                <a:moveTo>
                  <a:pt x="250842" y="533399"/>
                </a:moveTo>
                <a:lnTo>
                  <a:pt x="234932" y="533399"/>
                </a:lnTo>
                <a:lnTo>
                  <a:pt x="226996" y="533010"/>
                </a:lnTo>
                <a:lnTo>
                  <a:pt x="187700" y="527180"/>
                </a:lnTo>
                <a:lnTo>
                  <a:pt x="142589" y="511866"/>
                </a:lnTo>
                <a:lnTo>
                  <a:pt x="101332" y="488046"/>
                </a:lnTo>
                <a:lnTo>
                  <a:pt x="65515" y="456634"/>
                </a:lnTo>
                <a:lnTo>
                  <a:pt x="36514" y="418839"/>
                </a:lnTo>
                <a:lnTo>
                  <a:pt x="15444" y="376112"/>
                </a:lnTo>
                <a:lnTo>
                  <a:pt x="3115" y="330095"/>
                </a:lnTo>
                <a:lnTo>
                  <a:pt x="0" y="298467"/>
                </a:lnTo>
                <a:lnTo>
                  <a:pt x="0" y="290512"/>
                </a:lnTo>
                <a:lnTo>
                  <a:pt x="0" y="234932"/>
                </a:lnTo>
                <a:lnTo>
                  <a:pt x="6218" y="187700"/>
                </a:lnTo>
                <a:lnTo>
                  <a:pt x="21532" y="142589"/>
                </a:lnTo>
                <a:lnTo>
                  <a:pt x="45353" y="101332"/>
                </a:lnTo>
                <a:lnTo>
                  <a:pt x="76765" y="65515"/>
                </a:lnTo>
                <a:lnTo>
                  <a:pt x="114560" y="36514"/>
                </a:lnTo>
                <a:lnTo>
                  <a:pt x="157287" y="15444"/>
                </a:lnTo>
                <a:lnTo>
                  <a:pt x="203304" y="3115"/>
                </a:lnTo>
                <a:lnTo>
                  <a:pt x="234932" y="0"/>
                </a:lnTo>
                <a:lnTo>
                  <a:pt x="250842" y="0"/>
                </a:lnTo>
                <a:lnTo>
                  <a:pt x="298074" y="6218"/>
                </a:lnTo>
                <a:lnTo>
                  <a:pt x="343185" y="21532"/>
                </a:lnTo>
                <a:lnTo>
                  <a:pt x="384442" y="45353"/>
                </a:lnTo>
                <a:lnTo>
                  <a:pt x="420259" y="76765"/>
                </a:lnTo>
                <a:lnTo>
                  <a:pt x="449260" y="114560"/>
                </a:lnTo>
                <a:lnTo>
                  <a:pt x="470330" y="157287"/>
                </a:lnTo>
                <a:lnTo>
                  <a:pt x="482659" y="203304"/>
                </a:lnTo>
                <a:lnTo>
                  <a:pt x="485774" y="234932"/>
                </a:lnTo>
                <a:lnTo>
                  <a:pt x="485774" y="298467"/>
                </a:lnTo>
                <a:lnTo>
                  <a:pt x="479556" y="345699"/>
                </a:lnTo>
                <a:lnTo>
                  <a:pt x="464241" y="390810"/>
                </a:lnTo>
                <a:lnTo>
                  <a:pt x="440421" y="432067"/>
                </a:lnTo>
                <a:lnTo>
                  <a:pt x="409009" y="467884"/>
                </a:lnTo>
                <a:lnTo>
                  <a:pt x="371214" y="496885"/>
                </a:lnTo>
                <a:lnTo>
                  <a:pt x="328487" y="517955"/>
                </a:lnTo>
                <a:lnTo>
                  <a:pt x="282470" y="530284"/>
                </a:lnTo>
                <a:lnTo>
                  <a:pt x="258778" y="533010"/>
                </a:lnTo>
                <a:lnTo>
                  <a:pt x="250842" y="533399"/>
                </a:lnTo>
                <a:close/>
              </a:path>
            </a:pathLst>
          </a:custGeom>
          <a:solidFill>
            <a:srgbClr val="DBFBE7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pic>
        <p:nvPicPr>
          <p:cNvPr id="45" name="object 10">
            <a:extLst>
              <a:ext uri="{FF2B5EF4-FFF2-40B4-BE49-F238E27FC236}">
                <a16:creationId xmlns:a16="http://schemas.microsoft.com/office/drawing/2014/main" id="{803229E2-372A-CEF5-B45B-F41191BFCEB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050" y="1288939"/>
            <a:ext cx="257174" cy="304799"/>
          </a:xfrm>
          <a:prstGeom prst="rect">
            <a:avLst/>
          </a:prstGeom>
        </p:spPr>
      </p:pic>
      <p:sp>
        <p:nvSpPr>
          <p:cNvPr id="4" name="object 11">
            <a:extLst>
              <a:ext uri="{FF2B5EF4-FFF2-40B4-BE49-F238E27FC236}">
                <a16:creationId xmlns:a16="http://schemas.microsoft.com/office/drawing/2014/main" id="{00BE2F8F-F2B4-3A6D-A69E-D0E931E8F311}"/>
              </a:ext>
            </a:extLst>
          </p:cNvPr>
          <p:cNvSpPr txBox="1"/>
          <p:nvPr/>
        </p:nvSpPr>
        <p:spPr>
          <a:xfrm>
            <a:off x="1127126" y="1266863"/>
            <a:ext cx="4006849" cy="30008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b="1" dirty="0">
                <a:solidFill>
                  <a:srgbClr val="374050"/>
                </a:solidFill>
                <a:latin typeface="Arial"/>
                <a:cs typeface="Arial"/>
              </a:rPr>
              <a:t>AI </a:t>
            </a:r>
            <a:r>
              <a:rPr sz="1850" dirty="0">
                <a:solidFill>
                  <a:srgbClr val="374050"/>
                </a:solidFill>
                <a:latin typeface="Malgun Gothic"/>
                <a:cs typeface="Malgun Gothic"/>
              </a:rPr>
              <a:t>비전 검사를 통한 불량률 제</a:t>
            </a:r>
            <a:r>
              <a:rPr sz="1700" dirty="0">
                <a:solidFill>
                  <a:srgbClr val="374050"/>
                </a:solidFill>
                <a:latin typeface="Malgun Gothic"/>
                <a:cs typeface="Malgun Gothic"/>
              </a:rPr>
              <a:t>로</a:t>
            </a:r>
            <a:r>
              <a:rPr sz="1850" dirty="0">
                <a:solidFill>
                  <a:srgbClr val="374050"/>
                </a:solidFill>
                <a:latin typeface="Malgun Gothic"/>
                <a:cs typeface="Malgun Gothic"/>
              </a:rPr>
              <a:t>화</a:t>
            </a:r>
            <a:endParaRPr sz="1850" dirty="0">
              <a:latin typeface="Malgun Gothic"/>
              <a:cs typeface="Malgun Gothic"/>
            </a:endParaRPr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8218DB0A-17A6-992E-0B21-2DE45A3AE9CF}"/>
              </a:ext>
            </a:extLst>
          </p:cNvPr>
          <p:cNvSpPr txBox="1"/>
          <p:nvPr/>
        </p:nvSpPr>
        <p:spPr>
          <a:xfrm>
            <a:off x="527051" y="1821069"/>
            <a:ext cx="5410834" cy="479617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딥러닝 기반의 비전 검사 시스템은 사람의 육안으로는 식별이 어려운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PCB/PKG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기판의 미세 결함을 자동으로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그리고 일관된 기준으로 검출합니다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36" name="object 14">
            <a:extLst>
              <a:ext uri="{FF2B5EF4-FFF2-40B4-BE49-F238E27FC236}">
                <a16:creationId xmlns:a16="http://schemas.microsoft.com/office/drawing/2014/main" id="{3BE27CCC-A5AF-B5FE-1CF6-EB643841020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6901" y="2479565"/>
            <a:ext cx="2819399" cy="1939925"/>
          </a:xfrm>
          <a:prstGeom prst="rect">
            <a:avLst/>
          </a:prstGeom>
        </p:spPr>
      </p:pic>
      <p:pic>
        <p:nvPicPr>
          <p:cNvPr id="37" name="object 15">
            <a:extLst>
              <a:ext uri="{FF2B5EF4-FFF2-40B4-BE49-F238E27FC236}">
                <a16:creationId xmlns:a16="http://schemas.microsoft.com/office/drawing/2014/main" id="{3D0B8C6B-12F6-404D-31D6-10EC653AED4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9751" y="4610178"/>
            <a:ext cx="152399" cy="152399"/>
          </a:xfrm>
          <a:prstGeom prst="rect">
            <a:avLst/>
          </a:prstGeom>
        </p:spPr>
      </p:pic>
      <p:pic>
        <p:nvPicPr>
          <p:cNvPr id="38" name="object 16">
            <a:extLst>
              <a:ext uri="{FF2B5EF4-FFF2-40B4-BE49-F238E27FC236}">
                <a16:creationId xmlns:a16="http://schemas.microsoft.com/office/drawing/2014/main" id="{6251E26F-F511-2B86-DE1F-E9EE761C084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9751" y="4914978"/>
            <a:ext cx="152399" cy="152399"/>
          </a:xfrm>
          <a:prstGeom prst="rect">
            <a:avLst/>
          </a:prstGeom>
        </p:spPr>
      </p:pic>
      <p:pic>
        <p:nvPicPr>
          <p:cNvPr id="39" name="object 17">
            <a:extLst>
              <a:ext uri="{FF2B5EF4-FFF2-40B4-BE49-F238E27FC236}">
                <a16:creationId xmlns:a16="http://schemas.microsoft.com/office/drawing/2014/main" id="{72B28FDB-BF32-119C-3487-A91FFDDC949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9751" y="5219778"/>
            <a:ext cx="152399" cy="152399"/>
          </a:xfrm>
          <a:prstGeom prst="rect">
            <a:avLst/>
          </a:prstGeom>
        </p:spPr>
      </p:pic>
      <p:sp>
        <p:nvSpPr>
          <p:cNvPr id="7" name="object 18">
            <a:extLst>
              <a:ext uri="{FF2B5EF4-FFF2-40B4-BE49-F238E27FC236}">
                <a16:creationId xmlns:a16="http://schemas.microsoft.com/office/drawing/2014/main" id="{EB9A03CE-AD87-71C7-B608-E5C2563264FB}"/>
              </a:ext>
            </a:extLst>
          </p:cNvPr>
          <p:cNvSpPr txBox="1"/>
          <p:nvPr/>
        </p:nvSpPr>
        <p:spPr>
          <a:xfrm>
            <a:off x="425450" y="4571890"/>
            <a:ext cx="5524500" cy="154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3429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스크래치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미도금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핀홀 등 정성적 불량까지 정확하게 탐지</a:t>
            </a:r>
            <a:endParaRPr sz="1200" dirty="0">
              <a:latin typeface="Malgun Gothic"/>
              <a:cs typeface="Malgun Gothic"/>
            </a:endParaRPr>
          </a:p>
          <a:p>
            <a:pPr marL="342900">
              <a:lnSpc>
                <a:spcPct val="100000"/>
              </a:lnSpc>
              <a:spcBef>
                <a:spcPts val="960"/>
              </a:spcBef>
            </a:pP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희소 불량은 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Defect Generation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으로 가상 결함 데이터 생성 학습</a:t>
            </a:r>
            <a:endParaRPr sz="1200" dirty="0">
              <a:latin typeface="Malgun Gothic"/>
              <a:cs typeface="Malgun Gothic"/>
            </a:endParaRPr>
          </a:p>
          <a:p>
            <a:pPr marL="342900">
              <a:lnSpc>
                <a:spcPct val="100000"/>
              </a:lnSpc>
              <a:spcBef>
                <a:spcPts val="960"/>
              </a:spcBef>
            </a:pP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Domain Adaptation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기술로 다른 공정에 빠르게 적용</a:t>
            </a:r>
            <a:endParaRPr sz="12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200" dirty="0">
              <a:latin typeface="Malgun Gothic"/>
              <a:cs typeface="Malgun Gothic"/>
            </a:endParaRPr>
          </a:p>
          <a:p>
            <a:pPr marL="114300" marR="101600">
              <a:lnSpc>
                <a:spcPct val="125000"/>
              </a:lnSpc>
            </a:pPr>
            <a:r>
              <a:rPr sz="1200" dirty="0">
                <a:solidFill>
                  <a:srgbClr val="15803C"/>
                </a:solidFill>
                <a:latin typeface="Arial"/>
                <a:cs typeface="Arial"/>
              </a:rPr>
              <a:t>L</a:t>
            </a:r>
            <a:r>
              <a:rPr lang="ko-KR" altLang="en-US" sz="1200" dirty="0">
                <a:solidFill>
                  <a:srgbClr val="15803C"/>
                </a:solidFill>
                <a:latin typeface="Arial"/>
                <a:cs typeface="Arial"/>
              </a:rPr>
              <a:t>사는</a:t>
            </a:r>
            <a:r>
              <a:rPr sz="1200" dirty="0">
                <a:solidFill>
                  <a:srgbClr val="15803C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5803C"/>
                </a:solidFill>
                <a:latin typeface="Arial"/>
                <a:cs typeface="Arial"/>
              </a:rPr>
              <a:t>FC-BGA </a:t>
            </a:r>
            <a:r>
              <a:rPr sz="1200" dirty="0">
                <a:solidFill>
                  <a:srgbClr val="15803C"/>
                </a:solidFill>
                <a:latin typeface="Malgun Gothic"/>
                <a:cs typeface="Malgun Gothic"/>
              </a:rPr>
              <a:t>공정에 </a:t>
            </a:r>
            <a:r>
              <a:rPr sz="1200" dirty="0">
                <a:solidFill>
                  <a:srgbClr val="15803C"/>
                </a:solidFill>
                <a:latin typeface="Arial"/>
                <a:cs typeface="Arial"/>
              </a:rPr>
              <a:t>AI </a:t>
            </a:r>
            <a:r>
              <a:rPr sz="1200" dirty="0">
                <a:solidFill>
                  <a:srgbClr val="15803C"/>
                </a:solidFill>
                <a:latin typeface="Malgun Gothic"/>
                <a:cs typeface="Malgun Gothic"/>
              </a:rPr>
              <a:t>비전 검사를 도입하여 육안으로 잡기 </a:t>
            </a:r>
            <a:r>
              <a:rPr sz="1200" dirty="0" err="1">
                <a:solidFill>
                  <a:srgbClr val="15803C"/>
                </a:solidFill>
                <a:latin typeface="Malgun Gothic"/>
                <a:cs typeface="Malgun Gothic"/>
              </a:rPr>
              <a:t>어려운</a:t>
            </a:r>
            <a:r>
              <a:rPr sz="1200" dirty="0">
                <a:solidFill>
                  <a:srgbClr val="15803C"/>
                </a:solidFill>
                <a:latin typeface="Malgun Gothic"/>
                <a:cs typeface="Malgun Gothic"/>
              </a:rPr>
              <a:t> </a:t>
            </a:r>
            <a:r>
              <a:rPr sz="1200" dirty="0" err="1">
                <a:solidFill>
                  <a:srgbClr val="15803C"/>
                </a:solidFill>
                <a:latin typeface="Malgun Gothic"/>
                <a:cs typeface="Malgun Gothic"/>
              </a:rPr>
              <a:t>미세</a:t>
            </a:r>
            <a:r>
              <a:rPr sz="1200" dirty="0">
                <a:solidFill>
                  <a:srgbClr val="15803C"/>
                </a:solidFill>
                <a:latin typeface="Malgun Gothic"/>
                <a:cs typeface="Malgun Gothic"/>
              </a:rPr>
              <a:t> 불량을 </a:t>
            </a:r>
            <a:r>
              <a:rPr sz="1200" dirty="0">
                <a:solidFill>
                  <a:srgbClr val="15803C"/>
                </a:solidFill>
                <a:latin typeface="Arial"/>
                <a:cs typeface="Arial"/>
              </a:rPr>
              <a:t>30</a:t>
            </a:r>
            <a:r>
              <a:rPr sz="1200" dirty="0">
                <a:solidFill>
                  <a:srgbClr val="15803C"/>
                </a:solidFill>
                <a:latin typeface="Malgun Gothic"/>
                <a:cs typeface="Malgun Gothic"/>
              </a:rPr>
              <a:t>초 안에 감지하고 리드타임을 단축했습니다</a:t>
            </a:r>
            <a:r>
              <a:rPr sz="1200" dirty="0">
                <a:solidFill>
                  <a:srgbClr val="15803C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03172AEC-75C7-B1D1-947F-EEC6B5480F79}"/>
              </a:ext>
            </a:extLst>
          </p:cNvPr>
          <p:cNvSpPr/>
          <p:nvPr/>
        </p:nvSpPr>
        <p:spPr>
          <a:xfrm>
            <a:off x="6254749" y="1022239"/>
            <a:ext cx="5562600" cy="838200"/>
          </a:xfrm>
          <a:custGeom>
            <a:avLst/>
            <a:gdLst/>
            <a:ahLst/>
            <a:cxnLst/>
            <a:rect l="l" t="t" r="r" b="b"/>
            <a:pathLst>
              <a:path w="5562600" h="838200">
                <a:moveTo>
                  <a:pt x="5491403" y="838199"/>
                </a:moveTo>
                <a:lnTo>
                  <a:pt x="71196" y="838199"/>
                </a:lnTo>
                <a:lnTo>
                  <a:pt x="66241" y="837711"/>
                </a:lnTo>
                <a:lnTo>
                  <a:pt x="29705" y="822577"/>
                </a:lnTo>
                <a:lnTo>
                  <a:pt x="3885" y="786537"/>
                </a:lnTo>
                <a:lnTo>
                  <a:pt x="0" y="767003"/>
                </a:lnTo>
                <a:lnTo>
                  <a:pt x="0" y="7619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5491403" y="0"/>
                </a:lnTo>
                <a:lnTo>
                  <a:pt x="5532894" y="15621"/>
                </a:lnTo>
                <a:lnTo>
                  <a:pt x="5558714" y="51661"/>
                </a:lnTo>
                <a:lnTo>
                  <a:pt x="5562600" y="71196"/>
                </a:lnTo>
                <a:lnTo>
                  <a:pt x="5562600" y="767003"/>
                </a:lnTo>
                <a:lnTo>
                  <a:pt x="5546977" y="808494"/>
                </a:lnTo>
                <a:lnTo>
                  <a:pt x="5510938" y="834314"/>
                </a:lnTo>
                <a:lnTo>
                  <a:pt x="5496358" y="837711"/>
                </a:lnTo>
                <a:lnTo>
                  <a:pt x="5491403" y="8381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038689AF-9A19-74EF-AD37-0F025BEBDF38}"/>
              </a:ext>
            </a:extLst>
          </p:cNvPr>
          <p:cNvSpPr/>
          <p:nvPr/>
        </p:nvSpPr>
        <p:spPr>
          <a:xfrm>
            <a:off x="6254749" y="1717564"/>
            <a:ext cx="5562600" cy="3771900"/>
          </a:xfrm>
          <a:custGeom>
            <a:avLst/>
            <a:gdLst/>
            <a:ahLst/>
            <a:cxnLst/>
            <a:rect l="l" t="t" r="r" b="b"/>
            <a:pathLst>
              <a:path w="5562600" h="3771900">
                <a:moveTo>
                  <a:pt x="5491403" y="3771899"/>
                </a:moveTo>
                <a:lnTo>
                  <a:pt x="71196" y="3771899"/>
                </a:lnTo>
                <a:lnTo>
                  <a:pt x="66241" y="3771411"/>
                </a:lnTo>
                <a:lnTo>
                  <a:pt x="29705" y="3756276"/>
                </a:lnTo>
                <a:lnTo>
                  <a:pt x="3885" y="3720237"/>
                </a:lnTo>
                <a:lnTo>
                  <a:pt x="0" y="3700702"/>
                </a:lnTo>
                <a:lnTo>
                  <a:pt x="0" y="36956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5491403" y="0"/>
                </a:lnTo>
                <a:lnTo>
                  <a:pt x="5532894" y="15621"/>
                </a:lnTo>
                <a:lnTo>
                  <a:pt x="5558714" y="51661"/>
                </a:lnTo>
                <a:lnTo>
                  <a:pt x="5562600" y="71196"/>
                </a:lnTo>
                <a:lnTo>
                  <a:pt x="5562600" y="3700702"/>
                </a:lnTo>
                <a:lnTo>
                  <a:pt x="5546977" y="3742193"/>
                </a:lnTo>
                <a:lnTo>
                  <a:pt x="5510938" y="3768013"/>
                </a:lnTo>
                <a:lnTo>
                  <a:pt x="5496358" y="3771411"/>
                </a:lnTo>
                <a:lnTo>
                  <a:pt x="5491403" y="3771899"/>
                </a:lnTo>
                <a:close/>
              </a:path>
            </a:pathLst>
          </a:custGeom>
          <a:solidFill>
            <a:srgbClr val="FFFFFF">
              <a:alpha val="90199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0" name="object 22">
            <a:extLst>
              <a:ext uri="{FF2B5EF4-FFF2-40B4-BE49-F238E27FC236}">
                <a16:creationId xmlns:a16="http://schemas.microsoft.com/office/drawing/2014/main" id="{AF293D89-C2F3-468B-8317-93A43A7E00C3}"/>
              </a:ext>
            </a:extLst>
          </p:cNvPr>
          <p:cNvSpPr/>
          <p:nvPr/>
        </p:nvSpPr>
        <p:spPr>
          <a:xfrm>
            <a:off x="6254750" y="5298964"/>
            <a:ext cx="5562600" cy="609600"/>
          </a:xfrm>
          <a:custGeom>
            <a:avLst/>
            <a:gdLst/>
            <a:ahLst/>
            <a:cxnLst/>
            <a:rect l="l" t="t" r="r" b="b"/>
            <a:pathLst>
              <a:path w="5562600" h="609600">
                <a:moveTo>
                  <a:pt x="55625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5562599" y="0"/>
                </a:lnTo>
                <a:lnTo>
                  <a:pt x="5562599" y="609599"/>
                </a:lnTo>
                <a:close/>
              </a:path>
            </a:pathLst>
          </a:custGeom>
          <a:solidFill>
            <a:srgbClr val="F0F0F0">
              <a:alpha val="79998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1" name="object 23">
            <a:extLst>
              <a:ext uri="{FF2B5EF4-FFF2-40B4-BE49-F238E27FC236}">
                <a16:creationId xmlns:a16="http://schemas.microsoft.com/office/drawing/2014/main" id="{07A2EE1C-3022-2433-9D46-EC40E1380578}"/>
              </a:ext>
            </a:extLst>
          </p:cNvPr>
          <p:cNvSpPr/>
          <p:nvPr/>
        </p:nvSpPr>
        <p:spPr>
          <a:xfrm>
            <a:off x="6254750" y="5298964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0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38099" y="0"/>
                </a:lnTo>
                <a:lnTo>
                  <a:pt x="38099" y="6095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2" name="object 24">
            <a:extLst>
              <a:ext uri="{FF2B5EF4-FFF2-40B4-BE49-F238E27FC236}">
                <a16:creationId xmlns:a16="http://schemas.microsoft.com/office/drawing/2014/main" id="{BAB7A12C-3E91-1E00-5FE3-86344D76C475}"/>
              </a:ext>
            </a:extLst>
          </p:cNvPr>
          <p:cNvSpPr/>
          <p:nvPr/>
        </p:nvSpPr>
        <p:spPr>
          <a:xfrm>
            <a:off x="6254750" y="5984764"/>
            <a:ext cx="5562600" cy="609600"/>
          </a:xfrm>
          <a:custGeom>
            <a:avLst/>
            <a:gdLst/>
            <a:ahLst/>
            <a:cxnLst/>
            <a:rect l="l" t="t" r="r" b="b"/>
            <a:pathLst>
              <a:path w="5562600" h="609600">
                <a:moveTo>
                  <a:pt x="55625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5562599" y="0"/>
                </a:lnTo>
                <a:lnTo>
                  <a:pt x="5562599" y="609599"/>
                </a:lnTo>
                <a:close/>
              </a:path>
            </a:pathLst>
          </a:custGeom>
          <a:solidFill>
            <a:srgbClr val="F0F0F0">
              <a:alpha val="79998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9D55BD03-B131-1AB3-FEE5-5511CE60E428}"/>
              </a:ext>
            </a:extLst>
          </p:cNvPr>
          <p:cNvSpPr/>
          <p:nvPr/>
        </p:nvSpPr>
        <p:spPr>
          <a:xfrm>
            <a:off x="6254750" y="5984764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0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38099" y="0"/>
                </a:lnTo>
                <a:lnTo>
                  <a:pt x="38099" y="609599"/>
                </a:lnTo>
                <a:close/>
              </a:path>
            </a:pathLst>
          </a:custGeom>
          <a:solidFill>
            <a:srgbClr val="E9B308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4" name="object 26">
            <a:extLst>
              <a:ext uri="{FF2B5EF4-FFF2-40B4-BE49-F238E27FC236}">
                <a16:creationId xmlns:a16="http://schemas.microsoft.com/office/drawing/2014/main" id="{E56D2723-E821-38FC-D523-EC28632E6CF0}"/>
              </a:ext>
            </a:extLst>
          </p:cNvPr>
          <p:cNvSpPr/>
          <p:nvPr/>
        </p:nvSpPr>
        <p:spPr>
          <a:xfrm>
            <a:off x="6407150" y="1174639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236087" y="533399"/>
                </a:moveTo>
                <a:lnTo>
                  <a:pt x="221113" y="533399"/>
                </a:lnTo>
                <a:lnTo>
                  <a:pt x="213644" y="533032"/>
                </a:lnTo>
                <a:lnTo>
                  <a:pt x="169404" y="525729"/>
                </a:lnTo>
                <a:lnTo>
                  <a:pt x="127441" y="509936"/>
                </a:lnTo>
                <a:lnTo>
                  <a:pt x="89365" y="486259"/>
                </a:lnTo>
                <a:lnTo>
                  <a:pt x="56639" y="455609"/>
                </a:lnTo>
                <a:lnTo>
                  <a:pt x="30522" y="419164"/>
                </a:lnTo>
                <a:lnTo>
                  <a:pt x="12016" y="378323"/>
                </a:lnTo>
                <a:lnTo>
                  <a:pt x="1834" y="334657"/>
                </a:lnTo>
                <a:lnTo>
                  <a:pt x="0" y="304799"/>
                </a:lnTo>
                <a:lnTo>
                  <a:pt x="0" y="221112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36087" y="0"/>
                </a:lnTo>
                <a:lnTo>
                  <a:pt x="280540" y="5852"/>
                </a:lnTo>
                <a:lnTo>
                  <a:pt x="322997" y="20266"/>
                </a:lnTo>
                <a:lnTo>
                  <a:pt x="361827" y="42685"/>
                </a:lnTo>
                <a:lnTo>
                  <a:pt x="395539" y="72249"/>
                </a:lnTo>
                <a:lnTo>
                  <a:pt x="422833" y="107821"/>
                </a:lnTo>
                <a:lnTo>
                  <a:pt x="442664" y="148035"/>
                </a:lnTo>
                <a:lnTo>
                  <a:pt x="454268" y="191345"/>
                </a:lnTo>
                <a:lnTo>
                  <a:pt x="457199" y="221112"/>
                </a:lnTo>
                <a:lnTo>
                  <a:pt x="457199" y="312286"/>
                </a:lnTo>
                <a:lnTo>
                  <a:pt x="451347" y="356740"/>
                </a:lnTo>
                <a:lnTo>
                  <a:pt x="436934" y="399198"/>
                </a:lnTo>
                <a:lnTo>
                  <a:pt x="414514" y="438028"/>
                </a:lnTo>
                <a:lnTo>
                  <a:pt x="384950" y="471738"/>
                </a:lnTo>
                <a:lnTo>
                  <a:pt x="349378" y="499033"/>
                </a:lnTo>
                <a:lnTo>
                  <a:pt x="309164" y="518863"/>
                </a:lnTo>
                <a:lnTo>
                  <a:pt x="265854" y="530467"/>
                </a:lnTo>
                <a:lnTo>
                  <a:pt x="236087" y="533399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pic>
        <p:nvPicPr>
          <p:cNvPr id="35" name="object 27">
            <a:extLst>
              <a:ext uri="{FF2B5EF4-FFF2-40B4-BE49-F238E27FC236}">
                <a16:creationId xmlns:a16="http://schemas.microsoft.com/office/drawing/2014/main" id="{55709C8F-E23D-073B-F21D-EE029F5BD94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21450" y="1288939"/>
            <a:ext cx="228599" cy="304799"/>
          </a:xfrm>
          <a:prstGeom prst="rect">
            <a:avLst/>
          </a:prstGeom>
        </p:spPr>
      </p:pic>
      <p:sp>
        <p:nvSpPr>
          <p:cNvPr id="9" name="object 28">
            <a:extLst>
              <a:ext uri="{FF2B5EF4-FFF2-40B4-BE49-F238E27FC236}">
                <a16:creationId xmlns:a16="http://schemas.microsoft.com/office/drawing/2014/main" id="{86821EA5-E386-F7D7-900C-FAEEDB97C8E1}"/>
              </a:ext>
            </a:extLst>
          </p:cNvPr>
          <p:cNvSpPr txBox="1"/>
          <p:nvPr/>
        </p:nvSpPr>
        <p:spPr>
          <a:xfrm>
            <a:off x="6965951" y="1266863"/>
            <a:ext cx="4838699" cy="30008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374050"/>
                </a:solidFill>
                <a:latin typeface="Malgun Gothic"/>
                <a:cs typeface="Malgun Gothic"/>
              </a:rPr>
              <a:t>제조 데이터 분석을 통한 </a:t>
            </a:r>
            <a:r>
              <a:rPr sz="1800" dirty="0">
                <a:solidFill>
                  <a:srgbClr val="374050"/>
                </a:solidFill>
                <a:latin typeface="Malgun Gothic"/>
                <a:cs typeface="Malgun Gothic"/>
              </a:rPr>
              <a:t>수</a:t>
            </a:r>
            <a:r>
              <a:rPr sz="1850" dirty="0">
                <a:solidFill>
                  <a:srgbClr val="374050"/>
                </a:solidFill>
                <a:latin typeface="Malgun Gothic"/>
                <a:cs typeface="Malgun Gothic"/>
              </a:rPr>
              <a:t>율 및 생산성 향상</a:t>
            </a:r>
            <a:endParaRPr sz="1850" dirty="0">
              <a:latin typeface="Malgun Gothic"/>
              <a:cs typeface="Malgun Gothic"/>
            </a:endParaRPr>
          </a:p>
        </p:txBody>
      </p:sp>
      <p:sp>
        <p:nvSpPr>
          <p:cNvPr id="10" name="object 29">
            <a:extLst>
              <a:ext uri="{FF2B5EF4-FFF2-40B4-BE49-F238E27FC236}">
                <a16:creationId xmlns:a16="http://schemas.microsoft.com/office/drawing/2014/main" id="{8B3D2CC3-50E1-738A-9556-5C09125B563E}"/>
              </a:ext>
            </a:extLst>
          </p:cNvPr>
          <p:cNvSpPr txBox="1"/>
          <p:nvPr/>
        </p:nvSpPr>
        <p:spPr>
          <a:xfrm>
            <a:off x="6394450" y="1821069"/>
            <a:ext cx="5106035" cy="451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머신러닝 및 다변량 분석 기술을 통해 수많은 센서 데이터에서 생산량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품질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설비 상태에 영향을 미치는 숨은 패턴과 상관관계를 찾아냅니다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30">
            <a:extLst>
              <a:ext uri="{FF2B5EF4-FFF2-40B4-BE49-F238E27FC236}">
                <a16:creationId xmlns:a16="http://schemas.microsoft.com/office/drawing/2014/main" id="{8C006FD9-2B3C-D835-1299-9259A04C79D8}"/>
              </a:ext>
            </a:extLst>
          </p:cNvPr>
          <p:cNvGrpSpPr/>
          <p:nvPr/>
        </p:nvGrpSpPr>
        <p:grpSpPr>
          <a:xfrm>
            <a:off x="6407149" y="2479564"/>
            <a:ext cx="2571750" cy="1295400"/>
            <a:chOff x="6400798" y="2857499"/>
            <a:chExt cx="2571750" cy="1295400"/>
          </a:xfrm>
        </p:grpSpPr>
        <p:sp>
          <p:nvSpPr>
            <p:cNvPr id="26" name="object 31">
              <a:extLst>
                <a:ext uri="{FF2B5EF4-FFF2-40B4-BE49-F238E27FC236}">
                  <a16:creationId xmlns:a16="http://schemas.microsoft.com/office/drawing/2014/main" id="{120BF227-69A4-BD65-1780-D2BAA712C1F2}"/>
                </a:ext>
              </a:extLst>
            </p:cNvPr>
            <p:cNvSpPr/>
            <p:nvPr/>
          </p:nvSpPr>
          <p:spPr>
            <a:xfrm>
              <a:off x="6400798" y="2857499"/>
              <a:ext cx="2571750" cy="1295400"/>
            </a:xfrm>
            <a:custGeom>
              <a:avLst/>
              <a:gdLst/>
              <a:ahLst/>
              <a:cxnLst/>
              <a:rect l="l" t="t" r="r" b="b"/>
              <a:pathLst>
                <a:path w="2571750" h="1295400">
                  <a:moveTo>
                    <a:pt x="2500552" y="1295399"/>
                  </a:moveTo>
                  <a:lnTo>
                    <a:pt x="71197" y="1295399"/>
                  </a:lnTo>
                  <a:lnTo>
                    <a:pt x="66241" y="1294911"/>
                  </a:lnTo>
                  <a:lnTo>
                    <a:pt x="29705" y="1279777"/>
                  </a:lnTo>
                  <a:lnTo>
                    <a:pt x="3885" y="1243737"/>
                  </a:lnTo>
                  <a:lnTo>
                    <a:pt x="0" y="1224203"/>
                  </a:lnTo>
                  <a:lnTo>
                    <a:pt x="0" y="12191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2500552" y="0"/>
                  </a:lnTo>
                  <a:lnTo>
                    <a:pt x="2542044" y="15621"/>
                  </a:lnTo>
                  <a:lnTo>
                    <a:pt x="2567863" y="51661"/>
                  </a:lnTo>
                  <a:lnTo>
                    <a:pt x="2571749" y="71196"/>
                  </a:lnTo>
                  <a:lnTo>
                    <a:pt x="2571749" y="1224203"/>
                  </a:lnTo>
                  <a:lnTo>
                    <a:pt x="2556127" y="1265694"/>
                  </a:lnTo>
                  <a:lnTo>
                    <a:pt x="2520087" y="1291514"/>
                  </a:lnTo>
                  <a:lnTo>
                    <a:pt x="2505507" y="1294911"/>
                  </a:lnTo>
                  <a:lnTo>
                    <a:pt x="2500552" y="12953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7" name="object 32">
              <a:extLst>
                <a:ext uri="{FF2B5EF4-FFF2-40B4-BE49-F238E27FC236}">
                  <a16:creationId xmlns:a16="http://schemas.microsoft.com/office/drawing/2014/main" id="{8D9CBBF3-0D33-38ED-EAB7-E7CF1F7418A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799" y="2971799"/>
              <a:ext cx="285749" cy="342899"/>
            </a:xfrm>
            <a:prstGeom prst="rect">
              <a:avLst/>
            </a:prstGeom>
          </p:spPr>
        </p:pic>
      </p:grpSp>
      <p:sp>
        <p:nvSpPr>
          <p:cNvPr id="12" name="object 33">
            <a:extLst>
              <a:ext uri="{FF2B5EF4-FFF2-40B4-BE49-F238E27FC236}">
                <a16:creationId xmlns:a16="http://schemas.microsoft.com/office/drawing/2014/main" id="{5BFCC818-3CDC-9FCA-F239-6A495CF8F702}"/>
              </a:ext>
            </a:extLst>
          </p:cNvPr>
          <p:cNvSpPr txBox="1"/>
          <p:nvPr/>
        </p:nvSpPr>
        <p:spPr>
          <a:xfrm>
            <a:off x="6520806" y="2913995"/>
            <a:ext cx="2344420" cy="73850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>
            <a:defPPr>
              <a:defRPr kern="0"/>
            </a:defPPr>
          </a:lstStyle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병목 지점 자동 식별</a:t>
            </a:r>
            <a:endParaRPr sz="1200" dirty="0">
              <a:latin typeface="Malgun Gothic"/>
              <a:cs typeface="Malgun Gothic"/>
            </a:endParaRPr>
          </a:p>
          <a:p>
            <a:pPr marL="12700" marR="5080" algn="ctr">
              <a:lnSpc>
                <a:spcPct val="119000"/>
              </a:lnSpc>
              <a:spcBef>
                <a:spcPts val="42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장비 가동률 데이터를 분석하여 생산 병 목 지점을 자동으로 찾아냄</a:t>
            </a:r>
            <a:endParaRPr sz="1050" dirty="0">
              <a:latin typeface="Malgun Gothic"/>
              <a:cs typeface="Malgun Gothic"/>
            </a:endParaRPr>
          </a:p>
        </p:txBody>
      </p:sp>
      <p:grpSp>
        <p:nvGrpSpPr>
          <p:cNvPr id="13" name="object 34">
            <a:extLst>
              <a:ext uri="{FF2B5EF4-FFF2-40B4-BE49-F238E27FC236}">
                <a16:creationId xmlns:a16="http://schemas.microsoft.com/office/drawing/2014/main" id="{3416FADF-9CF0-F950-3230-E0ED89996DF8}"/>
              </a:ext>
            </a:extLst>
          </p:cNvPr>
          <p:cNvGrpSpPr/>
          <p:nvPr/>
        </p:nvGrpSpPr>
        <p:grpSpPr>
          <a:xfrm>
            <a:off x="9093200" y="2479564"/>
            <a:ext cx="2571750" cy="1295400"/>
            <a:chOff x="9086849" y="2857499"/>
            <a:chExt cx="2571750" cy="1295400"/>
          </a:xfrm>
        </p:grpSpPr>
        <p:sp>
          <p:nvSpPr>
            <p:cNvPr id="24" name="object 35">
              <a:extLst>
                <a:ext uri="{FF2B5EF4-FFF2-40B4-BE49-F238E27FC236}">
                  <a16:creationId xmlns:a16="http://schemas.microsoft.com/office/drawing/2014/main" id="{2CA55FBB-5C5A-5FFF-225C-CFD97E736E7D}"/>
                </a:ext>
              </a:extLst>
            </p:cNvPr>
            <p:cNvSpPr/>
            <p:nvPr/>
          </p:nvSpPr>
          <p:spPr>
            <a:xfrm>
              <a:off x="9086849" y="2857499"/>
              <a:ext cx="2571750" cy="1295400"/>
            </a:xfrm>
            <a:custGeom>
              <a:avLst/>
              <a:gdLst/>
              <a:ahLst/>
              <a:cxnLst/>
              <a:rect l="l" t="t" r="r" b="b"/>
              <a:pathLst>
                <a:path w="2571750" h="1295400">
                  <a:moveTo>
                    <a:pt x="2500552" y="1295399"/>
                  </a:moveTo>
                  <a:lnTo>
                    <a:pt x="71196" y="1295399"/>
                  </a:lnTo>
                  <a:lnTo>
                    <a:pt x="66240" y="1294911"/>
                  </a:lnTo>
                  <a:lnTo>
                    <a:pt x="29703" y="1279777"/>
                  </a:lnTo>
                  <a:lnTo>
                    <a:pt x="3885" y="1243737"/>
                  </a:lnTo>
                  <a:lnTo>
                    <a:pt x="0" y="1224203"/>
                  </a:lnTo>
                  <a:lnTo>
                    <a:pt x="0" y="1219199"/>
                  </a:lnTo>
                  <a:lnTo>
                    <a:pt x="0" y="71196"/>
                  </a:lnTo>
                  <a:lnTo>
                    <a:pt x="15620" y="29704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2500552" y="0"/>
                  </a:lnTo>
                  <a:lnTo>
                    <a:pt x="2542043" y="15621"/>
                  </a:lnTo>
                  <a:lnTo>
                    <a:pt x="2567861" y="51661"/>
                  </a:lnTo>
                  <a:lnTo>
                    <a:pt x="2571748" y="71196"/>
                  </a:lnTo>
                  <a:lnTo>
                    <a:pt x="2571748" y="1224203"/>
                  </a:lnTo>
                  <a:lnTo>
                    <a:pt x="2556126" y="1265694"/>
                  </a:lnTo>
                  <a:lnTo>
                    <a:pt x="2520086" y="1291514"/>
                  </a:lnTo>
                  <a:lnTo>
                    <a:pt x="2505507" y="1294911"/>
                  </a:lnTo>
                  <a:lnTo>
                    <a:pt x="2500552" y="129539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5" name="object 36">
              <a:extLst>
                <a:ext uri="{FF2B5EF4-FFF2-40B4-BE49-F238E27FC236}">
                  <a16:creationId xmlns:a16="http://schemas.microsoft.com/office/drawing/2014/main" id="{6D399298-127B-F5A4-2C9C-E41C6D70B6E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29849" y="2971799"/>
              <a:ext cx="285749" cy="342899"/>
            </a:xfrm>
            <a:prstGeom prst="rect">
              <a:avLst/>
            </a:prstGeom>
          </p:spPr>
        </p:pic>
      </p:grpSp>
      <p:sp>
        <p:nvSpPr>
          <p:cNvPr id="14" name="object 37">
            <a:extLst>
              <a:ext uri="{FF2B5EF4-FFF2-40B4-BE49-F238E27FC236}">
                <a16:creationId xmlns:a16="http://schemas.microsoft.com/office/drawing/2014/main" id="{2FB6DE62-E07A-0DED-C01F-DFD3ED2595D1}"/>
              </a:ext>
            </a:extLst>
          </p:cNvPr>
          <p:cNvSpPr txBox="1"/>
          <p:nvPr/>
        </p:nvSpPr>
        <p:spPr>
          <a:xfrm>
            <a:off x="9225459" y="2913995"/>
            <a:ext cx="2307590" cy="73850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>
            <a:defPPr>
              <a:defRPr kern="0"/>
            </a:defPPr>
          </a:lstStyle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이상 징후 조기 감지</a:t>
            </a:r>
            <a:endParaRPr sz="1200">
              <a:latin typeface="Malgun Gothic"/>
              <a:cs typeface="Malgun Gothic"/>
            </a:endParaRPr>
          </a:p>
          <a:p>
            <a:pPr marL="12065" marR="5080" algn="ctr">
              <a:lnSpc>
                <a:spcPct val="119000"/>
              </a:lnSpc>
              <a:spcBef>
                <a:spcPts val="42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실시간 센서 데이터를 기반으로 미세한 이상 징후를 조기에 감지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15" name="object 38">
            <a:extLst>
              <a:ext uri="{FF2B5EF4-FFF2-40B4-BE49-F238E27FC236}">
                <a16:creationId xmlns:a16="http://schemas.microsoft.com/office/drawing/2014/main" id="{7D74941C-0A64-0776-C31F-9373365C4A72}"/>
              </a:ext>
            </a:extLst>
          </p:cNvPr>
          <p:cNvGrpSpPr/>
          <p:nvPr/>
        </p:nvGrpSpPr>
        <p:grpSpPr>
          <a:xfrm>
            <a:off x="6407149" y="3889264"/>
            <a:ext cx="2571750" cy="1295400"/>
            <a:chOff x="6400798" y="4267199"/>
            <a:chExt cx="2571750" cy="1295400"/>
          </a:xfrm>
        </p:grpSpPr>
        <p:sp>
          <p:nvSpPr>
            <p:cNvPr id="22" name="object 39">
              <a:extLst>
                <a:ext uri="{FF2B5EF4-FFF2-40B4-BE49-F238E27FC236}">
                  <a16:creationId xmlns:a16="http://schemas.microsoft.com/office/drawing/2014/main" id="{F6614467-F46E-E42D-51D1-355606FE130F}"/>
                </a:ext>
              </a:extLst>
            </p:cNvPr>
            <p:cNvSpPr/>
            <p:nvPr/>
          </p:nvSpPr>
          <p:spPr>
            <a:xfrm>
              <a:off x="6400798" y="4267199"/>
              <a:ext cx="2571750" cy="1295400"/>
            </a:xfrm>
            <a:custGeom>
              <a:avLst/>
              <a:gdLst/>
              <a:ahLst/>
              <a:cxnLst/>
              <a:rect l="l" t="t" r="r" b="b"/>
              <a:pathLst>
                <a:path w="2571750" h="1295400">
                  <a:moveTo>
                    <a:pt x="2500552" y="1295399"/>
                  </a:moveTo>
                  <a:lnTo>
                    <a:pt x="71197" y="1295399"/>
                  </a:lnTo>
                  <a:lnTo>
                    <a:pt x="66241" y="1294910"/>
                  </a:lnTo>
                  <a:lnTo>
                    <a:pt x="29705" y="1279776"/>
                  </a:lnTo>
                  <a:lnTo>
                    <a:pt x="3885" y="1243737"/>
                  </a:lnTo>
                  <a:lnTo>
                    <a:pt x="0" y="1224202"/>
                  </a:lnTo>
                  <a:lnTo>
                    <a:pt x="0" y="12191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2500552" y="0"/>
                  </a:lnTo>
                  <a:lnTo>
                    <a:pt x="2542044" y="15621"/>
                  </a:lnTo>
                  <a:lnTo>
                    <a:pt x="2567863" y="51661"/>
                  </a:lnTo>
                  <a:lnTo>
                    <a:pt x="2571749" y="71196"/>
                  </a:lnTo>
                  <a:lnTo>
                    <a:pt x="2571749" y="1224202"/>
                  </a:lnTo>
                  <a:lnTo>
                    <a:pt x="2556127" y="1265693"/>
                  </a:lnTo>
                  <a:lnTo>
                    <a:pt x="2520087" y="1291512"/>
                  </a:lnTo>
                  <a:lnTo>
                    <a:pt x="2505507" y="1294910"/>
                  </a:lnTo>
                  <a:lnTo>
                    <a:pt x="2500552" y="1295399"/>
                  </a:lnTo>
                  <a:close/>
                </a:path>
              </a:pathLst>
            </a:custGeom>
            <a:solidFill>
              <a:srgbClr val="FEFBE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3" name="object 40">
              <a:extLst>
                <a:ext uri="{FF2B5EF4-FFF2-40B4-BE49-F238E27FC236}">
                  <a16:creationId xmlns:a16="http://schemas.microsoft.com/office/drawing/2014/main" id="{A0410053-BC6D-3F6B-A7DB-882B3EE0F1E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3799" y="4381499"/>
              <a:ext cx="285749" cy="342899"/>
            </a:xfrm>
            <a:prstGeom prst="rect">
              <a:avLst/>
            </a:prstGeom>
          </p:spPr>
        </p:pic>
      </p:grpSp>
      <p:sp>
        <p:nvSpPr>
          <p:cNvPr id="16" name="object 41">
            <a:extLst>
              <a:ext uri="{FF2B5EF4-FFF2-40B4-BE49-F238E27FC236}">
                <a16:creationId xmlns:a16="http://schemas.microsoft.com/office/drawing/2014/main" id="{F368EAF5-B481-0A9A-3A01-6866EFC20770}"/>
              </a:ext>
            </a:extLst>
          </p:cNvPr>
          <p:cNvSpPr txBox="1"/>
          <p:nvPr/>
        </p:nvSpPr>
        <p:spPr>
          <a:xfrm>
            <a:off x="6520806" y="4323695"/>
            <a:ext cx="2344420" cy="73850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>
            <a:defPPr>
              <a:defRPr kern="0"/>
            </a:defPPr>
          </a:lstStyle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예측 예지보전</a:t>
            </a:r>
            <a:endParaRPr sz="1200">
              <a:latin typeface="Malgun Gothic"/>
              <a:cs typeface="Malgun Gothic"/>
            </a:endParaRPr>
          </a:p>
          <a:p>
            <a:pPr marL="12700" marR="5080" algn="ctr">
              <a:lnSpc>
                <a:spcPct val="119000"/>
              </a:lnSpc>
              <a:spcBef>
                <a:spcPts val="42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설비 고장으로 인한 계획되지 않은 가동 중단 최소화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17" name="object 42">
            <a:extLst>
              <a:ext uri="{FF2B5EF4-FFF2-40B4-BE49-F238E27FC236}">
                <a16:creationId xmlns:a16="http://schemas.microsoft.com/office/drawing/2014/main" id="{722A0C9E-D75D-5FD0-74E4-FA721F4FEA18}"/>
              </a:ext>
            </a:extLst>
          </p:cNvPr>
          <p:cNvGrpSpPr/>
          <p:nvPr/>
        </p:nvGrpSpPr>
        <p:grpSpPr>
          <a:xfrm>
            <a:off x="9093200" y="3889264"/>
            <a:ext cx="2571750" cy="1295400"/>
            <a:chOff x="9086849" y="4267199"/>
            <a:chExt cx="2571750" cy="1295400"/>
          </a:xfrm>
        </p:grpSpPr>
        <p:sp>
          <p:nvSpPr>
            <p:cNvPr id="20" name="object 43">
              <a:extLst>
                <a:ext uri="{FF2B5EF4-FFF2-40B4-BE49-F238E27FC236}">
                  <a16:creationId xmlns:a16="http://schemas.microsoft.com/office/drawing/2014/main" id="{A63ECC77-6E2A-9059-3A28-27B338E063BA}"/>
                </a:ext>
              </a:extLst>
            </p:cNvPr>
            <p:cNvSpPr/>
            <p:nvPr/>
          </p:nvSpPr>
          <p:spPr>
            <a:xfrm>
              <a:off x="9086849" y="4267199"/>
              <a:ext cx="2571750" cy="1295400"/>
            </a:xfrm>
            <a:custGeom>
              <a:avLst/>
              <a:gdLst/>
              <a:ahLst/>
              <a:cxnLst/>
              <a:rect l="l" t="t" r="r" b="b"/>
              <a:pathLst>
                <a:path w="2571750" h="1295400">
                  <a:moveTo>
                    <a:pt x="2500552" y="1295399"/>
                  </a:moveTo>
                  <a:lnTo>
                    <a:pt x="71196" y="1295399"/>
                  </a:lnTo>
                  <a:lnTo>
                    <a:pt x="66240" y="1294910"/>
                  </a:lnTo>
                  <a:lnTo>
                    <a:pt x="29703" y="1279776"/>
                  </a:lnTo>
                  <a:lnTo>
                    <a:pt x="3885" y="1243737"/>
                  </a:lnTo>
                  <a:lnTo>
                    <a:pt x="0" y="1224202"/>
                  </a:lnTo>
                  <a:lnTo>
                    <a:pt x="0" y="1219199"/>
                  </a:lnTo>
                  <a:lnTo>
                    <a:pt x="0" y="71196"/>
                  </a:lnTo>
                  <a:lnTo>
                    <a:pt x="15620" y="29704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2500552" y="0"/>
                  </a:lnTo>
                  <a:lnTo>
                    <a:pt x="2542043" y="15621"/>
                  </a:lnTo>
                  <a:lnTo>
                    <a:pt x="2567861" y="51661"/>
                  </a:lnTo>
                  <a:lnTo>
                    <a:pt x="2571748" y="71196"/>
                  </a:lnTo>
                  <a:lnTo>
                    <a:pt x="2571748" y="1224202"/>
                  </a:lnTo>
                  <a:lnTo>
                    <a:pt x="2556126" y="1265693"/>
                  </a:lnTo>
                  <a:lnTo>
                    <a:pt x="2520086" y="1291512"/>
                  </a:lnTo>
                  <a:lnTo>
                    <a:pt x="2505507" y="1294910"/>
                  </a:lnTo>
                  <a:lnTo>
                    <a:pt x="2500552" y="12953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1" name="object 44">
              <a:extLst>
                <a:ext uri="{FF2B5EF4-FFF2-40B4-BE49-F238E27FC236}">
                  <a16:creationId xmlns:a16="http://schemas.microsoft.com/office/drawing/2014/main" id="{45F850C7-8DA7-F1E8-2272-CA1E5839030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29849" y="4381499"/>
              <a:ext cx="285749" cy="342899"/>
            </a:xfrm>
            <a:prstGeom prst="rect">
              <a:avLst/>
            </a:prstGeom>
          </p:spPr>
        </p:pic>
      </p:grpSp>
      <p:sp>
        <p:nvSpPr>
          <p:cNvPr id="18" name="object 45">
            <a:extLst>
              <a:ext uri="{FF2B5EF4-FFF2-40B4-BE49-F238E27FC236}">
                <a16:creationId xmlns:a16="http://schemas.microsoft.com/office/drawing/2014/main" id="{6DE7FF53-2666-4E6A-131D-EBCF1773C3A9}"/>
              </a:ext>
            </a:extLst>
          </p:cNvPr>
          <p:cNvSpPr txBox="1"/>
          <p:nvPr/>
        </p:nvSpPr>
        <p:spPr>
          <a:xfrm>
            <a:off x="9225459" y="4323695"/>
            <a:ext cx="2307590" cy="73850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>
            <a:defPPr>
              <a:defRPr kern="0"/>
            </a:defPPr>
          </a:lstStyle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지능형 의사결정</a:t>
            </a:r>
            <a:endParaRPr sz="1200">
              <a:latin typeface="Malgun Gothic"/>
              <a:cs typeface="Malgun Gothic"/>
            </a:endParaRPr>
          </a:p>
          <a:p>
            <a:pPr marL="12700" marR="5080" algn="ctr">
              <a:lnSpc>
                <a:spcPct val="119000"/>
              </a:lnSpc>
              <a:spcBef>
                <a:spcPts val="42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데이터 기반의 의사결정 시스템으로 생 산성 향상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19" name="object 46">
            <a:extLst>
              <a:ext uri="{FF2B5EF4-FFF2-40B4-BE49-F238E27FC236}">
                <a16:creationId xmlns:a16="http://schemas.microsoft.com/office/drawing/2014/main" id="{EBC0AC20-5375-FB9F-A0B0-F0E5FBC77FE8}"/>
              </a:ext>
            </a:extLst>
          </p:cNvPr>
          <p:cNvSpPr txBox="1"/>
          <p:nvPr/>
        </p:nvSpPr>
        <p:spPr>
          <a:xfrm>
            <a:off x="6292850" y="5392944"/>
            <a:ext cx="5562600" cy="9760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14300" marR="5080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1C4ED8"/>
                </a:solidFill>
                <a:latin typeface="Arial"/>
                <a:cs typeface="Arial"/>
              </a:rPr>
              <a:t>PCB </a:t>
            </a:r>
            <a:r>
              <a:rPr sz="1200" dirty="0" err="1">
                <a:solidFill>
                  <a:srgbClr val="1C4ED8"/>
                </a:solidFill>
                <a:latin typeface="Malgun Gothic"/>
                <a:cs typeface="Malgun Gothic"/>
              </a:rPr>
              <a:t>제조업체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lang="en-US" sz="1200" dirty="0">
                <a:solidFill>
                  <a:srgbClr val="1C4ED8"/>
                </a:solidFill>
                <a:latin typeface="Malgun Gothic"/>
                <a:cs typeface="Malgun Gothic"/>
              </a:rPr>
              <a:t>G</a:t>
            </a:r>
            <a:r>
              <a:rPr lang="ko-KR" altLang="en-US" sz="1200" dirty="0">
                <a:solidFill>
                  <a:srgbClr val="1C4ED8"/>
                </a:solidFill>
                <a:latin typeface="Malgun Gothic"/>
                <a:cs typeface="Malgun Gothic"/>
              </a:rPr>
              <a:t>사는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 스마트 공장 도입 후 매출이 </a:t>
            </a:r>
            <a:r>
              <a:rPr sz="1200" dirty="0">
                <a:solidFill>
                  <a:srgbClr val="1C4ED8"/>
                </a:solidFill>
                <a:latin typeface="Arial"/>
                <a:cs typeface="Arial"/>
              </a:rPr>
              <a:t>10%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증가하고 </a:t>
            </a:r>
            <a:r>
              <a:rPr sz="1200" dirty="0" err="1">
                <a:solidFill>
                  <a:srgbClr val="1C4ED8"/>
                </a:solidFill>
                <a:latin typeface="Malgun Gothic"/>
                <a:cs typeface="Malgun Gothic"/>
              </a:rPr>
              <a:t>생산성이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 err="1">
                <a:solidFill>
                  <a:srgbClr val="1C4ED8"/>
                </a:solidFill>
                <a:latin typeface="Malgun Gothic"/>
                <a:cs typeface="Malgun Gothic"/>
              </a:rPr>
              <a:t>향상되었습니다</a:t>
            </a:r>
            <a:r>
              <a:rPr sz="1200" dirty="0">
                <a:solidFill>
                  <a:srgbClr val="1C4ED8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200" dirty="0">
              <a:latin typeface="Arial"/>
              <a:cs typeface="Arial"/>
            </a:endParaRPr>
          </a:p>
          <a:p>
            <a:pPr marL="114300" marR="34290">
              <a:lnSpc>
                <a:spcPct val="125000"/>
              </a:lnSpc>
            </a:pPr>
            <a:endParaRPr lang="en-US" sz="300" dirty="0">
              <a:solidFill>
                <a:srgbClr val="A16107"/>
              </a:solidFill>
              <a:latin typeface="Malgun Gothic"/>
              <a:cs typeface="Malgun Gothic"/>
            </a:endParaRPr>
          </a:p>
          <a:p>
            <a:pPr marL="114300" marR="34290">
              <a:lnSpc>
                <a:spcPct val="125000"/>
              </a:lnSpc>
            </a:pPr>
            <a:r>
              <a:rPr sz="1200" dirty="0" err="1">
                <a:solidFill>
                  <a:srgbClr val="A16107"/>
                </a:solidFill>
                <a:latin typeface="Malgun Gothic"/>
                <a:cs typeface="Malgun Gothic"/>
              </a:rPr>
              <a:t>불량률</a:t>
            </a:r>
            <a:r>
              <a:rPr sz="1200" dirty="0">
                <a:solidFill>
                  <a:srgbClr val="A16107"/>
                </a:solidFill>
                <a:latin typeface="Malgun Gothic"/>
                <a:cs typeface="Malgun Gothic"/>
              </a:rPr>
              <a:t> 제로화와 재고비용 </a:t>
            </a:r>
            <a:r>
              <a:rPr sz="1200" dirty="0">
                <a:solidFill>
                  <a:srgbClr val="A16107"/>
                </a:solidFill>
                <a:latin typeface="Arial"/>
                <a:cs typeface="Arial"/>
              </a:rPr>
              <a:t>30% </a:t>
            </a:r>
            <a:r>
              <a:rPr sz="1200" dirty="0">
                <a:solidFill>
                  <a:srgbClr val="A16107"/>
                </a:solidFill>
                <a:latin typeface="Malgun Gothic"/>
                <a:cs typeface="Malgun Gothic"/>
              </a:rPr>
              <a:t>이상 절감 </a:t>
            </a:r>
            <a:r>
              <a:rPr sz="1200" dirty="0" err="1">
                <a:solidFill>
                  <a:srgbClr val="A16107"/>
                </a:solidFill>
                <a:latin typeface="Malgun Gothic"/>
                <a:cs typeface="Malgun Gothic"/>
              </a:rPr>
              <a:t>효과를</a:t>
            </a:r>
            <a:r>
              <a:rPr sz="1200" dirty="0">
                <a:solidFill>
                  <a:srgbClr val="A16107"/>
                </a:solidFill>
                <a:latin typeface="Malgun Gothic"/>
                <a:cs typeface="Malgun Gothic"/>
              </a:rPr>
              <a:t> </a:t>
            </a:r>
            <a:r>
              <a:rPr sz="1200" dirty="0" err="1">
                <a:solidFill>
                  <a:srgbClr val="A16107"/>
                </a:solidFill>
                <a:latin typeface="Malgun Gothic"/>
                <a:cs typeface="Malgun Gothic"/>
              </a:rPr>
              <a:t>달성</a:t>
            </a:r>
            <a:r>
              <a:rPr sz="1200" dirty="0">
                <a:solidFill>
                  <a:srgbClr val="A16107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3" name="object 26">
            <a:extLst>
              <a:ext uri="{FF2B5EF4-FFF2-40B4-BE49-F238E27FC236}">
                <a16:creationId xmlns:a16="http://schemas.microsoft.com/office/drawing/2014/main" id="{DE6E9180-609C-1C1D-48CB-83B3430020AE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47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9368A3C9-D44E-6A01-71D4-082BE72CBDDD}"/>
              </a:ext>
            </a:extLst>
          </p:cNvPr>
          <p:cNvSpPr txBox="1">
            <a:spLocks noGrp="1"/>
          </p:cNvSpPr>
          <p:nvPr/>
        </p:nvSpPr>
        <p:spPr>
          <a:xfrm>
            <a:off x="387350" y="322926"/>
            <a:ext cx="7054850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dirty="0"/>
              <a:t>혁신 2: AI 기반 지식 관리 및 R&amp;D 효율화</a:t>
            </a: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25ED1FEB-B063-BD1C-3643-E44DC75777E7}"/>
              </a:ext>
            </a:extLst>
          </p:cNvPr>
          <p:cNvGrpSpPr/>
          <p:nvPr/>
        </p:nvGrpSpPr>
        <p:grpSpPr>
          <a:xfrm>
            <a:off x="387350" y="1073991"/>
            <a:ext cx="5562600" cy="3848100"/>
            <a:chOff x="380999" y="1142999"/>
            <a:chExt cx="5562600" cy="3848100"/>
          </a:xfrm>
        </p:grpSpPr>
        <p:sp>
          <p:nvSpPr>
            <p:cNvPr id="40" name="object 5">
              <a:extLst>
                <a:ext uri="{FF2B5EF4-FFF2-40B4-BE49-F238E27FC236}">
                  <a16:creationId xmlns:a16="http://schemas.microsoft.com/office/drawing/2014/main" id="{37212F23-618A-74AE-1742-55B28B3BE973}"/>
                </a:ext>
              </a:extLst>
            </p:cNvPr>
            <p:cNvSpPr/>
            <p:nvPr/>
          </p:nvSpPr>
          <p:spPr>
            <a:xfrm>
              <a:off x="400049" y="1523999"/>
              <a:ext cx="5543550" cy="1409700"/>
            </a:xfrm>
            <a:custGeom>
              <a:avLst/>
              <a:gdLst/>
              <a:ahLst/>
              <a:cxnLst/>
              <a:rect l="l" t="t" r="r" b="b"/>
              <a:pathLst>
                <a:path w="5543550" h="1409700">
                  <a:moveTo>
                    <a:pt x="5472352" y="1409699"/>
                  </a:moveTo>
                  <a:lnTo>
                    <a:pt x="53397" y="1409699"/>
                  </a:lnTo>
                  <a:lnTo>
                    <a:pt x="49681" y="1409211"/>
                  </a:lnTo>
                  <a:lnTo>
                    <a:pt x="14085" y="1383843"/>
                  </a:lnTo>
                  <a:lnTo>
                    <a:pt x="366" y="1343458"/>
                  </a:lnTo>
                  <a:lnTo>
                    <a:pt x="0" y="1338503"/>
                  </a:lnTo>
                  <a:lnTo>
                    <a:pt x="0" y="13334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472352" y="0"/>
                  </a:lnTo>
                  <a:lnTo>
                    <a:pt x="5513843" y="15621"/>
                  </a:lnTo>
                  <a:lnTo>
                    <a:pt x="5539663" y="51661"/>
                  </a:lnTo>
                  <a:lnTo>
                    <a:pt x="5543549" y="71196"/>
                  </a:lnTo>
                  <a:lnTo>
                    <a:pt x="5543549" y="1338503"/>
                  </a:lnTo>
                  <a:lnTo>
                    <a:pt x="5527927" y="1379993"/>
                  </a:lnTo>
                  <a:lnTo>
                    <a:pt x="5491887" y="1405813"/>
                  </a:lnTo>
                  <a:lnTo>
                    <a:pt x="5477307" y="1409211"/>
                  </a:lnTo>
                  <a:lnTo>
                    <a:pt x="5472352" y="14096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1" name="object 6">
              <a:extLst>
                <a:ext uri="{FF2B5EF4-FFF2-40B4-BE49-F238E27FC236}">
                  <a16:creationId xmlns:a16="http://schemas.microsoft.com/office/drawing/2014/main" id="{76C4534B-584E-AE2D-8070-9DF224EB026D}"/>
                </a:ext>
              </a:extLst>
            </p:cNvPr>
            <p:cNvSpPr/>
            <p:nvPr/>
          </p:nvSpPr>
          <p:spPr>
            <a:xfrm>
              <a:off x="380999" y="1524277"/>
              <a:ext cx="70485" cy="1409700"/>
            </a:xfrm>
            <a:custGeom>
              <a:avLst/>
              <a:gdLst/>
              <a:ahLst/>
              <a:cxnLst/>
              <a:rect l="l" t="t" r="r" b="b"/>
              <a:pathLst>
                <a:path w="70484" h="1409700">
                  <a:moveTo>
                    <a:pt x="70449" y="1409144"/>
                  </a:moveTo>
                  <a:lnTo>
                    <a:pt x="33857" y="1396591"/>
                  </a:lnTo>
                  <a:lnTo>
                    <a:pt x="5800" y="1362382"/>
                  </a:lnTo>
                  <a:lnTo>
                    <a:pt x="0" y="13332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333222"/>
                  </a:lnTo>
                  <a:lnTo>
                    <a:pt x="44514" y="1375564"/>
                  </a:lnTo>
                  <a:lnTo>
                    <a:pt x="66287" y="1407488"/>
                  </a:lnTo>
                  <a:lnTo>
                    <a:pt x="70449" y="1409144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2" name="object 7">
              <a:extLst>
                <a:ext uri="{FF2B5EF4-FFF2-40B4-BE49-F238E27FC236}">
                  <a16:creationId xmlns:a16="http://schemas.microsoft.com/office/drawing/2014/main" id="{5C579509-F1C7-2E66-466D-56D41CD8C20F}"/>
                </a:ext>
              </a:extLst>
            </p:cNvPr>
            <p:cNvSpPr/>
            <p:nvPr/>
          </p:nvSpPr>
          <p:spPr>
            <a:xfrm>
              <a:off x="380999" y="3086099"/>
              <a:ext cx="5562600" cy="1905000"/>
            </a:xfrm>
            <a:custGeom>
              <a:avLst/>
              <a:gdLst/>
              <a:ahLst/>
              <a:cxnLst/>
              <a:rect l="l" t="t" r="r" b="b"/>
              <a:pathLst>
                <a:path w="5562600" h="1905000">
                  <a:moveTo>
                    <a:pt x="5491402" y="1904999"/>
                  </a:moveTo>
                  <a:lnTo>
                    <a:pt x="71196" y="1904999"/>
                  </a:lnTo>
                  <a:lnTo>
                    <a:pt x="66241" y="1904511"/>
                  </a:lnTo>
                  <a:lnTo>
                    <a:pt x="29705" y="1889377"/>
                  </a:lnTo>
                  <a:lnTo>
                    <a:pt x="3885" y="1853337"/>
                  </a:lnTo>
                  <a:lnTo>
                    <a:pt x="0" y="1833803"/>
                  </a:lnTo>
                  <a:lnTo>
                    <a:pt x="0" y="1828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91402" y="0"/>
                  </a:lnTo>
                  <a:lnTo>
                    <a:pt x="5532893" y="15621"/>
                  </a:lnTo>
                  <a:lnTo>
                    <a:pt x="5558713" y="51661"/>
                  </a:lnTo>
                  <a:lnTo>
                    <a:pt x="5562599" y="71196"/>
                  </a:lnTo>
                  <a:lnTo>
                    <a:pt x="5562599" y="1833803"/>
                  </a:lnTo>
                  <a:lnTo>
                    <a:pt x="5546977" y="1875294"/>
                  </a:lnTo>
                  <a:lnTo>
                    <a:pt x="5510937" y="1901113"/>
                  </a:lnTo>
                  <a:lnTo>
                    <a:pt x="5496357" y="1904511"/>
                  </a:lnTo>
                  <a:lnTo>
                    <a:pt x="5491402" y="1904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43" name="object 8">
              <a:extLst>
                <a:ext uri="{FF2B5EF4-FFF2-40B4-BE49-F238E27FC236}">
                  <a16:creationId xmlns:a16="http://schemas.microsoft.com/office/drawing/2014/main" id="{20397273-0BFE-7252-6180-D0DA4C12185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999" y="1142999"/>
              <a:ext cx="257174" cy="228599"/>
            </a:xfrm>
            <a:prstGeom prst="rect">
              <a:avLst/>
            </a:prstGeom>
          </p:spPr>
        </p:pic>
      </p:grpSp>
      <p:sp>
        <p:nvSpPr>
          <p:cNvPr id="4" name="object 9">
            <a:extLst>
              <a:ext uri="{FF2B5EF4-FFF2-40B4-BE49-F238E27FC236}">
                <a16:creationId xmlns:a16="http://schemas.microsoft.com/office/drawing/2014/main" id="{75B2FC58-14D6-D870-6DD5-4346EDC72C5A}"/>
              </a:ext>
            </a:extLst>
          </p:cNvPr>
          <p:cNvSpPr txBox="1"/>
          <p:nvPr/>
        </p:nvSpPr>
        <p:spPr>
          <a:xfrm>
            <a:off x="565151" y="1607491"/>
            <a:ext cx="1978024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지식 </a:t>
            </a:r>
            <a:r>
              <a:rPr sz="1200" dirty="0">
                <a:solidFill>
                  <a:srgbClr val="1F2937"/>
                </a:solidFill>
                <a:latin typeface="Malgun Gothic"/>
                <a:cs typeface="Malgun Gothic"/>
              </a:rPr>
              <a:t>구</a:t>
            </a: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조화 및 통합</a:t>
            </a:r>
            <a:endParaRPr sz="1250" dirty="0">
              <a:latin typeface="Malgun Gothic"/>
              <a:cs typeface="Malgun Gothic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6D0FC081-D0C6-26CA-23B8-4E49987DA7AC}"/>
              </a:ext>
            </a:extLst>
          </p:cNvPr>
          <p:cNvSpPr txBox="1"/>
          <p:nvPr/>
        </p:nvSpPr>
        <p:spPr>
          <a:xfrm>
            <a:off x="565151" y="1910921"/>
            <a:ext cx="5207000" cy="682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온톨로지는 특정 제조 도메인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(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설비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공정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품질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인력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)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의 개념과 </a:t>
            </a:r>
            <a:r>
              <a:rPr sz="1200" dirty="0" err="1">
                <a:solidFill>
                  <a:srgbClr val="4A5462"/>
                </a:solidFill>
                <a:latin typeface="Malgun Gothic"/>
                <a:cs typeface="Malgun Gothic"/>
              </a:rPr>
              <a:t>관계를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 err="1">
                <a:solidFill>
                  <a:srgbClr val="4A5462"/>
                </a:solidFill>
                <a:latin typeface="Malgun Gothic"/>
                <a:cs typeface="Malgun Gothic"/>
              </a:rPr>
              <a:t>정의하는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 지식 표현 방식이며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지식 그래프는 이를 기반으로 방대한 정보를 </a:t>
            </a:r>
            <a:r>
              <a:rPr sz="1200" dirty="0" err="1">
                <a:solidFill>
                  <a:srgbClr val="4A5462"/>
                </a:solidFill>
                <a:latin typeface="Malgun Gothic"/>
                <a:cs typeface="Malgun Gothic"/>
              </a:rPr>
              <a:t>상호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 err="1">
                <a:solidFill>
                  <a:srgbClr val="4A5462"/>
                </a:solidFill>
                <a:latin typeface="Malgun Gothic"/>
                <a:cs typeface="Malgun Gothic"/>
              </a:rPr>
              <a:t>연결하는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 구조적 기반입니다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6073A840-5ADC-6977-F56B-110B0A6B0530}"/>
              </a:ext>
            </a:extLst>
          </p:cNvPr>
          <p:cNvSpPr txBox="1"/>
          <p:nvPr/>
        </p:nvSpPr>
        <p:spPr>
          <a:xfrm>
            <a:off x="527051" y="2912415"/>
            <a:ext cx="107632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활</a:t>
            </a:r>
            <a:r>
              <a:rPr sz="1200" dirty="0">
                <a:solidFill>
                  <a:srgbClr val="1F2937"/>
                </a:solidFill>
                <a:latin typeface="Malgun Gothic"/>
                <a:cs typeface="Malgun Gothic"/>
              </a:rPr>
              <a:t>용 </a:t>
            </a: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사례</a:t>
            </a:r>
            <a:endParaRPr sz="1250" dirty="0">
              <a:latin typeface="Malgun Gothic"/>
              <a:cs typeface="Malgun Gothic"/>
            </a:endParaRPr>
          </a:p>
        </p:txBody>
      </p:sp>
      <p:grpSp>
        <p:nvGrpSpPr>
          <p:cNvPr id="7" name="object 12">
            <a:extLst>
              <a:ext uri="{FF2B5EF4-FFF2-40B4-BE49-F238E27FC236}">
                <a16:creationId xmlns:a16="http://schemas.microsoft.com/office/drawing/2014/main" id="{32E13644-347E-932F-C8E9-60404A2AE509}"/>
              </a:ext>
            </a:extLst>
          </p:cNvPr>
          <p:cNvGrpSpPr/>
          <p:nvPr/>
        </p:nvGrpSpPr>
        <p:grpSpPr>
          <a:xfrm>
            <a:off x="539751" y="3264741"/>
            <a:ext cx="4029073" cy="3122751"/>
            <a:chOff x="533400" y="3581399"/>
            <a:chExt cx="4029073" cy="3122751"/>
          </a:xfrm>
        </p:grpSpPr>
        <p:pic>
          <p:nvPicPr>
            <p:cNvPr id="36" name="object 13">
              <a:extLst>
                <a:ext uri="{FF2B5EF4-FFF2-40B4-BE49-F238E27FC236}">
                  <a16:creationId xmlns:a16="http://schemas.microsoft.com/office/drawing/2014/main" id="{CE9B7E15-1FBC-375D-1067-FAD7722ECD0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3581399"/>
              <a:ext cx="152399" cy="152399"/>
            </a:xfrm>
            <a:prstGeom prst="rect">
              <a:avLst/>
            </a:prstGeom>
          </p:spPr>
        </p:pic>
        <p:pic>
          <p:nvPicPr>
            <p:cNvPr id="37" name="object 14">
              <a:extLst>
                <a:ext uri="{FF2B5EF4-FFF2-40B4-BE49-F238E27FC236}">
                  <a16:creationId xmlns:a16="http://schemas.microsoft.com/office/drawing/2014/main" id="{92430C89-2C7B-17EB-99B7-02317238836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4114799"/>
              <a:ext cx="152399" cy="152399"/>
            </a:xfrm>
            <a:prstGeom prst="rect">
              <a:avLst/>
            </a:prstGeom>
          </p:spPr>
        </p:pic>
        <p:pic>
          <p:nvPicPr>
            <p:cNvPr id="38" name="object 15">
              <a:extLst>
                <a:ext uri="{FF2B5EF4-FFF2-40B4-BE49-F238E27FC236}">
                  <a16:creationId xmlns:a16="http://schemas.microsoft.com/office/drawing/2014/main" id="{007F994F-6BD7-0E7E-0192-64026DB8DFA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4648199"/>
              <a:ext cx="152399" cy="152399"/>
            </a:xfrm>
            <a:prstGeom prst="rect">
              <a:avLst/>
            </a:prstGeom>
          </p:spPr>
        </p:pic>
        <p:pic>
          <p:nvPicPr>
            <p:cNvPr id="39" name="object 16">
              <a:extLst>
                <a:ext uri="{FF2B5EF4-FFF2-40B4-BE49-F238E27FC236}">
                  <a16:creationId xmlns:a16="http://schemas.microsoft.com/office/drawing/2014/main" id="{F524DADD-BBE8-038A-A4C0-EC560C2D168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124" y="4875351"/>
              <a:ext cx="2800349" cy="1828799"/>
            </a:xfrm>
            <a:prstGeom prst="rect">
              <a:avLst/>
            </a:prstGeom>
          </p:spPr>
        </p:pic>
      </p:grpSp>
      <p:sp>
        <p:nvSpPr>
          <p:cNvPr id="8" name="object 17">
            <a:extLst>
              <a:ext uri="{FF2B5EF4-FFF2-40B4-BE49-F238E27FC236}">
                <a16:creationId xmlns:a16="http://schemas.microsoft.com/office/drawing/2014/main" id="{6586627C-F53D-77AD-C182-B2C055F40E4E}"/>
              </a:ext>
            </a:extLst>
          </p:cNvPr>
          <p:cNvSpPr txBox="1"/>
          <p:nvPr/>
        </p:nvSpPr>
        <p:spPr>
          <a:xfrm>
            <a:off x="755650" y="3177746"/>
            <a:ext cx="4961890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기술 보고서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엔지니어 작업 로그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, QC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데이터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설비 매뉴얼 등 다양한 비정 형 및 정형 데이터 통합</a:t>
            </a:r>
            <a:endParaRPr sz="1200" dirty="0">
              <a:latin typeface="Malgun Gothic"/>
              <a:cs typeface="Malgun Gothic"/>
            </a:endParaRPr>
          </a:p>
          <a:p>
            <a:pPr marL="12700" marR="13335">
              <a:lnSpc>
                <a:spcPct val="125000"/>
              </a:lnSpc>
              <a:spcBef>
                <a:spcPts val="600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복잡한 질문에 대해 설비 로그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재료 정보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작업자 경험 데이터를 종합하여 정확한 답변 도출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AI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기반의 근본 원인 분석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(RCA)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및 의사결정 보조 시스템으로 발전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F082CD9D-AA71-28A5-892C-C2A92FD159E2}"/>
              </a:ext>
            </a:extLst>
          </p:cNvPr>
          <p:cNvSpPr txBox="1"/>
          <p:nvPr/>
        </p:nvSpPr>
        <p:spPr>
          <a:xfrm>
            <a:off x="1603376" y="6447639"/>
            <a:ext cx="3393082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A7280"/>
                </a:solidFill>
                <a:latin typeface="Malgun Gothic"/>
                <a:cs typeface="Malgun Gothic"/>
              </a:rPr>
              <a:t>지식 그래프 예시</a:t>
            </a:r>
            <a:r>
              <a:rPr sz="1050" dirty="0">
                <a:solidFill>
                  <a:srgbClr val="6A7280"/>
                </a:solidFill>
                <a:latin typeface="Arial"/>
                <a:cs typeface="Arial"/>
              </a:rPr>
              <a:t>: </a:t>
            </a:r>
            <a:r>
              <a:rPr sz="1050" dirty="0">
                <a:solidFill>
                  <a:srgbClr val="6A7280"/>
                </a:solidFill>
                <a:latin typeface="Malgun Gothic"/>
                <a:cs typeface="Malgun Gothic"/>
              </a:rPr>
              <a:t>데이터 간의 의미적 연결성 구현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31" name="object 20">
            <a:extLst>
              <a:ext uri="{FF2B5EF4-FFF2-40B4-BE49-F238E27FC236}">
                <a16:creationId xmlns:a16="http://schemas.microsoft.com/office/drawing/2014/main" id="{EB7639B3-448C-4695-B7F4-194C9FBF43A0}"/>
              </a:ext>
            </a:extLst>
          </p:cNvPr>
          <p:cNvSpPr/>
          <p:nvPr/>
        </p:nvSpPr>
        <p:spPr>
          <a:xfrm>
            <a:off x="6273800" y="1483566"/>
            <a:ext cx="5543550" cy="1409700"/>
          </a:xfrm>
          <a:custGeom>
            <a:avLst/>
            <a:gdLst/>
            <a:ahLst/>
            <a:cxnLst/>
            <a:rect l="l" t="t" r="r" b="b"/>
            <a:pathLst>
              <a:path w="5543550" h="1409700">
                <a:moveTo>
                  <a:pt x="5472352" y="1409699"/>
                </a:moveTo>
                <a:lnTo>
                  <a:pt x="53397" y="1409699"/>
                </a:lnTo>
                <a:lnTo>
                  <a:pt x="49680" y="1409211"/>
                </a:lnTo>
                <a:lnTo>
                  <a:pt x="14084" y="1383843"/>
                </a:lnTo>
                <a:lnTo>
                  <a:pt x="365" y="1343458"/>
                </a:lnTo>
                <a:lnTo>
                  <a:pt x="0" y="1338503"/>
                </a:lnTo>
                <a:lnTo>
                  <a:pt x="0" y="1333499"/>
                </a:lnTo>
                <a:lnTo>
                  <a:pt x="0" y="71196"/>
                </a:lnTo>
                <a:lnTo>
                  <a:pt x="11715" y="29705"/>
                </a:lnTo>
                <a:lnTo>
                  <a:pt x="42320" y="2440"/>
                </a:lnTo>
                <a:lnTo>
                  <a:pt x="53397" y="0"/>
                </a:lnTo>
                <a:lnTo>
                  <a:pt x="5472352" y="0"/>
                </a:lnTo>
                <a:lnTo>
                  <a:pt x="5513844" y="15621"/>
                </a:lnTo>
                <a:lnTo>
                  <a:pt x="5539663" y="51661"/>
                </a:lnTo>
                <a:lnTo>
                  <a:pt x="5543549" y="71196"/>
                </a:lnTo>
                <a:lnTo>
                  <a:pt x="5543549" y="1338503"/>
                </a:lnTo>
                <a:lnTo>
                  <a:pt x="5527927" y="1379993"/>
                </a:lnTo>
                <a:lnTo>
                  <a:pt x="5491887" y="1405813"/>
                </a:lnTo>
                <a:lnTo>
                  <a:pt x="5477308" y="1409211"/>
                </a:lnTo>
                <a:lnTo>
                  <a:pt x="5472352" y="1409699"/>
                </a:lnTo>
                <a:close/>
              </a:path>
            </a:pathLst>
          </a:custGeom>
          <a:solidFill>
            <a:srgbClr val="FFFFFF">
              <a:alpha val="90199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2" name="object 21">
            <a:extLst>
              <a:ext uri="{FF2B5EF4-FFF2-40B4-BE49-F238E27FC236}">
                <a16:creationId xmlns:a16="http://schemas.microsoft.com/office/drawing/2014/main" id="{25FCC158-0F71-5DDA-D125-494133914946}"/>
              </a:ext>
            </a:extLst>
          </p:cNvPr>
          <p:cNvSpPr/>
          <p:nvPr/>
        </p:nvSpPr>
        <p:spPr>
          <a:xfrm>
            <a:off x="6254750" y="1483844"/>
            <a:ext cx="70485" cy="1409700"/>
          </a:xfrm>
          <a:custGeom>
            <a:avLst/>
            <a:gdLst/>
            <a:ahLst/>
            <a:cxnLst/>
            <a:rect l="l" t="t" r="r" b="b"/>
            <a:pathLst>
              <a:path w="70485" h="1409700">
                <a:moveTo>
                  <a:pt x="70449" y="1409144"/>
                </a:moveTo>
                <a:lnTo>
                  <a:pt x="33857" y="1396591"/>
                </a:lnTo>
                <a:lnTo>
                  <a:pt x="5800" y="1362382"/>
                </a:lnTo>
                <a:lnTo>
                  <a:pt x="0" y="1333222"/>
                </a:lnTo>
                <a:lnTo>
                  <a:pt x="0" y="75922"/>
                </a:lnTo>
                <a:lnTo>
                  <a:pt x="12829" y="33579"/>
                </a:lnTo>
                <a:lnTo>
                  <a:pt x="47038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1" y="9389"/>
                </a:lnTo>
                <a:lnTo>
                  <a:pt x="40999" y="46761"/>
                </a:lnTo>
                <a:lnTo>
                  <a:pt x="38100" y="75922"/>
                </a:lnTo>
                <a:lnTo>
                  <a:pt x="38100" y="1333222"/>
                </a:lnTo>
                <a:lnTo>
                  <a:pt x="44515" y="1375564"/>
                </a:lnTo>
                <a:lnTo>
                  <a:pt x="66287" y="1407488"/>
                </a:lnTo>
                <a:lnTo>
                  <a:pt x="70449" y="1409144"/>
                </a:lnTo>
                <a:close/>
              </a:path>
            </a:pathLst>
          </a:custGeom>
          <a:solidFill>
            <a:srgbClr val="0FB981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998C1524-C219-1703-186E-0ED925965A2B}"/>
              </a:ext>
            </a:extLst>
          </p:cNvPr>
          <p:cNvSpPr/>
          <p:nvPr/>
        </p:nvSpPr>
        <p:spPr>
          <a:xfrm>
            <a:off x="6273800" y="4550616"/>
            <a:ext cx="5543550" cy="1524000"/>
          </a:xfrm>
          <a:custGeom>
            <a:avLst/>
            <a:gdLst/>
            <a:ahLst/>
            <a:cxnLst/>
            <a:rect l="l" t="t" r="r" b="b"/>
            <a:pathLst>
              <a:path w="5543550" h="1524000">
                <a:moveTo>
                  <a:pt x="5472352" y="1523999"/>
                </a:moveTo>
                <a:lnTo>
                  <a:pt x="53397" y="1523999"/>
                </a:lnTo>
                <a:lnTo>
                  <a:pt x="49680" y="1523510"/>
                </a:lnTo>
                <a:lnTo>
                  <a:pt x="14084" y="1498142"/>
                </a:lnTo>
                <a:lnTo>
                  <a:pt x="365" y="1457758"/>
                </a:lnTo>
                <a:lnTo>
                  <a:pt x="0" y="1452803"/>
                </a:lnTo>
                <a:lnTo>
                  <a:pt x="0" y="1447799"/>
                </a:lnTo>
                <a:lnTo>
                  <a:pt x="0" y="71196"/>
                </a:lnTo>
                <a:lnTo>
                  <a:pt x="11715" y="29704"/>
                </a:lnTo>
                <a:lnTo>
                  <a:pt x="42320" y="2439"/>
                </a:lnTo>
                <a:lnTo>
                  <a:pt x="53397" y="0"/>
                </a:lnTo>
                <a:lnTo>
                  <a:pt x="5472352" y="0"/>
                </a:lnTo>
                <a:lnTo>
                  <a:pt x="5513844" y="15621"/>
                </a:lnTo>
                <a:lnTo>
                  <a:pt x="5539663" y="51661"/>
                </a:lnTo>
                <a:lnTo>
                  <a:pt x="5543549" y="71196"/>
                </a:lnTo>
                <a:lnTo>
                  <a:pt x="5543549" y="1452803"/>
                </a:lnTo>
                <a:lnTo>
                  <a:pt x="5527927" y="1494293"/>
                </a:lnTo>
                <a:lnTo>
                  <a:pt x="5491887" y="1520113"/>
                </a:lnTo>
                <a:lnTo>
                  <a:pt x="5477308" y="1523510"/>
                </a:lnTo>
                <a:lnTo>
                  <a:pt x="5472352" y="15239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4" name="object 23">
            <a:extLst>
              <a:ext uri="{FF2B5EF4-FFF2-40B4-BE49-F238E27FC236}">
                <a16:creationId xmlns:a16="http://schemas.microsoft.com/office/drawing/2014/main" id="{10D28A16-9C15-1ABA-004E-CE0B2B9A6C4B}"/>
              </a:ext>
            </a:extLst>
          </p:cNvPr>
          <p:cNvSpPr/>
          <p:nvPr/>
        </p:nvSpPr>
        <p:spPr>
          <a:xfrm>
            <a:off x="6254750" y="4531844"/>
            <a:ext cx="70485" cy="1524000"/>
          </a:xfrm>
          <a:custGeom>
            <a:avLst/>
            <a:gdLst/>
            <a:ahLst/>
            <a:cxnLst/>
            <a:rect l="l" t="t" r="r" b="b"/>
            <a:pathLst>
              <a:path w="70485" h="1524000">
                <a:moveTo>
                  <a:pt x="70450" y="1523444"/>
                </a:moveTo>
                <a:lnTo>
                  <a:pt x="33857" y="1510891"/>
                </a:lnTo>
                <a:lnTo>
                  <a:pt x="5800" y="1476682"/>
                </a:lnTo>
                <a:lnTo>
                  <a:pt x="0" y="1447522"/>
                </a:lnTo>
                <a:lnTo>
                  <a:pt x="0" y="75922"/>
                </a:lnTo>
                <a:lnTo>
                  <a:pt x="12829" y="33579"/>
                </a:lnTo>
                <a:lnTo>
                  <a:pt x="47038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1" y="9389"/>
                </a:lnTo>
                <a:lnTo>
                  <a:pt x="40999" y="46761"/>
                </a:lnTo>
                <a:lnTo>
                  <a:pt x="38100" y="75922"/>
                </a:lnTo>
                <a:lnTo>
                  <a:pt x="38100" y="1447522"/>
                </a:lnTo>
                <a:lnTo>
                  <a:pt x="44515" y="1489863"/>
                </a:lnTo>
                <a:lnTo>
                  <a:pt x="66287" y="1521787"/>
                </a:lnTo>
                <a:lnTo>
                  <a:pt x="70450" y="1523444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pic>
        <p:nvPicPr>
          <p:cNvPr id="35" name="object 24">
            <a:extLst>
              <a:ext uri="{FF2B5EF4-FFF2-40B4-BE49-F238E27FC236}">
                <a16:creationId xmlns:a16="http://schemas.microsoft.com/office/drawing/2014/main" id="{8AD643B8-0B7C-EDC3-4AFF-7D8646B53CE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54750" y="1102566"/>
            <a:ext cx="228599" cy="228599"/>
          </a:xfrm>
          <a:prstGeom prst="rect">
            <a:avLst/>
          </a:prstGeom>
        </p:spPr>
      </p:pic>
      <p:sp>
        <p:nvSpPr>
          <p:cNvPr id="11" name="object 25">
            <a:extLst>
              <a:ext uri="{FF2B5EF4-FFF2-40B4-BE49-F238E27FC236}">
                <a16:creationId xmlns:a16="http://schemas.microsoft.com/office/drawing/2014/main" id="{894FE0B0-8108-7796-C612-46E8839CEB55}"/>
              </a:ext>
            </a:extLst>
          </p:cNvPr>
          <p:cNvSpPr txBox="1"/>
          <p:nvPr/>
        </p:nvSpPr>
        <p:spPr>
          <a:xfrm>
            <a:off x="746125" y="1023340"/>
            <a:ext cx="1202690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sz="1800" dirty="0"/>
              <a:t>온톨로지 및 지식 그래프 기반 스마트 지식 체계	</a:t>
            </a:r>
            <a:r>
              <a:rPr lang="en-US" sz="1800" dirty="0"/>
              <a:t>          </a:t>
            </a:r>
            <a:r>
              <a:rPr sz="1800" dirty="0" err="1"/>
              <a:t>LLM을</a:t>
            </a:r>
            <a:r>
              <a:rPr sz="1800" dirty="0"/>
              <a:t> 활용한 기술 문서 및 로그 분석</a:t>
            </a:r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FDF590A1-391B-9C36-F6AE-80F19964D4F6}"/>
              </a:ext>
            </a:extLst>
          </p:cNvPr>
          <p:cNvSpPr txBox="1"/>
          <p:nvPr/>
        </p:nvSpPr>
        <p:spPr>
          <a:xfrm>
            <a:off x="6432550" y="1655116"/>
            <a:ext cx="222567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비정형 데이터 활</a:t>
            </a:r>
            <a:r>
              <a:rPr sz="1200" dirty="0">
                <a:solidFill>
                  <a:srgbClr val="1F2937"/>
                </a:solidFill>
                <a:latin typeface="Malgun Gothic"/>
                <a:cs typeface="Malgun Gothic"/>
              </a:rPr>
              <a:t>용 극</a:t>
            </a: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대화</a:t>
            </a:r>
            <a:endParaRPr sz="1250" dirty="0">
              <a:latin typeface="Malgun Gothic"/>
              <a:cs typeface="Malgun Gothic"/>
            </a:endParaRPr>
          </a:p>
        </p:txBody>
      </p:sp>
      <p:sp>
        <p:nvSpPr>
          <p:cNvPr id="13" name="object 27">
            <a:extLst>
              <a:ext uri="{FF2B5EF4-FFF2-40B4-BE49-F238E27FC236}">
                <a16:creationId xmlns:a16="http://schemas.microsoft.com/office/drawing/2014/main" id="{4545B144-6FFE-E33E-F0F3-A0328F1BA0ED}"/>
              </a:ext>
            </a:extLst>
          </p:cNvPr>
          <p:cNvSpPr txBox="1"/>
          <p:nvPr/>
        </p:nvSpPr>
        <p:spPr>
          <a:xfrm>
            <a:off x="6432550" y="2025221"/>
            <a:ext cx="5165090" cy="682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대규모 언어 모델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(LLM)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은 방대한 비정형 텍스트 데이터를 분석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요약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분류하 는 데 탁월한 능력을 보여줍니다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.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이를 통해 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R&amp;D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과정의 효율성을 높일 수 있 습니다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14" name="object 28">
            <a:extLst>
              <a:ext uri="{FF2B5EF4-FFF2-40B4-BE49-F238E27FC236}">
                <a16:creationId xmlns:a16="http://schemas.microsoft.com/office/drawing/2014/main" id="{3BFEFF25-479B-5D22-DECB-5985B791ED7D}"/>
              </a:ext>
            </a:extLst>
          </p:cNvPr>
          <p:cNvGrpSpPr/>
          <p:nvPr/>
        </p:nvGrpSpPr>
        <p:grpSpPr>
          <a:xfrm>
            <a:off x="6254749" y="2769441"/>
            <a:ext cx="2724150" cy="1333500"/>
            <a:chOff x="6248398" y="3086099"/>
            <a:chExt cx="2724150" cy="1333500"/>
          </a:xfrm>
        </p:grpSpPr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B7478FBE-9D9A-F305-BE07-4AA2FDE1D6E5}"/>
                </a:ext>
              </a:extLst>
            </p:cNvPr>
            <p:cNvSpPr/>
            <p:nvPr/>
          </p:nvSpPr>
          <p:spPr>
            <a:xfrm>
              <a:off x="6248398" y="3086099"/>
              <a:ext cx="2724150" cy="1333500"/>
            </a:xfrm>
            <a:custGeom>
              <a:avLst/>
              <a:gdLst/>
              <a:ahLst/>
              <a:cxnLst/>
              <a:rect l="l" t="t" r="r" b="b"/>
              <a:pathLst>
                <a:path w="2724150" h="1333500">
                  <a:moveTo>
                    <a:pt x="2652952" y="1333499"/>
                  </a:moveTo>
                  <a:lnTo>
                    <a:pt x="71196" y="1333499"/>
                  </a:lnTo>
                  <a:lnTo>
                    <a:pt x="66241" y="1333011"/>
                  </a:lnTo>
                  <a:lnTo>
                    <a:pt x="29705" y="1317877"/>
                  </a:lnTo>
                  <a:lnTo>
                    <a:pt x="3885" y="1281837"/>
                  </a:lnTo>
                  <a:lnTo>
                    <a:pt x="0" y="1262302"/>
                  </a:lnTo>
                  <a:lnTo>
                    <a:pt x="0" y="1257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652952" y="0"/>
                  </a:lnTo>
                  <a:lnTo>
                    <a:pt x="2694444" y="15621"/>
                  </a:lnTo>
                  <a:lnTo>
                    <a:pt x="2720263" y="51661"/>
                  </a:lnTo>
                  <a:lnTo>
                    <a:pt x="2724149" y="71196"/>
                  </a:lnTo>
                  <a:lnTo>
                    <a:pt x="2724149" y="1262302"/>
                  </a:lnTo>
                  <a:lnTo>
                    <a:pt x="2708527" y="1303793"/>
                  </a:lnTo>
                  <a:lnTo>
                    <a:pt x="2672487" y="1329613"/>
                  </a:lnTo>
                  <a:lnTo>
                    <a:pt x="2657907" y="1333011"/>
                  </a:lnTo>
                  <a:lnTo>
                    <a:pt x="2652952" y="13334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30" name="object 30">
              <a:extLst>
                <a:ext uri="{FF2B5EF4-FFF2-40B4-BE49-F238E27FC236}">
                  <a16:creationId xmlns:a16="http://schemas.microsoft.com/office/drawing/2014/main" id="{AE9C3666-4FF8-DC4D-84FA-40563D62F79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24749" y="3238499"/>
              <a:ext cx="171449" cy="304799"/>
            </a:xfrm>
            <a:prstGeom prst="rect">
              <a:avLst/>
            </a:prstGeom>
          </p:spPr>
        </p:pic>
      </p:grpSp>
      <p:sp>
        <p:nvSpPr>
          <p:cNvPr id="15" name="object 31">
            <a:extLst>
              <a:ext uri="{FF2B5EF4-FFF2-40B4-BE49-F238E27FC236}">
                <a16:creationId xmlns:a16="http://schemas.microsoft.com/office/drawing/2014/main" id="{5EF5D0F1-2BC4-7A76-0D5D-4A266FDC0F02}"/>
              </a:ext>
            </a:extLst>
          </p:cNvPr>
          <p:cNvSpPr txBox="1"/>
          <p:nvPr/>
        </p:nvSpPr>
        <p:spPr>
          <a:xfrm>
            <a:off x="6394450" y="3195179"/>
            <a:ext cx="2555241" cy="721158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>
            <a:defPPr>
              <a:defRPr kern="0"/>
            </a:defPPr>
          </a:lstStyle>
          <a:p>
            <a:pPr marL="62865" algn="ctr">
              <a:lnSpc>
                <a:spcPct val="100000"/>
              </a:lnSpc>
              <a:spcBef>
                <a:spcPts val="869"/>
              </a:spcBef>
            </a:pP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기술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문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서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분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석</a:t>
            </a:r>
            <a:endParaRPr sz="1250" dirty="0">
              <a:latin typeface="Malgun Gothic"/>
              <a:cs typeface="Malgun Gothic"/>
            </a:endParaRPr>
          </a:p>
          <a:p>
            <a:pPr marL="12700" marR="5080" indent="-37465" algn="ctr">
              <a:lnSpc>
                <a:spcPct val="119000"/>
              </a:lnSpc>
              <a:spcBef>
                <a:spcPts val="409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연구 논문과 기술 보고서를 요약하고 핵 심 정보를 추출하여 연구 개발 시간 단축</a:t>
            </a:r>
            <a:endParaRPr sz="1050" dirty="0">
              <a:latin typeface="Malgun Gothic"/>
              <a:cs typeface="Malgun Gothic"/>
            </a:endParaRPr>
          </a:p>
        </p:txBody>
      </p:sp>
      <p:grpSp>
        <p:nvGrpSpPr>
          <p:cNvPr id="16" name="object 32">
            <a:extLst>
              <a:ext uri="{FF2B5EF4-FFF2-40B4-BE49-F238E27FC236}">
                <a16:creationId xmlns:a16="http://schemas.microsoft.com/office/drawing/2014/main" id="{E9AB4872-27E4-13A2-EFE3-37776AA5CB15}"/>
              </a:ext>
            </a:extLst>
          </p:cNvPr>
          <p:cNvGrpSpPr/>
          <p:nvPr/>
        </p:nvGrpSpPr>
        <p:grpSpPr>
          <a:xfrm>
            <a:off x="9093200" y="2769441"/>
            <a:ext cx="2724150" cy="1333500"/>
            <a:chOff x="9086849" y="3086099"/>
            <a:chExt cx="2724150" cy="1333500"/>
          </a:xfrm>
        </p:grpSpPr>
        <p:sp>
          <p:nvSpPr>
            <p:cNvPr id="27" name="object 33">
              <a:extLst>
                <a:ext uri="{FF2B5EF4-FFF2-40B4-BE49-F238E27FC236}">
                  <a16:creationId xmlns:a16="http://schemas.microsoft.com/office/drawing/2014/main" id="{A5DE9009-0189-B426-2A51-FB413FD94774}"/>
                </a:ext>
              </a:extLst>
            </p:cNvPr>
            <p:cNvSpPr/>
            <p:nvPr/>
          </p:nvSpPr>
          <p:spPr>
            <a:xfrm>
              <a:off x="9086849" y="3086099"/>
              <a:ext cx="2724150" cy="1333500"/>
            </a:xfrm>
            <a:custGeom>
              <a:avLst/>
              <a:gdLst/>
              <a:ahLst/>
              <a:cxnLst/>
              <a:rect l="l" t="t" r="r" b="b"/>
              <a:pathLst>
                <a:path w="2724150" h="1333500">
                  <a:moveTo>
                    <a:pt x="2652952" y="1333499"/>
                  </a:moveTo>
                  <a:lnTo>
                    <a:pt x="71196" y="1333499"/>
                  </a:lnTo>
                  <a:lnTo>
                    <a:pt x="66240" y="1333011"/>
                  </a:lnTo>
                  <a:lnTo>
                    <a:pt x="29703" y="1317877"/>
                  </a:lnTo>
                  <a:lnTo>
                    <a:pt x="3885" y="1281837"/>
                  </a:lnTo>
                  <a:lnTo>
                    <a:pt x="0" y="1262302"/>
                  </a:lnTo>
                  <a:lnTo>
                    <a:pt x="0" y="1257299"/>
                  </a:lnTo>
                  <a:lnTo>
                    <a:pt x="0" y="71196"/>
                  </a:lnTo>
                  <a:lnTo>
                    <a:pt x="15620" y="29705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2652952" y="0"/>
                  </a:lnTo>
                  <a:lnTo>
                    <a:pt x="2694444" y="15621"/>
                  </a:lnTo>
                  <a:lnTo>
                    <a:pt x="2720263" y="51661"/>
                  </a:lnTo>
                  <a:lnTo>
                    <a:pt x="2724149" y="71196"/>
                  </a:lnTo>
                  <a:lnTo>
                    <a:pt x="2724149" y="1262302"/>
                  </a:lnTo>
                  <a:lnTo>
                    <a:pt x="2708527" y="1303793"/>
                  </a:lnTo>
                  <a:lnTo>
                    <a:pt x="2672487" y="1329613"/>
                  </a:lnTo>
                  <a:lnTo>
                    <a:pt x="2657908" y="1333011"/>
                  </a:lnTo>
                  <a:lnTo>
                    <a:pt x="2652952" y="13334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8" name="object 34">
              <a:extLst>
                <a:ext uri="{FF2B5EF4-FFF2-40B4-BE49-F238E27FC236}">
                  <a16:creationId xmlns:a16="http://schemas.microsoft.com/office/drawing/2014/main" id="{6BA1D589-3D40-9D94-ADA9-3428BC2001F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25099" y="3238499"/>
              <a:ext cx="257174" cy="304799"/>
            </a:xfrm>
            <a:prstGeom prst="rect">
              <a:avLst/>
            </a:prstGeom>
          </p:spPr>
        </p:pic>
      </p:grpSp>
      <p:sp>
        <p:nvSpPr>
          <p:cNvPr id="17" name="object 35">
            <a:extLst>
              <a:ext uri="{FF2B5EF4-FFF2-40B4-BE49-F238E27FC236}">
                <a16:creationId xmlns:a16="http://schemas.microsoft.com/office/drawing/2014/main" id="{A00B7FDE-027B-D427-1EFC-8B4F6E183B3D}"/>
              </a:ext>
            </a:extLst>
          </p:cNvPr>
          <p:cNvSpPr txBox="1"/>
          <p:nvPr/>
        </p:nvSpPr>
        <p:spPr>
          <a:xfrm>
            <a:off x="9232900" y="3195179"/>
            <a:ext cx="2501899" cy="74739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>
            <a:defPPr>
              <a:defRPr kern="0"/>
            </a:defPPr>
          </a:lstStyle>
          <a:p>
            <a:pPr marL="646430">
              <a:lnSpc>
                <a:spcPct val="100000"/>
              </a:lnSpc>
              <a:spcBef>
                <a:spcPts val="869"/>
              </a:spcBef>
            </a:pPr>
            <a:r>
              <a:rPr sz="1150" dirty="0">
                <a:solidFill>
                  <a:srgbClr val="374050"/>
                </a:solidFill>
                <a:latin typeface="Malgun Gothic"/>
                <a:cs typeface="Malgun Gothic"/>
              </a:rPr>
              <a:t>로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그 데이터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분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석</a:t>
            </a:r>
            <a:endParaRPr sz="1250" dirty="0">
              <a:latin typeface="Malgun Gothic"/>
              <a:cs typeface="Malgun Gothic"/>
            </a:endParaRPr>
          </a:p>
          <a:p>
            <a:pPr marL="12700" marR="5080">
              <a:lnSpc>
                <a:spcPct val="119000"/>
              </a:lnSpc>
              <a:spcBef>
                <a:spcPts val="409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설비에서 발생하는 비정형 로그를 분석하 여 이상 징후 탐지 및 원인 자동 분류</a:t>
            </a:r>
            <a:endParaRPr sz="1050" dirty="0">
              <a:latin typeface="Malgun Gothic"/>
              <a:cs typeface="Malgun Gothic"/>
            </a:endParaRPr>
          </a:p>
        </p:txBody>
      </p:sp>
      <p:grpSp>
        <p:nvGrpSpPr>
          <p:cNvPr id="18" name="object 36">
            <a:extLst>
              <a:ext uri="{FF2B5EF4-FFF2-40B4-BE49-F238E27FC236}">
                <a16:creationId xmlns:a16="http://schemas.microsoft.com/office/drawing/2014/main" id="{917A3465-FDD5-7C29-19E4-BC3D68B20B26}"/>
              </a:ext>
            </a:extLst>
          </p:cNvPr>
          <p:cNvGrpSpPr/>
          <p:nvPr/>
        </p:nvGrpSpPr>
        <p:grpSpPr>
          <a:xfrm>
            <a:off x="6521451" y="5055441"/>
            <a:ext cx="4190999" cy="152399"/>
            <a:chOff x="6515100" y="5067299"/>
            <a:chExt cx="4190999" cy="152399"/>
          </a:xfrm>
        </p:grpSpPr>
        <p:pic>
          <p:nvPicPr>
            <p:cNvPr id="20" name="object 37">
              <a:extLst>
                <a:ext uri="{FF2B5EF4-FFF2-40B4-BE49-F238E27FC236}">
                  <a16:creationId xmlns:a16="http://schemas.microsoft.com/office/drawing/2014/main" id="{88949ADF-8CB8-738D-9649-04F5B965DEC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15100" y="5067299"/>
              <a:ext cx="114299" cy="152399"/>
            </a:xfrm>
            <a:prstGeom prst="rect">
              <a:avLst/>
            </a:prstGeom>
          </p:spPr>
        </p:pic>
        <p:pic>
          <p:nvPicPr>
            <p:cNvPr id="21" name="object 38">
              <a:extLst>
                <a:ext uri="{FF2B5EF4-FFF2-40B4-BE49-F238E27FC236}">
                  <a16:creationId xmlns:a16="http://schemas.microsoft.com/office/drawing/2014/main" id="{189C6BFB-D1F1-6F5D-F453-178AF409A32E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53349" y="5086349"/>
              <a:ext cx="133349" cy="114299"/>
            </a:xfrm>
            <a:prstGeom prst="rect">
              <a:avLst/>
            </a:prstGeom>
          </p:spPr>
        </p:pic>
        <p:pic>
          <p:nvPicPr>
            <p:cNvPr id="22" name="object 39">
              <a:extLst>
                <a:ext uri="{FF2B5EF4-FFF2-40B4-BE49-F238E27FC236}">
                  <a16:creationId xmlns:a16="http://schemas.microsoft.com/office/drawing/2014/main" id="{9A253467-0228-0800-D1E1-E58A59D4FAD3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72424" y="5067299"/>
              <a:ext cx="190499" cy="152399"/>
            </a:xfrm>
            <a:prstGeom prst="rect">
              <a:avLst/>
            </a:prstGeom>
          </p:spPr>
        </p:pic>
        <p:pic>
          <p:nvPicPr>
            <p:cNvPr id="23" name="object 40">
              <a:extLst>
                <a:ext uri="{FF2B5EF4-FFF2-40B4-BE49-F238E27FC236}">
                  <a16:creationId xmlns:a16="http://schemas.microsoft.com/office/drawing/2014/main" id="{E8CF32E1-62E4-4E8C-B140-685230859979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82074" y="5086349"/>
              <a:ext cx="123824" cy="114299"/>
            </a:xfrm>
            <a:prstGeom prst="rect">
              <a:avLst/>
            </a:prstGeom>
          </p:spPr>
        </p:pic>
        <p:pic>
          <p:nvPicPr>
            <p:cNvPr id="24" name="object 41">
              <a:extLst>
                <a:ext uri="{FF2B5EF4-FFF2-40B4-BE49-F238E27FC236}">
                  <a16:creationId xmlns:a16="http://schemas.microsoft.com/office/drawing/2014/main" id="{9C5B401F-EF34-D303-B80E-DC81832EF108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91624" y="5076824"/>
              <a:ext cx="152399" cy="133349"/>
            </a:xfrm>
            <a:prstGeom prst="rect">
              <a:avLst/>
            </a:prstGeom>
          </p:spPr>
        </p:pic>
        <p:pic>
          <p:nvPicPr>
            <p:cNvPr id="25" name="object 42">
              <a:extLst>
                <a:ext uri="{FF2B5EF4-FFF2-40B4-BE49-F238E27FC236}">
                  <a16:creationId xmlns:a16="http://schemas.microsoft.com/office/drawing/2014/main" id="{243BE4E4-4767-3F61-6592-D3F9113EAF25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15575" y="5086349"/>
              <a:ext cx="123824" cy="114299"/>
            </a:xfrm>
            <a:prstGeom prst="rect">
              <a:avLst/>
            </a:prstGeom>
          </p:spPr>
        </p:pic>
        <p:pic>
          <p:nvPicPr>
            <p:cNvPr id="26" name="object 43">
              <a:extLst>
                <a:ext uri="{FF2B5EF4-FFF2-40B4-BE49-F238E27FC236}">
                  <a16:creationId xmlns:a16="http://schemas.microsoft.com/office/drawing/2014/main" id="{07F4AC68-3E4B-4090-2C23-46E5ED0DBAFE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534650" y="5067299"/>
              <a:ext cx="171449" cy="152399"/>
            </a:xfrm>
            <a:prstGeom prst="rect">
              <a:avLst/>
            </a:prstGeom>
          </p:spPr>
        </p:pic>
      </p:grpSp>
      <p:sp>
        <p:nvSpPr>
          <p:cNvPr id="19" name="object 44">
            <a:extLst>
              <a:ext uri="{FF2B5EF4-FFF2-40B4-BE49-F238E27FC236}">
                <a16:creationId xmlns:a16="http://schemas.microsoft.com/office/drawing/2014/main" id="{75B72291-0D48-FE99-5902-138950C22825}"/>
              </a:ext>
            </a:extLst>
          </p:cNvPr>
          <p:cNvSpPr txBox="1"/>
          <p:nvPr/>
        </p:nvSpPr>
        <p:spPr>
          <a:xfrm>
            <a:off x="6432550" y="4722166"/>
            <a:ext cx="5168900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데이터 </a:t>
            </a:r>
            <a:r>
              <a:rPr sz="1200" dirty="0">
                <a:solidFill>
                  <a:srgbClr val="1F2937"/>
                </a:solidFill>
                <a:latin typeface="Malgun Gothic"/>
                <a:cs typeface="Malgun Gothic"/>
              </a:rPr>
              <a:t>품</a:t>
            </a:r>
            <a:r>
              <a:rPr sz="1250" dirty="0">
                <a:solidFill>
                  <a:srgbClr val="1F2937"/>
                </a:solidFill>
                <a:latin typeface="Malgun Gothic"/>
                <a:cs typeface="Malgun Gothic"/>
              </a:rPr>
              <a:t>질 향상 파이프라인</a:t>
            </a:r>
            <a:endParaRPr sz="1250" dirty="0">
              <a:latin typeface="Malgun Gothic"/>
              <a:cs typeface="Malgun Gothic"/>
            </a:endParaRPr>
          </a:p>
          <a:p>
            <a:pPr marL="12700" indent="266700">
              <a:lnSpc>
                <a:spcPct val="100000"/>
              </a:lnSpc>
              <a:spcBef>
                <a:spcPts val="950"/>
              </a:spcBef>
              <a:tabLst>
                <a:tab pos="1810385" algn="l"/>
                <a:tab pos="2990850" algn="l"/>
                <a:tab pos="4351020" algn="l"/>
              </a:tabLst>
            </a:pPr>
            <a:r>
              <a:rPr sz="1200" dirty="0">
                <a:solidFill>
                  <a:srgbClr val="1D40AF"/>
                </a:solidFill>
                <a:latin typeface="Malgun Gothic"/>
                <a:cs typeface="Malgun Gothic"/>
              </a:rPr>
              <a:t>비정형 데이터	</a:t>
            </a:r>
            <a:r>
              <a:rPr sz="1200" dirty="0">
                <a:solidFill>
                  <a:srgbClr val="1D40AF"/>
                </a:solidFill>
                <a:latin typeface="Arial"/>
                <a:cs typeface="Arial"/>
              </a:rPr>
              <a:t>LLM </a:t>
            </a:r>
            <a:r>
              <a:rPr sz="1200" dirty="0">
                <a:solidFill>
                  <a:srgbClr val="1D40AF"/>
                </a:solidFill>
                <a:latin typeface="Malgun Gothic"/>
                <a:cs typeface="Malgun Gothic"/>
              </a:rPr>
              <a:t>분석	정형 데이터	지식 그래프</a:t>
            </a:r>
            <a:endParaRPr sz="1200" dirty="0">
              <a:latin typeface="Malgun Gothic"/>
              <a:cs typeface="Malgun Gothic"/>
            </a:endParaRPr>
          </a:p>
          <a:p>
            <a:pPr marL="12700" marR="36195" algn="just">
              <a:lnSpc>
                <a:spcPct val="119000"/>
              </a:lnSpc>
              <a:spcBef>
                <a:spcPts val="1020"/>
              </a:spcBef>
            </a:pPr>
            <a:r>
              <a:rPr sz="1050" dirty="0">
                <a:solidFill>
                  <a:srgbClr val="374050"/>
                </a:solidFill>
                <a:latin typeface="Arial"/>
                <a:cs typeface="Arial"/>
              </a:rPr>
              <a:t>LLM</a:t>
            </a:r>
            <a:r>
              <a:rPr sz="1050" dirty="0">
                <a:solidFill>
                  <a:srgbClr val="374050"/>
                </a:solidFill>
                <a:latin typeface="Malgun Gothic"/>
                <a:cs typeface="Malgun Gothic"/>
              </a:rPr>
              <a:t>을 기반으로 엔터티 추출 및 텍스트 분류를 수행하면</a:t>
            </a:r>
            <a:r>
              <a:rPr sz="1050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050" dirty="0">
                <a:solidFill>
                  <a:srgbClr val="374050"/>
                </a:solidFill>
                <a:latin typeface="Malgun Gothic"/>
                <a:cs typeface="Malgun Gothic"/>
              </a:rPr>
              <a:t>비정형 데이터를 정형 데이터 로 변환하고 이를 지식 그래프에 편입시킬 수 있어</a:t>
            </a:r>
            <a:r>
              <a:rPr sz="1050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050" dirty="0">
                <a:solidFill>
                  <a:srgbClr val="374050"/>
                </a:solidFill>
                <a:latin typeface="Malgun Gothic"/>
                <a:cs typeface="Malgun Gothic"/>
              </a:rPr>
              <a:t>데이터의 품질과 활용성을 획기적으 로 개선합니다</a:t>
            </a:r>
            <a:r>
              <a:rPr sz="1050" dirty="0">
                <a:solidFill>
                  <a:srgbClr val="374050"/>
                </a:solidFill>
                <a:latin typeface="Arial"/>
                <a:cs typeface="Arial"/>
              </a:rPr>
              <a:t>.</a:t>
            </a:r>
            <a:endParaRPr sz="1050" dirty="0">
              <a:latin typeface="Arial"/>
              <a:cs typeface="Arial"/>
            </a:endParaRPr>
          </a:p>
        </p:txBody>
      </p:sp>
      <p:pic>
        <p:nvPicPr>
          <p:cNvPr id="44" name="object 26">
            <a:extLst>
              <a:ext uri="{FF2B5EF4-FFF2-40B4-BE49-F238E27FC236}">
                <a16:creationId xmlns:a16="http://schemas.microsoft.com/office/drawing/2014/main" id="{2CDA1574-72AD-82E4-5F75-3042FF53DAE5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5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16E91B73-4046-D969-3B0D-53CBA6E13D0A}"/>
              </a:ext>
            </a:extLst>
          </p:cNvPr>
          <p:cNvSpPr txBox="1">
            <a:spLocks noGrp="1"/>
          </p:cNvSpPr>
          <p:nvPr/>
        </p:nvSpPr>
        <p:spPr>
          <a:xfrm>
            <a:off x="374650" y="426355"/>
            <a:ext cx="7359650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dirty="0"/>
              <a:t>혁신 3: 디지털 트윈 기반 자율 제조 시스템</a:t>
            </a: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4E22623D-70B5-2404-462E-064D9009CA3F}"/>
              </a:ext>
            </a:extLst>
          </p:cNvPr>
          <p:cNvGrpSpPr/>
          <p:nvPr/>
        </p:nvGrpSpPr>
        <p:grpSpPr>
          <a:xfrm>
            <a:off x="387350" y="1043669"/>
            <a:ext cx="6762750" cy="5048528"/>
            <a:chOff x="380999" y="1104899"/>
            <a:chExt cx="6762750" cy="5048528"/>
          </a:xfrm>
        </p:grpSpPr>
        <p:sp>
          <p:nvSpPr>
            <p:cNvPr id="38" name="object 5">
              <a:extLst>
                <a:ext uri="{FF2B5EF4-FFF2-40B4-BE49-F238E27FC236}">
                  <a16:creationId xmlns:a16="http://schemas.microsoft.com/office/drawing/2014/main" id="{A1188DE2-09B7-1306-9321-C6F7626FCF8F}"/>
                </a:ext>
              </a:extLst>
            </p:cNvPr>
            <p:cNvSpPr/>
            <p:nvPr/>
          </p:nvSpPr>
          <p:spPr>
            <a:xfrm>
              <a:off x="380999" y="1104899"/>
              <a:ext cx="6762750" cy="1333500"/>
            </a:xfrm>
            <a:custGeom>
              <a:avLst/>
              <a:gdLst/>
              <a:ahLst/>
              <a:cxnLst/>
              <a:rect l="l" t="t" r="r" b="b"/>
              <a:pathLst>
                <a:path w="6762750" h="1333500">
                  <a:moveTo>
                    <a:pt x="6691552" y="1333499"/>
                  </a:moveTo>
                  <a:lnTo>
                    <a:pt x="71196" y="1333499"/>
                  </a:lnTo>
                  <a:lnTo>
                    <a:pt x="66241" y="1333011"/>
                  </a:lnTo>
                  <a:lnTo>
                    <a:pt x="29705" y="1317878"/>
                  </a:lnTo>
                  <a:lnTo>
                    <a:pt x="3885" y="1281837"/>
                  </a:lnTo>
                  <a:lnTo>
                    <a:pt x="0" y="1262303"/>
                  </a:lnTo>
                  <a:lnTo>
                    <a:pt x="0" y="1257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6691552" y="0"/>
                  </a:lnTo>
                  <a:lnTo>
                    <a:pt x="6733043" y="15621"/>
                  </a:lnTo>
                  <a:lnTo>
                    <a:pt x="6758863" y="51661"/>
                  </a:lnTo>
                  <a:lnTo>
                    <a:pt x="6762748" y="71196"/>
                  </a:lnTo>
                  <a:lnTo>
                    <a:pt x="6762748" y="1262303"/>
                  </a:lnTo>
                  <a:lnTo>
                    <a:pt x="6747127" y="1303794"/>
                  </a:lnTo>
                  <a:lnTo>
                    <a:pt x="6711086" y="1329613"/>
                  </a:lnTo>
                  <a:lnTo>
                    <a:pt x="6696507" y="1333011"/>
                  </a:lnTo>
                  <a:lnTo>
                    <a:pt x="6691552" y="133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9" name="object 6">
              <a:extLst>
                <a:ext uri="{FF2B5EF4-FFF2-40B4-BE49-F238E27FC236}">
                  <a16:creationId xmlns:a16="http://schemas.microsoft.com/office/drawing/2014/main" id="{463E0DE1-8F17-62FB-FF9F-DB2E0F0D11D2}"/>
                </a:ext>
              </a:extLst>
            </p:cNvPr>
            <p:cNvSpPr/>
            <p:nvPr/>
          </p:nvSpPr>
          <p:spPr>
            <a:xfrm>
              <a:off x="400049" y="4857749"/>
              <a:ext cx="6743700" cy="1295400"/>
            </a:xfrm>
            <a:custGeom>
              <a:avLst/>
              <a:gdLst/>
              <a:ahLst/>
              <a:cxnLst/>
              <a:rect l="l" t="t" r="r" b="b"/>
              <a:pathLst>
                <a:path w="6743700" h="1295400">
                  <a:moveTo>
                    <a:pt x="6672502" y="1295399"/>
                  </a:moveTo>
                  <a:lnTo>
                    <a:pt x="53397" y="1295399"/>
                  </a:lnTo>
                  <a:lnTo>
                    <a:pt x="49681" y="1294911"/>
                  </a:lnTo>
                  <a:lnTo>
                    <a:pt x="14085" y="1269543"/>
                  </a:lnTo>
                  <a:lnTo>
                    <a:pt x="366" y="1229158"/>
                  </a:lnTo>
                  <a:lnTo>
                    <a:pt x="0" y="1224203"/>
                  </a:lnTo>
                  <a:lnTo>
                    <a:pt x="0" y="12191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6672502" y="0"/>
                  </a:lnTo>
                  <a:lnTo>
                    <a:pt x="6713993" y="15621"/>
                  </a:lnTo>
                  <a:lnTo>
                    <a:pt x="6739813" y="51661"/>
                  </a:lnTo>
                  <a:lnTo>
                    <a:pt x="6743698" y="71196"/>
                  </a:lnTo>
                  <a:lnTo>
                    <a:pt x="6743698" y="1224203"/>
                  </a:lnTo>
                  <a:lnTo>
                    <a:pt x="6728077" y="1265694"/>
                  </a:lnTo>
                  <a:lnTo>
                    <a:pt x="6692036" y="1291513"/>
                  </a:lnTo>
                  <a:lnTo>
                    <a:pt x="6677457" y="1294911"/>
                  </a:lnTo>
                  <a:lnTo>
                    <a:pt x="6672502" y="12953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0" name="object 7">
              <a:extLst>
                <a:ext uri="{FF2B5EF4-FFF2-40B4-BE49-F238E27FC236}">
                  <a16:creationId xmlns:a16="http://schemas.microsoft.com/office/drawing/2014/main" id="{D44741F7-D485-BCAD-8634-CD549B2FEF0B}"/>
                </a:ext>
              </a:extLst>
            </p:cNvPr>
            <p:cNvSpPr/>
            <p:nvPr/>
          </p:nvSpPr>
          <p:spPr>
            <a:xfrm>
              <a:off x="380999" y="4858027"/>
              <a:ext cx="70485" cy="1295400"/>
            </a:xfrm>
            <a:custGeom>
              <a:avLst/>
              <a:gdLst/>
              <a:ahLst/>
              <a:cxnLst/>
              <a:rect l="l" t="t" r="r" b="b"/>
              <a:pathLst>
                <a:path w="70484" h="1295400">
                  <a:moveTo>
                    <a:pt x="70450" y="1294844"/>
                  </a:moveTo>
                  <a:lnTo>
                    <a:pt x="33857" y="1282291"/>
                  </a:lnTo>
                  <a:lnTo>
                    <a:pt x="5800" y="1248082"/>
                  </a:lnTo>
                  <a:lnTo>
                    <a:pt x="0" y="12189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218922"/>
                  </a:lnTo>
                  <a:lnTo>
                    <a:pt x="44514" y="1261263"/>
                  </a:lnTo>
                  <a:lnTo>
                    <a:pt x="66287" y="1293187"/>
                  </a:lnTo>
                  <a:lnTo>
                    <a:pt x="70450" y="129484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41" name="object 8">
              <a:extLst>
                <a:ext uri="{FF2B5EF4-FFF2-40B4-BE49-F238E27FC236}">
                  <a16:creationId xmlns:a16="http://schemas.microsoft.com/office/drawing/2014/main" id="{4212622F-F0B2-4A5C-13B9-335FDA7AD59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399" y="1295399"/>
              <a:ext cx="190499" cy="190499"/>
            </a:xfrm>
            <a:prstGeom prst="rect">
              <a:avLst/>
            </a:prstGeom>
          </p:spPr>
        </p:pic>
      </p:grpSp>
      <p:sp>
        <p:nvSpPr>
          <p:cNvPr id="4" name="object 9">
            <a:extLst>
              <a:ext uri="{FF2B5EF4-FFF2-40B4-BE49-F238E27FC236}">
                <a16:creationId xmlns:a16="http://schemas.microsoft.com/office/drawing/2014/main" id="{CA2E9D58-9562-3106-5CFF-820963CED350}"/>
              </a:ext>
            </a:extLst>
          </p:cNvPr>
          <p:cNvSpPr txBox="1"/>
          <p:nvPr/>
        </p:nvSpPr>
        <p:spPr>
          <a:xfrm>
            <a:off x="527051" y="1185081"/>
            <a:ext cx="6477635" cy="10166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</a:lstStyle>
          <a:p>
            <a:pPr marL="278765">
              <a:lnSpc>
                <a:spcPct val="100000"/>
              </a:lnSpc>
              <a:spcBef>
                <a:spcPts val="110"/>
              </a:spcBef>
            </a:pPr>
            <a:r>
              <a:rPr sz="1550" spc="-65" dirty="0">
                <a:solidFill>
                  <a:srgbClr val="374050"/>
                </a:solidFill>
                <a:latin typeface="Malgun Gothic"/>
                <a:cs typeface="Malgun Gothic"/>
              </a:rPr>
              <a:t>디지털</a:t>
            </a:r>
            <a:r>
              <a:rPr sz="1550" spc="-1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374050"/>
                </a:solidFill>
                <a:latin typeface="Malgun Gothic"/>
                <a:cs typeface="Malgun Gothic"/>
              </a:rPr>
              <a:t>트</a:t>
            </a:r>
            <a:r>
              <a:rPr sz="1550" spc="-10" dirty="0">
                <a:solidFill>
                  <a:srgbClr val="374050"/>
                </a:solidFill>
                <a:latin typeface="Malgun Gothic"/>
                <a:cs typeface="Malgun Gothic"/>
              </a:rPr>
              <a:t>윈이란</a:t>
            </a:r>
            <a:r>
              <a:rPr sz="1500" b="1" spc="-10" dirty="0">
                <a:solidFill>
                  <a:srgbClr val="374050"/>
                </a:solidFill>
                <a:latin typeface="Arial"/>
                <a:cs typeface="Arial"/>
              </a:rPr>
              <a:t>?</a:t>
            </a:r>
            <a:endParaRPr sz="1500" dirty="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30"/>
              </a:spcBef>
            </a:pP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물리적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공장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생산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라인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공급망의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가상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복제본을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만들어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실시간으로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성능을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시뮬레이션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</a:t>
            </a:r>
            <a:r>
              <a:rPr sz="1200" spc="-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4A5462"/>
                </a:solidFill>
                <a:latin typeface="Malgun Gothic"/>
                <a:cs typeface="Malgun Gothic"/>
              </a:rPr>
              <a:t>분석</a:t>
            </a:r>
            <a:r>
              <a:rPr sz="1200" spc="-25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예측하는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기술입니다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.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온톨로지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기반의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지식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체계를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활용하면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가상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세계에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의미를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부여하여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spc="-35" dirty="0">
                <a:solidFill>
                  <a:srgbClr val="4A5462"/>
                </a:solidFill>
                <a:latin typeface="Malgun Gothic"/>
                <a:cs typeface="Malgun Gothic"/>
              </a:rPr>
              <a:t>더욱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정교한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시뮬레이션을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수행할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수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Malgun Gothic"/>
                <a:cs typeface="Malgun Gothic"/>
              </a:rPr>
              <a:t>있습니다</a:t>
            </a:r>
            <a:r>
              <a:rPr sz="1200" spc="-10" dirty="0">
                <a:solidFill>
                  <a:srgbClr val="4A5462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5" name="object 10">
            <a:extLst>
              <a:ext uri="{FF2B5EF4-FFF2-40B4-BE49-F238E27FC236}">
                <a16:creationId xmlns:a16="http://schemas.microsoft.com/office/drawing/2014/main" id="{A542CA57-04AA-8507-9A17-047DF74B1E41}"/>
              </a:ext>
            </a:extLst>
          </p:cNvPr>
          <p:cNvGrpSpPr/>
          <p:nvPr/>
        </p:nvGrpSpPr>
        <p:grpSpPr>
          <a:xfrm>
            <a:off x="387350" y="2567669"/>
            <a:ext cx="3305175" cy="2038628"/>
            <a:chOff x="380999" y="2628899"/>
            <a:chExt cx="3305175" cy="2038628"/>
          </a:xfrm>
        </p:grpSpPr>
        <p:sp>
          <p:nvSpPr>
            <p:cNvPr id="35" name="object 11">
              <a:extLst>
                <a:ext uri="{FF2B5EF4-FFF2-40B4-BE49-F238E27FC236}">
                  <a16:creationId xmlns:a16="http://schemas.microsoft.com/office/drawing/2014/main" id="{D276688B-D9C6-25AE-4CF4-98AAE4E90D9B}"/>
                </a:ext>
              </a:extLst>
            </p:cNvPr>
            <p:cNvSpPr/>
            <p:nvPr/>
          </p:nvSpPr>
          <p:spPr>
            <a:xfrm>
              <a:off x="400049" y="2628899"/>
              <a:ext cx="3286125" cy="2038350"/>
            </a:xfrm>
            <a:custGeom>
              <a:avLst/>
              <a:gdLst/>
              <a:ahLst/>
              <a:cxnLst/>
              <a:rect l="l" t="t" r="r" b="b"/>
              <a:pathLst>
                <a:path w="3286125" h="2038350">
                  <a:moveTo>
                    <a:pt x="3214927" y="2038349"/>
                  </a:moveTo>
                  <a:lnTo>
                    <a:pt x="53397" y="2038349"/>
                  </a:lnTo>
                  <a:lnTo>
                    <a:pt x="49681" y="2037861"/>
                  </a:lnTo>
                  <a:lnTo>
                    <a:pt x="14085" y="2012492"/>
                  </a:lnTo>
                  <a:lnTo>
                    <a:pt x="366" y="1972107"/>
                  </a:lnTo>
                  <a:lnTo>
                    <a:pt x="0" y="1967153"/>
                  </a:lnTo>
                  <a:lnTo>
                    <a:pt x="0" y="196214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3214927" y="0"/>
                  </a:lnTo>
                  <a:lnTo>
                    <a:pt x="3256419" y="15621"/>
                  </a:lnTo>
                  <a:lnTo>
                    <a:pt x="3282238" y="51661"/>
                  </a:lnTo>
                  <a:lnTo>
                    <a:pt x="3286124" y="71196"/>
                  </a:lnTo>
                  <a:lnTo>
                    <a:pt x="3286124" y="1967153"/>
                  </a:lnTo>
                  <a:lnTo>
                    <a:pt x="3270502" y="2008643"/>
                  </a:lnTo>
                  <a:lnTo>
                    <a:pt x="3234462" y="2034463"/>
                  </a:lnTo>
                  <a:lnTo>
                    <a:pt x="3219883" y="2037861"/>
                  </a:lnTo>
                  <a:lnTo>
                    <a:pt x="3214927" y="203834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6" name="object 12">
              <a:extLst>
                <a:ext uri="{FF2B5EF4-FFF2-40B4-BE49-F238E27FC236}">
                  <a16:creationId xmlns:a16="http://schemas.microsoft.com/office/drawing/2014/main" id="{79509A29-1B27-0959-936B-43329A32BD8B}"/>
                </a:ext>
              </a:extLst>
            </p:cNvPr>
            <p:cNvSpPr/>
            <p:nvPr/>
          </p:nvSpPr>
          <p:spPr>
            <a:xfrm>
              <a:off x="380999" y="2629177"/>
              <a:ext cx="70485" cy="2038350"/>
            </a:xfrm>
            <a:custGeom>
              <a:avLst/>
              <a:gdLst/>
              <a:ahLst/>
              <a:cxnLst/>
              <a:rect l="l" t="t" r="r" b="b"/>
              <a:pathLst>
                <a:path w="70484" h="2038350">
                  <a:moveTo>
                    <a:pt x="70450" y="2037794"/>
                  </a:moveTo>
                  <a:lnTo>
                    <a:pt x="33857" y="2025241"/>
                  </a:lnTo>
                  <a:lnTo>
                    <a:pt x="5800" y="1991032"/>
                  </a:lnTo>
                  <a:lnTo>
                    <a:pt x="0" y="196187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961872"/>
                  </a:lnTo>
                  <a:lnTo>
                    <a:pt x="44514" y="2004214"/>
                  </a:lnTo>
                  <a:lnTo>
                    <a:pt x="66287" y="2036138"/>
                  </a:lnTo>
                  <a:lnTo>
                    <a:pt x="70450" y="2037794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37" name="object 13">
              <a:extLst>
                <a:ext uri="{FF2B5EF4-FFF2-40B4-BE49-F238E27FC236}">
                  <a16:creationId xmlns:a16="http://schemas.microsoft.com/office/drawing/2014/main" id="{957F8BFF-B119-2780-427B-58FB5612238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499" y="2828924"/>
              <a:ext cx="152399" cy="133349"/>
            </a:xfrm>
            <a:prstGeom prst="rect">
              <a:avLst/>
            </a:prstGeom>
          </p:spPr>
        </p:pic>
      </p:grpSp>
      <p:sp>
        <p:nvSpPr>
          <p:cNvPr id="6" name="object 14">
            <a:extLst>
              <a:ext uri="{FF2B5EF4-FFF2-40B4-BE49-F238E27FC236}">
                <a16:creationId xmlns:a16="http://schemas.microsoft.com/office/drawing/2014/main" id="{2FC578AB-6EB0-C41C-7E39-F53BB6CF443B}"/>
              </a:ext>
            </a:extLst>
          </p:cNvPr>
          <p:cNvSpPr txBox="1"/>
          <p:nvPr/>
        </p:nvSpPr>
        <p:spPr>
          <a:xfrm>
            <a:off x="793750" y="2710644"/>
            <a:ext cx="182943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F2937"/>
                </a:solidFill>
                <a:latin typeface="Malgun Gothic"/>
                <a:cs typeface="Malgun Gothic"/>
              </a:rPr>
              <a:t>공</a:t>
            </a:r>
            <a:r>
              <a:rPr sz="1250" spc="-25" dirty="0">
                <a:solidFill>
                  <a:srgbClr val="1F2937"/>
                </a:solidFill>
                <a:latin typeface="Malgun Gothic"/>
                <a:cs typeface="Malgun Gothic"/>
              </a:rPr>
              <a:t>정</a:t>
            </a:r>
            <a:r>
              <a:rPr sz="1250" spc="-11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250" spc="-40" dirty="0">
                <a:solidFill>
                  <a:srgbClr val="1F2937"/>
                </a:solidFill>
                <a:latin typeface="Malgun Gothic"/>
                <a:cs typeface="Malgun Gothic"/>
              </a:rPr>
              <a:t>시</a:t>
            </a:r>
            <a:r>
              <a:rPr sz="1200" spc="-40" dirty="0">
                <a:solidFill>
                  <a:srgbClr val="1F2937"/>
                </a:solidFill>
                <a:latin typeface="Malgun Gothic"/>
                <a:cs typeface="Malgun Gothic"/>
              </a:rPr>
              <a:t>뮬</a:t>
            </a:r>
            <a:r>
              <a:rPr sz="1250" spc="-40" dirty="0">
                <a:solidFill>
                  <a:srgbClr val="1F2937"/>
                </a:solidFill>
                <a:latin typeface="Malgun Gothic"/>
                <a:cs typeface="Malgun Gothic"/>
              </a:rPr>
              <a:t>레이션</a:t>
            </a:r>
            <a:r>
              <a:rPr sz="1250" spc="-11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250" spc="-50" dirty="0">
                <a:solidFill>
                  <a:srgbClr val="1F2937"/>
                </a:solidFill>
                <a:latin typeface="Malgun Gothic"/>
                <a:cs typeface="Malgun Gothic"/>
              </a:rPr>
              <a:t>및</a:t>
            </a:r>
            <a:r>
              <a:rPr sz="1250" spc="-11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250" spc="-35" dirty="0">
                <a:solidFill>
                  <a:srgbClr val="1F2937"/>
                </a:solidFill>
                <a:latin typeface="Malgun Gothic"/>
                <a:cs typeface="Malgun Gothic"/>
              </a:rPr>
              <a:t>최적화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32" name="object 17">
            <a:extLst>
              <a:ext uri="{FF2B5EF4-FFF2-40B4-BE49-F238E27FC236}">
                <a16:creationId xmlns:a16="http://schemas.microsoft.com/office/drawing/2014/main" id="{9E9FD29E-6D95-66C7-A2D3-8A46E77EB0B6}"/>
              </a:ext>
            </a:extLst>
          </p:cNvPr>
          <p:cNvSpPr/>
          <p:nvPr/>
        </p:nvSpPr>
        <p:spPr>
          <a:xfrm>
            <a:off x="577850" y="4205969"/>
            <a:ext cx="1038225" cy="247650"/>
          </a:xfrm>
          <a:custGeom>
            <a:avLst/>
            <a:gdLst/>
            <a:ahLst/>
            <a:cxnLst/>
            <a:rect l="l" t="t" r="r" b="b"/>
            <a:pathLst>
              <a:path w="1038225" h="247650">
                <a:moveTo>
                  <a:pt x="914399" y="247649"/>
                </a:moveTo>
                <a:lnTo>
                  <a:pt x="123824" y="247649"/>
                </a:lnTo>
                <a:lnTo>
                  <a:pt x="111626" y="247060"/>
                </a:lnTo>
                <a:lnTo>
                  <a:pt x="65395" y="233011"/>
                </a:lnTo>
                <a:lnTo>
                  <a:pt x="28058" y="202340"/>
                </a:lnTo>
                <a:lnTo>
                  <a:pt x="5301" y="159715"/>
                </a:lnTo>
                <a:lnTo>
                  <a:pt x="0" y="123824"/>
                </a:lnTo>
                <a:lnTo>
                  <a:pt x="589" y="111626"/>
                </a:lnTo>
                <a:lnTo>
                  <a:pt x="14637" y="65394"/>
                </a:lnTo>
                <a:lnTo>
                  <a:pt x="45309" y="28058"/>
                </a:lnTo>
                <a:lnTo>
                  <a:pt x="87934" y="5301"/>
                </a:lnTo>
                <a:lnTo>
                  <a:pt x="123824" y="0"/>
                </a:lnTo>
                <a:lnTo>
                  <a:pt x="914399" y="0"/>
                </a:lnTo>
                <a:lnTo>
                  <a:pt x="961785" y="9425"/>
                </a:lnTo>
                <a:lnTo>
                  <a:pt x="1001957" y="36267"/>
                </a:lnTo>
                <a:lnTo>
                  <a:pt x="1028799" y="76438"/>
                </a:lnTo>
                <a:lnTo>
                  <a:pt x="1038224" y="123824"/>
                </a:lnTo>
                <a:lnTo>
                  <a:pt x="1037635" y="136022"/>
                </a:lnTo>
                <a:lnTo>
                  <a:pt x="1023586" y="182254"/>
                </a:lnTo>
                <a:lnTo>
                  <a:pt x="992915" y="219590"/>
                </a:lnTo>
                <a:lnTo>
                  <a:pt x="950289" y="242347"/>
                </a:lnTo>
                <a:lnTo>
                  <a:pt x="914399" y="247649"/>
                </a:lnTo>
                <a:close/>
              </a:path>
            </a:pathLst>
          </a:custGeom>
          <a:solidFill>
            <a:srgbClr val="0FB981">
              <a:alpha val="10198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3" name="object 18">
            <a:extLst>
              <a:ext uri="{FF2B5EF4-FFF2-40B4-BE49-F238E27FC236}">
                <a16:creationId xmlns:a16="http://schemas.microsoft.com/office/drawing/2014/main" id="{C8185036-6BEA-B25B-13ED-9F089D048C09}"/>
              </a:ext>
            </a:extLst>
          </p:cNvPr>
          <p:cNvSpPr/>
          <p:nvPr/>
        </p:nvSpPr>
        <p:spPr>
          <a:xfrm>
            <a:off x="577850" y="4205969"/>
            <a:ext cx="1038225" cy="247650"/>
          </a:xfrm>
          <a:custGeom>
            <a:avLst/>
            <a:gdLst/>
            <a:ahLst/>
            <a:cxnLst/>
            <a:rect l="l" t="t" r="r" b="b"/>
            <a:pathLst>
              <a:path w="1038225" h="247650">
                <a:moveTo>
                  <a:pt x="914399" y="247649"/>
                </a:moveTo>
                <a:lnTo>
                  <a:pt x="123824" y="247649"/>
                </a:lnTo>
                <a:lnTo>
                  <a:pt x="111626" y="247060"/>
                </a:lnTo>
                <a:lnTo>
                  <a:pt x="65395" y="233011"/>
                </a:lnTo>
                <a:lnTo>
                  <a:pt x="28058" y="202340"/>
                </a:lnTo>
                <a:lnTo>
                  <a:pt x="5301" y="159715"/>
                </a:lnTo>
                <a:lnTo>
                  <a:pt x="0" y="123824"/>
                </a:lnTo>
                <a:lnTo>
                  <a:pt x="589" y="111626"/>
                </a:lnTo>
                <a:lnTo>
                  <a:pt x="14637" y="65394"/>
                </a:lnTo>
                <a:lnTo>
                  <a:pt x="45309" y="28058"/>
                </a:lnTo>
                <a:lnTo>
                  <a:pt x="87934" y="5301"/>
                </a:lnTo>
                <a:lnTo>
                  <a:pt x="123824" y="0"/>
                </a:lnTo>
                <a:lnTo>
                  <a:pt x="914399" y="0"/>
                </a:lnTo>
                <a:lnTo>
                  <a:pt x="926597" y="589"/>
                </a:lnTo>
                <a:lnTo>
                  <a:pt x="938561" y="2356"/>
                </a:lnTo>
                <a:lnTo>
                  <a:pt x="950290" y="5301"/>
                </a:lnTo>
                <a:lnTo>
                  <a:pt x="961785" y="9425"/>
                </a:lnTo>
                <a:lnTo>
                  <a:pt x="117329" y="9425"/>
                </a:lnTo>
                <a:lnTo>
                  <a:pt x="108886" y="10256"/>
                </a:lnTo>
                <a:lnTo>
                  <a:pt x="66563" y="24617"/>
                </a:lnTo>
                <a:lnTo>
                  <a:pt x="32957" y="54082"/>
                </a:lnTo>
                <a:lnTo>
                  <a:pt x="13185" y="94164"/>
                </a:lnTo>
                <a:lnTo>
                  <a:pt x="9524" y="116319"/>
                </a:lnTo>
                <a:lnTo>
                  <a:pt x="9524" y="131329"/>
                </a:lnTo>
                <a:lnTo>
                  <a:pt x="21097" y="174498"/>
                </a:lnTo>
                <a:lnTo>
                  <a:pt x="48309" y="209953"/>
                </a:lnTo>
                <a:lnTo>
                  <a:pt x="87017" y="232295"/>
                </a:lnTo>
                <a:lnTo>
                  <a:pt x="116319" y="238124"/>
                </a:lnTo>
                <a:lnTo>
                  <a:pt x="962062" y="238124"/>
                </a:lnTo>
                <a:lnTo>
                  <a:pt x="950289" y="242347"/>
                </a:lnTo>
                <a:lnTo>
                  <a:pt x="938560" y="245293"/>
                </a:lnTo>
                <a:lnTo>
                  <a:pt x="926596" y="247060"/>
                </a:lnTo>
                <a:lnTo>
                  <a:pt x="914399" y="247649"/>
                </a:lnTo>
                <a:close/>
              </a:path>
              <a:path w="1038225" h="247650">
                <a:moveTo>
                  <a:pt x="961995" y="238124"/>
                </a:moveTo>
                <a:lnTo>
                  <a:pt x="921904" y="238124"/>
                </a:lnTo>
                <a:lnTo>
                  <a:pt x="929337" y="237392"/>
                </a:lnTo>
                <a:lnTo>
                  <a:pt x="944059" y="234463"/>
                </a:lnTo>
                <a:lnTo>
                  <a:pt x="984141" y="214691"/>
                </a:lnTo>
                <a:lnTo>
                  <a:pt x="1013606" y="181085"/>
                </a:lnTo>
                <a:lnTo>
                  <a:pt x="1027967" y="138762"/>
                </a:lnTo>
                <a:lnTo>
                  <a:pt x="1028699" y="131329"/>
                </a:lnTo>
                <a:lnTo>
                  <a:pt x="1028699" y="116319"/>
                </a:lnTo>
                <a:lnTo>
                  <a:pt x="1017127" y="73149"/>
                </a:lnTo>
                <a:lnTo>
                  <a:pt x="989915" y="37695"/>
                </a:lnTo>
                <a:lnTo>
                  <a:pt x="951206" y="15352"/>
                </a:lnTo>
                <a:lnTo>
                  <a:pt x="920894" y="9425"/>
                </a:lnTo>
                <a:lnTo>
                  <a:pt x="961785" y="9425"/>
                </a:lnTo>
                <a:lnTo>
                  <a:pt x="1001957" y="36267"/>
                </a:lnTo>
                <a:lnTo>
                  <a:pt x="1028799" y="76438"/>
                </a:lnTo>
                <a:lnTo>
                  <a:pt x="1038224" y="123824"/>
                </a:lnTo>
                <a:lnTo>
                  <a:pt x="1037635" y="136022"/>
                </a:lnTo>
                <a:lnTo>
                  <a:pt x="1023586" y="182254"/>
                </a:lnTo>
                <a:lnTo>
                  <a:pt x="992915" y="219590"/>
                </a:lnTo>
                <a:lnTo>
                  <a:pt x="972829" y="233011"/>
                </a:lnTo>
                <a:lnTo>
                  <a:pt x="961995" y="238124"/>
                </a:lnTo>
                <a:close/>
              </a:path>
            </a:pathLst>
          </a:custGeom>
          <a:solidFill>
            <a:srgbClr val="0FB981">
              <a:alpha val="30198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pic>
        <p:nvPicPr>
          <p:cNvPr id="34" name="object 19">
            <a:extLst>
              <a:ext uri="{FF2B5EF4-FFF2-40B4-BE49-F238E27FC236}">
                <a16:creationId xmlns:a16="http://schemas.microsoft.com/office/drawing/2014/main" id="{6BC6B7EC-7F21-2FB9-9807-A77802BFA13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3575" y="4272644"/>
            <a:ext cx="114299" cy="114299"/>
          </a:xfrm>
          <a:prstGeom prst="rect">
            <a:avLst/>
          </a:prstGeom>
        </p:spPr>
      </p:pic>
      <p:sp>
        <p:nvSpPr>
          <p:cNvPr id="8" name="object 20">
            <a:extLst>
              <a:ext uri="{FF2B5EF4-FFF2-40B4-BE49-F238E27FC236}">
                <a16:creationId xmlns:a16="http://schemas.microsoft.com/office/drawing/2014/main" id="{ED1D22FE-E4A9-2FA2-3BB8-1DC203DABDDF}"/>
              </a:ext>
            </a:extLst>
          </p:cNvPr>
          <p:cNvSpPr txBox="1"/>
          <p:nvPr/>
        </p:nvSpPr>
        <p:spPr>
          <a:xfrm>
            <a:off x="601255" y="3021695"/>
            <a:ext cx="3091269" cy="1013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84150" indent="-1714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신규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설비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도입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전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병목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현상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4A5462"/>
                </a:solidFill>
                <a:latin typeface="Malgun Gothic"/>
                <a:cs typeface="Malgun Gothic"/>
              </a:rPr>
              <a:t>예측</a:t>
            </a:r>
            <a:endParaRPr sz="1200" dirty="0">
              <a:latin typeface="Malgun Gothic"/>
              <a:cs typeface="Malgun Gothic"/>
            </a:endParaRPr>
          </a:p>
          <a:p>
            <a:pPr marL="184150" marR="508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재고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수준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에너지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소비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물류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흐름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4A5462"/>
                </a:solidFill>
                <a:latin typeface="Malgun Gothic"/>
                <a:cs typeface="Malgun Gothic"/>
              </a:rPr>
              <a:t>최적 </a:t>
            </a:r>
            <a:r>
              <a:rPr sz="1200" spc="-50" dirty="0">
                <a:solidFill>
                  <a:srgbClr val="4A5462"/>
                </a:solidFill>
                <a:latin typeface="Malgun Gothic"/>
                <a:cs typeface="Malgun Gothic"/>
              </a:rPr>
              <a:t>화</a:t>
            </a:r>
            <a:endParaRPr sz="1200" dirty="0">
              <a:latin typeface="Malgun Gothic"/>
              <a:cs typeface="Malgun Gothic"/>
            </a:endParaRPr>
          </a:p>
          <a:p>
            <a:pPr marL="184150" indent="-171450">
              <a:lnSpc>
                <a:spcPct val="150000"/>
              </a:lnSpc>
              <a:spcBef>
                <a:spcPts val="96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대규모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투자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의사결정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정확도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4A5462"/>
                </a:solidFill>
                <a:latin typeface="Malgun Gothic"/>
                <a:cs typeface="Malgun Gothic"/>
              </a:rPr>
              <a:t>향상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9" name="object 21">
            <a:extLst>
              <a:ext uri="{FF2B5EF4-FFF2-40B4-BE49-F238E27FC236}">
                <a16:creationId xmlns:a16="http://schemas.microsoft.com/office/drawing/2014/main" id="{720DA204-DBA7-DF19-7226-6A58E61F0A28}"/>
              </a:ext>
            </a:extLst>
          </p:cNvPr>
          <p:cNvSpPr txBox="1"/>
          <p:nvPr/>
        </p:nvSpPr>
        <p:spPr>
          <a:xfrm>
            <a:off x="803275" y="4240895"/>
            <a:ext cx="742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5803C"/>
                </a:solidFill>
                <a:latin typeface="Malgun Gothic"/>
                <a:cs typeface="Malgun Gothic"/>
              </a:rPr>
              <a:t>의사결정</a:t>
            </a:r>
            <a:r>
              <a:rPr sz="900" spc="-70" dirty="0">
                <a:solidFill>
                  <a:srgbClr val="15803C"/>
                </a:solidFill>
                <a:latin typeface="Malgun Gothic"/>
                <a:cs typeface="Malgun Gothic"/>
              </a:rPr>
              <a:t> </a:t>
            </a:r>
            <a:r>
              <a:rPr sz="900" spc="-25" dirty="0">
                <a:solidFill>
                  <a:srgbClr val="15803C"/>
                </a:solidFill>
                <a:latin typeface="Malgun Gothic"/>
                <a:cs typeface="Malgun Gothic"/>
              </a:rPr>
              <a:t>지원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0" name="object 22">
            <a:extLst>
              <a:ext uri="{FF2B5EF4-FFF2-40B4-BE49-F238E27FC236}">
                <a16:creationId xmlns:a16="http://schemas.microsoft.com/office/drawing/2014/main" id="{7B3BF678-602F-C65B-DAFB-A8EA4E427403}"/>
              </a:ext>
            </a:extLst>
          </p:cNvPr>
          <p:cNvGrpSpPr/>
          <p:nvPr/>
        </p:nvGrpSpPr>
        <p:grpSpPr>
          <a:xfrm>
            <a:off x="3844925" y="2567669"/>
            <a:ext cx="3305175" cy="2038628"/>
            <a:chOff x="3838574" y="2628899"/>
            <a:chExt cx="3305175" cy="2038628"/>
          </a:xfrm>
        </p:grpSpPr>
        <p:sp>
          <p:nvSpPr>
            <p:cNvPr id="28" name="object 23">
              <a:extLst>
                <a:ext uri="{FF2B5EF4-FFF2-40B4-BE49-F238E27FC236}">
                  <a16:creationId xmlns:a16="http://schemas.microsoft.com/office/drawing/2014/main" id="{58778144-5501-2031-E15E-0CC7F2B1DEA6}"/>
                </a:ext>
              </a:extLst>
            </p:cNvPr>
            <p:cNvSpPr/>
            <p:nvPr/>
          </p:nvSpPr>
          <p:spPr>
            <a:xfrm>
              <a:off x="3857624" y="2628899"/>
              <a:ext cx="3286125" cy="2038350"/>
            </a:xfrm>
            <a:custGeom>
              <a:avLst/>
              <a:gdLst/>
              <a:ahLst/>
              <a:cxnLst/>
              <a:rect l="l" t="t" r="r" b="b"/>
              <a:pathLst>
                <a:path w="3286125" h="2038350">
                  <a:moveTo>
                    <a:pt x="3214928" y="2038349"/>
                  </a:moveTo>
                  <a:lnTo>
                    <a:pt x="53397" y="2038349"/>
                  </a:lnTo>
                  <a:lnTo>
                    <a:pt x="49680" y="2037861"/>
                  </a:lnTo>
                  <a:lnTo>
                    <a:pt x="14085" y="2012492"/>
                  </a:lnTo>
                  <a:lnTo>
                    <a:pt x="365" y="1972107"/>
                  </a:lnTo>
                  <a:lnTo>
                    <a:pt x="0" y="1967153"/>
                  </a:lnTo>
                  <a:lnTo>
                    <a:pt x="0" y="196214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19" y="2439"/>
                  </a:lnTo>
                  <a:lnTo>
                    <a:pt x="53397" y="0"/>
                  </a:lnTo>
                  <a:lnTo>
                    <a:pt x="3214928" y="0"/>
                  </a:lnTo>
                  <a:lnTo>
                    <a:pt x="3256418" y="15621"/>
                  </a:lnTo>
                  <a:lnTo>
                    <a:pt x="3282238" y="51661"/>
                  </a:lnTo>
                  <a:lnTo>
                    <a:pt x="3286124" y="71196"/>
                  </a:lnTo>
                  <a:lnTo>
                    <a:pt x="3286124" y="1967153"/>
                  </a:lnTo>
                  <a:lnTo>
                    <a:pt x="3270502" y="2008643"/>
                  </a:lnTo>
                  <a:lnTo>
                    <a:pt x="3234462" y="2034463"/>
                  </a:lnTo>
                  <a:lnTo>
                    <a:pt x="3219883" y="2037861"/>
                  </a:lnTo>
                  <a:lnTo>
                    <a:pt x="3214928" y="203834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9" name="object 24">
              <a:extLst>
                <a:ext uri="{FF2B5EF4-FFF2-40B4-BE49-F238E27FC236}">
                  <a16:creationId xmlns:a16="http://schemas.microsoft.com/office/drawing/2014/main" id="{044D2D17-8B1F-E33E-A1BC-61F59D3420B0}"/>
                </a:ext>
              </a:extLst>
            </p:cNvPr>
            <p:cNvSpPr/>
            <p:nvPr/>
          </p:nvSpPr>
          <p:spPr>
            <a:xfrm>
              <a:off x="3838574" y="2629177"/>
              <a:ext cx="70485" cy="2038350"/>
            </a:xfrm>
            <a:custGeom>
              <a:avLst/>
              <a:gdLst/>
              <a:ahLst/>
              <a:cxnLst/>
              <a:rect l="l" t="t" r="r" b="b"/>
              <a:pathLst>
                <a:path w="70485" h="2038350">
                  <a:moveTo>
                    <a:pt x="70449" y="2037794"/>
                  </a:moveTo>
                  <a:lnTo>
                    <a:pt x="33857" y="2025241"/>
                  </a:lnTo>
                  <a:lnTo>
                    <a:pt x="5800" y="1991032"/>
                  </a:lnTo>
                  <a:lnTo>
                    <a:pt x="0" y="196187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961872"/>
                  </a:lnTo>
                  <a:lnTo>
                    <a:pt x="44515" y="2004214"/>
                  </a:lnTo>
                  <a:lnTo>
                    <a:pt x="66287" y="2036138"/>
                  </a:lnTo>
                  <a:lnTo>
                    <a:pt x="70449" y="2037794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30" name="object 25">
              <a:extLst>
                <a:ext uri="{FF2B5EF4-FFF2-40B4-BE49-F238E27FC236}">
                  <a16:creationId xmlns:a16="http://schemas.microsoft.com/office/drawing/2014/main" id="{83F07A12-CFE1-A598-B377-ADC0E5299A2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29074" y="2819399"/>
              <a:ext cx="152399" cy="152399"/>
            </a:xfrm>
            <a:prstGeom prst="rect">
              <a:avLst/>
            </a:prstGeom>
          </p:spPr>
        </p:pic>
      </p:grpSp>
      <p:sp>
        <p:nvSpPr>
          <p:cNvPr id="11" name="object 26">
            <a:extLst>
              <a:ext uri="{FF2B5EF4-FFF2-40B4-BE49-F238E27FC236}">
                <a16:creationId xmlns:a16="http://schemas.microsoft.com/office/drawing/2014/main" id="{B90757FC-A47D-C1EF-10C4-719FDC84F17D}"/>
              </a:ext>
            </a:extLst>
          </p:cNvPr>
          <p:cNvSpPr txBox="1"/>
          <p:nvPr/>
        </p:nvSpPr>
        <p:spPr>
          <a:xfrm>
            <a:off x="4253111" y="2710644"/>
            <a:ext cx="202374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solidFill>
                  <a:srgbClr val="1F2937"/>
                </a:solidFill>
                <a:latin typeface="Malgun Gothic"/>
                <a:cs typeface="Malgun Gothic"/>
              </a:rPr>
              <a:t>예측</a:t>
            </a:r>
            <a:r>
              <a:rPr sz="1250" spc="-10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250" spc="-35" dirty="0">
                <a:solidFill>
                  <a:srgbClr val="1F2937"/>
                </a:solidFill>
                <a:latin typeface="Malgun Gothic"/>
                <a:cs typeface="Malgun Gothic"/>
              </a:rPr>
              <a:t>유지</a:t>
            </a:r>
            <a:r>
              <a:rPr sz="1150" spc="-35" dirty="0">
                <a:solidFill>
                  <a:srgbClr val="1F2937"/>
                </a:solidFill>
                <a:latin typeface="Malgun Gothic"/>
                <a:cs typeface="Malgun Gothic"/>
              </a:rPr>
              <a:t>보</a:t>
            </a:r>
            <a:r>
              <a:rPr sz="1250" spc="-35" dirty="0">
                <a:solidFill>
                  <a:srgbClr val="1F2937"/>
                </a:solidFill>
                <a:latin typeface="Malgun Gothic"/>
                <a:cs typeface="Malgun Gothic"/>
              </a:rPr>
              <a:t>수</a:t>
            </a:r>
            <a:r>
              <a:rPr sz="1250" spc="-10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250" spc="-50" dirty="0">
                <a:solidFill>
                  <a:srgbClr val="1F2937"/>
                </a:solidFill>
                <a:latin typeface="Malgun Gothic"/>
                <a:cs typeface="Malgun Gothic"/>
              </a:rPr>
              <a:t>및</a:t>
            </a:r>
            <a:r>
              <a:rPr sz="1250" spc="-10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250" spc="-50" dirty="0">
                <a:solidFill>
                  <a:srgbClr val="1F2937"/>
                </a:solidFill>
                <a:latin typeface="Malgun Gothic"/>
                <a:cs typeface="Malgun Gothic"/>
              </a:rPr>
              <a:t>설비</a:t>
            </a:r>
            <a:r>
              <a:rPr sz="1250" spc="-10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1F2937"/>
                </a:solidFill>
                <a:latin typeface="Malgun Gothic"/>
                <a:cs typeface="Malgun Gothic"/>
              </a:rPr>
              <a:t>지</a:t>
            </a:r>
            <a:r>
              <a:rPr sz="1200" spc="-25" dirty="0">
                <a:solidFill>
                  <a:srgbClr val="1F2937"/>
                </a:solidFill>
                <a:latin typeface="Malgun Gothic"/>
                <a:cs typeface="Malgun Gothic"/>
              </a:rPr>
              <a:t>능</a:t>
            </a:r>
            <a:r>
              <a:rPr sz="1250" spc="-25" dirty="0">
                <a:solidFill>
                  <a:srgbClr val="1F2937"/>
                </a:solidFill>
                <a:latin typeface="Malgun Gothic"/>
                <a:cs typeface="Malgun Gothic"/>
              </a:rPr>
              <a:t>화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25" name="object 29">
            <a:extLst>
              <a:ext uri="{FF2B5EF4-FFF2-40B4-BE49-F238E27FC236}">
                <a16:creationId xmlns:a16="http://schemas.microsoft.com/office/drawing/2014/main" id="{0E0CD8B2-5662-D39B-08AD-104732C2CB4C}"/>
              </a:ext>
            </a:extLst>
          </p:cNvPr>
          <p:cNvSpPr/>
          <p:nvPr/>
        </p:nvSpPr>
        <p:spPr>
          <a:xfrm>
            <a:off x="4035425" y="4205969"/>
            <a:ext cx="1304925" cy="247650"/>
          </a:xfrm>
          <a:custGeom>
            <a:avLst/>
            <a:gdLst/>
            <a:ahLst/>
            <a:cxnLst/>
            <a:rect l="l" t="t" r="r" b="b"/>
            <a:pathLst>
              <a:path w="1304925" h="247650">
                <a:moveTo>
                  <a:pt x="1181099" y="247649"/>
                </a:moveTo>
                <a:lnTo>
                  <a:pt x="123824" y="247649"/>
                </a:lnTo>
                <a:lnTo>
                  <a:pt x="111626" y="247060"/>
                </a:lnTo>
                <a:lnTo>
                  <a:pt x="65394" y="233011"/>
                </a:lnTo>
                <a:lnTo>
                  <a:pt x="28058" y="202340"/>
                </a:lnTo>
                <a:lnTo>
                  <a:pt x="5301" y="159715"/>
                </a:lnTo>
                <a:lnTo>
                  <a:pt x="0" y="123824"/>
                </a:lnTo>
                <a:lnTo>
                  <a:pt x="588" y="111626"/>
                </a:lnTo>
                <a:lnTo>
                  <a:pt x="14637" y="65394"/>
                </a:lnTo>
                <a:lnTo>
                  <a:pt x="45308" y="28058"/>
                </a:lnTo>
                <a:lnTo>
                  <a:pt x="87933" y="5301"/>
                </a:lnTo>
                <a:lnTo>
                  <a:pt x="123824" y="0"/>
                </a:lnTo>
                <a:lnTo>
                  <a:pt x="1181099" y="0"/>
                </a:lnTo>
                <a:lnTo>
                  <a:pt x="1228485" y="9425"/>
                </a:lnTo>
                <a:lnTo>
                  <a:pt x="1268657" y="36267"/>
                </a:lnTo>
                <a:lnTo>
                  <a:pt x="1295498" y="76438"/>
                </a:lnTo>
                <a:lnTo>
                  <a:pt x="1304924" y="123824"/>
                </a:lnTo>
                <a:lnTo>
                  <a:pt x="1304335" y="136022"/>
                </a:lnTo>
                <a:lnTo>
                  <a:pt x="1290286" y="182254"/>
                </a:lnTo>
                <a:lnTo>
                  <a:pt x="1259615" y="219590"/>
                </a:lnTo>
                <a:lnTo>
                  <a:pt x="1216989" y="242347"/>
                </a:lnTo>
                <a:lnTo>
                  <a:pt x="1181099" y="247649"/>
                </a:lnTo>
                <a:close/>
              </a:path>
            </a:pathLst>
          </a:custGeom>
          <a:solidFill>
            <a:srgbClr val="0FB981">
              <a:alpha val="10198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AC1AED0D-91FE-2626-B877-690DE659F6D4}"/>
              </a:ext>
            </a:extLst>
          </p:cNvPr>
          <p:cNvSpPr/>
          <p:nvPr/>
        </p:nvSpPr>
        <p:spPr>
          <a:xfrm>
            <a:off x="4035425" y="4205969"/>
            <a:ext cx="1304925" cy="247650"/>
          </a:xfrm>
          <a:custGeom>
            <a:avLst/>
            <a:gdLst/>
            <a:ahLst/>
            <a:cxnLst/>
            <a:rect l="l" t="t" r="r" b="b"/>
            <a:pathLst>
              <a:path w="1304925" h="247650">
                <a:moveTo>
                  <a:pt x="1181099" y="247649"/>
                </a:moveTo>
                <a:lnTo>
                  <a:pt x="123824" y="247649"/>
                </a:lnTo>
                <a:lnTo>
                  <a:pt x="111626" y="247060"/>
                </a:lnTo>
                <a:lnTo>
                  <a:pt x="65394" y="233011"/>
                </a:lnTo>
                <a:lnTo>
                  <a:pt x="28058" y="202340"/>
                </a:lnTo>
                <a:lnTo>
                  <a:pt x="5301" y="159715"/>
                </a:lnTo>
                <a:lnTo>
                  <a:pt x="0" y="123824"/>
                </a:lnTo>
                <a:lnTo>
                  <a:pt x="588" y="111626"/>
                </a:lnTo>
                <a:lnTo>
                  <a:pt x="14637" y="65394"/>
                </a:lnTo>
                <a:lnTo>
                  <a:pt x="45308" y="28058"/>
                </a:lnTo>
                <a:lnTo>
                  <a:pt x="87933" y="5301"/>
                </a:lnTo>
                <a:lnTo>
                  <a:pt x="123824" y="0"/>
                </a:lnTo>
                <a:lnTo>
                  <a:pt x="1181099" y="0"/>
                </a:lnTo>
                <a:lnTo>
                  <a:pt x="1193297" y="589"/>
                </a:lnTo>
                <a:lnTo>
                  <a:pt x="1205261" y="2356"/>
                </a:lnTo>
                <a:lnTo>
                  <a:pt x="1216990" y="5301"/>
                </a:lnTo>
                <a:lnTo>
                  <a:pt x="1228485" y="9425"/>
                </a:lnTo>
                <a:lnTo>
                  <a:pt x="117329" y="9425"/>
                </a:lnTo>
                <a:lnTo>
                  <a:pt x="108886" y="10256"/>
                </a:lnTo>
                <a:lnTo>
                  <a:pt x="66562" y="24617"/>
                </a:lnTo>
                <a:lnTo>
                  <a:pt x="32956" y="54082"/>
                </a:lnTo>
                <a:lnTo>
                  <a:pt x="13184" y="94164"/>
                </a:lnTo>
                <a:lnTo>
                  <a:pt x="9524" y="116319"/>
                </a:lnTo>
                <a:lnTo>
                  <a:pt x="9524" y="131329"/>
                </a:lnTo>
                <a:lnTo>
                  <a:pt x="21096" y="174498"/>
                </a:lnTo>
                <a:lnTo>
                  <a:pt x="48308" y="209953"/>
                </a:lnTo>
                <a:lnTo>
                  <a:pt x="87017" y="232295"/>
                </a:lnTo>
                <a:lnTo>
                  <a:pt x="116319" y="238124"/>
                </a:lnTo>
                <a:lnTo>
                  <a:pt x="1228761" y="238124"/>
                </a:lnTo>
                <a:lnTo>
                  <a:pt x="1216989" y="242347"/>
                </a:lnTo>
                <a:lnTo>
                  <a:pt x="1205259" y="245293"/>
                </a:lnTo>
                <a:lnTo>
                  <a:pt x="1193296" y="247060"/>
                </a:lnTo>
                <a:lnTo>
                  <a:pt x="1181099" y="247649"/>
                </a:lnTo>
                <a:close/>
              </a:path>
              <a:path w="1304925" h="247650">
                <a:moveTo>
                  <a:pt x="1228695" y="238124"/>
                </a:moveTo>
                <a:lnTo>
                  <a:pt x="1188604" y="238124"/>
                </a:lnTo>
                <a:lnTo>
                  <a:pt x="1196037" y="237392"/>
                </a:lnTo>
                <a:lnTo>
                  <a:pt x="1210758" y="234463"/>
                </a:lnTo>
                <a:lnTo>
                  <a:pt x="1250841" y="214691"/>
                </a:lnTo>
                <a:lnTo>
                  <a:pt x="1280305" y="181085"/>
                </a:lnTo>
                <a:lnTo>
                  <a:pt x="1294667" y="138762"/>
                </a:lnTo>
                <a:lnTo>
                  <a:pt x="1295399" y="131329"/>
                </a:lnTo>
                <a:lnTo>
                  <a:pt x="1295399" y="116319"/>
                </a:lnTo>
                <a:lnTo>
                  <a:pt x="1283825" y="73149"/>
                </a:lnTo>
                <a:lnTo>
                  <a:pt x="1256614" y="37695"/>
                </a:lnTo>
                <a:lnTo>
                  <a:pt x="1217905" y="15352"/>
                </a:lnTo>
                <a:lnTo>
                  <a:pt x="1187594" y="9425"/>
                </a:lnTo>
                <a:lnTo>
                  <a:pt x="1228485" y="9425"/>
                </a:lnTo>
                <a:lnTo>
                  <a:pt x="1268657" y="36267"/>
                </a:lnTo>
                <a:lnTo>
                  <a:pt x="1295499" y="76438"/>
                </a:lnTo>
                <a:lnTo>
                  <a:pt x="1304924" y="123824"/>
                </a:lnTo>
                <a:lnTo>
                  <a:pt x="1304335" y="136022"/>
                </a:lnTo>
                <a:lnTo>
                  <a:pt x="1290286" y="182254"/>
                </a:lnTo>
                <a:lnTo>
                  <a:pt x="1259615" y="219590"/>
                </a:lnTo>
                <a:lnTo>
                  <a:pt x="1239529" y="233011"/>
                </a:lnTo>
                <a:lnTo>
                  <a:pt x="1228695" y="238124"/>
                </a:lnTo>
                <a:close/>
              </a:path>
            </a:pathLst>
          </a:custGeom>
          <a:solidFill>
            <a:srgbClr val="0FB981">
              <a:alpha val="30198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pic>
        <p:nvPicPr>
          <p:cNvPr id="27" name="object 31">
            <a:extLst>
              <a:ext uri="{FF2B5EF4-FFF2-40B4-BE49-F238E27FC236}">
                <a16:creationId xmlns:a16="http://schemas.microsoft.com/office/drawing/2014/main" id="{EF2404D9-D94E-9EA0-E2DB-20E9E012210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1150" y="4272644"/>
            <a:ext cx="114299" cy="114299"/>
          </a:xfrm>
          <a:prstGeom prst="rect">
            <a:avLst/>
          </a:prstGeom>
        </p:spPr>
      </p:pic>
      <p:sp>
        <p:nvSpPr>
          <p:cNvPr id="13" name="object 32">
            <a:extLst>
              <a:ext uri="{FF2B5EF4-FFF2-40B4-BE49-F238E27FC236}">
                <a16:creationId xmlns:a16="http://schemas.microsoft.com/office/drawing/2014/main" id="{FBFB5722-D082-1208-5AEA-11C9DAA2B45F}"/>
              </a:ext>
            </a:extLst>
          </p:cNvPr>
          <p:cNvSpPr txBox="1"/>
          <p:nvPr/>
        </p:nvSpPr>
        <p:spPr>
          <a:xfrm>
            <a:off x="4067811" y="3021695"/>
            <a:ext cx="2878336" cy="104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IoT</a:t>
            </a:r>
            <a:r>
              <a:rPr sz="1200" spc="-3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센서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데이터로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고장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징후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사전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4A5462"/>
                </a:solidFill>
                <a:latin typeface="Malgun Gothic"/>
                <a:cs typeface="Malgun Gothic"/>
              </a:rPr>
              <a:t>파악</a:t>
            </a:r>
            <a:endParaRPr sz="1200" dirty="0">
              <a:latin typeface="Malgun Gothic"/>
              <a:cs typeface="Malgun Gothic"/>
            </a:endParaRPr>
          </a:p>
          <a:p>
            <a:pPr marL="184150" marR="5080" indent="-1714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온도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</a:t>
            </a:r>
            <a:r>
              <a:rPr sz="1200" spc="-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진동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전류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등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핵심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센서</a:t>
            </a:r>
            <a:r>
              <a:rPr sz="1200" spc="-95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데이터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spc="-50" dirty="0">
                <a:solidFill>
                  <a:srgbClr val="4A5462"/>
                </a:solidFill>
                <a:latin typeface="Malgun Gothic"/>
                <a:cs typeface="Malgun Gothic"/>
              </a:rPr>
              <a:t>모 </a:t>
            </a:r>
            <a:r>
              <a:rPr sz="1200" spc="-25" dirty="0">
                <a:solidFill>
                  <a:srgbClr val="4A5462"/>
                </a:solidFill>
                <a:latin typeface="Malgun Gothic"/>
                <a:cs typeface="Malgun Gothic"/>
              </a:rPr>
              <a:t>니터링</a:t>
            </a:r>
            <a:endParaRPr sz="1200" dirty="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96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필요한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시점에만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유지보수</a:t>
            </a:r>
            <a:r>
              <a:rPr sz="1200" spc="-9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4A5462"/>
                </a:solidFill>
                <a:latin typeface="Malgun Gothic"/>
                <a:cs typeface="Malgun Gothic"/>
              </a:rPr>
              <a:t>진행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14" name="object 33">
            <a:extLst>
              <a:ext uri="{FF2B5EF4-FFF2-40B4-BE49-F238E27FC236}">
                <a16:creationId xmlns:a16="http://schemas.microsoft.com/office/drawing/2014/main" id="{311C4197-88F8-D721-A9EC-6D9F43E0A5FE}"/>
              </a:ext>
            </a:extLst>
          </p:cNvPr>
          <p:cNvSpPr txBox="1"/>
          <p:nvPr/>
        </p:nvSpPr>
        <p:spPr>
          <a:xfrm>
            <a:off x="4262636" y="4240895"/>
            <a:ext cx="10039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5803C"/>
                </a:solidFill>
                <a:latin typeface="Malgun Gothic"/>
                <a:cs typeface="Malgun Gothic"/>
              </a:rPr>
              <a:t>설비</a:t>
            </a:r>
            <a:r>
              <a:rPr sz="900" spc="-70" dirty="0">
                <a:solidFill>
                  <a:srgbClr val="15803C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15803C"/>
                </a:solidFill>
                <a:latin typeface="Malgun Gothic"/>
                <a:cs typeface="Malgun Gothic"/>
              </a:rPr>
              <a:t>가동률</a:t>
            </a:r>
            <a:r>
              <a:rPr sz="900" spc="-70" dirty="0">
                <a:solidFill>
                  <a:srgbClr val="15803C"/>
                </a:solidFill>
                <a:latin typeface="Malgun Gothic"/>
                <a:cs typeface="Malgun Gothic"/>
              </a:rPr>
              <a:t> </a:t>
            </a:r>
            <a:r>
              <a:rPr sz="900" spc="-25" dirty="0">
                <a:solidFill>
                  <a:srgbClr val="15803C"/>
                </a:solidFill>
                <a:latin typeface="Malgun Gothic"/>
                <a:cs typeface="Malgun Gothic"/>
              </a:rPr>
              <a:t>극대화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5" name="object 34">
            <a:extLst>
              <a:ext uri="{FF2B5EF4-FFF2-40B4-BE49-F238E27FC236}">
                <a16:creationId xmlns:a16="http://schemas.microsoft.com/office/drawing/2014/main" id="{DF00CFB6-EA50-F387-D3D3-CA46A9829B99}"/>
              </a:ext>
            </a:extLst>
          </p:cNvPr>
          <p:cNvSpPr txBox="1"/>
          <p:nvPr/>
        </p:nvSpPr>
        <p:spPr>
          <a:xfrm>
            <a:off x="565151" y="4939494"/>
            <a:ext cx="67754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25" dirty="0">
                <a:solidFill>
                  <a:srgbClr val="1D40AF"/>
                </a:solidFill>
                <a:latin typeface="Malgun Gothic"/>
                <a:cs typeface="Malgun Gothic"/>
              </a:rPr>
              <a:t>성</a:t>
            </a:r>
            <a:r>
              <a:rPr sz="1200" spc="-25" dirty="0">
                <a:solidFill>
                  <a:srgbClr val="1D40AF"/>
                </a:solidFill>
                <a:latin typeface="Malgun Gothic"/>
                <a:cs typeface="Malgun Gothic"/>
              </a:rPr>
              <a:t>공</a:t>
            </a:r>
            <a:r>
              <a:rPr sz="1200" spc="-9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1D40AF"/>
                </a:solidFill>
                <a:latin typeface="Malgun Gothic"/>
                <a:cs typeface="Malgun Gothic"/>
              </a:rPr>
              <a:t>사례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16" name="object 35">
            <a:extLst>
              <a:ext uri="{FF2B5EF4-FFF2-40B4-BE49-F238E27FC236}">
                <a16:creationId xmlns:a16="http://schemas.microsoft.com/office/drawing/2014/main" id="{8A1D41C6-546A-E9AE-4C9A-CEC414C503A0}"/>
              </a:ext>
            </a:extLst>
          </p:cNvPr>
          <p:cNvSpPr txBox="1"/>
          <p:nvPr/>
        </p:nvSpPr>
        <p:spPr>
          <a:xfrm>
            <a:off x="565151" y="5204824"/>
            <a:ext cx="636778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독일의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한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제조업체는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디지털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트윈을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활용한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예측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유지보수로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유지보수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비용을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Arial"/>
                <a:cs typeface="Arial"/>
              </a:rPr>
              <a:t>20% </a:t>
            </a:r>
            <a:r>
              <a:rPr sz="1200" spc="-20" dirty="0">
                <a:solidFill>
                  <a:srgbClr val="1C4ED8"/>
                </a:solidFill>
                <a:latin typeface="Malgun Gothic"/>
                <a:cs typeface="Malgun Gothic"/>
              </a:rPr>
              <a:t>절감하고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생산</a:t>
            </a:r>
            <a:r>
              <a:rPr sz="1200" spc="-95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효율성을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Arial"/>
                <a:cs typeface="Arial"/>
              </a:rPr>
              <a:t>30%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향상시켰습니다</a:t>
            </a:r>
            <a:r>
              <a:rPr sz="1200" dirty="0">
                <a:solidFill>
                  <a:srgbClr val="1C4ED8"/>
                </a:solidFill>
                <a:latin typeface="Arial"/>
                <a:cs typeface="Arial"/>
              </a:rPr>
              <a:t>.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이는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대덕전자의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생산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안정성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및</a:t>
            </a:r>
            <a:r>
              <a:rPr sz="1200" spc="-95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납기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준수율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향상에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C4ED8"/>
                </a:solidFill>
                <a:latin typeface="Malgun Gothic"/>
                <a:cs typeface="Malgun Gothic"/>
              </a:rPr>
              <a:t>직접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적으로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C4ED8"/>
                </a:solidFill>
                <a:latin typeface="Malgun Gothic"/>
                <a:cs typeface="Malgun Gothic"/>
              </a:rPr>
              <a:t>기여할</a:t>
            </a:r>
            <a:r>
              <a:rPr sz="1200" spc="-90" dirty="0">
                <a:solidFill>
                  <a:srgbClr val="1C4ED8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1C4ED8"/>
                </a:solidFill>
                <a:latin typeface="Malgun Gothic"/>
                <a:cs typeface="Malgun Gothic"/>
              </a:rPr>
              <a:t>것입니다</a:t>
            </a:r>
            <a:r>
              <a:rPr sz="1200" spc="-10" dirty="0">
                <a:solidFill>
                  <a:srgbClr val="1C4ED8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7" name="object 36">
            <a:extLst>
              <a:ext uri="{FF2B5EF4-FFF2-40B4-BE49-F238E27FC236}">
                <a16:creationId xmlns:a16="http://schemas.microsoft.com/office/drawing/2014/main" id="{F550E3DD-E0A8-D2EC-C0DE-FA261BFB9B2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78700" y="1215119"/>
            <a:ext cx="4438650" cy="3619499"/>
          </a:xfrm>
          <a:prstGeom prst="rect">
            <a:avLst/>
          </a:prstGeom>
        </p:spPr>
      </p:pic>
      <p:sp>
        <p:nvSpPr>
          <p:cNvPr id="18" name="object 37">
            <a:extLst>
              <a:ext uri="{FF2B5EF4-FFF2-40B4-BE49-F238E27FC236}">
                <a16:creationId xmlns:a16="http://schemas.microsoft.com/office/drawing/2014/main" id="{C6C1D9E1-D04C-93FE-1AF4-75874C309571}"/>
              </a:ext>
            </a:extLst>
          </p:cNvPr>
          <p:cNvSpPr txBox="1"/>
          <p:nvPr/>
        </p:nvSpPr>
        <p:spPr>
          <a:xfrm>
            <a:off x="7522121" y="3796494"/>
            <a:ext cx="4026535" cy="877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AI </a:t>
            </a:r>
            <a:r>
              <a:rPr sz="1250" spc="-50" dirty="0">
                <a:solidFill>
                  <a:srgbClr val="FFFFFF"/>
                </a:solidFill>
                <a:latin typeface="Malgun Gothic"/>
                <a:cs typeface="Malgun Gothic"/>
              </a:rPr>
              <a:t>자율</a:t>
            </a:r>
            <a:r>
              <a:rPr sz="1250" spc="-1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50" spc="-50" dirty="0">
                <a:solidFill>
                  <a:srgbClr val="FFFFFF"/>
                </a:solidFill>
                <a:latin typeface="Malgun Gothic"/>
                <a:cs typeface="Malgun Gothic"/>
              </a:rPr>
              <a:t>제조</a:t>
            </a:r>
            <a:r>
              <a:rPr sz="1250" spc="-1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50" spc="-50" dirty="0">
                <a:solidFill>
                  <a:srgbClr val="FFFFFF"/>
                </a:solidFill>
                <a:latin typeface="Malgun Gothic"/>
                <a:cs typeface="Malgun Gothic"/>
              </a:rPr>
              <a:t>시스템의</a:t>
            </a:r>
            <a:r>
              <a:rPr sz="1250" spc="-1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Malgun Gothic"/>
                <a:cs typeface="Malgun Gothic"/>
              </a:rPr>
              <a:t>미래</a:t>
            </a:r>
            <a:endParaRPr sz="1250">
              <a:latin typeface="Malgun Gothic"/>
              <a:cs typeface="Malgun Gothic"/>
            </a:endParaRPr>
          </a:p>
          <a:p>
            <a:pPr marL="12700" marR="5080">
              <a:lnSpc>
                <a:spcPct val="119000"/>
              </a:lnSpc>
              <a:spcBef>
                <a:spcPts val="710"/>
              </a:spcBef>
            </a:pP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디지털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트윈은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단순히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공장을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가시화하는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것을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넘어</a:t>
            </a:r>
            <a:r>
              <a:rPr sz="1050" dirty="0">
                <a:solidFill>
                  <a:srgbClr val="D0D5DA"/>
                </a:solidFill>
                <a:latin typeface="Arial"/>
                <a:cs typeface="Arial"/>
              </a:rPr>
              <a:t>, </a:t>
            </a:r>
            <a:r>
              <a:rPr sz="1050" spc="-10" dirty="0">
                <a:solidFill>
                  <a:srgbClr val="D0D5DA"/>
                </a:solidFill>
                <a:latin typeface="Malgun Gothic"/>
                <a:cs typeface="Malgun Gothic"/>
              </a:rPr>
              <a:t>대덕전자의 </a:t>
            </a:r>
            <a:r>
              <a:rPr sz="1050" spc="-10" dirty="0">
                <a:solidFill>
                  <a:srgbClr val="D0D5DA"/>
                </a:solidFill>
                <a:latin typeface="Arial"/>
                <a:cs typeface="Arial"/>
              </a:rPr>
              <a:t>5,400</a:t>
            </a:r>
            <a:r>
              <a:rPr sz="1050" spc="-10" dirty="0">
                <a:solidFill>
                  <a:srgbClr val="D0D5DA"/>
                </a:solidFill>
                <a:latin typeface="Malgun Gothic"/>
                <a:cs typeface="Malgun Gothic"/>
              </a:rPr>
              <a:t>억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원</a:t>
            </a:r>
            <a:r>
              <a:rPr sz="1050" spc="-75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규모의</a:t>
            </a:r>
            <a:r>
              <a:rPr sz="1050" spc="-75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대형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투자에</a:t>
            </a:r>
            <a:r>
              <a:rPr sz="1050" spc="-75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대한</a:t>
            </a:r>
            <a:r>
              <a:rPr sz="1050" spc="-75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의사결정</a:t>
            </a:r>
            <a:r>
              <a:rPr sz="1050" spc="-75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정확도를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높이고</a:t>
            </a:r>
            <a:r>
              <a:rPr sz="1050" spc="-75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spc="-35" dirty="0">
                <a:solidFill>
                  <a:srgbClr val="D0D5DA"/>
                </a:solidFill>
                <a:latin typeface="Malgun Gothic"/>
                <a:cs typeface="Malgun Gothic"/>
              </a:rPr>
              <a:t>성공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확률을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제고하는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핵심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전략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D0D5DA"/>
                </a:solidFill>
                <a:latin typeface="Malgun Gothic"/>
                <a:cs typeface="Malgun Gothic"/>
              </a:rPr>
              <a:t>도구로</a:t>
            </a:r>
            <a:r>
              <a:rPr sz="1050" spc="-80" dirty="0">
                <a:solidFill>
                  <a:srgbClr val="D0D5DA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D0D5DA"/>
                </a:solidFill>
                <a:latin typeface="Malgun Gothic"/>
                <a:cs typeface="Malgun Gothic"/>
              </a:rPr>
              <a:t>기능합니다</a:t>
            </a:r>
            <a:r>
              <a:rPr sz="1050" spc="-10" dirty="0">
                <a:solidFill>
                  <a:srgbClr val="D0D5DA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9" name="object 38">
            <a:extLst>
              <a:ext uri="{FF2B5EF4-FFF2-40B4-BE49-F238E27FC236}">
                <a16:creationId xmlns:a16="http://schemas.microsoft.com/office/drawing/2014/main" id="{38853C10-1D71-78A0-151D-01888E8E21AC}"/>
              </a:ext>
            </a:extLst>
          </p:cNvPr>
          <p:cNvGrpSpPr/>
          <p:nvPr/>
        </p:nvGrpSpPr>
        <p:grpSpPr>
          <a:xfrm>
            <a:off x="7388226" y="5110845"/>
            <a:ext cx="4419599" cy="1333499"/>
            <a:chOff x="7381875" y="5000625"/>
            <a:chExt cx="4419599" cy="1333499"/>
          </a:xfrm>
        </p:grpSpPr>
        <p:pic>
          <p:nvPicPr>
            <p:cNvPr id="21" name="object 39">
              <a:extLst>
                <a:ext uri="{FF2B5EF4-FFF2-40B4-BE49-F238E27FC236}">
                  <a16:creationId xmlns:a16="http://schemas.microsoft.com/office/drawing/2014/main" id="{53A295FB-1CE3-22A7-7E96-00970793702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81875" y="5000625"/>
              <a:ext cx="4419599" cy="1333499"/>
            </a:xfrm>
            <a:prstGeom prst="rect">
              <a:avLst/>
            </a:prstGeom>
          </p:spPr>
        </p:pic>
        <p:sp>
          <p:nvSpPr>
            <p:cNvPr id="22" name="object 40">
              <a:extLst>
                <a:ext uri="{FF2B5EF4-FFF2-40B4-BE49-F238E27FC236}">
                  <a16:creationId xmlns:a16="http://schemas.microsoft.com/office/drawing/2014/main" id="{2AC01ABD-790F-AA1B-D8FC-F82A166E9229}"/>
                </a:ext>
              </a:extLst>
            </p:cNvPr>
            <p:cNvSpPr/>
            <p:nvPr/>
          </p:nvSpPr>
          <p:spPr>
            <a:xfrm>
              <a:off x="7534275" y="56102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2" y="457199"/>
                  </a:lnTo>
                  <a:lnTo>
                    <a:pt x="213643" y="456832"/>
                  </a:lnTo>
                  <a:lnTo>
                    <a:pt x="169404" y="449528"/>
                  </a:lnTo>
                  <a:lnTo>
                    <a:pt x="127440" y="433735"/>
                  </a:lnTo>
                  <a:lnTo>
                    <a:pt x="89364" y="410058"/>
                  </a:lnTo>
                  <a:lnTo>
                    <a:pt x="56638" y="379408"/>
                  </a:lnTo>
                  <a:lnTo>
                    <a:pt x="30521" y="342963"/>
                  </a:lnTo>
                  <a:lnTo>
                    <a:pt x="12016" y="302122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2" y="176658"/>
                  </a:lnTo>
                  <a:lnTo>
                    <a:pt x="20265" y="134200"/>
                  </a:lnTo>
                  <a:lnTo>
                    <a:pt x="42684" y="95370"/>
                  </a:lnTo>
                  <a:lnTo>
                    <a:pt x="72248" y="61660"/>
                  </a:lnTo>
                  <a:lnTo>
                    <a:pt x="107821" y="34365"/>
                  </a:lnTo>
                  <a:lnTo>
                    <a:pt x="148034" y="14535"/>
                  </a:lnTo>
                  <a:lnTo>
                    <a:pt x="191344" y="2931"/>
                  </a:lnTo>
                  <a:lnTo>
                    <a:pt x="221112" y="0"/>
                  </a:lnTo>
                  <a:lnTo>
                    <a:pt x="236086" y="0"/>
                  </a:lnTo>
                  <a:lnTo>
                    <a:pt x="280539" y="5852"/>
                  </a:lnTo>
                  <a:lnTo>
                    <a:pt x="322997" y="20265"/>
                  </a:lnTo>
                  <a:lnTo>
                    <a:pt x="361827" y="42684"/>
                  </a:lnTo>
                  <a:lnTo>
                    <a:pt x="395538" y="72248"/>
                  </a:lnTo>
                  <a:lnTo>
                    <a:pt x="422832" y="107820"/>
                  </a:lnTo>
                  <a:lnTo>
                    <a:pt x="442662" y="148035"/>
                  </a:lnTo>
                  <a:lnTo>
                    <a:pt x="454267" y="191344"/>
                  </a:lnTo>
                  <a:lnTo>
                    <a:pt x="457199" y="221112"/>
                  </a:lnTo>
                  <a:lnTo>
                    <a:pt x="457199" y="228599"/>
                  </a:lnTo>
                  <a:lnTo>
                    <a:pt x="457199" y="236086"/>
                  </a:lnTo>
                  <a:lnTo>
                    <a:pt x="451345" y="280539"/>
                  </a:lnTo>
                  <a:lnTo>
                    <a:pt x="436932" y="322997"/>
                  </a:lnTo>
                  <a:lnTo>
                    <a:pt x="414513" y="361827"/>
                  </a:lnTo>
                  <a:lnTo>
                    <a:pt x="384949" y="395538"/>
                  </a:lnTo>
                  <a:lnTo>
                    <a:pt x="349376" y="422832"/>
                  </a:lnTo>
                  <a:lnTo>
                    <a:pt x="309163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3" name="object 41">
              <a:extLst>
                <a:ext uri="{FF2B5EF4-FFF2-40B4-BE49-F238E27FC236}">
                  <a16:creationId xmlns:a16="http://schemas.microsoft.com/office/drawing/2014/main" id="{4A18E3E4-6707-3349-2EC8-C1CC395BFE40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19999" y="5686424"/>
              <a:ext cx="285749" cy="304799"/>
            </a:xfrm>
            <a:prstGeom prst="rect">
              <a:avLst/>
            </a:prstGeom>
          </p:spPr>
        </p:pic>
      </p:grpSp>
      <p:sp>
        <p:nvSpPr>
          <p:cNvPr id="20" name="object 42">
            <a:extLst>
              <a:ext uri="{FF2B5EF4-FFF2-40B4-BE49-F238E27FC236}">
                <a16:creationId xmlns:a16="http://schemas.microsoft.com/office/drawing/2014/main" id="{19F228AE-1773-0EF2-16D9-3E247B75C260}"/>
              </a:ext>
            </a:extLst>
          </p:cNvPr>
          <p:cNvSpPr txBox="1"/>
          <p:nvPr/>
        </p:nvSpPr>
        <p:spPr>
          <a:xfrm>
            <a:off x="7383462" y="5106082"/>
            <a:ext cx="4429125" cy="1343025"/>
          </a:xfrm>
          <a:prstGeom prst="rect">
            <a:avLst/>
          </a:prstGeom>
          <a:ln w="9524">
            <a:solidFill>
              <a:srgbClr val="E4E7EB"/>
            </a:solidFill>
          </a:ln>
        </p:spPr>
        <p:txBody>
          <a:bodyPr vert="horz" wrap="square" lIns="0" tIns="169545" rIns="0" bIns="0" rtlCol="0">
            <a:spAutoFit/>
          </a:bodyPr>
          <a:lstStyle>
            <a:defPPr>
              <a:defRPr kern="0"/>
            </a:defPPr>
          </a:lstStyle>
          <a:p>
            <a:pPr marL="160655" algn="just">
              <a:lnSpc>
                <a:spcPct val="100000"/>
              </a:lnSpc>
              <a:spcBef>
                <a:spcPts val="1335"/>
              </a:spcBef>
            </a:pPr>
            <a:r>
              <a:rPr sz="1400" spc="-65" dirty="0">
                <a:solidFill>
                  <a:srgbClr val="1F2937"/>
                </a:solidFill>
                <a:latin typeface="Malgun Gothic"/>
                <a:cs typeface="Malgun Gothic"/>
              </a:rPr>
              <a:t>자율</a:t>
            </a:r>
            <a:r>
              <a:rPr sz="1400" spc="-10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400" spc="-65" dirty="0">
                <a:solidFill>
                  <a:srgbClr val="1F2937"/>
                </a:solidFill>
                <a:latin typeface="Malgun Gothic"/>
                <a:cs typeface="Malgun Gothic"/>
              </a:rPr>
              <a:t>제조</a:t>
            </a:r>
            <a:r>
              <a:rPr sz="1400" spc="-9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400" spc="-65" dirty="0">
                <a:solidFill>
                  <a:srgbClr val="1F2937"/>
                </a:solidFill>
                <a:latin typeface="Malgun Gothic"/>
                <a:cs typeface="Malgun Gothic"/>
              </a:rPr>
              <a:t>시스템의</a:t>
            </a:r>
            <a:r>
              <a:rPr sz="1400" spc="-10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1F2937"/>
                </a:solidFill>
                <a:latin typeface="Malgun Gothic"/>
                <a:cs typeface="Malgun Gothic"/>
              </a:rPr>
              <a:t>궁극</a:t>
            </a:r>
            <a:r>
              <a:rPr sz="1400" spc="-25" dirty="0">
                <a:solidFill>
                  <a:srgbClr val="1F2937"/>
                </a:solidFill>
                <a:latin typeface="Malgun Gothic"/>
                <a:cs typeface="Malgun Gothic"/>
              </a:rPr>
              <a:t>적</a:t>
            </a:r>
            <a:r>
              <a:rPr sz="1400" spc="-9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1F2937"/>
                </a:solidFill>
                <a:latin typeface="Malgun Gothic"/>
                <a:cs typeface="Malgun Gothic"/>
              </a:rPr>
              <a:t>목</a:t>
            </a:r>
            <a:r>
              <a:rPr sz="1300" spc="-25" dirty="0">
                <a:solidFill>
                  <a:srgbClr val="1F2937"/>
                </a:solidFill>
                <a:latin typeface="Malgun Gothic"/>
                <a:cs typeface="Malgun Gothic"/>
              </a:rPr>
              <a:t>표</a:t>
            </a:r>
            <a:endParaRPr sz="1300">
              <a:latin typeface="Malgun Gothic"/>
              <a:cs typeface="Malgun Gothic"/>
            </a:endParaRPr>
          </a:p>
          <a:p>
            <a:pPr marL="770255" marR="162560" algn="just">
              <a:lnSpc>
                <a:spcPct val="125000"/>
              </a:lnSpc>
              <a:spcBef>
                <a:spcPts val="635"/>
              </a:spcBef>
            </a:pP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AI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와</a:t>
            </a:r>
            <a:r>
              <a:rPr sz="1200" spc="-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자동화가</a:t>
            </a:r>
            <a:r>
              <a:rPr sz="120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통합된</a:t>
            </a:r>
            <a:r>
              <a:rPr sz="120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시스템을</a:t>
            </a:r>
            <a:r>
              <a:rPr sz="1200" spc="-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통해</a:t>
            </a:r>
            <a:r>
              <a:rPr sz="120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생산</a:t>
            </a:r>
            <a:r>
              <a:rPr sz="120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전</a:t>
            </a:r>
            <a:r>
              <a:rPr sz="1200" spc="-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374050"/>
                </a:solidFill>
                <a:latin typeface="Malgun Gothic"/>
                <a:cs typeface="Malgun Gothic"/>
              </a:rPr>
              <a:t>과정에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서</a:t>
            </a:r>
            <a:r>
              <a:rPr sz="120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인간의</a:t>
            </a:r>
            <a:r>
              <a:rPr sz="120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개입을</a:t>
            </a:r>
            <a:r>
              <a:rPr sz="120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최소화하고</a:t>
            </a:r>
            <a:r>
              <a:rPr sz="120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최적의</a:t>
            </a:r>
            <a:r>
              <a:rPr sz="120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효율성을</a:t>
            </a:r>
            <a:r>
              <a:rPr sz="120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374050"/>
                </a:solidFill>
                <a:latin typeface="Malgun Gothic"/>
                <a:cs typeface="Malgun Gothic"/>
              </a:rPr>
              <a:t>달성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하는</a:t>
            </a:r>
            <a:r>
              <a:rPr sz="120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374050"/>
                </a:solidFill>
                <a:latin typeface="Malgun Gothic"/>
                <a:cs typeface="Malgun Gothic"/>
              </a:rPr>
              <a:t>것입니다</a:t>
            </a:r>
            <a:r>
              <a:rPr sz="1200" spc="-10" dirty="0">
                <a:solidFill>
                  <a:srgbClr val="374050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26">
            <a:extLst>
              <a:ext uri="{FF2B5EF4-FFF2-40B4-BE49-F238E27FC236}">
                <a16:creationId xmlns:a16="http://schemas.microsoft.com/office/drawing/2014/main" id="{1979585F-FF35-1052-A2EC-69A351687A0B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11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6">
            <a:extLst>
              <a:ext uri="{FF2B5EF4-FFF2-40B4-BE49-F238E27FC236}">
                <a16:creationId xmlns:a16="http://schemas.microsoft.com/office/drawing/2014/main" id="{191E9DF7-EF41-3A8F-725B-078B6041CF43}"/>
              </a:ext>
            </a:extLst>
          </p:cNvPr>
          <p:cNvSpPr txBox="1">
            <a:spLocks noGrp="1"/>
          </p:cNvSpPr>
          <p:nvPr/>
        </p:nvSpPr>
        <p:spPr>
          <a:xfrm>
            <a:off x="368157" y="380355"/>
            <a:ext cx="6483984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dirty="0"/>
              <a:t>3단계 AI 트랜스폼 로드맵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7D9409A1-FB3A-A6AD-9E2B-8A6675C43F78}"/>
              </a:ext>
            </a:extLst>
          </p:cNvPr>
          <p:cNvSpPr txBox="1"/>
          <p:nvPr/>
        </p:nvSpPr>
        <p:spPr>
          <a:xfrm>
            <a:off x="368156" y="1280245"/>
            <a:ext cx="1145568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대덕전자의 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AI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트랜스폼은 다음 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3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단계에 걸쳐 점진적으로 실행됩니다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. </a:t>
            </a: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각 단계는 이전 단계의 성과를 기반으로 다음 목표를 향해 나아가는 체계적인 구조를 가집니다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4" name="object 8">
            <a:extLst>
              <a:ext uri="{FF2B5EF4-FFF2-40B4-BE49-F238E27FC236}">
                <a16:creationId xmlns:a16="http://schemas.microsoft.com/office/drawing/2014/main" id="{BF6467DB-5F7C-DB9F-0EF6-1647C479CD5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407" y="6276521"/>
            <a:ext cx="190499" cy="152399"/>
          </a:xfrm>
          <a:prstGeom prst="rect">
            <a:avLst/>
          </a:prstGeom>
        </p:spPr>
      </p:pic>
      <p:sp>
        <p:nvSpPr>
          <p:cNvPr id="5" name="object 9">
            <a:extLst>
              <a:ext uri="{FF2B5EF4-FFF2-40B4-BE49-F238E27FC236}">
                <a16:creationId xmlns:a16="http://schemas.microsoft.com/office/drawing/2014/main" id="{8C413BB8-B9AF-8090-F9AD-D8AB6FF0D768}"/>
              </a:ext>
            </a:extLst>
          </p:cNvPr>
          <p:cNvSpPr txBox="1"/>
          <p:nvPr/>
        </p:nvSpPr>
        <p:spPr>
          <a:xfrm>
            <a:off x="544227" y="5985594"/>
            <a:ext cx="2927492" cy="4449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374050"/>
                </a:solidFill>
                <a:latin typeface="Malgun Gothic"/>
                <a:cs typeface="Malgun Gothic"/>
              </a:rPr>
              <a:t>성</a:t>
            </a:r>
            <a:r>
              <a:rPr sz="1050" dirty="0">
                <a:solidFill>
                  <a:srgbClr val="374050"/>
                </a:solidFill>
                <a:latin typeface="Malgun Gothic"/>
                <a:cs typeface="Malgun Gothic"/>
              </a:rPr>
              <a:t>공</a:t>
            </a:r>
            <a:r>
              <a:rPr sz="1100" dirty="0">
                <a:solidFill>
                  <a:srgbClr val="374050"/>
                </a:solidFill>
                <a:latin typeface="Malgun Gothic"/>
                <a:cs typeface="Malgun Gothic"/>
              </a:rPr>
              <a:t>적인 </a:t>
            </a:r>
            <a:r>
              <a:rPr sz="1050" b="1" dirty="0">
                <a:solidFill>
                  <a:srgbClr val="374050"/>
                </a:solidFill>
                <a:latin typeface="Arial"/>
                <a:cs typeface="Arial"/>
              </a:rPr>
              <a:t>AI </a:t>
            </a:r>
            <a:r>
              <a:rPr sz="1000" dirty="0">
                <a:solidFill>
                  <a:srgbClr val="374050"/>
                </a:solidFill>
                <a:latin typeface="Malgun Gothic"/>
                <a:cs typeface="Malgun Gothic"/>
              </a:rPr>
              <a:t>트</a:t>
            </a:r>
            <a:r>
              <a:rPr sz="1100" dirty="0">
                <a:solidFill>
                  <a:srgbClr val="374050"/>
                </a:solidFill>
                <a:latin typeface="Malgun Gothic"/>
                <a:cs typeface="Malgun Gothic"/>
              </a:rPr>
              <a:t>랜</a:t>
            </a:r>
            <a:r>
              <a:rPr sz="1000" dirty="0">
                <a:solidFill>
                  <a:srgbClr val="374050"/>
                </a:solidFill>
                <a:latin typeface="Malgun Gothic"/>
                <a:cs typeface="Malgun Gothic"/>
              </a:rPr>
              <a:t>스</a:t>
            </a:r>
            <a:r>
              <a:rPr sz="1050" dirty="0">
                <a:solidFill>
                  <a:srgbClr val="374050"/>
                </a:solidFill>
                <a:latin typeface="Malgun Gothic"/>
                <a:cs typeface="Malgun Gothic"/>
              </a:rPr>
              <a:t>폼</a:t>
            </a:r>
            <a:r>
              <a:rPr sz="1100" dirty="0">
                <a:solidFill>
                  <a:srgbClr val="374050"/>
                </a:solidFill>
                <a:latin typeface="Malgun Gothic"/>
                <a:cs typeface="Malgun Gothic"/>
              </a:rPr>
              <a:t>을 위한 핵심 </a:t>
            </a:r>
            <a:r>
              <a:rPr sz="1000" dirty="0">
                <a:solidFill>
                  <a:srgbClr val="374050"/>
                </a:solidFill>
                <a:latin typeface="Malgun Gothic"/>
                <a:cs typeface="Malgun Gothic"/>
              </a:rPr>
              <a:t>요</a:t>
            </a:r>
            <a:r>
              <a:rPr sz="1100" dirty="0">
                <a:solidFill>
                  <a:srgbClr val="374050"/>
                </a:solidFill>
                <a:latin typeface="Malgun Gothic"/>
                <a:cs typeface="Malgun Gothic"/>
              </a:rPr>
              <a:t>소</a:t>
            </a:r>
            <a:endParaRPr sz="1100" dirty="0">
              <a:latin typeface="Malgun Gothic"/>
              <a:cs typeface="Malgun Gothic"/>
            </a:endParaRPr>
          </a:p>
          <a:p>
            <a:pPr marL="278765">
              <a:lnSpc>
                <a:spcPct val="100000"/>
              </a:lnSpc>
              <a:spcBef>
                <a:spcPts val="830"/>
              </a:spcBef>
            </a:pPr>
            <a:r>
              <a:rPr sz="1050" dirty="0">
                <a:latin typeface="Malgun Gothic"/>
                <a:cs typeface="Malgun Gothic"/>
              </a:rPr>
              <a:t>경영진의 강력한 의지</a:t>
            </a:r>
          </a:p>
        </p:txBody>
      </p:sp>
      <p:grpSp>
        <p:nvGrpSpPr>
          <p:cNvPr id="6" name="object 10">
            <a:extLst>
              <a:ext uri="{FF2B5EF4-FFF2-40B4-BE49-F238E27FC236}">
                <a16:creationId xmlns:a16="http://schemas.microsoft.com/office/drawing/2014/main" id="{D86CFE9F-0D72-B40F-CCB1-06947C66CCC9}"/>
              </a:ext>
            </a:extLst>
          </p:cNvPr>
          <p:cNvGrpSpPr/>
          <p:nvPr/>
        </p:nvGrpSpPr>
        <p:grpSpPr>
          <a:xfrm>
            <a:off x="428482" y="5522044"/>
            <a:ext cx="9972674" cy="952499"/>
            <a:chOff x="428624" y="5524499"/>
            <a:chExt cx="9972674" cy="952499"/>
          </a:xfrm>
        </p:grpSpPr>
        <p:pic>
          <p:nvPicPr>
            <p:cNvPr id="56" name="object 11">
              <a:extLst>
                <a:ext uri="{FF2B5EF4-FFF2-40B4-BE49-F238E27FC236}">
                  <a16:creationId xmlns:a16="http://schemas.microsoft.com/office/drawing/2014/main" id="{94F81D00-61EF-D846-08C4-82689247766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6699" y="6286499"/>
              <a:ext cx="190499" cy="152399"/>
            </a:xfrm>
            <a:prstGeom prst="rect">
              <a:avLst/>
            </a:prstGeom>
          </p:spPr>
        </p:pic>
        <p:pic>
          <p:nvPicPr>
            <p:cNvPr id="57" name="object 12">
              <a:extLst>
                <a:ext uri="{FF2B5EF4-FFF2-40B4-BE49-F238E27FC236}">
                  <a16:creationId xmlns:a16="http://schemas.microsoft.com/office/drawing/2014/main" id="{D29F17CA-BE0C-E25B-5029-76237F8BA28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1849" y="6324599"/>
              <a:ext cx="152399" cy="152399"/>
            </a:xfrm>
            <a:prstGeom prst="rect">
              <a:avLst/>
            </a:prstGeom>
          </p:spPr>
        </p:pic>
        <p:pic>
          <p:nvPicPr>
            <p:cNvPr id="58" name="object 13">
              <a:extLst>
                <a:ext uri="{FF2B5EF4-FFF2-40B4-BE49-F238E27FC236}">
                  <a16:creationId xmlns:a16="http://schemas.microsoft.com/office/drawing/2014/main" id="{DE8E4D98-B954-B07D-6301-FA7FB7ADFB9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8899" y="6315074"/>
              <a:ext cx="152399" cy="152399"/>
            </a:xfrm>
            <a:prstGeom prst="rect">
              <a:avLst/>
            </a:prstGeom>
          </p:spPr>
        </p:pic>
        <p:pic>
          <p:nvPicPr>
            <p:cNvPr id="59" name="object 14">
              <a:extLst>
                <a:ext uri="{FF2B5EF4-FFF2-40B4-BE49-F238E27FC236}">
                  <a16:creationId xmlns:a16="http://schemas.microsoft.com/office/drawing/2014/main" id="{50C652AF-B25F-0A77-65EC-D611EFF8984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624" y="5524499"/>
              <a:ext cx="152399" cy="152399"/>
            </a:xfrm>
            <a:prstGeom prst="rect">
              <a:avLst/>
            </a:prstGeom>
          </p:spPr>
        </p:pic>
      </p:grpSp>
      <p:sp>
        <p:nvSpPr>
          <p:cNvPr id="7" name="object 15">
            <a:extLst>
              <a:ext uri="{FF2B5EF4-FFF2-40B4-BE49-F238E27FC236}">
                <a16:creationId xmlns:a16="http://schemas.microsoft.com/office/drawing/2014/main" id="{00DB2D92-5461-44BA-7824-751E72567868}"/>
              </a:ext>
            </a:extLst>
          </p:cNvPr>
          <p:cNvSpPr txBox="1"/>
          <p:nvPr/>
        </p:nvSpPr>
        <p:spPr>
          <a:xfrm>
            <a:off x="4331598" y="6261820"/>
            <a:ext cx="1383401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Malgun Gothic"/>
                <a:cs typeface="Malgun Gothic"/>
              </a:rPr>
              <a:t>외부 협력 강화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7A637DCC-7355-C411-1DC1-46A9AE3AED23}"/>
              </a:ext>
            </a:extLst>
          </p:cNvPr>
          <p:cNvSpPr txBox="1"/>
          <p:nvPr/>
        </p:nvSpPr>
        <p:spPr>
          <a:xfrm>
            <a:off x="7443028" y="6267752"/>
            <a:ext cx="1325209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Malgun Gothic"/>
                <a:cs typeface="Malgun Gothic"/>
              </a:rPr>
              <a:t>전문 인력 양성</a:t>
            </a:r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C6DD1B99-431C-0C56-8090-60BE36D8C19D}"/>
              </a:ext>
            </a:extLst>
          </p:cNvPr>
          <p:cNvSpPr txBox="1"/>
          <p:nvPr/>
        </p:nvSpPr>
        <p:spPr>
          <a:xfrm>
            <a:off x="10443813" y="6302481"/>
            <a:ext cx="138003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Malgun Gothic"/>
                <a:cs typeface="Malgun Gothic"/>
              </a:rPr>
              <a:t>정부 지원 사업 활용</a:t>
            </a: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C112E4BF-58CC-953C-8839-D448B6F453DC}"/>
              </a:ext>
            </a:extLst>
          </p:cNvPr>
          <p:cNvSpPr txBox="1"/>
          <p:nvPr/>
        </p:nvSpPr>
        <p:spPr>
          <a:xfrm>
            <a:off x="368157" y="5718895"/>
            <a:ext cx="603393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A5462"/>
                </a:solidFill>
                <a:latin typeface="Arial"/>
                <a:cs typeface="Arial"/>
              </a:rPr>
              <a:t>2025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11" name="object 19">
            <a:extLst>
              <a:ext uri="{FF2B5EF4-FFF2-40B4-BE49-F238E27FC236}">
                <a16:creationId xmlns:a16="http://schemas.microsoft.com/office/drawing/2014/main" id="{C78D1689-3200-E90F-809A-86401893A28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33707" y="5579194"/>
            <a:ext cx="152400" cy="152399"/>
          </a:xfrm>
          <a:prstGeom prst="rect">
            <a:avLst/>
          </a:prstGeom>
        </p:spPr>
      </p:pic>
      <p:sp>
        <p:nvSpPr>
          <p:cNvPr id="12" name="object 20">
            <a:extLst>
              <a:ext uri="{FF2B5EF4-FFF2-40B4-BE49-F238E27FC236}">
                <a16:creationId xmlns:a16="http://schemas.microsoft.com/office/drawing/2014/main" id="{A79442DF-0FAE-F15D-DBF4-63ACF17AB828}"/>
              </a:ext>
            </a:extLst>
          </p:cNvPr>
          <p:cNvSpPr txBox="1"/>
          <p:nvPr/>
        </p:nvSpPr>
        <p:spPr>
          <a:xfrm>
            <a:off x="4071150" y="5756995"/>
            <a:ext cx="2800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A5462"/>
                </a:solidFill>
                <a:latin typeface="Arial"/>
                <a:cs typeface="Arial"/>
              </a:rPr>
              <a:t>2027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13" name="object 21">
            <a:extLst>
              <a:ext uri="{FF2B5EF4-FFF2-40B4-BE49-F238E27FC236}">
                <a16:creationId xmlns:a16="http://schemas.microsoft.com/office/drawing/2014/main" id="{97897C4B-7A9A-3EAD-59B6-18199786543B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38932" y="5579194"/>
            <a:ext cx="152399" cy="152399"/>
          </a:xfrm>
          <a:prstGeom prst="rect">
            <a:avLst/>
          </a:prstGeom>
        </p:spPr>
      </p:pic>
      <p:sp>
        <p:nvSpPr>
          <p:cNvPr id="14" name="object 22">
            <a:extLst>
              <a:ext uri="{FF2B5EF4-FFF2-40B4-BE49-F238E27FC236}">
                <a16:creationId xmlns:a16="http://schemas.microsoft.com/office/drawing/2014/main" id="{3B1E26F2-E206-5487-8BC5-1EBDF05A82F0}"/>
              </a:ext>
            </a:extLst>
          </p:cNvPr>
          <p:cNvSpPr txBox="1"/>
          <p:nvPr/>
        </p:nvSpPr>
        <p:spPr>
          <a:xfrm>
            <a:off x="7774143" y="5756995"/>
            <a:ext cx="2800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A5462"/>
                </a:solidFill>
                <a:latin typeface="Arial"/>
                <a:cs typeface="Arial"/>
              </a:rPr>
              <a:t>2029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5" name="object 23">
            <a:extLst>
              <a:ext uri="{FF2B5EF4-FFF2-40B4-BE49-F238E27FC236}">
                <a16:creationId xmlns:a16="http://schemas.microsoft.com/office/drawing/2014/main" id="{58B401C7-8282-55C1-76F9-0332AB390CE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91632" y="5579194"/>
            <a:ext cx="152399" cy="152399"/>
          </a:xfrm>
          <a:prstGeom prst="rect">
            <a:avLst/>
          </a:prstGeom>
        </p:spPr>
      </p:pic>
      <p:sp>
        <p:nvSpPr>
          <p:cNvPr id="16" name="object 24">
            <a:extLst>
              <a:ext uri="{FF2B5EF4-FFF2-40B4-BE49-F238E27FC236}">
                <a16:creationId xmlns:a16="http://schemas.microsoft.com/office/drawing/2014/main" id="{C076D203-A347-4698-A2B3-B31611AAECEF}"/>
              </a:ext>
            </a:extLst>
          </p:cNvPr>
          <p:cNvSpPr txBox="1"/>
          <p:nvPr/>
        </p:nvSpPr>
        <p:spPr>
          <a:xfrm>
            <a:off x="10315084" y="5756995"/>
            <a:ext cx="34671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A5462"/>
                </a:solidFill>
                <a:latin typeface="Arial"/>
                <a:cs typeface="Arial"/>
              </a:rPr>
              <a:t>2030+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7" name="object 25">
            <a:extLst>
              <a:ext uri="{FF2B5EF4-FFF2-40B4-BE49-F238E27FC236}">
                <a16:creationId xmlns:a16="http://schemas.microsoft.com/office/drawing/2014/main" id="{20225926-CBCD-FD72-8FE3-993E7E0F36AC}"/>
              </a:ext>
            </a:extLst>
          </p:cNvPr>
          <p:cNvGrpSpPr/>
          <p:nvPr/>
        </p:nvGrpSpPr>
        <p:grpSpPr>
          <a:xfrm>
            <a:off x="380857" y="1712045"/>
            <a:ext cx="3705503" cy="3790949"/>
            <a:chOff x="380999" y="1905000"/>
            <a:chExt cx="3705503" cy="3790949"/>
          </a:xfrm>
        </p:grpSpPr>
        <p:sp>
          <p:nvSpPr>
            <p:cNvPr id="51" name="object 27">
              <a:extLst>
                <a:ext uri="{FF2B5EF4-FFF2-40B4-BE49-F238E27FC236}">
                  <a16:creationId xmlns:a16="http://schemas.microsoft.com/office/drawing/2014/main" id="{D74930BD-B033-1DA4-5731-2B063BCAAD84}"/>
                </a:ext>
              </a:extLst>
            </p:cNvPr>
            <p:cNvSpPr/>
            <p:nvPr/>
          </p:nvSpPr>
          <p:spPr>
            <a:xfrm>
              <a:off x="380999" y="1924049"/>
              <a:ext cx="3705225" cy="3771900"/>
            </a:xfrm>
            <a:custGeom>
              <a:avLst/>
              <a:gdLst/>
              <a:ahLst/>
              <a:cxnLst/>
              <a:rect l="l" t="t" r="r" b="b"/>
              <a:pathLst>
                <a:path w="3705225" h="3771900">
                  <a:moveTo>
                    <a:pt x="3634027" y="3771899"/>
                  </a:moveTo>
                  <a:lnTo>
                    <a:pt x="71196" y="3771899"/>
                  </a:lnTo>
                  <a:lnTo>
                    <a:pt x="66241" y="3771411"/>
                  </a:lnTo>
                  <a:lnTo>
                    <a:pt x="29705" y="3756277"/>
                  </a:lnTo>
                  <a:lnTo>
                    <a:pt x="3885" y="3720237"/>
                  </a:lnTo>
                  <a:lnTo>
                    <a:pt x="0" y="3700702"/>
                  </a:lnTo>
                  <a:lnTo>
                    <a:pt x="0" y="369569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634027" y="0"/>
                  </a:lnTo>
                  <a:lnTo>
                    <a:pt x="3675519" y="11716"/>
                  </a:lnTo>
                  <a:lnTo>
                    <a:pt x="3702784" y="42320"/>
                  </a:lnTo>
                  <a:lnTo>
                    <a:pt x="3705224" y="53397"/>
                  </a:lnTo>
                  <a:lnTo>
                    <a:pt x="3705224" y="3700702"/>
                  </a:lnTo>
                  <a:lnTo>
                    <a:pt x="3689602" y="3742193"/>
                  </a:lnTo>
                  <a:lnTo>
                    <a:pt x="3653562" y="3768013"/>
                  </a:lnTo>
                  <a:lnTo>
                    <a:pt x="3638983" y="3771411"/>
                  </a:lnTo>
                  <a:lnTo>
                    <a:pt x="3634027" y="3771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52" name="object 28">
              <a:extLst>
                <a:ext uri="{FF2B5EF4-FFF2-40B4-BE49-F238E27FC236}">
                  <a16:creationId xmlns:a16="http://schemas.microsoft.com/office/drawing/2014/main" id="{F127CA82-1BA0-46B1-798C-5128E47B4C10}"/>
                </a:ext>
              </a:extLst>
            </p:cNvPr>
            <p:cNvSpPr/>
            <p:nvPr/>
          </p:nvSpPr>
          <p:spPr>
            <a:xfrm>
              <a:off x="381277" y="1905000"/>
              <a:ext cx="3705225" cy="70485"/>
            </a:xfrm>
            <a:custGeom>
              <a:avLst/>
              <a:gdLst/>
              <a:ahLst/>
              <a:cxnLst/>
              <a:rect l="l" t="t" r="r" b="b"/>
              <a:pathLst>
                <a:path w="3705225" h="70485">
                  <a:moveTo>
                    <a:pt x="0" y="70449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3628747" y="0"/>
                  </a:lnTo>
                  <a:lnTo>
                    <a:pt x="3671089" y="12829"/>
                  </a:lnTo>
                  <a:lnTo>
                    <a:pt x="3694655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3705225" h="70485">
                  <a:moveTo>
                    <a:pt x="3704669" y="70449"/>
                  </a:moveTo>
                  <a:lnTo>
                    <a:pt x="3671089" y="44514"/>
                  </a:lnTo>
                  <a:lnTo>
                    <a:pt x="3628747" y="38099"/>
                  </a:lnTo>
                  <a:lnTo>
                    <a:pt x="3694655" y="38099"/>
                  </a:lnTo>
                  <a:lnTo>
                    <a:pt x="3704584" y="68693"/>
                  </a:lnTo>
                  <a:lnTo>
                    <a:pt x="3704669" y="70449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53" name="object 29">
              <a:extLst>
                <a:ext uri="{FF2B5EF4-FFF2-40B4-BE49-F238E27FC236}">
                  <a16:creationId xmlns:a16="http://schemas.microsoft.com/office/drawing/2014/main" id="{36B59A77-A0D5-21CB-AD55-9D5932AA79CD}"/>
                </a:ext>
              </a:extLst>
            </p:cNvPr>
            <p:cNvSpPr/>
            <p:nvPr/>
          </p:nvSpPr>
          <p:spPr>
            <a:xfrm>
              <a:off x="609599" y="2171699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7" y="644412"/>
                  </a:lnTo>
                  <a:lnTo>
                    <a:pt x="176223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1" y="551128"/>
                  </a:lnTo>
                  <a:lnTo>
                    <a:pt x="56183" y="518588"/>
                  </a:lnTo>
                  <a:lnTo>
                    <a:pt x="35595" y="483261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8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4"/>
                  </a:lnTo>
                  <a:lnTo>
                    <a:pt x="615029" y="155022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4" y="268336"/>
                  </a:lnTo>
                  <a:lnTo>
                    <a:pt x="665847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3" y="460951"/>
                  </a:lnTo>
                  <a:lnTo>
                    <a:pt x="623438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1" y="634742"/>
                  </a:lnTo>
                  <a:lnTo>
                    <a:pt x="437951" y="649923"/>
                  </a:lnTo>
                  <a:lnTo>
                    <a:pt x="398413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54" name="object 30">
              <a:extLst>
                <a:ext uri="{FF2B5EF4-FFF2-40B4-BE49-F238E27FC236}">
                  <a16:creationId xmlns:a16="http://schemas.microsoft.com/office/drawing/2014/main" id="{542BD1C4-E851-D058-D2F1-D9098685338D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0099" y="2333624"/>
              <a:ext cx="285749" cy="342899"/>
            </a:xfrm>
            <a:prstGeom prst="rect">
              <a:avLst/>
            </a:prstGeom>
          </p:spPr>
        </p:pic>
        <p:sp>
          <p:nvSpPr>
            <p:cNvPr id="55" name="object 31">
              <a:extLst>
                <a:ext uri="{FF2B5EF4-FFF2-40B4-BE49-F238E27FC236}">
                  <a16:creationId xmlns:a16="http://schemas.microsoft.com/office/drawing/2014/main" id="{AC6E8653-3072-6615-3C59-40CD6942DAA7}"/>
                </a:ext>
              </a:extLst>
            </p:cNvPr>
            <p:cNvSpPr/>
            <p:nvPr/>
          </p:nvSpPr>
          <p:spPr>
            <a:xfrm>
              <a:off x="3086099" y="2409824"/>
              <a:ext cx="771525" cy="209550"/>
            </a:xfrm>
            <a:custGeom>
              <a:avLst/>
              <a:gdLst/>
              <a:ahLst/>
              <a:cxnLst/>
              <a:rect l="l" t="t" r="r" b="b"/>
              <a:pathLst>
                <a:path w="771525" h="209550">
                  <a:moveTo>
                    <a:pt x="673629" y="209549"/>
                  </a:moveTo>
                  <a:lnTo>
                    <a:pt x="97895" y="209549"/>
                  </a:lnTo>
                  <a:lnTo>
                    <a:pt x="91081" y="208878"/>
                  </a:lnTo>
                  <a:lnTo>
                    <a:pt x="52285" y="195714"/>
                  </a:lnTo>
                  <a:lnTo>
                    <a:pt x="21480" y="168705"/>
                  </a:lnTo>
                  <a:lnTo>
                    <a:pt x="3355" y="131962"/>
                  </a:lnTo>
                  <a:lnTo>
                    <a:pt x="0" y="111654"/>
                  </a:lnTo>
                  <a:lnTo>
                    <a:pt x="0" y="104774"/>
                  </a:lnTo>
                  <a:lnTo>
                    <a:pt x="0" y="97895"/>
                  </a:lnTo>
                  <a:lnTo>
                    <a:pt x="10608" y="58323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673629" y="0"/>
                  </a:lnTo>
                  <a:lnTo>
                    <a:pt x="713201" y="10608"/>
                  </a:lnTo>
                  <a:lnTo>
                    <a:pt x="745701" y="35552"/>
                  </a:lnTo>
                  <a:lnTo>
                    <a:pt x="766182" y="71035"/>
                  </a:lnTo>
                  <a:lnTo>
                    <a:pt x="771525" y="97895"/>
                  </a:lnTo>
                  <a:lnTo>
                    <a:pt x="771525" y="111654"/>
                  </a:lnTo>
                  <a:lnTo>
                    <a:pt x="760916" y="151226"/>
                  </a:lnTo>
                  <a:lnTo>
                    <a:pt x="735972" y="183726"/>
                  </a:lnTo>
                  <a:lnTo>
                    <a:pt x="700489" y="204207"/>
                  </a:lnTo>
                  <a:lnTo>
                    <a:pt x="680443" y="208878"/>
                  </a:lnTo>
                  <a:lnTo>
                    <a:pt x="673629" y="20954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18" name="object 32">
            <a:extLst>
              <a:ext uri="{FF2B5EF4-FFF2-40B4-BE49-F238E27FC236}">
                <a16:creationId xmlns:a16="http://schemas.microsoft.com/office/drawing/2014/main" id="{A00CBE50-2B03-AF40-4DF1-51C37247E864}"/>
              </a:ext>
            </a:extLst>
          </p:cNvPr>
          <p:cNvSpPr txBox="1"/>
          <p:nvPr/>
        </p:nvSpPr>
        <p:spPr>
          <a:xfrm>
            <a:off x="3186962" y="2232745"/>
            <a:ext cx="5721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66533"/>
                </a:solidFill>
                <a:latin typeface="Arial"/>
                <a:cs typeface="Arial"/>
              </a:rPr>
              <a:t>2025-2027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33">
            <a:extLst>
              <a:ext uri="{FF2B5EF4-FFF2-40B4-BE49-F238E27FC236}">
                <a16:creationId xmlns:a16="http://schemas.microsoft.com/office/drawing/2014/main" id="{195F998A-A484-53E8-3EC3-AEE1FFB90191}"/>
              </a:ext>
            </a:extLst>
          </p:cNvPr>
          <p:cNvSpPr txBox="1"/>
          <p:nvPr/>
        </p:nvSpPr>
        <p:spPr>
          <a:xfrm>
            <a:off x="596757" y="2786906"/>
            <a:ext cx="3260090" cy="10166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1F2937"/>
                </a:solidFill>
                <a:latin typeface="Arial"/>
                <a:cs typeface="Arial"/>
              </a:rPr>
              <a:t>1</a:t>
            </a: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단계</a:t>
            </a:r>
            <a:r>
              <a:rPr sz="1500" b="1" dirty="0">
                <a:solidFill>
                  <a:srgbClr val="1F2937"/>
                </a:solidFill>
                <a:latin typeface="Arial"/>
                <a:cs typeface="Arial"/>
              </a:rPr>
              <a:t>: AI </a:t>
            </a:r>
            <a:r>
              <a:rPr sz="1400" dirty="0">
                <a:solidFill>
                  <a:srgbClr val="1F2937"/>
                </a:solidFill>
                <a:latin typeface="Malgun Gothic"/>
                <a:cs typeface="Malgun Gothic"/>
              </a:rPr>
              <a:t>도</a:t>
            </a: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입 기반 강화</a:t>
            </a:r>
            <a:endParaRPr sz="1550" dirty="0">
              <a:latin typeface="Malgun Gothic"/>
              <a:cs typeface="Malgun Gothic"/>
            </a:endParaRPr>
          </a:p>
          <a:p>
            <a:pPr marL="12700" marR="5080">
              <a:lnSpc>
                <a:spcPct val="125000"/>
              </a:lnSpc>
              <a:spcBef>
                <a:spcPts val="530"/>
              </a:spcBef>
            </a:pP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AI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도입을 위한 데이터 인프라와 조직 문화 기반 을 마련하고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단기적 성과 창출이 가능한 핵심 영 역에 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AI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를 선제적으로 적용</a:t>
            </a:r>
            <a:endParaRPr sz="1200" dirty="0">
              <a:latin typeface="Malgun Gothic"/>
              <a:cs typeface="Malgun Gothic"/>
            </a:endParaRPr>
          </a:p>
        </p:txBody>
      </p:sp>
      <p:grpSp>
        <p:nvGrpSpPr>
          <p:cNvPr id="20" name="object 34">
            <a:extLst>
              <a:ext uri="{FF2B5EF4-FFF2-40B4-BE49-F238E27FC236}">
                <a16:creationId xmlns:a16="http://schemas.microsoft.com/office/drawing/2014/main" id="{357A4275-1C89-C2A3-4ED6-2BEAF689A4C0}"/>
              </a:ext>
            </a:extLst>
          </p:cNvPr>
          <p:cNvGrpSpPr/>
          <p:nvPr/>
        </p:nvGrpSpPr>
        <p:grpSpPr>
          <a:xfrm>
            <a:off x="609457" y="4017095"/>
            <a:ext cx="190499" cy="1066799"/>
            <a:chOff x="609599" y="4210050"/>
            <a:chExt cx="190499" cy="1066799"/>
          </a:xfrm>
        </p:grpSpPr>
        <p:pic>
          <p:nvPicPr>
            <p:cNvPr id="47" name="object 35">
              <a:extLst>
                <a:ext uri="{FF2B5EF4-FFF2-40B4-BE49-F238E27FC236}">
                  <a16:creationId xmlns:a16="http://schemas.microsoft.com/office/drawing/2014/main" id="{0A79CE5E-36BD-20B4-EDEF-6598E354E89F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9599" y="4210050"/>
              <a:ext cx="190499" cy="152399"/>
            </a:xfrm>
            <a:prstGeom prst="rect">
              <a:avLst/>
            </a:prstGeom>
          </p:spPr>
        </p:pic>
        <p:pic>
          <p:nvPicPr>
            <p:cNvPr id="48" name="object 36">
              <a:extLst>
                <a:ext uri="{FF2B5EF4-FFF2-40B4-BE49-F238E27FC236}">
                  <a16:creationId xmlns:a16="http://schemas.microsoft.com/office/drawing/2014/main" id="{D41FBDE7-C066-0641-877D-DD44CC0A75C6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9599" y="4667250"/>
              <a:ext cx="133349" cy="152399"/>
            </a:xfrm>
            <a:prstGeom prst="rect">
              <a:avLst/>
            </a:prstGeom>
          </p:spPr>
        </p:pic>
        <p:pic>
          <p:nvPicPr>
            <p:cNvPr id="49" name="object 37">
              <a:extLst>
                <a:ext uri="{FF2B5EF4-FFF2-40B4-BE49-F238E27FC236}">
                  <a16:creationId xmlns:a16="http://schemas.microsoft.com/office/drawing/2014/main" id="{016CCD73-86C5-4009-C60C-647487B6CD2F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9599" y="5124450"/>
              <a:ext cx="171449" cy="152399"/>
            </a:xfrm>
            <a:prstGeom prst="rect">
              <a:avLst/>
            </a:prstGeom>
          </p:spPr>
        </p:pic>
      </p:grpSp>
      <p:sp>
        <p:nvSpPr>
          <p:cNvPr id="21" name="object 38">
            <a:extLst>
              <a:ext uri="{FF2B5EF4-FFF2-40B4-BE49-F238E27FC236}">
                <a16:creationId xmlns:a16="http://schemas.microsoft.com/office/drawing/2014/main" id="{312FC245-9DFB-D03D-66D2-713834EFA9A9}"/>
              </a:ext>
            </a:extLst>
          </p:cNvPr>
          <p:cNvSpPr txBox="1"/>
          <p:nvPr/>
        </p:nvSpPr>
        <p:spPr>
          <a:xfrm>
            <a:off x="806307" y="3945339"/>
            <a:ext cx="3064510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69215" marR="133985">
              <a:lnSpc>
                <a:spcPct val="119000"/>
              </a:lnSpc>
              <a:spcBef>
                <a:spcPts val="100"/>
              </a:spcBef>
            </a:pPr>
            <a:r>
              <a:rPr sz="1050" dirty="0">
                <a:latin typeface="Arial"/>
                <a:cs typeface="Arial"/>
              </a:rPr>
              <a:t>AI </a:t>
            </a:r>
            <a:r>
              <a:rPr sz="1050" dirty="0">
                <a:latin typeface="Malgun Gothic"/>
                <a:cs typeface="Malgun Gothic"/>
              </a:rPr>
              <a:t>리터러시 강화</a:t>
            </a:r>
            <a:r>
              <a:rPr sz="1050" dirty="0">
                <a:latin typeface="Arial"/>
                <a:cs typeface="Arial"/>
              </a:rPr>
              <a:t>: </a:t>
            </a:r>
            <a:r>
              <a:rPr sz="1050" dirty="0">
                <a:latin typeface="Malgun Gothic"/>
                <a:cs typeface="Malgun Gothic"/>
              </a:rPr>
              <a:t>전 직원 대상 </a:t>
            </a:r>
            <a:r>
              <a:rPr sz="1050" dirty="0">
                <a:latin typeface="Arial"/>
                <a:cs typeface="Arial"/>
              </a:rPr>
              <a:t>AI </a:t>
            </a:r>
            <a:r>
              <a:rPr sz="1050" dirty="0">
                <a:latin typeface="Malgun Gothic"/>
                <a:cs typeface="Malgun Gothic"/>
              </a:rPr>
              <a:t>교육 프로그램 의무화</a:t>
            </a:r>
          </a:p>
          <a:p>
            <a:pPr marL="12700" marR="80010">
              <a:lnSpc>
                <a:spcPct val="119000"/>
              </a:lnSpc>
              <a:spcBef>
                <a:spcPts val="600"/>
              </a:spcBef>
            </a:pPr>
            <a:r>
              <a:rPr sz="1050" dirty="0">
                <a:latin typeface="Malgun Gothic"/>
                <a:cs typeface="Malgun Gothic"/>
              </a:rPr>
              <a:t>데이터 인프라 구축</a:t>
            </a:r>
            <a:r>
              <a:rPr sz="1050" dirty="0">
                <a:latin typeface="Arial"/>
                <a:cs typeface="Arial"/>
              </a:rPr>
              <a:t>: </a:t>
            </a:r>
            <a:r>
              <a:rPr sz="1050" dirty="0">
                <a:latin typeface="Malgun Gothic"/>
                <a:cs typeface="Malgun Gothic"/>
              </a:rPr>
              <a:t>공정 데이터의 수집 및 표준화 시스템 구축</a:t>
            </a:r>
          </a:p>
          <a:p>
            <a:pPr marL="50165" marR="5080">
              <a:lnSpc>
                <a:spcPct val="119000"/>
              </a:lnSpc>
              <a:spcBef>
                <a:spcPts val="600"/>
              </a:spcBef>
            </a:pPr>
            <a:r>
              <a:rPr sz="1050" dirty="0">
                <a:latin typeface="Arial"/>
                <a:cs typeface="Arial"/>
              </a:rPr>
              <a:t>AI </a:t>
            </a:r>
            <a:r>
              <a:rPr sz="1050" dirty="0">
                <a:latin typeface="Malgun Gothic"/>
                <a:cs typeface="Malgun Gothic"/>
              </a:rPr>
              <a:t>비전 검사 도입</a:t>
            </a:r>
            <a:r>
              <a:rPr sz="1050" dirty="0">
                <a:latin typeface="Arial"/>
                <a:cs typeface="Arial"/>
              </a:rPr>
              <a:t>: FC-BGA </a:t>
            </a:r>
            <a:r>
              <a:rPr sz="1050" dirty="0">
                <a:latin typeface="Malgun Gothic"/>
                <a:cs typeface="Malgun Gothic"/>
              </a:rPr>
              <a:t>및 </a:t>
            </a:r>
            <a:r>
              <a:rPr sz="1050" dirty="0">
                <a:latin typeface="Arial"/>
                <a:cs typeface="Arial"/>
              </a:rPr>
              <a:t>MLB </a:t>
            </a:r>
            <a:r>
              <a:rPr sz="1050" dirty="0">
                <a:latin typeface="Malgun Gothic"/>
                <a:cs typeface="Malgun Gothic"/>
              </a:rPr>
              <a:t>공정에 우선 도 입</a:t>
            </a:r>
          </a:p>
        </p:txBody>
      </p:sp>
      <p:grpSp>
        <p:nvGrpSpPr>
          <p:cNvPr id="22" name="object 39">
            <a:extLst>
              <a:ext uri="{FF2B5EF4-FFF2-40B4-BE49-F238E27FC236}">
                <a16:creationId xmlns:a16="http://schemas.microsoft.com/office/drawing/2014/main" id="{C5751193-7116-E88E-DE16-FE28C99E9C45}"/>
              </a:ext>
            </a:extLst>
          </p:cNvPr>
          <p:cNvGrpSpPr/>
          <p:nvPr/>
        </p:nvGrpSpPr>
        <p:grpSpPr>
          <a:xfrm>
            <a:off x="4238483" y="1712045"/>
            <a:ext cx="3715027" cy="3790950"/>
            <a:chOff x="4238625" y="1905000"/>
            <a:chExt cx="3715027" cy="3790950"/>
          </a:xfrm>
        </p:grpSpPr>
        <p:sp>
          <p:nvSpPr>
            <p:cNvPr id="42" name="object 40">
              <a:extLst>
                <a:ext uri="{FF2B5EF4-FFF2-40B4-BE49-F238E27FC236}">
                  <a16:creationId xmlns:a16="http://schemas.microsoft.com/office/drawing/2014/main" id="{9B47599C-E978-2EC9-2F7F-1A328A5A8470}"/>
                </a:ext>
              </a:extLst>
            </p:cNvPr>
            <p:cNvSpPr/>
            <p:nvPr/>
          </p:nvSpPr>
          <p:spPr>
            <a:xfrm>
              <a:off x="4238625" y="1924050"/>
              <a:ext cx="3714750" cy="3771900"/>
            </a:xfrm>
            <a:custGeom>
              <a:avLst/>
              <a:gdLst/>
              <a:ahLst/>
              <a:cxnLst/>
              <a:rect l="l" t="t" r="r" b="b"/>
              <a:pathLst>
                <a:path w="3714750" h="3771900">
                  <a:moveTo>
                    <a:pt x="3643553" y="3771899"/>
                  </a:moveTo>
                  <a:lnTo>
                    <a:pt x="71196" y="3771899"/>
                  </a:lnTo>
                  <a:lnTo>
                    <a:pt x="66241" y="3771411"/>
                  </a:lnTo>
                  <a:lnTo>
                    <a:pt x="29705" y="3756277"/>
                  </a:lnTo>
                  <a:lnTo>
                    <a:pt x="3885" y="3720237"/>
                  </a:lnTo>
                  <a:lnTo>
                    <a:pt x="0" y="3700702"/>
                  </a:lnTo>
                  <a:lnTo>
                    <a:pt x="0" y="369569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643553" y="0"/>
                  </a:lnTo>
                  <a:lnTo>
                    <a:pt x="3685043" y="11716"/>
                  </a:lnTo>
                  <a:lnTo>
                    <a:pt x="3712308" y="42320"/>
                  </a:lnTo>
                  <a:lnTo>
                    <a:pt x="3714749" y="53397"/>
                  </a:lnTo>
                  <a:lnTo>
                    <a:pt x="3714749" y="3700702"/>
                  </a:lnTo>
                  <a:lnTo>
                    <a:pt x="3699127" y="3742193"/>
                  </a:lnTo>
                  <a:lnTo>
                    <a:pt x="3663087" y="3768013"/>
                  </a:lnTo>
                  <a:lnTo>
                    <a:pt x="3648508" y="3771411"/>
                  </a:lnTo>
                  <a:lnTo>
                    <a:pt x="3643553" y="3771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3" name="object 41">
              <a:extLst>
                <a:ext uri="{FF2B5EF4-FFF2-40B4-BE49-F238E27FC236}">
                  <a16:creationId xmlns:a16="http://schemas.microsoft.com/office/drawing/2014/main" id="{5F17A3E1-5078-4754-331E-190E38A5CF77}"/>
                </a:ext>
              </a:extLst>
            </p:cNvPr>
            <p:cNvSpPr/>
            <p:nvPr/>
          </p:nvSpPr>
          <p:spPr>
            <a:xfrm>
              <a:off x="4238902" y="1905000"/>
              <a:ext cx="3714750" cy="70485"/>
            </a:xfrm>
            <a:custGeom>
              <a:avLst/>
              <a:gdLst/>
              <a:ahLst/>
              <a:cxnLst/>
              <a:rect l="l" t="t" r="r" b="b"/>
              <a:pathLst>
                <a:path w="3714750" h="70485">
                  <a:moveTo>
                    <a:pt x="0" y="70450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3638272" y="0"/>
                  </a:lnTo>
                  <a:lnTo>
                    <a:pt x="3680612" y="12829"/>
                  </a:lnTo>
                  <a:lnTo>
                    <a:pt x="3704179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50"/>
                  </a:lnTo>
                  <a:close/>
                </a:path>
                <a:path w="3714750" h="70485">
                  <a:moveTo>
                    <a:pt x="3714194" y="70450"/>
                  </a:moveTo>
                  <a:lnTo>
                    <a:pt x="3680612" y="44514"/>
                  </a:lnTo>
                  <a:lnTo>
                    <a:pt x="3638272" y="38099"/>
                  </a:lnTo>
                  <a:lnTo>
                    <a:pt x="3704179" y="38099"/>
                  </a:lnTo>
                  <a:lnTo>
                    <a:pt x="3714109" y="68693"/>
                  </a:lnTo>
                  <a:lnTo>
                    <a:pt x="3714194" y="70450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4" name="object 42">
              <a:extLst>
                <a:ext uri="{FF2B5EF4-FFF2-40B4-BE49-F238E27FC236}">
                  <a16:creationId xmlns:a16="http://schemas.microsoft.com/office/drawing/2014/main" id="{E149E7DF-6AC6-8B3E-CDE3-D83FE61824FB}"/>
                </a:ext>
              </a:extLst>
            </p:cNvPr>
            <p:cNvSpPr/>
            <p:nvPr/>
          </p:nvSpPr>
          <p:spPr>
            <a:xfrm>
              <a:off x="4467224" y="217170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7" y="644412"/>
                  </a:lnTo>
                  <a:lnTo>
                    <a:pt x="176223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1" y="551128"/>
                  </a:lnTo>
                  <a:lnTo>
                    <a:pt x="56183" y="518588"/>
                  </a:lnTo>
                  <a:lnTo>
                    <a:pt x="35595" y="483261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8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4"/>
                  </a:lnTo>
                  <a:lnTo>
                    <a:pt x="615029" y="155022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4" y="268336"/>
                  </a:lnTo>
                  <a:lnTo>
                    <a:pt x="665847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3" y="460951"/>
                  </a:lnTo>
                  <a:lnTo>
                    <a:pt x="623438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1" y="634742"/>
                  </a:lnTo>
                  <a:lnTo>
                    <a:pt x="437951" y="649923"/>
                  </a:lnTo>
                  <a:lnTo>
                    <a:pt x="398413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45" name="object 43">
              <a:extLst>
                <a:ext uri="{FF2B5EF4-FFF2-40B4-BE49-F238E27FC236}">
                  <a16:creationId xmlns:a16="http://schemas.microsoft.com/office/drawing/2014/main" id="{94031D70-482F-61AA-3A1D-9A01A722361D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38674" y="2333625"/>
              <a:ext cx="323849" cy="342899"/>
            </a:xfrm>
            <a:prstGeom prst="rect">
              <a:avLst/>
            </a:prstGeom>
          </p:spPr>
        </p:pic>
        <p:sp>
          <p:nvSpPr>
            <p:cNvPr id="46" name="object 44">
              <a:extLst>
                <a:ext uri="{FF2B5EF4-FFF2-40B4-BE49-F238E27FC236}">
                  <a16:creationId xmlns:a16="http://schemas.microsoft.com/office/drawing/2014/main" id="{01D4EEDC-A936-7787-4BC2-7BCD8561C34A}"/>
                </a:ext>
              </a:extLst>
            </p:cNvPr>
            <p:cNvSpPr/>
            <p:nvPr/>
          </p:nvSpPr>
          <p:spPr>
            <a:xfrm>
              <a:off x="6943724" y="2409825"/>
              <a:ext cx="781050" cy="209550"/>
            </a:xfrm>
            <a:custGeom>
              <a:avLst/>
              <a:gdLst/>
              <a:ahLst/>
              <a:cxnLst/>
              <a:rect l="l" t="t" r="r" b="b"/>
              <a:pathLst>
                <a:path w="781050" h="209550">
                  <a:moveTo>
                    <a:pt x="683154" y="209549"/>
                  </a:moveTo>
                  <a:lnTo>
                    <a:pt x="97895" y="209549"/>
                  </a:lnTo>
                  <a:lnTo>
                    <a:pt x="91081" y="208878"/>
                  </a:lnTo>
                  <a:lnTo>
                    <a:pt x="52285" y="195714"/>
                  </a:lnTo>
                  <a:lnTo>
                    <a:pt x="21480" y="168705"/>
                  </a:lnTo>
                  <a:lnTo>
                    <a:pt x="3355" y="131962"/>
                  </a:lnTo>
                  <a:lnTo>
                    <a:pt x="0" y="111654"/>
                  </a:lnTo>
                  <a:lnTo>
                    <a:pt x="0" y="104774"/>
                  </a:lnTo>
                  <a:lnTo>
                    <a:pt x="0" y="97895"/>
                  </a:lnTo>
                  <a:lnTo>
                    <a:pt x="10608" y="58323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683154" y="0"/>
                  </a:lnTo>
                  <a:lnTo>
                    <a:pt x="722726" y="10608"/>
                  </a:lnTo>
                  <a:lnTo>
                    <a:pt x="755226" y="35552"/>
                  </a:lnTo>
                  <a:lnTo>
                    <a:pt x="775706" y="71035"/>
                  </a:lnTo>
                  <a:lnTo>
                    <a:pt x="781050" y="97895"/>
                  </a:lnTo>
                  <a:lnTo>
                    <a:pt x="781050" y="111654"/>
                  </a:lnTo>
                  <a:lnTo>
                    <a:pt x="770441" y="151226"/>
                  </a:lnTo>
                  <a:lnTo>
                    <a:pt x="745497" y="183726"/>
                  </a:lnTo>
                  <a:lnTo>
                    <a:pt x="710014" y="204207"/>
                  </a:lnTo>
                  <a:lnTo>
                    <a:pt x="689968" y="208878"/>
                  </a:lnTo>
                  <a:lnTo>
                    <a:pt x="683154" y="20954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23" name="object 45">
            <a:extLst>
              <a:ext uri="{FF2B5EF4-FFF2-40B4-BE49-F238E27FC236}">
                <a16:creationId xmlns:a16="http://schemas.microsoft.com/office/drawing/2014/main" id="{E4D561D5-AD81-7FD6-A5F6-C32C6DF08EC7}"/>
              </a:ext>
            </a:extLst>
          </p:cNvPr>
          <p:cNvSpPr txBox="1"/>
          <p:nvPr/>
        </p:nvSpPr>
        <p:spPr>
          <a:xfrm>
            <a:off x="7047713" y="2232745"/>
            <a:ext cx="5721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D40AF"/>
                </a:solidFill>
                <a:latin typeface="Arial"/>
                <a:cs typeface="Arial"/>
              </a:rPr>
              <a:t>2027-2029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46">
            <a:extLst>
              <a:ext uri="{FF2B5EF4-FFF2-40B4-BE49-F238E27FC236}">
                <a16:creationId xmlns:a16="http://schemas.microsoft.com/office/drawing/2014/main" id="{D8988A80-DE78-DD56-37BE-30E1882815BE}"/>
              </a:ext>
            </a:extLst>
          </p:cNvPr>
          <p:cNvSpPr txBox="1"/>
          <p:nvPr/>
        </p:nvSpPr>
        <p:spPr>
          <a:xfrm>
            <a:off x="4457508" y="2786906"/>
            <a:ext cx="3217545" cy="10166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</a:lstStyle>
          <a:p>
            <a:pPr marL="12700" algn="just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1F2937"/>
                </a:solidFill>
                <a:latin typeface="Arial"/>
                <a:cs typeface="Arial"/>
              </a:rPr>
              <a:t>2</a:t>
            </a: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단계</a:t>
            </a:r>
            <a:r>
              <a:rPr sz="1500" b="1" dirty="0">
                <a:solidFill>
                  <a:srgbClr val="1F2937"/>
                </a:solidFill>
                <a:latin typeface="Arial"/>
                <a:cs typeface="Arial"/>
              </a:rPr>
              <a:t>: AI </a:t>
            </a: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기술 고</a:t>
            </a:r>
            <a:r>
              <a:rPr sz="1400" dirty="0">
                <a:solidFill>
                  <a:srgbClr val="1F2937"/>
                </a:solidFill>
                <a:latin typeface="Malgun Gothic"/>
                <a:cs typeface="Malgun Gothic"/>
              </a:rPr>
              <a:t>도</a:t>
            </a: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화 및 확산</a:t>
            </a:r>
            <a:endParaRPr sz="1550">
              <a:latin typeface="Malgun Gothic"/>
              <a:cs typeface="Malgun Gothic"/>
            </a:endParaRPr>
          </a:p>
          <a:p>
            <a:pPr marL="12700" marR="5080" algn="just">
              <a:lnSpc>
                <a:spcPct val="125000"/>
              </a:lnSpc>
              <a:spcBef>
                <a:spcPts val="530"/>
              </a:spcBef>
            </a:pP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초기 도입 성공 사례를 바탕으로 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AI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기술을 고도 화하고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지식 관리 및 시뮬레이션 영역으로 확장 하여 전사적 혁신 가속화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25" name="object 47">
            <a:extLst>
              <a:ext uri="{FF2B5EF4-FFF2-40B4-BE49-F238E27FC236}">
                <a16:creationId xmlns:a16="http://schemas.microsoft.com/office/drawing/2014/main" id="{0BCB12D5-49F8-5888-222F-DD8FA60C4BAE}"/>
              </a:ext>
            </a:extLst>
          </p:cNvPr>
          <p:cNvGrpSpPr/>
          <p:nvPr/>
        </p:nvGrpSpPr>
        <p:grpSpPr>
          <a:xfrm>
            <a:off x="4467083" y="1712045"/>
            <a:ext cx="7344052" cy="3790950"/>
            <a:chOff x="4467225" y="1905000"/>
            <a:chExt cx="7344052" cy="3790950"/>
          </a:xfrm>
        </p:grpSpPr>
        <p:pic>
          <p:nvPicPr>
            <p:cNvPr id="34" name="object 48">
              <a:extLst>
                <a:ext uri="{FF2B5EF4-FFF2-40B4-BE49-F238E27FC236}">
                  <a16:creationId xmlns:a16="http://schemas.microsoft.com/office/drawing/2014/main" id="{0F23107F-6F6F-1C1E-5605-BF9527311289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67225" y="4210050"/>
              <a:ext cx="171449" cy="152399"/>
            </a:xfrm>
            <a:prstGeom prst="rect">
              <a:avLst/>
            </a:prstGeom>
          </p:spPr>
        </p:pic>
        <p:pic>
          <p:nvPicPr>
            <p:cNvPr id="35" name="object 49">
              <a:extLst>
                <a:ext uri="{FF2B5EF4-FFF2-40B4-BE49-F238E27FC236}">
                  <a16:creationId xmlns:a16="http://schemas.microsoft.com/office/drawing/2014/main" id="{B6ABC802-E4B7-D47A-0424-3BBBA7A05748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67225" y="4667250"/>
              <a:ext cx="152399" cy="152399"/>
            </a:xfrm>
            <a:prstGeom prst="rect">
              <a:avLst/>
            </a:prstGeom>
          </p:spPr>
        </p:pic>
        <p:pic>
          <p:nvPicPr>
            <p:cNvPr id="36" name="object 50">
              <a:extLst>
                <a:ext uri="{FF2B5EF4-FFF2-40B4-BE49-F238E27FC236}">
                  <a16:creationId xmlns:a16="http://schemas.microsoft.com/office/drawing/2014/main" id="{91861436-8324-7D17-AE9C-672BDF2381F6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67225" y="5124449"/>
              <a:ext cx="152399" cy="152399"/>
            </a:xfrm>
            <a:prstGeom prst="rect">
              <a:avLst/>
            </a:prstGeom>
          </p:spPr>
        </p:pic>
        <p:sp>
          <p:nvSpPr>
            <p:cNvPr id="37" name="object 51">
              <a:extLst>
                <a:ext uri="{FF2B5EF4-FFF2-40B4-BE49-F238E27FC236}">
                  <a16:creationId xmlns:a16="http://schemas.microsoft.com/office/drawing/2014/main" id="{C37D39A1-E7B8-1C2F-A860-E962BE0F6055}"/>
                </a:ext>
              </a:extLst>
            </p:cNvPr>
            <p:cNvSpPr/>
            <p:nvPr/>
          </p:nvSpPr>
          <p:spPr>
            <a:xfrm>
              <a:off x="8105775" y="1924050"/>
              <a:ext cx="3705225" cy="3771900"/>
            </a:xfrm>
            <a:custGeom>
              <a:avLst/>
              <a:gdLst/>
              <a:ahLst/>
              <a:cxnLst/>
              <a:rect l="l" t="t" r="r" b="b"/>
              <a:pathLst>
                <a:path w="3705225" h="3771900">
                  <a:moveTo>
                    <a:pt x="3634027" y="3771899"/>
                  </a:moveTo>
                  <a:lnTo>
                    <a:pt x="71196" y="3771899"/>
                  </a:lnTo>
                  <a:lnTo>
                    <a:pt x="66241" y="3771411"/>
                  </a:lnTo>
                  <a:lnTo>
                    <a:pt x="29705" y="3756277"/>
                  </a:lnTo>
                  <a:lnTo>
                    <a:pt x="3885" y="3720237"/>
                  </a:lnTo>
                  <a:lnTo>
                    <a:pt x="0" y="3700702"/>
                  </a:lnTo>
                  <a:lnTo>
                    <a:pt x="0" y="369569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634027" y="0"/>
                  </a:lnTo>
                  <a:lnTo>
                    <a:pt x="3675519" y="11716"/>
                  </a:lnTo>
                  <a:lnTo>
                    <a:pt x="3702784" y="42320"/>
                  </a:lnTo>
                  <a:lnTo>
                    <a:pt x="3705224" y="53397"/>
                  </a:lnTo>
                  <a:lnTo>
                    <a:pt x="3705224" y="3700702"/>
                  </a:lnTo>
                  <a:lnTo>
                    <a:pt x="3689602" y="3742193"/>
                  </a:lnTo>
                  <a:lnTo>
                    <a:pt x="3653562" y="3768013"/>
                  </a:lnTo>
                  <a:lnTo>
                    <a:pt x="3638983" y="3771411"/>
                  </a:lnTo>
                  <a:lnTo>
                    <a:pt x="3634027" y="3771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8" name="object 52">
              <a:extLst>
                <a:ext uri="{FF2B5EF4-FFF2-40B4-BE49-F238E27FC236}">
                  <a16:creationId xmlns:a16="http://schemas.microsoft.com/office/drawing/2014/main" id="{ED4ED647-AFF7-9585-B1FE-FF2710485CC8}"/>
                </a:ext>
              </a:extLst>
            </p:cNvPr>
            <p:cNvSpPr/>
            <p:nvPr/>
          </p:nvSpPr>
          <p:spPr>
            <a:xfrm>
              <a:off x="8106052" y="1905000"/>
              <a:ext cx="3705225" cy="70485"/>
            </a:xfrm>
            <a:custGeom>
              <a:avLst/>
              <a:gdLst/>
              <a:ahLst/>
              <a:cxnLst/>
              <a:rect l="l" t="t" r="r" b="b"/>
              <a:pathLst>
                <a:path w="3705225" h="70485">
                  <a:moveTo>
                    <a:pt x="0" y="70450"/>
                  </a:moveTo>
                  <a:lnTo>
                    <a:pt x="12550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3628747" y="0"/>
                  </a:lnTo>
                  <a:lnTo>
                    <a:pt x="3671088" y="12829"/>
                  </a:lnTo>
                  <a:lnTo>
                    <a:pt x="3694655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3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3705225" h="70485">
                  <a:moveTo>
                    <a:pt x="3704669" y="70450"/>
                  </a:moveTo>
                  <a:lnTo>
                    <a:pt x="3671088" y="44514"/>
                  </a:lnTo>
                  <a:lnTo>
                    <a:pt x="3628747" y="38099"/>
                  </a:lnTo>
                  <a:lnTo>
                    <a:pt x="3694655" y="38099"/>
                  </a:lnTo>
                  <a:lnTo>
                    <a:pt x="3704584" y="68693"/>
                  </a:lnTo>
                  <a:lnTo>
                    <a:pt x="3704669" y="70450"/>
                  </a:lnTo>
                  <a:close/>
                </a:path>
              </a:pathLst>
            </a:custGeom>
            <a:solidFill>
              <a:srgbClr val="8B5CF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9" name="object 53">
              <a:extLst>
                <a:ext uri="{FF2B5EF4-FFF2-40B4-BE49-F238E27FC236}">
                  <a16:creationId xmlns:a16="http://schemas.microsoft.com/office/drawing/2014/main" id="{DD3DCA88-E3DD-FDF0-0E42-F8F7049539E3}"/>
                </a:ext>
              </a:extLst>
            </p:cNvPr>
            <p:cNvSpPr/>
            <p:nvPr/>
          </p:nvSpPr>
          <p:spPr>
            <a:xfrm>
              <a:off x="8334375" y="217170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7" y="644412"/>
                  </a:lnTo>
                  <a:lnTo>
                    <a:pt x="176223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1" y="551128"/>
                  </a:lnTo>
                  <a:lnTo>
                    <a:pt x="56183" y="518588"/>
                  </a:lnTo>
                  <a:lnTo>
                    <a:pt x="35595" y="483261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8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4"/>
                  </a:lnTo>
                  <a:lnTo>
                    <a:pt x="615029" y="155022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4" y="268336"/>
                  </a:lnTo>
                  <a:lnTo>
                    <a:pt x="665847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3" y="460951"/>
                  </a:lnTo>
                  <a:lnTo>
                    <a:pt x="623438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1" y="634742"/>
                  </a:lnTo>
                  <a:lnTo>
                    <a:pt x="437951" y="649923"/>
                  </a:lnTo>
                  <a:lnTo>
                    <a:pt x="398413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40" name="object 54">
              <a:extLst>
                <a:ext uri="{FF2B5EF4-FFF2-40B4-BE49-F238E27FC236}">
                  <a16:creationId xmlns:a16="http://schemas.microsoft.com/office/drawing/2014/main" id="{FC6EFD72-BC25-2B27-786B-C2036A273CBE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486775" y="2333625"/>
              <a:ext cx="361949" cy="342899"/>
            </a:xfrm>
            <a:prstGeom prst="rect">
              <a:avLst/>
            </a:prstGeom>
          </p:spPr>
        </p:pic>
        <p:sp>
          <p:nvSpPr>
            <p:cNvPr id="41" name="object 55">
              <a:extLst>
                <a:ext uri="{FF2B5EF4-FFF2-40B4-BE49-F238E27FC236}">
                  <a16:creationId xmlns:a16="http://schemas.microsoft.com/office/drawing/2014/main" id="{6DCA8EEB-C321-695F-911F-6908773468DC}"/>
                </a:ext>
              </a:extLst>
            </p:cNvPr>
            <p:cNvSpPr/>
            <p:nvPr/>
          </p:nvSpPr>
          <p:spPr>
            <a:xfrm>
              <a:off x="11029950" y="2409825"/>
              <a:ext cx="552450" cy="209550"/>
            </a:xfrm>
            <a:custGeom>
              <a:avLst/>
              <a:gdLst/>
              <a:ahLst/>
              <a:cxnLst/>
              <a:rect l="l" t="t" r="r" b="b"/>
              <a:pathLst>
                <a:path w="552450" h="209550">
                  <a:moveTo>
                    <a:pt x="454554" y="209549"/>
                  </a:moveTo>
                  <a:lnTo>
                    <a:pt x="97895" y="209549"/>
                  </a:lnTo>
                  <a:lnTo>
                    <a:pt x="91081" y="208878"/>
                  </a:lnTo>
                  <a:lnTo>
                    <a:pt x="52284" y="195714"/>
                  </a:lnTo>
                  <a:lnTo>
                    <a:pt x="21479" y="168705"/>
                  </a:lnTo>
                  <a:lnTo>
                    <a:pt x="3354" y="131962"/>
                  </a:lnTo>
                  <a:lnTo>
                    <a:pt x="0" y="111654"/>
                  </a:lnTo>
                  <a:lnTo>
                    <a:pt x="0" y="104774"/>
                  </a:lnTo>
                  <a:lnTo>
                    <a:pt x="0" y="97895"/>
                  </a:lnTo>
                  <a:lnTo>
                    <a:pt x="10608" y="58323"/>
                  </a:lnTo>
                  <a:lnTo>
                    <a:pt x="35552" y="25823"/>
                  </a:lnTo>
                  <a:lnTo>
                    <a:pt x="71034" y="5342"/>
                  </a:lnTo>
                  <a:lnTo>
                    <a:pt x="97895" y="0"/>
                  </a:lnTo>
                  <a:lnTo>
                    <a:pt x="454554" y="0"/>
                  </a:lnTo>
                  <a:lnTo>
                    <a:pt x="494126" y="10608"/>
                  </a:lnTo>
                  <a:lnTo>
                    <a:pt x="526626" y="35552"/>
                  </a:lnTo>
                  <a:lnTo>
                    <a:pt x="547107" y="71035"/>
                  </a:lnTo>
                  <a:lnTo>
                    <a:pt x="552449" y="97895"/>
                  </a:lnTo>
                  <a:lnTo>
                    <a:pt x="552449" y="111654"/>
                  </a:lnTo>
                  <a:lnTo>
                    <a:pt x="541841" y="151226"/>
                  </a:lnTo>
                  <a:lnTo>
                    <a:pt x="516897" y="183726"/>
                  </a:lnTo>
                  <a:lnTo>
                    <a:pt x="481414" y="204207"/>
                  </a:lnTo>
                  <a:lnTo>
                    <a:pt x="461368" y="208878"/>
                  </a:lnTo>
                  <a:lnTo>
                    <a:pt x="454554" y="20954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26" name="object 56">
            <a:extLst>
              <a:ext uri="{FF2B5EF4-FFF2-40B4-BE49-F238E27FC236}">
                <a16:creationId xmlns:a16="http://schemas.microsoft.com/office/drawing/2014/main" id="{1F28F04F-94A6-7E00-7D28-83A4B3CD928E}"/>
              </a:ext>
            </a:extLst>
          </p:cNvPr>
          <p:cNvSpPr txBox="1"/>
          <p:nvPr/>
        </p:nvSpPr>
        <p:spPr>
          <a:xfrm>
            <a:off x="4686108" y="3945339"/>
            <a:ext cx="2996565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31115" marR="30480">
              <a:lnSpc>
                <a:spcPct val="119000"/>
              </a:lnSpc>
              <a:spcBef>
                <a:spcPts val="100"/>
              </a:spcBef>
            </a:pPr>
            <a:r>
              <a:rPr sz="1050" dirty="0">
                <a:latin typeface="Malgun Gothic"/>
                <a:cs typeface="Malgun Gothic"/>
              </a:rPr>
              <a:t>지식 그래프</a:t>
            </a:r>
            <a:r>
              <a:rPr sz="1050" dirty="0">
                <a:latin typeface="Arial"/>
                <a:cs typeface="Arial"/>
              </a:rPr>
              <a:t>/</a:t>
            </a:r>
            <a:r>
              <a:rPr sz="1050" dirty="0">
                <a:latin typeface="Malgun Gothic"/>
                <a:cs typeface="Malgun Gothic"/>
              </a:rPr>
              <a:t>온톨로지 구축</a:t>
            </a:r>
            <a:r>
              <a:rPr sz="1050" dirty="0">
                <a:latin typeface="Arial"/>
                <a:cs typeface="Arial"/>
              </a:rPr>
              <a:t>: </a:t>
            </a:r>
            <a:r>
              <a:rPr sz="1050" dirty="0">
                <a:latin typeface="Malgun Gothic"/>
                <a:cs typeface="Malgun Gothic"/>
              </a:rPr>
              <a:t>제조 데이터와 전문가 지식 구조화 및 통합</a:t>
            </a:r>
            <a:endParaRPr sz="1050">
              <a:latin typeface="Malgun Gothic"/>
              <a:cs typeface="Malgun Gothic"/>
            </a:endParaRPr>
          </a:p>
          <a:p>
            <a:pPr marL="12700" marR="5080">
              <a:lnSpc>
                <a:spcPct val="119000"/>
              </a:lnSpc>
              <a:spcBef>
                <a:spcPts val="600"/>
              </a:spcBef>
            </a:pPr>
            <a:r>
              <a:rPr sz="1050" dirty="0">
                <a:latin typeface="Malgun Gothic"/>
                <a:cs typeface="Malgun Gothic"/>
              </a:rPr>
              <a:t>디지털 트윈 구축</a:t>
            </a:r>
            <a:r>
              <a:rPr sz="1050" dirty="0">
                <a:latin typeface="Arial"/>
                <a:cs typeface="Arial"/>
              </a:rPr>
              <a:t>: MLB </a:t>
            </a:r>
            <a:r>
              <a:rPr sz="1050" dirty="0">
                <a:latin typeface="Malgun Gothic"/>
                <a:cs typeface="Malgun Gothic"/>
              </a:rPr>
              <a:t>생산 라인 대상 시뮬레이션 및 효용성 검증</a:t>
            </a:r>
            <a:endParaRPr sz="1050">
              <a:latin typeface="Malgun Gothic"/>
              <a:cs typeface="Malgun Gothic"/>
            </a:endParaRPr>
          </a:p>
          <a:p>
            <a:pPr marL="12700" marR="78740">
              <a:lnSpc>
                <a:spcPct val="119000"/>
              </a:lnSpc>
              <a:spcBef>
                <a:spcPts val="600"/>
              </a:spcBef>
            </a:pPr>
            <a:r>
              <a:rPr sz="1050" dirty="0">
                <a:latin typeface="Arial"/>
                <a:cs typeface="Arial"/>
              </a:rPr>
              <a:t>LLM </a:t>
            </a:r>
            <a:r>
              <a:rPr sz="1050" dirty="0">
                <a:latin typeface="Malgun Gothic"/>
                <a:cs typeface="Malgun Gothic"/>
              </a:rPr>
              <a:t>기반 솔루션 개발</a:t>
            </a:r>
            <a:r>
              <a:rPr sz="1050" dirty="0">
                <a:latin typeface="Arial"/>
                <a:cs typeface="Arial"/>
              </a:rPr>
              <a:t>: </a:t>
            </a:r>
            <a:r>
              <a:rPr sz="1050" dirty="0">
                <a:latin typeface="Malgun Gothic"/>
                <a:cs typeface="Malgun Gothic"/>
              </a:rPr>
              <a:t>설비 로그 분석 및 기술 문 서 검색 솔루션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27" name="object 57">
            <a:extLst>
              <a:ext uri="{FF2B5EF4-FFF2-40B4-BE49-F238E27FC236}">
                <a16:creationId xmlns:a16="http://schemas.microsoft.com/office/drawing/2014/main" id="{B92B872F-FA31-DA96-8C84-CE629EF4804B}"/>
              </a:ext>
            </a:extLst>
          </p:cNvPr>
          <p:cNvSpPr txBox="1"/>
          <p:nvPr/>
        </p:nvSpPr>
        <p:spPr>
          <a:xfrm>
            <a:off x="11134234" y="2232745"/>
            <a:ext cx="34671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6A20A7"/>
                </a:solidFill>
                <a:latin typeface="Arial"/>
                <a:cs typeface="Arial"/>
              </a:rPr>
              <a:t>2030~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58">
            <a:extLst>
              <a:ext uri="{FF2B5EF4-FFF2-40B4-BE49-F238E27FC236}">
                <a16:creationId xmlns:a16="http://schemas.microsoft.com/office/drawing/2014/main" id="{8091CC90-A2F3-B349-06C5-62E42776555D}"/>
              </a:ext>
            </a:extLst>
          </p:cNvPr>
          <p:cNvSpPr txBox="1"/>
          <p:nvPr/>
        </p:nvSpPr>
        <p:spPr>
          <a:xfrm>
            <a:off x="8318258" y="2786906"/>
            <a:ext cx="3258820" cy="10166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</a:lstStyle>
          <a:p>
            <a:pPr marL="12700" algn="just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1F2937"/>
                </a:solidFill>
                <a:latin typeface="Arial"/>
                <a:cs typeface="Arial"/>
              </a:rPr>
              <a:t>3</a:t>
            </a: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단계</a:t>
            </a:r>
            <a:r>
              <a:rPr sz="1500" b="1" dirty="0">
                <a:solidFill>
                  <a:srgbClr val="1F2937"/>
                </a:solidFill>
                <a:latin typeface="Arial"/>
                <a:cs typeface="Arial"/>
              </a:rPr>
              <a:t>: AI </a:t>
            </a: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자율 제조 시스템 완성</a:t>
            </a:r>
            <a:endParaRPr sz="1550">
              <a:latin typeface="Malgun Gothic"/>
              <a:cs typeface="Malgun Gothic"/>
            </a:endParaRPr>
          </a:p>
          <a:p>
            <a:pPr marL="12700" marR="5080" algn="just">
              <a:lnSpc>
                <a:spcPct val="125000"/>
              </a:lnSpc>
              <a:spcBef>
                <a:spcPts val="530"/>
              </a:spcBef>
            </a:pP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AI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와 자동화가 통합된 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'AI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자율 제조 시스템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'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을 완 성하여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4A5462"/>
                </a:solidFill>
                <a:latin typeface="Malgun Gothic"/>
                <a:cs typeface="Malgun Gothic"/>
              </a:rPr>
              <a:t>생산 전 과정에서 인간의 개입을 최소화 하고 최적의 효율성 달성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29" name="object 59">
            <a:extLst>
              <a:ext uri="{FF2B5EF4-FFF2-40B4-BE49-F238E27FC236}">
                <a16:creationId xmlns:a16="http://schemas.microsoft.com/office/drawing/2014/main" id="{7BF2D648-65D2-FC14-42B9-92333F191524}"/>
              </a:ext>
            </a:extLst>
          </p:cNvPr>
          <p:cNvGrpSpPr/>
          <p:nvPr/>
        </p:nvGrpSpPr>
        <p:grpSpPr>
          <a:xfrm>
            <a:off x="8334233" y="4017095"/>
            <a:ext cx="171449" cy="1066799"/>
            <a:chOff x="8334375" y="4210050"/>
            <a:chExt cx="171449" cy="1066799"/>
          </a:xfrm>
        </p:grpSpPr>
        <p:pic>
          <p:nvPicPr>
            <p:cNvPr id="31" name="object 60">
              <a:extLst>
                <a:ext uri="{FF2B5EF4-FFF2-40B4-BE49-F238E27FC236}">
                  <a16:creationId xmlns:a16="http://schemas.microsoft.com/office/drawing/2014/main" id="{5D22D6D6-842E-C85C-7F91-BD05D7EE3CCC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334375" y="4210050"/>
              <a:ext cx="171449" cy="152399"/>
            </a:xfrm>
            <a:prstGeom prst="rect">
              <a:avLst/>
            </a:prstGeom>
          </p:spPr>
        </p:pic>
        <p:pic>
          <p:nvPicPr>
            <p:cNvPr id="32" name="object 61">
              <a:extLst>
                <a:ext uri="{FF2B5EF4-FFF2-40B4-BE49-F238E27FC236}">
                  <a16:creationId xmlns:a16="http://schemas.microsoft.com/office/drawing/2014/main" id="{211A2678-7F25-7139-2CB8-483BB0ED00F9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34375" y="4667250"/>
              <a:ext cx="152399" cy="152399"/>
            </a:xfrm>
            <a:prstGeom prst="rect">
              <a:avLst/>
            </a:prstGeom>
          </p:spPr>
        </p:pic>
        <p:pic>
          <p:nvPicPr>
            <p:cNvPr id="33" name="object 62">
              <a:extLst>
                <a:ext uri="{FF2B5EF4-FFF2-40B4-BE49-F238E27FC236}">
                  <a16:creationId xmlns:a16="http://schemas.microsoft.com/office/drawing/2014/main" id="{0C4507F0-5F46-3F91-3398-2604BAF939CD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334375" y="5124450"/>
              <a:ext cx="152399" cy="152399"/>
            </a:xfrm>
            <a:prstGeom prst="rect">
              <a:avLst/>
            </a:prstGeom>
          </p:spPr>
        </p:pic>
      </p:grpSp>
      <p:sp>
        <p:nvSpPr>
          <p:cNvPr id="30" name="object 63">
            <a:extLst>
              <a:ext uri="{FF2B5EF4-FFF2-40B4-BE49-F238E27FC236}">
                <a16:creationId xmlns:a16="http://schemas.microsoft.com/office/drawing/2014/main" id="{FBC11AC3-9B9B-8E8C-E0F1-59AA03A78BB0}"/>
              </a:ext>
            </a:extLst>
          </p:cNvPr>
          <p:cNvSpPr txBox="1"/>
          <p:nvPr/>
        </p:nvSpPr>
        <p:spPr>
          <a:xfrm>
            <a:off x="8546858" y="3945339"/>
            <a:ext cx="3015615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31115" marR="5080">
              <a:lnSpc>
                <a:spcPct val="119000"/>
              </a:lnSpc>
              <a:spcBef>
                <a:spcPts val="100"/>
              </a:spcBef>
            </a:pPr>
            <a:r>
              <a:rPr sz="1050" dirty="0">
                <a:latin typeface="Malgun Gothic"/>
                <a:cs typeface="Malgun Gothic"/>
              </a:rPr>
              <a:t>전 공정 통합 및 자동화</a:t>
            </a:r>
            <a:r>
              <a:rPr sz="1050" dirty="0">
                <a:latin typeface="Arial"/>
                <a:cs typeface="Arial"/>
              </a:rPr>
              <a:t>: </a:t>
            </a:r>
            <a:r>
              <a:rPr sz="1050" dirty="0">
                <a:latin typeface="Malgun Gothic"/>
                <a:cs typeface="Malgun Gothic"/>
              </a:rPr>
              <a:t>디지털 트윈</a:t>
            </a:r>
            <a:r>
              <a:rPr sz="1050" dirty="0">
                <a:latin typeface="Arial"/>
                <a:cs typeface="Arial"/>
              </a:rPr>
              <a:t>, AI, </a:t>
            </a:r>
            <a:r>
              <a:rPr sz="1050" dirty="0">
                <a:latin typeface="Malgun Gothic"/>
                <a:cs typeface="Malgun Gothic"/>
              </a:rPr>
              <a:t>로봇이 유 기적으로 연동되는 통합 시스템 구축</a:t>
            </a:r>
            <a:endParaRPr sz="1050">
              <a:latin typeface="Malgun Gothic"/>
              <a:cs typeface="Malgun Gothic"/>
            </a:endParaRPr>
          </a:p>
          <a:p>
            <a:pPr marL="12700" marR="75565">
              <a:lnSpc>
                <a:spcPct val="119000"/>
              </a:lnSpc>
              <a:spcBef>
                <a:spcPts val="600"/>
              </a:spcBef>
            </a:pPr>
            <a:r>
              <a:rPr sz="1050" dirty="0">
                <a:latin typeface="Malgun Gothic"/>
                <a:cs typeface="Malgun Gothic"/>
              </a:rPr>
              <a:t>생산 제어 자율화</a:t>
            </a:r>
            <a:r>
              <a:rPr sz="1050" dirty="0">
                <a:latin typeface="Arial"/>
                <a:cs typeface="Arial"/>
              </a:rPr>
              <a:t>: AI</a:t>
            </a:r>
            <a:r>
              <a:rPr sz="1050" dirty="0">
                <a:latin typeface="Malgun Gothic"/>
                <a:cs typeface="Malgun Gothic"/>
              </a:rPr>
              <a:t>가 실시간으로 공정 데이터를 분석하고 생산 조건을 자율적으로 조정</a:t>
            </a:r>
            <a:endParaRPr sz="1050">
              <a:latin typeface="Malgun Gothic"/>
              <a:cs typeface="Malgun Gothic"/>
            </a:endParaRPr>
          </a:p>
          <a:p>
            <a:pPr marL="12700" marR="68580">
              <a:lnSpc>
                <a:spcPct val="119000"/>
              </a:lnSpc>
              <a:spcBef>
                <a:spcPts val="600"/>
              </a:spcBef>
            </a:pPr>
            <a:r>
              <a:rPr sz="1050" dirty="0">
                <a:latin typeface="Malgun Gothic"/>
                <a:cs typeface="Malgun Gothic"/>
              </a:rPr>
              <a:t>초격차 경쟁력 확보</a:t>
            </a:r>
            <a:r>
              <a:rPr sz="1050" dirty="0">
                <a:latin typeface="Arial"/>
                <a:cs typeface="Arial"/>
              </a:rPr>
              <a:t>: </a:t>
            </a:r>
            <a:r>
              <a:rPr sz="1050" dirty="0">
                <a:latin typeface="Malgun Gothic"/>
                <a:cs typeface="Malgun Gothic"/>
              </a:rPr>
              <a:t>품질과 생산성의 극대화로 글 로벌 시장에서 우위 확보</a:t>
            </a:r>
            <a:endParaRPr sz="1050">
              <a:latin typeface="Malgun Gothic"/>
              <a:cs typeface="Malgun Gothic"/>
            </a:endParaRPr>
          </a:p>
        </p:txBody>
      </p:sp>
      <p:pic>
        <p:nvPicPr>
          <p:cNvPr id="60" name="object 26">
            <a:extLst>
              <a:ext uri="{FF2B5EF4-FFF2-40B4-BE49-F238E27FC236}">
                <a16:creationId xmlns:a16="http://schemas.microsoft.com/office/drawing/2014/main" id="{73881FD7-D604-C2F0-9CB6-F3E46E404FFF}"/>
              </a:ext>
            </a:extLst>
          </p:cNvPr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619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F47D4D38-2F3F-43C3-F7A6-2CC10A34D0D1}"/>
              </a:ext>
            </a:extLst>
          </p:cNvPr>
          <p:cNvSpPr txBox="1">
            <a:spLocks noGrp="1"/>
          </p:cNvSpPr>
          <p:nvPr/>
        </p:nvSpPr>
        <p:spPr>
          <a:xfrm>
            <a:off x="387349" y="320069"/>
            <a:ext cx="6483984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dirty="0"/>
              <a:t>예상 성과 및 투자 효과</a:t>
            </a: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DAE84874-60D3-122F-8677-0AD95D0F2BF0}"/>
              </a:ext>
            </a:extLst>
          </p:cNvPr>
          <p:cNvGrpSpPr/>
          <p:nvPr/>
        </p:nvGrpSpPr>
        <p:grpSpPr>
          <a:xfrm>
            <a:off x="387349" y="1012714"/>
            <a:ext cx="3657600" cy="5638800"/>
            <a:chOff x="380999" y="1104899"/>
            <a:chExt cx="3657600" cy="5638800"/>
          </a:xfrm>
        </p:grpSpPr>
        <p:sp>
          <p:nvSpPr>
            <p:cNvPr id="45" name="object 5">
              <a:extLst>
                <a:ext uri="{FF2B5EF4-FFF2-40B4-BE49-F238E27FC236}">
                  <a16:creationId xmlns:a16="http://schemas.microsoft.com/office/drawing/2014/main" id="{13D199D4-A038-8EA4-67FD-F10ED595DF6F}"/>
                </a:ext>
              </a:extLst>
            </p:cNvPr>
            <p:cNvSpPr/>
            <p:nvPr/>
          </p:nvSpPr>
          <p:spPr>
            <a:xfrm>
              <a:off x="380999" y="1104899"/>
              <a:ext cx="3657600" cy="5638800"/>
            </a:xfrm>
            <a:custGeom>
              <a:avLst/>
              <a:gdLst/>
              <a:ahLst/>
              <a:cxnLst/>
              <a:rect l="l" t="t" r="r" b="b"/>
              <a:pathLst>
                <a:path w="3657600" h="5638800">
                  <a:moveTo>
                    <a:pt x="3586402" y="5638799"/>
                  </a:moveTo>
                  <a:lnTo>
                    <a:pt x="71196" y="5638799"/>
                  </a:lnTo>
                  <a:lnTo>
                    <a:pt x="66241" y="5638311"/>
                  </a:lnTo>
                  <a:lnTo>
                    <a:pt x="29705" y="5623177"/>
                  </a:lnTo>
                  <a:lnTo>
                    <a:pt x="3885" y="5587136"/>
                  </a:lnTo>
                  <a:lnTo>
                    <a:pt x="0" y="5567602"/>
                  </a:lnTo>
                  <a:lnTo>
                    <a:pt x="0" y="5562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86402" y="0"/>
                  </a:lnTo>
                  <a:lnTo>
                    <a:pt x="3627893" y="15621"/>
                  </a:lnTo>
                  <a:lnTo>
                    <a:pt x="3653713" y="51661"/>
                  </a:lnTo>
                  <a:lnTo>
                    <a:pt x="3657599" y="71196"/>
                  </a:lnTo>
                  <a:lnTo>
                    <a:pt x="3657599" y="5567602"/>
                  </a:lnTo>
                  <a:lnTo>
                    <a:pt x="3641977" y="5609092"/>
                  </a:lnTo>
                  <a:lnTo>
                    <a:pt x="3605937" y="5634913"/>
                  </a:lnTo>
                  <a:lnTo>
                    <a:pt x="3591358" y="5638311"/>
                  </a:lnTo>
                  <a:lnTo>
                    <a:pt x="3586402" y="5638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6" name="object 6">
              <a:extLst>
                <a:ext uri="{FF2B5EF4-FFF2-40B4-BE49-F238E27FC236}">
                  <a16:creationId xmlns:a16="http://schemas.microsoft.com/office/drawing/2014/main" id="{6635DCA7-F3F1-1C0B-6347-5536ED9178C2}"/>
                </a:ext>
              </a:extLst>
            </p:cNvPr>
            <p:cNvSpPr/>
            <p:nvPr/>
          </p:nvSpPr>
          <p:spPr>
            <a:xfrm>
              <a:off x="571499" y="1295399"/>
              <a:ext cx="342900" cy="419100"/>
            </a:xfrm>
            <a:custGeom>
              <a:avLst/>
              <a:gdLst/>
              <a:ahLst/>
              <a:cxnLst/>
              <a:rect l="l" t="t" r="r" b="b"/>
              <a:pathLst>
                <a:path w="342900" h="419100">
                  <a:moveTo>
                    <a:pt x="171449" y="419099"/>
                  </a:moveTo>
                  <a:lnTo>
                    <a:pt x="129780" y="413960"/>
                  </a:lnTo>
                  <a:lnTo>
                    <a:pt x="90627" y="398857"/>
                  </a:lnTo>
                  <a:lnTo>
                    <a:pt x="56317" y="374693"/>
                  </a:lnTo>
                  <a:lnTo>
                    <a:pt x="28894" y="342902"/>
                  </a:lnTo>
                  <a:lnTo>
                    <a:pt x="10017" y="305400"/>
                  </a:lnTo>
                  <a:lnTo>
                    <a:pt x="823" y="264455"/>
                  </a:lnTo>
                  <a:lnTo>
                    <a:pt x="0" y="247649"/>
                  </a:lnTo>
                  <a:lnTo>
                    <a:pt x="0" y="171449"/>
                  </a:lnTo>
                  <a:lnTo>
                    <a:pt x="5139" y="129780"/>
                  </a:lnTo>
                  <a:lnTo>
                    <a:pt x="20242" y="90627"/>
                  </a:lnTo>
                  <a:lnTo>
                    <a:pt x="44406" y="56317"/>
                  </a:lnTo>
                  <a:lnTo>
                    <a:pt x="76197" y="28894"/>
                  </a:lnTo>
                  <a:lnTo>
                    <a:pt x="113699" y="10017"/>
                  </a:lnTo>
                  <a:lnTo>
                    <a:pt x="154644" y="823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899" y="247649"/>
                  </a:lnTo>
                  <a:lnTo>
                    <a:pt x="337760" y="289319"/>
                  </a:lnTo>
                  <a:lnTo>
                    <a:pt x="322656" y="328471"/>
                  </a:lnTo>
                  <a:lnTo>
                    <a:pt x="298493" y="362781"/>
                  </a:lnTo>
                  <a:lnTo>
                    <a:pt x="266702" y="390205"/>
                  </a:lnTo>
                  <a:lnTo>
                    <a:pt x="229200" y="409082"/>
                  </a:lnTo>
                  <a:lnTo>
                    <a:pt x="188255" y="418276"/>
                  </a:lnTo>
                  <a:lnTo>
                    <a:pt x="171449" y="4190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47" name="object 7">
              <a:extLst>
                <a:ext uri="{FF2B5EF4-FFF2-40B4-BE49-F238E27FC236}">
                  <a16:creationId xmlns:a16="http://schemas.microsoft.com/office/drawing/2014/main" id="{18EA10E9-6A67-01FB-62B8-224C0A027C4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699" y="1371599"/>
              <a:ext cx="190499" cy="266699"/>
            </a:xfrm>
            <a:prstGeom prst="rect">
              <a:avLst/>
            </a:prstGeom>
          </p:spPr>
        </p:pic>
      </p:grpSp>
      <p:sp>
        <p:nvSpPr>
          <p:cNvPr id="4" name="object 8">
            <a:extLst>
              <a:ext uri="{FF2B5EF4-FFF2-40B4-BE49-F238E27FC236}">
                <a16:creationId xmlns:a16="http://schemas.microsoft.com/office/drawing/2014/main" id="{5084E532-94DF-3CFC-ECAF-354AF26A7F92}"/>
              </a:ext>
            </a:extLst>
          </p:cNvPr>
          <p:cNvSpPr txBox="1"/>
          <p:nvPr/>
        </p:nvSpPr>
        <p:spPr>
          <a:xfrm>
            <a:off x="1022349" y="1268426"/>
            <a:ext cx="2120899" cy="25263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정량적 기대</a:t>
            </a:r>
            <a:r>
              <a:rPr sz="1500" dirty="0">
                <a:solidFill>
                  <a:srgbClr val="1F2937"/>
                </a:solidFill>
                <a:latin typeface="Malgun Gothic"/>
                <a:cs typeface="Malgun Gothic"/>
              </a:rPr>
              <a:t>효</a:t>
            </a: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과</a:t>
            </a:r>
            <a:endParaRPr sz="1550" dirty="0">
              <a:latin typeface="Malgun Gothic"/>
              <a:cs typeface="Malgun Gothic"/>
            </a:endParaRPr>
          </a:p>
        </p:txBody>
      </p:sp>
      <p:grpSp>
        <p:nvGrpSpPr>
          <p:cNvPr id="5" name="object 9">
            <a:extLst>
              <a:ext uri="{FF2B5EF4-FFF2-40B4-BE49-F238E27FC236}">
                <a16:creationId xmlns:a16="http://schemas.microsoft.com/office/drawing/2014/main" id="{F9250D9B-9EDD-F849-B284-A5869A4764AF}"/>
              </a:ext>
            </a:extLst>
          </p:cNvPr>
          <p:cNvGrpSpPr/>
          <p:nvPr/>
        </p:nvGrpSpPr>
        <p:grpSpPr>
          <a:xfrm>
            <a:off x="577850" y="1012714"/>
            <a:ext cx="7353299" cy="5638800"/>
            <a:chOff x="571500" y="1104899"/>
            <a:chExt cx="7353299" cy="5638800"/>
          </a:xfrm>
        </p:grpSpPr>
        <p:pic>
          <p:nvPicPr>
            <p:cNvPr id="38" name="object 10">
              <a:extLst>
                <a:ext uri="{FF2B5EF4-FFF2-40B4-BE49-F238E27FC236}">
                  <a16:creationId xmlns:a16="http://schemas.microsoft.com/office/drawing/2014/main" id="{8A17654B-56D7-375A-3028-7105F9AD042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1904999"/>
              <a:ext cx="76199" cy="152399"/>
            </a:xfrm>
            <a:prstGeom prst="rect">
              <a:avLst/>
            </a:prstGeom>
          </p:spPr>
        </p:pic>
        <p:pic>
          <p:nvPicPr>
            <p:cNvPr id="39" name="object 11">
              <a:extLst>
                <a:ext uri="{FF2B5EF4-FFF2-40B4-BE49-F238E27FC236}">
                  <a16:creationId xmlns:a16="http://schemas.microsoft.com/office/drawing/2014/main" id="{A083CE1F-F8AB-A3B0-F6B2-5D517DC42FF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2476499"/>
              <a:ext cx="76199" cy="152399"/>
            </a:xfrm>
            <a:prstGeom prst="rect">
              <a:avLst/>
            </a:prstGeom>
          </p:spPr>
        </p:pic>
        <p:pic>
          <p:nvPicPr>
            <p:cNvPr id="40" name="object 12">
              <a:extLst>
                <a:ext uri="{FF2B5EF4-FFF2-40B4-BE49-F238E27FC236}">
                  <a16:creationId xmlns:a16="http://schemas.microsoft.com/office/drawing/2014/main" id="{AFF4C53D-6401-D35B-5C1A-A89AFF41C48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3047999"/>
              <a:ext cx="76199" cy="152399"/>
            </a:xfrm>
            <a:prstGeom prst="rect">
              <a:avLst/>
            </a:prstGeom>
          </p:spPr>
        </p:pic>
        <p:pic>
          <p:nvPicPr>
            <p:cNvPr id="41" name="object 13">
              <a:extLst>
                <a:ext uri="{FF2B5EF4-FFF2-40B4-BE49-F238E27FC236}">
                  <a16:creationId xmlns:a16="http://schemas.microsoft.com/office/drawing/2014/main" id="{C2372E87-FBA6-C633-B1FD-07C1C522700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3809999"/>
              <a:ext cx="76199" cy="152399"/>
            </a:xfrm>
            <a:prstGeom prst="rect">
              <a:avLst/>
            </a:prstGeom>
          </p:spPr>
        </p:pic>
        <p:sp>
          <p:nvSpPr>
            <p:cNvPr id="42" name="object 14">
              <a:extLst>
                <a:ext uri="{FF2B5EF4-FFF2-40B4-BE49-F238E27FC236}">
                  <a16:creationId xmlns:a16="http://schemas.microsoft.com/office/drawing/2014/main" id="{68AA6A10-A486-F727-1066-C597291553B9}"/>
                </a:ext>
              </a:extLst>
            </p:cNvPr>
            <p:cNvSpPr/>
            <p:nvPr/>
          </p:nvSpPr>
          <p:spPr>
            <a:xfrm>
              <a:off x="4267199" y="1104899"/>
              <a:ext cx="3657600" cy="5638800"/>
            </a:xfrm>
            <a:custGeom>
              <a:avLst/>
              <a:gdLst/>
              <a:ahLst/>
              <a:cxnLst/>
              <a:rect l="l" t="t" r="r" b="b"/>
              <a:pathLst>
                <a:path w="3657600" h="5638800">
                  <a:moveTo>
                    <a:pt x="3586403" y="5638799"/>
                  </a:moveTo>
                  <a:lnTo>
                    <a:pt x="71196" y="5638799"/>
                  </a:lnTo>
                  <a:lnTo>
                    <a:pt x="66241" y="5638311"/>
                  </a:lnTo>
                  <a:lnTo>
                    <a:pt x="29705" y="5623177"/>
                  </a:lnTo>
                  <a:lnTo>
                    <a:pt x="3885" y="5587136"/>
                  </a:lnTo>
                  <a:lnTo>
                    <a:pt x="0" y="5567602"/>
                  </a:lnTo>
                  <a:lnTo>
                    <a:pt x="0" y="5562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86403" y="0"/>
                  </a:lnTo>
                  <a:lnTo>
                    <a:pt x="3627893" y="15621"/>
                  </a:lnTo>
                  <a:lnTo>
                    <a:pt x="3653713" y="51661"/>
                  </a:lnTo>
                  <a:lnTo>
                    <a:pt x="3657599" y="71196"/>
                  </a:lnTo>
                  <a:lnTo>
                    <a:pt x="3657599" y="5567602"/>
                  </a:lnTo>
                  <a:lnTo>
                    <a:pt x="3641977" y="5609092"/>
                  </a:lnTo>
                  <a:lnTo>
                    <a:pt x="3605936" y="5634913"/>
                  </a:lnTo>
                  <a:lnTo>
                    <a:pt x="3591358" y="5638311"/>
                  </a:lnTo>
                  <a:lnTo>
                    <a:pt x="3586403" y="5638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3" name="object 15">
              <a:extLst>
                <a:ext uri="{FF2B5EF4-FFF2-40B4-BE49-F238E27FC236}">
                  <a16:creationId xmlns:a16="http://schemas.microsoft.com/office/drawing/2014/main" id="{2CC8D40E-0EE7-C444-3F63-0879BC91676E}"/>
                </a:ext>
              </a:extLst>
            </p:cNvPr>
            <p:cNvSpPr/>
            <p:nvPr/>
          </p:nvSpPr>
          <p:spPr>
            <a:xfrm>
              <a:off x="4457699" y="1295399"/>
              <a:ext cx="295275" cy="419100"/>
            </a:xfrm>
            <a:custGeom>
              <a:avLst/>
              <a:gdLst/>
              <a:ahLst/>
              <a:cxnLst/>
              <a:rect l="l" t="t" r="r" b="b"/>
              <a:pathLst>
                <a:path w="295275" h="419100">
                  <a:moveTo>
                    <a:pt x="147637" y="419099"/>
                  </a:moveTo>
                  <a:lnTo>
                    <a:pt x="104779" y="412744"/>
                  </a:lnTo>
                  <a:lnTo>
                    <a:pt x="65613" y="394218"/>
                  </a:lnTo>
                  <a:lnTo>
                    <a:pt x="33510" y="365123"/>
                  </a:lnTo>
                  <a:lnTo>
                    <a:pt x="11237" y="327960"/>
                  </a:lnTo>
                  <a:lnTo>
                    <a:pt x="708" y="285933"/>
                  </a:lnTo>
                  <a:lnTo>
                    <a:pt x="0" y="271462"/>
                  </a:lnTo>
                  <a:lnTo>
                    <a:pt x="0" y="147637"/>
                  </a:lnTo>
                  <a:lnTo>
                    <a:pt x="6354" y="104779"/>
                  </a:lnTo>
                  <a:lnTo>
                    <a:pt x="24880" y="65614"/>
                  </a:lnTo>
                  <a:lnTo>
                    <a:pt x="53975" y="33510"/>
                  </a:lnTo>
                  <a:lnTo>
                    <a:pt x="91138" y="11238"/>
                  </a:lnTo>
                  <a:lnTo>
                    <a:pt x="133166" y="709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6" y="8626"/>
                  </a:lnTo>
                  <a:lnTo>
                    <a:pt x="235592" y="29058"/>
                  </a:lnTo>
                  <a:lnTo>
                    <a:pt x="266216" y="59682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271462"/>
                  </a:lnTo>
                  <a:lnTo>
                    <a:pt x="288918" y="314319"/>
                  </a:lnTo>
                  <a:lnTo>
                    <a:pt x="270393" y="353485"/>
                  </a:lnTo>
                  <a:lnTo>
                    <a:pt x="241298" y="385589"/>
                  </a:lnTo>
                  <a:lnTo>
                    <a:pt x="204135" y="407861"/>
                  </a:lnTo>
                  <a:lnTo>
                    <a:pt x="162108" y="418390"/>
                  </a:lnTo>
                  <a:lnTo>
                    <a:pt x="147637" y="4190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44" name="object 16">
              <a:extLst>
                <a:ext uri="{FF2B5EF4-FFF2-40B4-BE49-F238E27FC236}">
                  <a16:creationId xmlns:a16="http://schemas.microsoft.com/office/drawing/2014/main" id="{6566D1BC-39B6-D0C3-6FDE-4703A401DDF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3900" y="1371599"/>
              <a:ext cx="142874" cy="266699"/>
            </a:xfrm>
            <a:prstGeom prst="rect">
              <a:avLst/>
            </a:prstGeom>
          </p:spPr>
        </p:pic>
      </p:grpSp>
      <p:sp>
        <p:nvSpPr>
          <p:cNvPr id="6" name="object 17">
            <a:extLst>
              <a:ext uri="{FF2B5EF4-FFF2-40B4-BE49-F238E27FC236}">
                <a16:creationId xmlns:a16="http://schemas.microsoft.com/office/drawing/2014/main" id="{D685F3F3-9023-9319-8DD8-91C757E3EEE6}"/>
              </a:ext>
            </a:extLst>
          </p:cNvPr>
          <p:cNvSpPr txBox="1"/>
          <p:nvPr/>
        </p:nvSpPr>
        <p:spPr>
          <a:xfrm>
            <a:off x="717549" y="1719288"/>
            <a:ext cx="3048635" cy="46294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생산성 향상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AI 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도입 기업의 생산성 향상률 </a:t>
            </a: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0.8~1.4%p 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기대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7" name="object 18">
            <a:extLst>
              <a:ext uri="{FF2B5EF4-FFF2-40B4-BE49-F238E27FC236}">
                <a16:creationId xmlns:a16="http://schemas.microsoft.com/office/drawing/2014/main" id="{5CFB02AD-DF69-40F7-0B25-02B6D5FD71BC}"/>
              </a:ext>
            </a:extLst>
          </p:cNvPr>
          <p:cNvSpPr txBox="1"/>
          <p:nvPr/>
        </p:nvSpPr>
        <p:spPr>
          <a:xfrm>
            <a:off x="717549" y="2290788"/>
            <a:ext cx="2837818" cy="46294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비용 절감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불량률 감소로 인한 재고 비용 </a:t>
            </a: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30% 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절감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8" name="object 19">
            <a:extLst>
              <a:ext uri="{FF2B5EF4-FFF2-40B4-BE49-F238E27FC236}">
                <a16:creationId xmlns:a16="http://schemas.microsoft.com/office/drawing/2014/main" id="{1CBCC3D5-D5D8-03D4-9CCF-6087F5E82E35}"/>
              </a:ext>
            </a:extLst>
          </p:cNvPr>
          <p:cNvSpPr txBox="1"/>
          <p:nvPr/>
        </p:nvSpPr>
        <p:spPr>
          <a:xfrm>
            <a:off x="717549" y="2862288"/>
            <a:ext cx="3401062" cy="650177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유지보수 비용 감소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예측 유지보수 시스템으로 인한 유지보수 비용 </a:t>
            </a: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20%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절감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9" name="object 20">
            <a:extLst>
              <a:ext uri="{FF2B5EF4-FFF2-40B4-BE49-F238E27FC236}">
                <a16:creationId xmlns:a16="http://schemas.microsoft.com/office/drawing/2014/main" id="{1360E764-D3B3-6CB7-2101-9A54E2D798FC}"/>
              </a:ext>
            </a:extLst>
          </p:cNvPr>
          <p:cNvSpPr txBox="1"/>
          <p:nvPr/>
        </p:nvSpPr>
        <p:spPr>
          <a:xfrm>
            <a:off x="717549" y="3624288"/>
            <a:ext cx="2837818" cy="46294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매출 증대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수율 개선 및 생산량 증대로 인한 매출 증가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10" name="object 21">
            <a:extLst>
              <a:ext uri="{FF2B5EF4-FFF2-40B4-BE49-F238E27FC236}">
                <a16:creationId xmlns:a16="http://schemas.microsoft.com/office/drawing/2014/main" id="{7A3E18D6-2E99-4760-A274-3B19B36E3C25}"/>
              </a:ext>
            </a:extLst>
          </p:cNvPr>
          <p:cNvSpPr txBox="1"/>
          <p:nvPr/>
        </p:nvSpPr>
        <p:spPr>
          <a:xfrm>
            <a:off x="4860924" y="1268426"/>
            <a:ext cx="1863726" cy="25263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정성적 기대</a:t>
            </a:r>
            <a:r>
              <a:rPr sz="1500" dirty="0">
                <a:solidFill>
                  <a:srgbClr val="1F2937"/>
                </a:solidFill>
                <a:latin typeface="Malgun Gothic"/>
                <a:cs typeface="Malgun Gothic"/>
              </a:rPr>
              <a:t>효</a:t>
            </a: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과</a:t>
            </a:r>
            <a:endParaRPr sz="1550" dirty="0">
              <a:latin typeface="Malgun Gothic"/>
              <a:cs typeface="Malgun Gothic"/>
            </a:endParaRPr>
          </a:p>
        </p:txBody>
      </p:sp>
      <p:pic>
        <p:nvPicPr>
          <p:cNvPr id="28" name="object 23">
            <a:extLst>
              <a:ext uri="{FF2B5EF4-FFF2-40B4-BE49-F238E27FC236}">
                <a16:creationId xmlns:a16="http://schemas.microsoft.com/office/drawing/2014/main" id="{DE97A38D-9EAC-8A71-1E78-C8B8EDF40FC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64050" y="1812814"/>
            <a:ext cx="76199" cy="152399"/>
          </a:xfrm>
          <a:prstGeom prst="rect">
            <a:avLst/>
          </a:prstGeom>
        </p:spPr>
      </p:pic>
      <p:pic>
        <p:nvPicPr>
          <p:cNvPr id="29" name="object 24">
            <a:extLst>
              <a:ext uri="{FF2B5EF4-FFF2-40B4-BE49-F238E27FC236}">
                <a16:creationId xmlns:a16="http://schemas.microsoft.com/office/drawing/2014/main" id="{CA5C3C9D-A20C-B250-0D38-AB00F97A3A8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64050" y="2574814"/>
            <a:ext cx="76199" cy="152399"/>
          </a:xfrm>
          <a:prstGeom prst="rect">
            <a:avLst/>
          </a:prstGeom>
        </p:spPr>
      </p:pic>
      <p:pic>
        <p:nvPicPr>
          <p:cNvPr id="30" name="object 25">
            <a:extLst>
              <a:ext uri="{FF2B5EF4-FFF2-40B4-BE49-F238E27FC236}">
                <a16:creationId xmlns:a16="http://schemas.microsoft.com/office/drawing/2014/main" id="{E4AD5061-035D-AFB7-DA7F-9C90A15B8A1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64050" y="3146314"/>
            <a:ext cx="76199" cy="152399"/>
          </a:xfrm>
          <a:prstGeom prst="rect">
            <a:avLst/>
          </a:prstGeom>
        </p:spPr>
      </p:pic>
      <p:pic>
        <p:nvPicPr>
          <p:cNvPr id="31" name="object 26">
            <a:extLst>
              <a:ext uri="{FF2B5EF4-FFF2-40B4-BE49-F238E27FC236}">
                <a16:creationId xmlns:a16="http://schemas.microsoft.com/office/drawing/2014/main" id="{C3A96B4E-B6AD-8E68-BF3F-9880266FF84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64050" y="3717814"/>
            <a:ext cx="76199" cy="152399"/>
          </a:xfrm>
          <a:prstGeom prst="rect">
            <a:avLst/>
          </a:prstGeom>
        </p:spPr>
      </p:pic>
      <p:sp>
        <p:nvSpPr>
          <p:cNvPr id="32" name="object 27">
            <a:extLst>
              <a:ext uri="{FF2B5EF4-FFF2-40B4-BE49-F238E27FC236}">
                <a16:creationId xmlns:a16="http://schemas.microsoft.com/office/drawing/2014/main" id="{FC1EA2EB-4663-E68C-ED1C-C6904171F952}"/>
              </a:ext>
            </a:extLst>
          </p:cNvPr>
          <p:cNvSpPr/>
          <p:nvPr/>
        </p:nvSpPr>
        <p:spPr>
          <a:xfrm>
            <a:off x="8159748" y="1012714"/>
            <a:ext cx="3657600" cy="2857500"/>
          </a:xfrm>
          <a:custGeom>
            <a:avLst/>
            <a:gdLst/>
            <a:ahLst/>
            <a:cxnLst/>
            <a:rect l="l" t="t" r="r" b="b"/>
            <a:pathLst>
              <a:path w="3657600" h="2857500">
                <a:moveTo>
                  <a:pt x="3586403" y="2857499"/>
                </a:moveTo>
                <a:lnTo>
                  <a:pt x="71196" y="2857499"/>
                </a:lnTo>
                <a:lnTo>
                  <a:pt x="66241" y="2857011"/>
                </a:lnTo>
                <a:lnTo>
                  <a:pt x="29706" y="2841877"/>
                </a:lnTo>
                <a:lnTo>
                  <a:pt x="3885" y="2805836"/>
                </a:lnTo>
                <a:lnTo>
                  <a:pt x="0" y="2786302"/>
                </a:lnTo>
                <a:lnTo>
                  <a:pt x="0" y="27812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3586403" y="0"/>
                </a:lnTo>
                <a:lnTo>
                  <a:pt x="3627895" y="15621"/>
                </a:lnTo>
                <a:lnTo>
                  <a:pt x="3653714" y="51661"/>
                </a:lnTo>
                <a:lnTo>
                  <a:pt x="3657600" y="71196"/>
                </a:lnTo>
                <a:lnTo>
                  <a:pt x="3657600" y="2786302"/>
                </a:lnTo>
                <a:lnTo>
                  <a:pt x="3641977" y="2827793"/>
                </a:lnTo>
                <a:lnTo>
                  <a:pt x="3605938" y="2853613"/>
                </a:lnTo>
                <a:lnTo>
                  <a:pt x="3591358" y="2857011"/>
                </a:lnTo>
                <a:lnTo>
                  <a:pt x="3586403" y="28574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3" name="object 28">
            <a:extLst>
              <a:ext uri="{FF2B5EF4-FFF2-40B4-BE49-F238E27FC236}">
                <a16:creationId xmlns:a16="http://schemas.microsoft.com/office/drawing/2014/main" id="{AC868CF9-6643-5DE8-986B-E4B5FFEB5E4C}"/>
              </a:ext>
            </a:extLst>
          </p:cNvPr>
          <p:cNvSpPr/>
          <p:nvPr/>
        </p:nvSpPr>
        <p:spPr>
          <a:xfrm>
            <a:off x="8350237" y="1736614"/>
            <a:ext cx="38100" cy="1943100"/>
          </a:xfrm>
          <a:custGeom>
            <a:avLst/>
            <a:gdLst/>
            <a:ahLst/>
            <a:cxnLst/>
            <a:rect l="l" t="t" r="r" b="b"/>
            <a:pathLst>
              <a:path w="38100" h="1943100">
                <a:moveTo>
                  <a:pt x="38100" y="1371600"/>
                </a:moveTo>
                <a:lnTo>
                  <a:pt x="0" y="1371600"/>
                </a:lnTo>
                <a:lnTo>
                  <a:pt x="0" y="1943100"/>
                </a:lnTo>
                <a:lnTo>
                  <a:pt x="38100" y="1943100"/>
                </a:lnTo>
                <a:lnTo>
                  <a:pt x="38100" y="1371600"/>
                </a:lnTo>
                <a:close/>
              </a:path>
              <a:path w="38100" h="1943100">
                <a:moveTo>
                  <a:pt x="38100" y="685800"/>
                </a:moveTo>
                <a:lnTo>
                  <a:pt x="0" y="685800"/>
                </a:lnTo>
                <a:lnTo>
                  <a:pt x="0" y="1257300"/>
                </a:lnTo>
                <a:lnTo>
                  <a:pt x="38100" y="1257300"/>
                </a:lnTo>
                <a:lnTo>
                  <a:pt x="38100" y="685800"/>
                </a:lnTo>
                <a:close/>
              </a:path>
              <a:path w="38100" h="1943100">
                <a:moveTo>
                  <a:pt x="38100" y="0"/>
                </a:moveTo>
                <a:lnTo>
                  <a:pt x="0" y="0"/>
                </a:lnTo>
                <a:lnTo>
                  <a:pt x="0" y="571500"/>
                </a:lnTo>
                <a:lnTo>
                  <a:pt x="38100" y="571500"/>
                </a:lnTo>
                <a:lnTo>
                  <a:pt x="38100" y="0"/>
                </a:lnTo>
                <a:close/>
              </a:path>
            </a:pathLst>
          </a:custGeom>
          <a:solidFill>
            <a:srgbClr val="0FB981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4" name="object 29">
            <a:extLst>
              <a:ext uri="{FF2B5EF4-FFF2-40B4-BE49-F238E27FC236}">
                <a16:creationId xmlns:a16="http://schemas.microsoft.com/office/drawing/2014/main" id="{395E17AD-3557-4780-FB7B-111FD0DB0D48}"/>
              </a:ext>
            </a:extLst>
          </p:cNvPr>
          <p:cNvSpPr/>
          <p:nvPr/>
        </p:nvSpPr>
        <p:spPr>
          <a:xfrm>
            <a:off x="8159748" y="4022614"/>
            <a:ext cx="3657600" cy="2628900"/>
          </a:xfrm>
          <a:custGeom>
            <a:avLst/>
            <a:gdLst/>
            <a:ahLst/>
            <a:cxnLst/>
            <a:rect l="l" t="t" r="r" b="b"/>
            <a:pathLst>
              <a:path w="3657600" h="2628900">
                <a:moveTo>
                  <a:pt x="3586403" y="2628899"/>
                </a:moveTo>
                <a:lnTo>
                  <a:pt x="71196" y="2628899"/>
                </a:lnTo>
                <a:lnTo>
                  <a:pt x="66241" y="2628411"/>
                </a:lnTo>
                <a:lnTo>
                  <a:pt x="29706" y="2613277"/>
                </a:lnTo>
                <a:lnTo>
                  <a:pt x="3885" y="2577236"/>
                </a:lnTo>
                <a:lnTo>
                  <a:pt x="0" y="2557702"/>
                </a:lnTo>
                <a:lnTo>
                  <a:pt x="0" y="25526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3586403" y="0"/>
                </a:lnTo>
                <a:lnTo>
                  <a:pt x="3627895" y="15621"/>
                </a:lnTo>
                <a:lnTo>
                  <a:pt x="3653714" y="51661"/>
                </a:lnTo>
                <a:lnTo>
                  <a:pt x="3657600" y="71196"/>
                </a:lnTo>
                <a:lnTo>
                  <a:pt x="3657600" y="2557702"/>
                </a:lnTo>
                <a:lnTo>
                  <a:pt x="3641977" y="2599192"/>
                </a:lnTo>
                <a:lnTo>
                  <a:pt x="3605938" y="2625013"/>
                </a:lnTo>
                <a:lnTo>
                  <a:pt x="3591358" y="2628411"/>
                </a:lnTo>
                <a:lnTo>
                  <a:pt x="3586403" y="2628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5" name="object 30">
            <a:extLst>
              <a:ext uri="{FF2B5EF4-FFF2-40B4-BE49-F238E27FC236}">
                <a16:creationId xmlns:a16="http://schemas.microsoft.com/office/drawing/2014/main" id="{2AAD5368-F3EB-27CA-9FE6-AE912BBC1765}"/>
              </a:ext>
            </a:extLst>
          </p:cNvPr>
          <p:cNvSpPr/>
          <p:nvPr/>
        </p:nvSpPr>
        <p:spPr>
          <a:xfrm>
            <a:off x="8350248" y="5737114"/>
            <a:ext cx="3276600" cy="530336"/>
          </a:xfrm>
          <a:custGeom>
            <a:avLst/>
            <a:gdLst/>
            <a:ahLst/>
            <a:cxnLst/>
            <a:rect l="l" t="t" r="r" b="b"/>
            <a:pathLst>
              <a:path w="3276600" h="723900">
                <a:moveTo>
                  <a:pt x="3243552" y="723899"/>
                </a:moveTo>
                <a:lnTo>
                  <a:pt x="33047" y="723899"/>
                </a:lnTo>
                <a:lnTo>
                  <a:pt x="28186" y="722932"/>
                </a:lnTo>
                <a:lnTo>
                  <a:pt x="966" y="695712"/>
                </a:lnTo>
                <a:lnTo>
                  <a:pt x="0" y="690852"/>
                </a:lnTo>
                <a:lnTo>
                  <a:pt x="0" y="6857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243552" y="0"/>
                </a:lnTo>
                <a:lnTo>
                  <a:pt x="3275632" y="28187"/>
                </a:lnTo>
                <a:lnTo>
                  <a:pt x="3276599" y="33047"/>
                </a:lnTo>
                <a:lnTo>
                  <a:pt x="3276599" y="690852"/>
                </a:lnTo>
                <a:lnTo>
                  <a:pt x="3248411" y="722932"/>
                </a:lnTo>
                <a:lnTo>
                  <a:pt x="3243552" y="723899"/>
                </a:lnTo>
                <a:close/>
              </a:path>
            </a:pathLst>
          </a:custGeom>
          <a:solidFill>
            <a:srgbClr val="FEFBE7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6" name="object 31">
            <a:extLst>
              <a:ext uri="{FF2B5EF4-FFF2-40B4-BE49-F238E27FC236}">
                <a16:creationId xmlns:a16="http://schemas.microsoft.com/office/drawing/2014/main" id="{44D5972A-B55E-53A7-8F22-C6CD8D84BCB1}"/>
              </a:ext>
            </a:extLst>
          </p:cNvPr>
          <p:cNvSpPr/>
          <p:nvPr/>
        </p:nvSpPr>
        <p:spPr>
          <a:xfrm>
            <a:off x="8350249" y="1203214"/>
            <a:ext cx="295275" cy="419100"/>
          </a:xfrm>
          <a:custGeom>
            <a:avLst/>
            <a:gdLst/>
            <a:ahLst/>
            <a:cxnLst/>
            <a:rect l="l" t="t" r="r" b="b"/>
            <a:pathLst>
              <a:path w="295275" h="419100">
                <a:moveTo>
                  <a:pt x="147637" y="419099"/>
                </a:moveTo>
                <a:lnTo>
                  <a:pt x="104779" y="412744"/>
                </a:lnTo>
                <a:lnTo>
                  <a:pt x="65614" y="394218"/>
                </a:lnTo>
                <a:lnTo>
                  <a:pt x="33510" y="365123"/>
                </a:lnTo>
                <a:lnTo>
                  <a:pt x="11237" y="327960"/>
                </a:lnTo>
                <a:lnTo>
                  <a:pt x="708" y="285933"/>
                </a:lnTo>
                <a:lnTo>
                  <a:pt x="0" y="271462"/>
                </a:lnTo>
                <a:lnTo>
                  <a:pt x="0" y="147637"/>
                </a:lnTo>
                <a:lnTo>
                  <a:pt x="6354" y="104779"/>
                </a:lnTo>
                <a:lnTo>
                  <a:pt x="24879" y="65614"/>
                </a:lnTo>
                <a:lnTo>
                  <a:pt x="53975" y="33510"/>
                </a:lnTo>
                <a:lnTo>
                  <a:pt x="91138" y="11238"/>
                </a:lnTo>
                <a:lnTo>
                  <a:pt x="133165" y="709"/>
                </a:lnTo>
                <a:lnTo>
                  <a:pt x="147637" y="0"/>
                </a:lnTo>
                <a:lnTo>
                  <a:pt x="154889" y="177"/>
                </a:lnTo>
                <a:lnTo>
                  <a:pt x="197365" y="8626"/>
                </a:lnTo>
                <a:lnTo>
                  <a:pt x="235591" y="29058"/>
                </a:lnTo>
                <a:lnTo>
                  <a:pt x="266215" y="59682"/>
                </a:lnTo>
                <a:lnTo>
                  <a:pt x="286647" y="97907"/>
                </a:lnTo>
                <a:lnTo>
                  <a:pt x="295097" y="140384"/>
                </a:lnTo>
                <a:lnTo>
                  <a:pt x="295274" y="147637"/>
                </a:lnTo>
                <a:lnTo>
                  <a:pt x="295274" y="271462"/>
                </a:lnTo>
                <a:lnTo>
                  <a:pt x="288918" y="314319"/>
                </a:lnTo>
                <a:lnTo>
                  <a:pt x="270392" y="353485"/>
                </a:lnTo>
                <a:lnTo>
                  <a:pt x="241297" y="385589"/>
                </a:lnTo>
                <a:lnTo>
                  <a:pt x="204134" y="407861"/>
                </a:lnTo>
                <a:lnTo>
                  <a:pt x="162107" y="418390"/>
                </a:lnTo>
                <a:lnTo>
                  <a:pt x="147637" y="419099"/>
                </a:lnTo>
                <a:close/>
              </a:path>
            </a:pathLst>
          </a:custGeom>
          <a:solidFill>
            <a:srgbClr val="DBFBE7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pic>
        <p:nvPicPr>
          <p:cNvPr id="37" name="object 32">
            <a:extLst>
              <a:ext uri="{FF2B5EF4-FFF2-40B4-BE49-F238E27FC236}">
                <a16:creationId xmlns:a16="http://schemas.microsoft.com/office/drawing/2014/main" id="{A318B6C1-E605-7664-B004-A2F0F5510E7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26450" y="1279414"/>
            <a:ext cx="142874" cy="266699"/>
          </a:xfrm>
          <a:prstGeom prst="rect">
            <a:avLst/>
          </a:prstGeom>
        </p:spPr>
      </p:pic>
      <p:sp>
        <p:nvSpPr>
          <p:cNvPr id="12" name="object 33">
            <a:extLst>
              <a:ext uri="{FF2B5EF4-FFF2-40B4-BE49-F238E27FC236}">
                <a16:creationId xmlns:a16="http://schemas.microsoft.com/office/drawing/2014/main" id="{6EBD6B39-6023-B4B0-9D6F-F3437E6662C1}"/>
              </a:ext>
            </a:extLst>
          </p:cNvPr>
          <p:cNvSpPr txBox="1"/>
          <p:nvPr/>
        </p:nvSpPr>
        <p:spPr>
          <a:xfrm>
            <a:off x="4603750" y="1719288"/>
            <a:ext cx="3454385" cy="43755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경쟁 우위</a:t>
            </a:r>
            <a:endParaRPr sz="1200" dirty="0">
              <a:latin typeface="Malgun Gothic"/>
              <a:cs typeface="Malgun Gothic"/>
            </a:endParaRPr>
          </a:p>
          <a:p>
            <a:pPr marL="12700" marR="5080">
              <a:lnSpc>
                <a:spcPct val="119000"/>
              </a:lnSpc>
              <a:spcBef>
                <a:spcPts val="120"/>
              </a:spcBef>
            </a:pP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AI 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기반 제조 혁신 기업이라는 이미지 구축으로 시장 선도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13" name="object 34">
            <a:extLst>
              <a:ext uri="{FF2B5EF4-FFF2-40B4-BE49-F238E27FC236}">
                <a16:creationId xmlns:a16="http://schemas.microsoft.com/office/drawing/2014/main" id="{FC8C691E-9172-CA14-792E-A89154C68AF1}"/>
              </a:ext>
            </a:extLst>
          </p:cNvPr>
          <p:cNvSpPr txBox="1"/>
          <p:nvPr/>
        </p:nvSpPr>
        <p:spPr>
          <a:xfrm>
            <a:off x="4603749" y="2481288"/>
            <a:ext cx="2720975" cy="46294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조직 문화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데이터 기반의 합리적 의사결정 문화 확산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14" name="object 35">
            <a:extLst>
              <a:ext uri="{FF2B5EF4-FFF2-40B4-BE49-F238E27FC236}">
                <a16:creationId xmlns:a16="http://schemas.microsoft.com/office/drawing/2014/main" id="{6DC59838-E4FF-9A79-682D-049A0E6CABCA}"/>
              </a:ext>
            </a:extLst>
          </p:cNvPr>
          <p:cNvSpPr txBox="1"/>
          <p:nvPr/>
        </p:nvSpPr>
        <p:spPr>
          <a:xfrm>
            <a:off x="4603750" y="3052788"/>
            <a:ext cx="3148954" cy="46294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직원 만족도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AI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를 통한 단순 반복 작업 감소로 업무 만족도 향상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15" name="object 36">
            <a:extLst>
              <a:ext uri="{FF2B5EF4-FFF2-40B4-BE49-F238E27FC236}">
                <a16:creationId xmlns:a16="http://schemas.microsoft.com/office/drawing/2014/main" id="{5584784D-5EC7-D188-7C01-A9D1BE0BB662}"/>
              </a:ext>
            </a:extLst>
          </p:cNvPr>
          <p:cNvSpPr txBox="1"/>
          <p:nvPr/>
        </p:nvSpPr>
        <p:spPr>
          <a:xfrm>
            <a:off x="4603749" y="3624288"/>
            <a:ext cx="3148953" cy="46294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고부가가치 업무 집중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직원들이 창의적이고 전략적인 업무에 집중 가능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16" name="object 37">
            <a:extLst>
              <a:ext uri="{FF2B5EF4-FFF2-40B4-BE49-F238E27FC236}">
                <a16:creationId xmlns:a16="http://schemas.microsoft.com/office/drawing/2014/main" id="{54F80DB6-6A6A-0B1E-4D03-B6A3C50900CD}"/>
              </a:ext>
            </a:extLst>
          </p:cNvPr>
          <p:cNvSpPr txBox="1"/>
          <p:nvPr/>
        </p:nvSpPr>
        <p:spPr>
          <a:xfrm>
            <a:off x="8747125" y="1268426"/>
            <a:ext cx="1111250" cy="25263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성공 사례</a:t>
            </a:r>
            <a:endParaRPr sz="1550" dirty="0">
              <a:latin typeface="Malgun Gothic"/>
              <a:cs typeface="Malgun Gothic"/>
            </a:endParaRPr>
          </a:p>
        </p:txBody>
      </p:sp>
      <p:sp>
        <p:nvSpPr>
          <p:cNvPr id="17" name="object 38">
            <a:extLst>
              <a:ext uri="{FF2B5EF4-FFF2-40B4-BE49-F238E27FC236}">
                <a16:creationId xmlns:a16="http://schemas.microsoft.com/office/drawing/2014/main" id="{8980EF87-F37E-294E-B360-CB91FA4C89CD}"/>
              </a:ext>
            </a:extLst>
          </p:cNvPr>
          <p:cNvSpPr txBox="1"/>
          <p:nvPr/>
        </p:nvSpPr>
        <p:spPr>
          <a:xfrm>
            <a:off x="8489950" y="1757388"/>
            <a:ext cx="2760345" cy="46294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lang="en-US" sz="1200" dirty="0">
                <a:solidFill>
                  <a:srgbClr val="374050"/>
                </a:solidFill>
                <a:latin typeface="Malgun Gothic"/>
                <a:cs typeface="Malgun Gothic"/>
              </a:rPr>
              <a:t>S</a:t>
            </a:r>
            <a:r>
              <a:rPr lang="ko-KR" altLang="en-US" sz="1200" dirty="0">
                <a:solidFill>
                  <a:srgbClr val="374050"/>
                </a:solidFill>
                <a:latin typeface="Malgun Gothic"/>
                <a:cs typeface="Malgun Gothic"/>
              </a:rPr>
              <a:t>사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불량률 제로화</a:t>
            </a: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재고 비용 </a:t>
            </a: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30% 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이상 절감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18" name="object 39">
            <a:extLst>
              <a:ext uri="{FF2B5EF4-FFF2-40B4-BE49-F238E27FC236}">
                <a16:creationId xmlns:a16="http://schemas.microsoft.com/office/drawing/2014/main" id="{016CDE4D-356F-19BB-0E4E-90AFE831B7D8}"/>
              </a:ext>
            </a:extLst>
          </p:cNvPr>
          <p:cNvSpPr txBox="1"/>
          <p:nvPr/>
        </p:nvSpPr>
        <p:spPr>
          <a:xfrm>
            <a:off x="8489950" y="2443188"/>
            <a:ext cx="3124200" cy="46294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lang="en-US" sz="1200" dirty="0">
                <a:solidFill>
                  <a:srgbClr val="374050"/>
                </a:solidFill>
                <a:latin typeface="Malgun Gothic"/>
                <a:cs typeface="Malgun Gothic"/>
              </a:rPr>
              <a:t>G</a:t>
            </a:r>
            <a:r>
              <a:rPr lang="ko-KR" altLang="en-US" sz="1200" dirty="0">
                <a:solidFill>
                  <a:srgbClr val="374050"/>
                </a:solidFill>
                <a:latin typeface="Malgun Gothic"/>
                <a:cs typeface="Malgun Gothic"/>
              </a:rPr>
              <a:t>사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스마트 공장 도입 후 매출 </a:t>
            </a: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10% 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증가</a:t>
            </a: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생산성 향상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19" name="object 40">
            <a:extLst>
              <a:ext uri="{FF2B5EF4-FFF2-40B4-BE49-F238E27FC236}">
                <a16:creationId xmlns:a16="http://schemas.microsoft.com/office/drawing/2014/main" id="{F3C43815-FF33-5E74-DF2B-BF68B6892E7A}"/>
              </a:ext>
            </a:extLst>
          </p:cNvPr>
          <p:cNvSpPr txBox="1"/>
          <p:nvPr/>
        </p:nvSpPr>
        <p:spPr>
          <a:xfrm>
            <a:off x="8489950" y="3128988"/>
            <a:ext cx="3046095" cy="46294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L</a:t>
            </a:r>
            <a:r>
              <a:rPr lang="ko-KR" altLang="en-US" sz="1200" dirty="0">
                <a:solidFill>
                  <a:srgbClr val="374050"/>
                </a:solidFill>
                <a:latin typeface="Arial"/>
                <a:cs typeface="Arial"/>
              </a:rPr>
              <a:t>사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AI 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비전 검사 도입으로 미세 불량 </a:t>
            </a:r>
            <a:r>
              <a:rPr sz="1050" dirty="0">
                <a:solidFill>
                  <a:srgbClr val="4A5462"/>
                </a:solidFill>
                <a:latin typeface="Arial"/>
                <a:cs typeface="Arial"/>
              </a:rPr>
              <a:t>30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초 내 감지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25" name="object 42">
            <a:extLst>
              <a:ext uri="{FF2B5EF4-FFF2-40B4-BE49-F238E27FC236}">
                <a16:creationId xmlns:a16="http://schemas.microsoft.com/office/drawing/2014/main" id="{EACEB042-6790-9C5C-908E-63894045B60C}"/>
              </a:ext>
            </a:extLst>
          </p:cNvPr>
          <p:cNvSpPr/>
          <p:nvPr/>
        </p:nvSpPr>
        <p:spPr>
          <a:xfrm>
            <a:off x="8350249" y="4213114"/>
            <a:ext cx="342900" cy="419100"/>
          </a:xfrm>
          <a:custGeom>
            <a:avLst/>
            <a:gdLst/>
            <a:ahLst/>
            <a:cxnLst/>
            <a:rect l="l" t="t" r="r" b="b"/>
            <a:pathLst>
              <a:path w="342900" h="419100">
                <a:moveTo>
                  <a:pt x="171449" y="419099"/>
                </a:moveTo>
                <a:lnTo>
                  <a:pt x="129780" y="413960"/>
                </a:lnTo>
                <a:lnTo>
                  <a:pt x="90627" y="398856"/>
                </a:lnTo>
                <a:lnTo>
                  <a:pt x="56317" y="374693"/>
                </a:lnTo>
                <a:lnTo>
                  <a:pt x="28894" y="342902"/>
                </a:lnTo>
                <a:lnTo>
                  <a:pt x="10016" y="305400"/>
                </a:lnTo>
                <a:lnTo>
                  <a:pt x="822" y="264454"/>
                </a:lnTo>
                <a:lnTo>
                  <a:pt x="0" y="247649"/>
                </a:lnTo>
                <a:lnTo>
                  <a:pt x="0" y="171449"/>
                </a:lnTo>
                <a:lnTo>
                  <a:pt x="5138" y="129780"/>
                </a:lnTo>
                <a:lnTo>
                  <a:pt x="20241" y="90627"/>
                </a:lnTo>
                <a:lnTo>
                  <a:pt x="44405" y="56317"/>
                </a:lnTo>
                <a:lnTo>
                  <a:pt x="76196" y="28894"/>
                </a:lnTo>
                <a:lnTo>
                  <a:pt x="113699" y="10017"/>
                </a:lnTo>
                <a:lnTo>
                  <a:pt x="154644" y="823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3" y="24386"/>
                </a:lnTo>
                <a:lnTo>
                  <a:pt x="292682" y="50216"/>
                </a:lnTo>
                <a:lnTo>
                  <a:pt x="318512" y="83315"/>
                </a:lnTo>
                <a:lnTo>
                  <a:pt x="335518" y="121679"/>
                </a:lnTo>
                <a:lnTo>
                  <a:pt x="342693" y="163026"/>
                </a:lnTo>
                <a:lnTo>
                  <a:pt x="342899" y="171449"/>
                </a:lnTo>
                <a:lnTo>
                  <a:pt x="342899" y="247649"/>
                </a:lnTo>
                <a:lnTo>
                  <a:pt x="337759" y="289318"/>
                </a:lnTo>
                <a:lnTo>
                  <a:pt x="322655" y="328471"/>
                </a:lnTo>
                <a:lnTo>
                  <a:pt x="298492" y="362781"/>
                </a:lnTo>
                <a:lnTo>
                  <a:pt x="266701" y="390204"/>
                </a:lnTo>
                <a:lnTo>
                  <a:pt x="229199" y="409081"/>
                </a:lnTo>
                <a:lnTo>
                  <a:pt x="188254" y="418276"/>
                </a:lnTo>
                <a:lnTo>
                  <a:pt x="171449" y="419099"/>
                </a:lnTo>
                <a:close/>
              </a:path>
            </a:pathLst>
          </a:custGeom>
          <a:solidFill>
            <a:srgbClr val="FEF9C2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pic>
        <p:nvPicPr>
          <p:cNvPr id="26" name="object 43">
            <a:extLst>
              <a:ext uri="{FF2B5EF4-FFF2-40B4-BE49-F238E27FC236}">
                <a16:creationId xmlns:a16="http://schemas.microsoft.com/office/drawing/2014/main" id="{D13F3842-56A9-7E2B-1F8E-57E7AAE3B36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26449" y="4289314"/>
            <a:ext cx="190499" cy="266699"/>
          </a:xfrm>
          <a:prstGeom prst="rect">
            <a:avLst/>
          </a:prstGeom>
        </p:spPr>
      </p:pic>
      <p:sp>
        <p:nvSpPr>
          <p:cNvPr id="21" name="object 45">
            <a:extLst>
              <a:ext uri="{FF2B5EF4-FFF2-40B4-BE49-F238E27FC236}">
                <a16:creationId xmlns:a16="http://schemas.microsoft.com/office/drawing/2014/main" id="{8EABABE6-07BF-16D4-FC86-35B80497D95D}"/>
              </a:ext>
            </a:extLst>
          </p:cNvPr>
          <p:cNvSpPr txBox="1"/>
          <p:nvPr/>
        </p:nvSpPr>
        <p:spPr>
          <a:xfrm>
            <a:off x="8794749" y="4278326"/>
            <a:ext cx="2054225" cy="25263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dirty="0">
                <a:solidFill>
                  <a:srgbClr val="1F2937"/>
                </a:solidFill>
                <a:latin typeface="Malgun Gothic"/>
                <a:cs typeface="Malgun Gothic"/>
              </a:rPr>
              <a:t>투</a:t>
            </a: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자 </a:t>
            </a:r>
            <a:r>
              <a:rPr sz="1500" dirty="0">
                <a:solidFill>
                  <a:srgbClr val="1F2937"/>
                </a:solidFill>
                <a:latin typeface="Malgun Gothic"/>
                <a:cs typeface="Malgun Gothic"/>
              </a:rPr>
              <a:t>효</a:t>
            </a:r>
            <a:r>
              <a:rPr sz="1550" dirty="0">
                <a:solidFill>
                  <a:srgbClr val="1F2937"/>
                </a:solidFill>
                <a:latin typeface="Malgun Gothic"/>
                <a:cs typeface="Malgun Gothic"/>
              </a:rPr>
              <a:t>과 </a:t>
            </a:r>
            <a:r>
              <a:rPr sz="1500" b="1" dirty="0">
                <a:solidFill>
                  <a:srgbClr val="1F2937"/>
                </a:solidFill>
                <a:latin typeface="Arial"/>
                <a:cs typeface="Arial"/>
              </a:rPr>
              <a:t>(ROI)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22" name="object 46">
            <a:extLst>
              <a:ext uri="{FF2B5EF4-FFF2-40B4-BE49-F238E27FC236}">
                <a16:creationId xmlns:a16="http://schemas.microsoft.com/office/drawing/2014/main" id="{1798356D-3687-7B1B-5A48-6127E7CE0A2A}"/>
              </a:ext>
            </a:extLst>
          </p:cNvPr>
          <p:cNvSpPr txBox="1"/>
          <p:nvPr/>
        </p:nvSpPr>
        <p:spPr>
          <a:xfrm>
            <a:off x="8483603" y="4774396"/>
            <a:ext cx="3708397" cy="460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74050"/>
                </a:solidFill>
                <a:latin typeface="Malgun Gothic"/>
                <a:cs typeface="Malgun Gothic"/>
              </a:rPr>
              <a:t>초기 투자 비용은 다음을 통해 빠르게 회수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:</a:t>
            </a:r>
            <a:endParaRPr sz="1200" dirty="0">
              <a:latin typeface="Arial"/>
              <a:cs typeface="Arial"/>
            </a:endParaRPr>
          </a:p>
          <a:p>
            <a:pPr marL="202565" marR="1997710">
              <a:lnSpc>
                <a:spcPct val="119000"/>
              </a:lnSpc>
              <a:spcBef>
                <a:spcPts val="720"/>
              </a:spcBef>
            </a:pP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생산 효율화 </a:t>
            </a:r>
            <a:r>
              <a:rPr sz="1050" dirty="0" err="1">
                <a:solidFill>
                  <a:srgbClr val="4A5462"/>
                </a:solidFill>
                <a:latin typeface="Malgun Gothic"/>
                <a:cs typeface="Malgun Gothic"/>
              </a:rPr>
              <a:t>품질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dirty="0">
                <a:solidFill>
                  <a:srgbClr val="4A5462"/>
                </a:solidFill>
                <a:latin typeface="Malgun Gothic"/>
                <a:cs typeface="Malgun Gothic"/>
              </a:rPr>
              <a:t>개</a:t>
            </a:r>
            <a:r>
              <a:rPr sz="1050" dirty="0">
                <a:solidFill>
                  <a:srgbClr val="4A5462"/>
                </a:solidFill>
                <a:latin typeface="Malgun Gothic"/>
                <a:cs typeface="Malgun Gothic"/>
              </a:rPr>
              <a:t>선</a:t>
            </a:r>
            <a:r>
              <a:rPr lang="en-US" sz="1050" dirty="0">
                <a:solidFill>
                  <a:srgbClr val="4A5462"/>
                </a:solidFill>
                <a:latin typeface="Malgun Gothic"/>
                <a:cs typeface="Malgun Gothic"/>
              </a:rPr>
              <a:t>  </a:t>
            </a:r>
            <a:endParaRPr sz="1050" dirty="0">
              <a:latin typeface="Malgun Gothic"/>
              <a:cs typeface="Malgun Gothic"/>
            </a:endParaRPr>
          </a:p>
        </p:txBody>
      </p:sp>
      <p:pic>
        <p:nvPicPr>
          <p:cNvPr id="23" name="object 47">
            <a:extLst>
              <a:ext uri="{FF2B5EF4-FFF2-40B4-BE49-F238E27FC236}">
                <a16:creationId xmlns:a16="http://schemas.microsoft.com/office/drawing/2014/main" id="{952FBC33-D6E3-3E39-B1A8-48A7ED84C562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26450" y="5841889"/>
            <a:ext cx="95249" cy="133349"/>
          </a:xfrm>
          <a:prstGeom prst="rect">
            <a:avLst/>
          </a:prstGeom>
        </p:spPr>
      </p:pic>
      <p:sp>
        <p:nvSpPr>
          <p:cNvPr id="24" name="object 48">
            <a:extLst>
              <a:ext uri="{FF2B5EF4-FFF2-40B4-BE49-F238E27FC236}">
                <a16:creationId xmlns:a16="http://schemas.microsoft.com/office/drawing/2014/main" id="{01C17C24-EC80-12D2-A5DB-7A45D549B692}"/>
              </a:ext>
            </a:extLst>
          </p:cNvPr>
          <p:cNvSpPr txBox="1"/>
          <p:nvPr/>
        </p:nvSpPr>
        <p:spPr>
          <a:xfrm>
            <a:off x="8413750" y="5779659"/>
            <a:ext cx="3390901" cy="379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080" indent="179705">
              <a:lnSpc>
                <a:spcPct val="119000"/>
              </a:lnSpc>
              <a:spcBef>
                <a:spcPts val="100"/>
              </a:spcBef>
            </a:pPr>
            <a:r>
              <a:rPr sz="1050" dirty="0" err="1">
                <a:solidFill>
                  <a:srgbClr val="374050"/>
                </a:solidFill>
                <a:latin typeface="Arial"/>
                <a:cs typeface="Arial"/>
              </a:rPr>
              <a:t>L</a:t>
            </a:r>
            <a:r>
              <a:rPr sz="1050" dirty="0" err="1">
                <a:solidFill>
                  <a:srgbClr val="374050"/>
                </a:solidFill>
                <a:latin typeface="Malgun Gothic"/>
                <a:cs typeface="Malgun Gothic"/>
              </a:rPr>
              <a:t>그룹의</a:t>
            </a:r>
            <a:r>
              <a:rPr sz="1050" dirty="0">
                <a:solidFill>
                  <a:srgbClr val="374050"/>
                </a:solidFill>
                <a:latin typeface="Malgun Gothic"/>
                <a:cs typeface="Malgun Gothic"/>
              </a:rPr>
              <a:t> 스마트팩토리 솔루션 사업은 </a:t>
            </a:r>
            <a:r>
              <a:rPr sz="1050" dirty="0">
                <a:solidFill>
                  <a:srgbClr val="374050"/>
                </a:solidFill>
                <a:latin typeface="Arial"/>
                <a:cs typeface="Arial"/>
              </a:rPr>
              <a:t>2</a:t>
            </a:r>
            <a:r>
              <a:rPr sz="1050" dirty="0">
                <a:solidFill>
                  <a:srgbClr val="374050"/>
                </a:solidFill>
                <a:latin typeface="Malgun Gothic"/>
                <a:cs typeface="Malgun Gothic"/>
              </a:rPr>
              <a:t>천억원 </a:t>
            </a:r>
            <a:r>
              <a:rPr sz="1050" dirty="0" err="1">
                <a:solidFill>
                  <a:srgbClr val="374050"/>
                </a:solidFill>
                <a:latin typeface="Malgun Gothic"/>
                <a:cs typeface="Malgun Gothic"/>
              </a:rPr>
              <a:t>규모의</a:t>
            </a:r>
            <a:r>
              <a:rPr sz="105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dirty="0">
                <a:solidFill>
                  <a:srgbClr val="374050"/>
                </a:solidFill>
                <a:latin typeface="Malgun Gothic"/>
                <a:cs typeface="Malgun Gothic"/>
              </a:rPr>
              <a:t>투자</a:t>
            </a:r>
            <a:r>
              <a:rPr sz="1050" dirty="0">
                <a:solidFill>
                  <a:srgbClr val="374050"/>
                </a:solidFill>
                <a:latin typeface="Malgun Gothic"/>
                <a:cs typeface="Malgun Gothic"/>
              </a:rPr>
              <a:t> 예상</a:t>
            </a:r>
            <a:r>
              <a:rPr sz="1050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050" dirty="0">
                <a:solidFill>
                  <a:srgbClr val="374050"/>
                </a:solidFill>
                <a:latin typeface="Malgun Gothic"/>
                <a:cs typeface="Malgun Gothic"/>
              </a:rPr>
              <a:t>장기적으로 조 단위 사업으로 성장 목표</a:t>
            </a:r>
            <a:endParaRPr sz="1050" dirty="0">
              <a:latin typeface="Malgun Gothic"/>
              <a:cs typeface="Malgun Gothic"/>
            </a:endParaRPr>
          </a:p>
        </p:txBody>
      </p:sp>
      <p:pic>
        <p:nvPicPr>
          <p:cNvPr id="48" name="object 26">
            <a:extLst>
              <a:ext uri="{FF2B5EF4-FFF2-40B4-BE49-F238E27FC236}">
                <a16:creationId xmlns:a16="http://schemas.microsoft.com/office/drawing/2014/main" id="{9E893A21-783A-C519-5273-B15148F7FA1E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841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2B34B07B-4DCE-5B3B-845B-F1899921FA55}"/>
              </a:ext>
            </a:extLst>
          </p:cNvPr>
          <p:cNvSpPr txBox="1">
            <a:spLocks noGrp="1"/>
          </p:cNvSpPr>
          <p:nvPr/>
        </p:nvSpPr>
        <p:spPr>
          <a:xfrm>
            <a:off x="374649" y="395545"/>
            <a:ext cx="6483984" cy="44371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dirty="0"/>
              <a:t>결론 및 제언</a:t>
            </a:r>
          </a:p>
        </p:txBody>
      </p:sp>
      <p:grpSp>
        <p:nvGrpSpPr>
          <p:cNvPr id="3" name="object 6">
            <a:extLst>
              <a:ext uri="{FF2B5EF4-FFF2-40B4-BE49-F238E27FC236}">
                <a16:creationId xmlns:a16="http://schemas.microsoft.com/office/drawing/2014/main" id="{081D8788-5422-E00D-C769-1A403EA49AF3}"/>
              </a:ext>
            </a:extLst>
          </p:cNvPr>
          <p:cNvGrpSpPr/>
          <p:nvPr/>
        </p:nvGrpSpPr>
        <p:grpSpPr>
          <a:xfrm>
            <a:off x="387349" y="1546260"/>
            <a:ext cx="3610253" cy="3200399"/>
            <a:chOff x="380999" y="1104900"/>
            <a:chExt cx="3610253" cy="3200399"/>
          </a:xfrm>
        </p:grpSpPr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264500C4-E172-8124-2156-A0205FDC76EF}"/>
                </a:ext>
              </a:extLst>
            </p:cNvPr>
            <p:cNvSpPr/>
            <p:nvPr/>
          </p:nvSpPr>
          <p:spPr>
            <a:xfrm>
              <a:off x="380999" y="1123949"/>
              <a:ext cx="3609975" cy="3181350"/>
            </a:xfrm>
            <a:custGeom>
              <a:avLst/>
              <a:gdLst/>
              <a:ahLst/>
              <a:cxnLst/>
              <a:rect l="l" t="t" r="r" b="b"/>
              <a:pathLst>
                <a:path w="3609975" h="3181350">
                  <a:moveTo>
                    <a:pt x="3538777" y="3181349"/>
                  </a:moveTo>
                  <a:lnTo>
                    <a:pt x="71196" y="3181349"/>
                  </a:lnTo>
                  <a:lnTo>
                    <a:pt x="66241" y="3180861"/>
                  </a:lnTo>
                  <a:lnTo>
                    <a:pt x="29705" y="3165727"/>
                  </a:lnTo>
                  <a:lnTo>
                    <a:pt x="3885" y="3129687"/>
                  </a:lnTo>
                  <a:lnTo>
                    <a:pt x="0" y="3110152"/>
                  </a:lnTo>
                  <a:lnTo>
                    <a:pt x="0" y="31051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538777" y="0"/>
                  </a:lnTo>
                  <a:lnTo>
                    <a:pt x="3580268" y="11716"/>
                  </a:lnTo>
                  <a:lnTo>
                    <a:pt x="3607533" y="42320"/>
                  </a:lnTo>
                  <a:lnTo>
                    <a:pt x="3609974" y="53397"/>
                  </a:lnTo>
                  <a:lnTo>
                    <a:pt x="3609974" y="3110152"/>
                  </a:lnTo>
                  <a:lnTo>
                    <a:pt x="3594352" y="3151644"/>
                  </a:lnTo>
                  <a:lnTo>
                    <a:pt x="3558311" y="3177463"/>
                  </a:lnTo>
                  <a:lnTo>
                    <a:pt x="3543732" y="3180861"/>
                  </a:lnTo>
                  <a:lnTo>
                    <a:pt x="3538777" y="3181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0" name="object 8">
              <a:extLst>
                <a:ext uri="{FF2B5EF4-FFF2-40B4-BE49-F238E27FC236}">
                  <a16:creationId xmlns:a16="http://schemas.microsoft.com/office/drawing/2014/main" id="{2B769F58-4AC3-167F-B13D-2E82CFFDBEC4}"/>
                </a:ext>
              </a:extLst>
            </p:cNvPr>
            <p:cNvSpPr/>
            <p:nvPr/>
          </p:nvSpPr>
          <p:spPr>
            <a:xfrm>
              <a:off x="381277" y="1104900"/>
              <a:ext cx="3609975" cy="70485"/>
            </a:xfrm>
            <a:custGeom>
              <a:avLst/>
              <a:gdLst/>
              <a:ahLst/>
              <a:cxnLst/>
              <a:rect l="l" t="t" r="r" b="b"/>
              <a:pathLst>
                <a:path w="3609975" h="70484">
                  <a:moveTo>
                    <a:pt x="0" y="70450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3533497" y="0"/>
                  </a:lnTo>
                  <a:lnTo>
                    <a:pt x="3575839" y="12829"/>
                  </a:lnTo>
                  <a:lnTo>
                    <a:pt x="3599405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50"/>
                  </a:lnTo>
                  <a:close/>
                </a:path>
                <a:path w="3609975" h="70484">
                  <a:moveTo>
                    <a:pt x="3609419" y="70450"/>
                  </a:moveTo>
                  <a:lnTo>
                    <a:pt x="3575839" y="44514"/>
                  </a:lnTo>
                  <a:lnTo>
                    <a:pt x="3533497" y="38099"/>
                  </a:lnTo>
                  <a:lnTo>
                    <a:pt x="3599405" y="38099"/>
                  </a:lnTo>
                  <a:lnTo>
                    <a:pt x="3609334" y="68693"/>
                  </a:lnTo>
                  <a:lnTo>
                    <a:pt x="3609419" y="7045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41" name="object 9">
              <a:extLst>
                <a:ext uri="{FF2B5EF4-FFF2-40B4-BE49-F238E27FC236}">
                  <a16:creationId xmlns:a16="http://schemas.microsoft.com/office/drawing/2014/main" id="{42E29325-024E-4DD3-1F71-21C71FB2558C}"/>
                </a:ext>
              </a:extLst>
            </p:cNvPr>
            <p:cNvSpPr/>
            <p:nvPr/>
          </p:nvSpPr>
          <p:spPr>
            <a:xfrm>
              <a:off x="1876424" y="1371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0"/>
                  </a:lnTo>
                  <a:lnTo>
                    <a:pt x="216321" y="596475"/>
                  </a:lnTo>
                  <a:lnTo>
                    <a:pt x="174481" y="580335"/>
                  </a:lnTo>
                  <a:lnTo>
                    <a:pt x="135462" y="558231"/>
                  </a:lnTo>
                  <a:lnTo>
                    <a:pt x="100108" y="530641"/>
                  </a:lnTo>
                  <a:lnTo>
                    <a:pt x="69186" y="498162"/>
                  </a:lnTo>
                  <a:lnTo>
                    <a:pt x="43364" y="461498"/>
                  </a:lnTo>
                  <a:lnTo>
                    <a:pt x="23201" y="421441"/>
                  </a:lnTo>
                  <a:lnTo>
                    <a:pt x="9134" y="378860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7" y="289844"/>
                  </a:lnTo>
                  <a:lnTo>
                    <a:pt x="5856" y="245336"/>
                  </a:lnTo>
                  <a:lnTo>
                    <a:pt x="17817" y="202115"/>
                  </a:lnTo>
                  <a:lnTo>
                    <a:pt x="35990" y="161118"/>
                  </a:lnTo>
                  <a:lnTo>
                    <a:pt x="59982" y="123230"/>
                  </a:lnTo>
                  <a:lnTo>
                    <a:pt x="89273" y="89273"/>
                  </a:lnTo>
                  <a:lnTo>
                    <a:pt x="123230" y="59982"/>
                  </a:lnTo>
                  <a:lnTo>
                    <a:pt x="161118" y="35990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4" y="366"/>
                  </a:lnTo>
                  <a:lnTo>
                    <a:pt x="304799" y="0"/>
                  </a:lnTo>
                  <a:lnTo>
                    <a:pt x="319755" y="366"/>
                  </a:lnTo>
                  <a:lnTo>
                    <a:pt x="364263" y="5856"/>
                  </a:lnTo>
                  <a:lnTo>
                    <a:pt x="407483" y="17817"/>
                  </a:lnTo>
                  <a:lnTo>
                    <a:pt x="448481" y="35990"/>
                  </a:lnTo>
                  <a:lnTo>
                    <a:pt x="486369" y="59982"/>
                  </a:lnTo>
                  <a:lnTo>
                    <a:pt x="520325" y="89273"/>
                  </a:lnTo>
                  <a:lnTo>
                    <a:pt x="549617" y="123230"/>
                  </a:lnTo>
                  <a:lnTo>
                    <a:pt x="573609" y="161118"/>
                  </a:lnTo>
                  <a:lnTo>
                    <a:pt x="591782" y="202115"/>
                  </a:lnTo>
                  <a:lnTo>
                    <a:pt x="603743" y="245336"/>
                  </a:lnTo>
                  <a:lnTo>
                    <a:pt x="609233" y="289844"/>
                  </a:lnTo>
                  <a:lnTo>
                    <a:pt x="609599" y="304799"/>
                  </a:lnTo>
                  <a:lnTo>
                    <a:pt x="609233" y="319755"/>
                  </a:lnTo>
                  <a:lnTo>
                    <a:pt x="603743" y="364263"/>
                  </a:lnTo>
                  <a:lnTo>
                    <a:pt x="591782" y="407483"/>
                  </a:lnTo>
                  <a:lnTo>
                    <a:pt x="573609" y="448481"/>
                  </a:lnTo>
                  <a:lnTo>
                    <a:pt x="549617" y="486368"/>
                  </a:lnTo>
                  <a:lnTo>
                    <a:pt x="520325" y="520325"/>
                  </a:lnTo>
                  <a:lnTo>
                    <a:pt x="486369" y="549617"/>
                  </a:lnTo>
                  <a:lnTo>
                    <a:pt x="448481" y="573609"/>
                  </a:lnTo>
                  <a:lnTo>
                    <a:pt x="407484" y="591782"/>
                  </a:lnTo>
                  <a:lnTo>
                    <a:pt x="364263" y="603743"/>
                  </a:lnTo>
                  <a:lnTo>
                    <a:pt x="319755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42" name="object 10">
              <a:extLst>
                <a:ext uri="{FF2B5EF4-FFF2-40B4-BE49-F238E27FC236}">
                  <a16:creationId xmlns:a16="http://schemas.microsoft.com/office/drawing/2014/main" id="{E317EA83-7B78-ACDB-4626-F7F6862A75D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399" y="1504949"/>
              <a:ext cx="247649" cy="342899"/>
            </a:xfrm>
            <a:prstGeom prst="rect">
              <a:avLst/>
            </a:prstGeom>
          </p:spPr>
        </p:pic>
      </p:grpSp>
      <p:sp>
        <p:nvSpPr>
          <p:cNvPr id="4" name="object 11">
            <a:extLst>
              <a:ext uri="{FF2B5EF4-FFF2-40B4-BE49-F238E27FC236}">
                <a16:creationId xmlns:a16="http://schemas.microsoft.com/office/drawing/2014/main" id="{FCA42BC4-C0A5-E392-14E2-3A01540592AD}"/>
              </a:ext>
            </a:extLst>
          </p:cNvPr>
          <p:cNvSpPr txBox="1"/>
          <p:nvPr/>
        </p:nvSpPr>
        <p:spPr>
          <a:xfrm>
            <a:off x="682575" y="2556545"/>
            <a:ext cx="3067050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solidFill>
                  <a:srgbClr val="1F2937"/>
                </a:solidFill>
                <a:latin typeface="Malgun Gothic"/>
                <a:cs typeface="Malgun Gothic"/>
              </a:rPr>
              <a:t>데이터 중심의 조직 문화 구축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5" name="object 12">
            <a:extLst>
              <a:ext uri="{FF2B5EF4-FFF2-40B4-BE49-F238E27FC236}">
                <a16:creationId xmlns:a16="http://schemas.microsoft.com/office/drawing/2014/main" id="{C088D11D-C850-169F-2A2A-8B9829B61453}"/>
              </a:ext>
            </a:extLst>
          </p:cNvPr>
          <p:cNvGrpSpPr/>
          <p:nvPr/>
        </p:nvGrpSpPr>
        <p:grpSpPr>
          <a:xfrm>
            <a:off x="615949" y="1546260"/>
            <a:ext cx="7286903" cy="3200399"/>
            <a:chOff x="609599" y="1104900"/>
            <a:chExt cx="7286903" cy="3200399"/>
          </a:xfrm>
        </p:grpSpPr>
        <p:pic>
          <p:nvPicPr>
            <p:cNvPr id="32" name="object 13">
              <a:extLst>
                <a:ext uri="{FF2B5EF4-FFF2-40B4-BE49-F238E27FC236}">
                  <a16:creationId xmlns:a16="http://schemas.microsoft.com/office/drawing/2014/main" id="{7A8E2684-8534-13B3-56BC-3B865DACFA2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" y="2590799"/>
              <a:ext cx="152399" cy="152399"/>
            </a:xfrm>
            <a:prstGeom prst="rect">
              <a:avLst/>
            </a:prstGeom>
          </p:spPr>
        </p:pic>
        <p:pic>
          <p:nvPicPr>
            <p:cNvPr id="33" name="object 14">
              <a:extLst>
                <a:ext uri="{FF2B5EF4-FFF2-40B4-BE49-F238E27FC236}">
                  <a16:creationId xmlns:a16="http://schemas.microsoft.com/office/drawing/2014/main" id="{2BE2CEC1-463A-2C04-8A75-6953F426FE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" y="3124199"/>
              <a:ext cx="152399" cy="152399"/>
            </a:xfrm>
            <a:prstGeom prst="rect">
              <a:avLst/>
            </a:prstGeom>
          </p:spPr>
        </p:pic>
        <p:pic>
          <p:nvPicPr>
            <p:cNvPr id="34" name="object 15">
              <a:extLst>
                <a:ext uri="{FF2B5EF4-FFF2-40B4-BE49-F238E27FC236}">
                  <a16:creationId xmlns:a16="http://schemas.microsoft.com/office/drawing/2014/main" id="{5B4397E1-84C5-3242-858E-9FB5B00B177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" y="3657599"/>
              <a:ext cx="152399" cy="152399"/>
            </a:xfrm>
            <a:prstGeom prst="rect">
              <a:avLst/>
            </a:prstGeom>
          </p:spPr>
        </p:pic>
        <p:sp>
          <p:nvSpPr>
            <p:cNvPr id="35" name="object 16">
              <a:extLst>
                <a:ext uri="{FF2B5EF4-FFF2-40B4-BE49-F238E27FC236}">
                  <a16:creationId xmlns:a16="http://schemas.microsoft.com/office/drawing/2014/main" id="{FC0BC082-A561-6B94-833E-AEEB66F73BFB}"/>
                </a:ext>
              </a:extLst>
            </p:cNvPr>
            <p:cNvSpPr/>
            <p:nvPr/>
          </p:nvSpPr>
          <p:spPr>
            <a:xfrm>
              <a:off x="4295774" y="1123949"/>
              <a:ext cx="3600450" cy="3181350"/>
            </a:xfrm>
            <a:custGeom>
              <a:avLst/>
              <a:gdLst/>
              <a:ahLst/>
              <a:cxnLst/>
              <a:rect l="l" t="t" r="r" b="b"/>
              <a:pathLst>
                <a:path w="3600450" h="3181350">
                  <a:moveTo>
                    <a:pt x="3529253" y="3181349"/>
                  </a:moveTo>
                  <a:lnTo>
                    <a:pt x="71196" y="3181349"/>
                  </a:lnTo>
                  <a:lnTo>
                    <a:pt x="66241" y="3180861"/>
                  </a:lnTo>
                  <a:lnTo>
                    <a:pt x="29705" y="3165727"/>
                  </a:lnTo>
                  <a:lnTo>
                    <a:pt x="3885" y="3129687"/>
                  </a:lnTo>
                  <a:lnTo>
                    <a:pt x="0" y="3110152"/>
                  </a:lnTo>
                  <a:lnTo>
                    <a:pt x="0" y="31051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529253" y="0"/>
                  </a:lnTo>
                  <a:lnTo>
                    <a:pt x="3570744" y="11716"/>
                  </a:lnTo>
                  <a:lnTo>
                    <a:pt x="3598009" y="42320"/>
                  </a:lnTo>
                  <a:lnTo>
                    <a:pt x="3600449" y="53397"/>
                  </a:lnTo>
                  <a:lnTo>
                    <a:pt x="3600449" y="3110152"/>
                  </a:lnTo>
                  <a:lnTo>
                    <a:pt x="3584827" y="3151644"/>
                  </a:lnTo>
                  <a:lnTo>
                    <a:pt x="3548786" y="3177463"/>
                  </a:lnTo>
                  <a:lnTo>
                    <a:pt x="3534208" y="3180861"/>
                  </a:lnTo>
                  <a:lnTo>
                    <a:pt x="3529253" y="3181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6" name="object 17">
              <a:extLst>
                <a:ext uri="{FF2B5EF4-FFF2-40B4-BE49-F238E27FC236}">
                  <a16:creationId xmlns:a16="http://schemas.microsoft.com/office/drawing/2014/main" id="{4FCC66AC-1231-6E77-5311-5E0DE1DE7DB0}"/>
                </a:ext>
              </a:extLst>
            </p:cNvPr>
            <p:cNvSpPr/>
            <p:nvPr/>
          </p:nvSpPr>
          <p:spPr>
            <a:xfrm>
              <a:off x="4296052" y="1104900"/>
              <a:ext cx="3600450" cy="70485"/>
            </a:xfrm>
            <a:custGeom>
              <a:avLst/>
              <a:gdLst/>
              <a:ahLst/>
              <a:cxnLst/>
              <a:rect l="l" t="t" r="r" b="b"/>
              <a:pathLst>
                <a:path w="3600450" h="70484">
                  <a:moveTo>
                    <a:pt x="0" y="70449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3523972" y="0"/>
                  </a:lnTo>
                  <a:lnTo>
                    <a:pt x="3566313" y="12829"/>
                  </a:lnTo>
                  <a:lnTo>
                    <a:pt x="358988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3600450" h="70484">
                  <a:moveTo>
                    <a:pt x="3599894" y="70449"/>
                  </a:moveTo>
                  <a:lnTo>
                    <a:pt x="3566313" y="44514"/>
                  </a:lnTo>
                  <a:lnTo>
                    <a:pt x="3523972" y="38099"/>
                  </a:lnTo>
                  <a:lnTo>
                    <a:pt x="3589880" y="38099"/>
                  </a:lnTo>
                  <a:lnTo>
                    <a:pt x="3599809" y="68693"/>
                  </a:lnTo>
                  <a:lnTo>
                    <a:pt x="3599894" y="704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7" name="object 18">
              <a:extLst>
                <a:ext uri="{FF2B5EF4-FFF2-40B4-BE49-F238E27FC236}">
                  <a16:creationId xmlns:a16="http://schemas.microsoft.com/office/drawing/2014/main" id="{1F155513-2647-B12D-E2C8-7CB35E803DFD}"/>
                </a:ext>
              </a:extLst>
            </p:cNvPr>
            <p:cNvSpPr/>
            <p:nvPr/>
          </p:nvSpPr>
          <p:spPr>
            <a:xfrm>
              <a:off x="5791199" y="1371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0"/>
                  </a:lnTo>
                  <a:lnTo>
                    <a:pt x="216320" y="596475"/>
                  </a:lnTo>
                  <a:lnTo>
                    <a:pt x="174480" y="580335"/>
                  </a:lnTo>
                  <a:lnTo>
                    <a:pt x="135461" y="558231"/>
                  </a:lnTo>
                  <a:lnTo>
                    <a:pt x="100108" y="530641"/>
                  </a:lnTo>
                  <a:lnTo>
                    <a:pt x="69186" y="498162"/>
                  </a:lnTo>
                  <a:lnTo>
                    <a:pt x="43364" y="461498"/>
                  </a:lnTo>
                  <a:lnTo>
                    <a:pt x="23200" y="421441"/>
                  </a:lnTo>
                  <a:lnTo>
                    <a:pt x="9134" y="378860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6"/>
                  </a:lnTo>
                  <a:lnTo>
                    <a:pt x="17817" y="202115"/>
                  </a:lnTo>
                  <a:lnTo>
                    <a:pt x="35990" y="161118"/>
                  </a:lnTo>
                  <a:lnTo>
                    <a:pt x="59981" y="123230"/>
                  </a:lnTo>
                  <a:lnTo>
                    <a:pt x="89273" y="89273"/>
                  </a:lnTo>
                  <a:lnTo>
                    <a:pt x="123230" y="59982"/>
                  </a:lnTo>
                  <a:lnTo>
                    <a:pt x="161118" y="35990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4" y="366"/>
                  </a:lnTo>
                  <a:lnTo>
                    <a:pt x="304799" y="0"/>
                  </a:lnTo>
                  <a:lnTo>
                    <a:pt x="319755" y="366"/>
                  </a:lnTo>
                  <a:lnTo>
                    <a:pt x="364263" y="5856"/>
                  </a:lnTo>
                  <a:lnTo>
                    <a:pt x="407484" y="17817"/>
                  </a:lnTo>
                  <a:lnTo>
                    <a:pt x="448481" y="35990"/>
                  </a:lnTo>
                  <a:lnTo>
                    <a:pt x="486369" y="59982"/>
                  </a:lnTo>
                  <a:lnTo>
                    <a:pt x="520325" y="89273"/>
                  </a:lnTo>
                  <a:lnTo>
                    <a:pt x="549617" y="123230"/>
                  </a:lnTo>
                  <a:lnTo>
                    <a:pt x="573609" y="161118"/>
                  </a:lnTo>
                  <a:lnTo>
                    <a:pt x="591782" y="202115"/>
                  </a:lnTo>
                  <a:lnTo>
                    <a:pt x="603742" y="245336"/>
                  </a:lnTo>
                  <a:lnTo>
                    <a:pt x="609233" y="289844"/>
                  </a:lnTo>
                  <a:lnTo>
                    <a:pt x="609599" y="304799"/>
                  </a:lnTo>
                  <a:lnTo>
                    <a:pt x="609233" y="319755"/>
                  </a:lnTo>
                  <a:lnTo>
                    <a:pt x="603742" y="364263"/>
                  </a:lnTo>
                  <a:lnTo>
                    <a:pt x="591782" y="407483"/>
                  </a:lnTo>
                  <a:lnTo>
                    <a:pt x="573609" y="448481"/>
                  </a:lnTo>
                  <a:lnTo>
                    <a:pt x="549617" y="486368"/>
                  </a:lnTo>
                  <a:lnTo>
                    <a:pt x="520325" y="520325"/>
                  </a:lnTo>
                  <a:lnTo>
                    <a:pt x="486369" y="549617"/>
                  </a:lnTo>
                  <a:lnTo>
                    <a:pt x="448481" y="573609"/>
                  </a:lnTo>
                  <a:lnTo>
                    <a:pt x="407484" y="591782"/>
                  </a:lnTo>
                  <a:lnTo>
                    <a:pt x="364263" y="603743"/>
                  </a:lnTo>
                  <a:lnTo>
                    <a:pt x="319755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38" name="object 19">
              <a:extLst>
                <a:ext uri="{FF2B5EF4-FFF2-40B4-BE49-F238E27FC236}">
                  <a16:creationId xmlns:a16="http://schemas.microsoft.com/office/drawing/2014/main" id="{558889CC-15B4-F927-407C-9A1E59F381D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5024" y="1504949"/>
              <a:ext cx="361949" cy="342899"/>
            </a:xfrm>
            <a:prstGeom prst="rect">
              <a:avLst/>
            </a:prstGeom>
          </p:spPr>
        </p:pic>
      </p:grpSp>
      <p:sp>
        <p:nvSpPr>
          <p:cNvPr id="6" name="object 20">
            <a:extLst>
              <a:ext uri="{FF2B5EF4-FFF2-40B4-BE49-F238E27FC236}">
                <a16:creationId xmlns:a16="http://schemas.microsoft.com/office/drawing/2014/main" id="{8F218983-ABD1-CEB3-128B-C912E760A05C}"/>
              </a:ext>
            </a:extLst>
          </p:cNvPr>
          <p:cNvSpPr txBox="1"/>
          <p:nvPr/>
        </p:nvSpPr>
        <p:spPr>
          <a:xfrm>
            <a:off x="831850" y="2968177"/>
            <a:ext cx="3165474" cy="4534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최고 경영진의 강력한 의지를 바탕으로 데이터 기반 의사결정 시스템 확립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7" name="object 21">
            <a:extLst>
              <a:ext uri="{FF2B5EF4-FFF2-40B4-BE49-F238E27FC236}">
                <a16:creationId xmlns:a16="http://schemas.microsoft.com/office/drawing/2014/main" id="{33E6B055-20FE-EFF0-A34D-BC6BD30EF586}"/>
              </a:ext>
            </a:extLst>
          </p:cNvPr>
          <p:cNvSpPr txBox="1"/>
          <p:nvPr/>
        </p:nvSpPr>
        <p:spPr>
          <a:xfrm>
            <a:off x="831850" y="3501577"/>
            <a:ext cx="3044825" cy="4534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데이터의 품질과 활용성을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지속적으로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관리하는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체계 구축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8" name="object 22">
            <a:extLst>
              <a:ext uri="{FF2B5EF4-FFF2-40B4-BE49-F238E27FC236}">
                <a16:creationId xmlns:a16="http://schemas.microsoft.com/office/drawing/2014/main" id="{53765CF8-C1B7-B46F-497E-18EB3BD8CB0D}"/>
              </a:ext>
            </a:extLst>
          </p:cNvPr>
          <p:cNvSpPr txBox="1"/>
          <p:nvPr/>
        </p:nvSpPr>
        <p:spPr>
          <a:xfrm>
            <a:off x="831850" y="4034977"/>
            <a:ext cx="3044824" cy="4534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문화적 변화 없이는 기술 도입만으로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기대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성과를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얻기 어려움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9" name="object 23">
            <a:extLst>
              <a:ext uri="{FF2B5EF4-FFF2-40B4-BE49-F238E27FC236}">
                <a16:creationId xmlns:a16="http://schemas.microsoft.com/office/drawing/2014/main" id="{4D8C72DA-22AA-1B4B-8809-CA0D5489F1C2}"/>
              </a:ext>
            </a:extLst>
          </p:cNvPr>
          <p:cNvSpPr txBox="1"/>
          <p:nvPr/>
        </p:nvSpPr>
        <p:spPr>
          <a:xfrm>
            <a:off x="4584550" y="2556545"/>
            <a:ext cx="3309721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solidFill>
                  <a:srgbClr val="1F2937"/>
                </a:solidFill>
                <a:latin typeface="Malgun Gothic"/>
                <a:cs typeface="Malgun Gothic"/>
              </a:rPr>
              <a:t>전문 인력 양성 및 외부 협력 강화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10" name="object 24">
            <a:extLst>
              <a:ext uri="{FF2B5EF4-FFF2-40B4-BE49-F238E27FC236}">
                <a16:creationId xmlns:a16="http://schemas.microsoft.com/office/drawing/2014/main" id="{99F817F4-B350-5295-A9C9-2E74F1C0793D}"/>
              </a:ext>
            </a:extLst>
          </p:cNvPr>
          <p:cNvGrpSpPr/>
          <p:nvPr/>
        </p:nvGrpSpPr>
        <p:grpSpPr>
          <a:xfrm>
            <a:off x="4540250" y="1546260"/>
            <a:ext cx="7277377" cy="3200399"/>
            <a:chOff x="4533900" y="1104900"/>
            <a:chExt cx="7277377" cy="3200399"/>
          </a:xfrm>
        </p:grpSpPr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64572D60-F783-F45B-1B3D-0ADDBDA6192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3900" y="2590799"/>
              <a:ext cx="142874" cy="152399"/>
            </a:xfrm>
            <a:prstGeom prst="rect">
              <a:avLst/>
            </a:prstGeom>
          </p:spPr>
        </p:pic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EB943C2B-1F56-6051-74FA-3CF2C39A5FF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3900" y="3124199"/>
              <a:ext cx="142874" cy="152399"/>
            </a:xfrm>
            <a:prstGeom prst="rect">
              <a:avLst/>
            </a:prstGeom>
          </p:spPr>
        </p:pic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906F8913-EA3B-889B-AAFA-65393BB2660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3900" y="3657599"/>
              <a:ext cx="142874" cy="152399"/>
            </a:xfrm>
            <a:prstGeom prst="rect">
              <a:avLst/>
            </a:prstGeom>
          </p:spPr>
        </p:pic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0020CF1F-91DE-5167-C0F7-F35BE2462A6F}"/>
                </a:ext>
              </a:extLst>
            </p:cNvPr>
            <p:cNvSpPr/>
            <p:nvPr/>
          </p:nvSpPr>
          <p:spPr>
            <a:xfrm>
              <a:off x="8201023" y="1123949"/>
              <a:ext cx="3609975" cy="3181350"/>
            </a:xfrm>
            <a:custGeom>
              <a:avLst/>
              <a:gdLst/>
              <a:ahLst/>
              <a:cxnLst/>
              <a:rect l="l" t="t" r="r" b="b"/>
              <a:pathLst>
                <a:path w="3609975" h="3181350">
                  <a:moveTo>
                    <a:pt x="3538778" y="3181349"/>
                  </a:moveTo>
                  <a:lnTo>
                    <a:pt x="71196" y="3181349"/>
                  </a:lnTo>
                  <a:lnTo>
                    <a:pt x="66241" y="3180861"/>
                  </a:lnTo>
                  <a:lnTo>
                    <a:pt x="29704" y="3165727"/>
                  </a:lnTo>
                  <a:lnTo>
                    <a:pt x="3885" y="3129687"/>
                  </a:lnTo>
                  <a:lnTo>
                    <a:pt x="0" y="3110152"/>
                  </a:lnTo>
                  <a:lnTo>
                    <a:pt x="0" y="3105149"/>
                  </a:lnTo>
                  <a:lnTo>
                    <a:pt x="0" y="53397"/>
                  </a:lnTo>
                  <a:lnTo>
                    <a:pt x="18779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538778" y="0"/>
                  </a:lnTo>
                  <a:lnTo>
                    <a:pt x="3580270" y="11716"/>
                  </a:lnTo>
                  <a:lnTo>
                    <a:pt x="3607535" y="42320"/>
                  </a:lnTo>
                  <a:lnTo>
                    <a:pt x="3609975" y="53397"/>
                  </a:lnTo>
                  <a:lnTo>
                    <a:pt x="3609975" y="3110152"/>
                  </a:lnTo>
                  <a:lnTo>
                    <a:pt x="3594352" y="3151644"/>
                  </a:lnTo>
                  <a:lnTo>
                    <a:pt x="3558313" y="3177463"/>
                  </a:lnTo>
                  <a:lnTo>
                    <a:pt x="3543733" y="3180861"/>
                  </a:lnTo>
                  <a:lnTo>
                    <a:pt x="3538778" y="3181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8BD190E9-F07B-A3F9-990B-289A41162F0A}"/>
                </a:ext>
              </a:extLst>
            </p:cNvPr>
            <p:cNvSpPr/>
            <p:nvPr/>
          </p:nvSpPr>
          <p:spPr>
            <a:xfrm>
              <a:off x="8201302" y="1104900"/>
              <a:ext cx="3609975" cy="70485"/>
            </a:xfrm>
            <a:custGeom>
              <a:avLst/>
              <a:gdLst/>
              <a:ahLst/>
              <a:cxnLst/>
              <a:rect l="l" t="t" r="r" b="b"/>
              <a:pathLst>
                <a:path w="3609975" h="70484">
                  <a:moveTo>
                    <a:pt x="0" y="70450"/>
                  </a:moveTo>
                  <a:lnTo>
                    <a:pt x="12551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3533497" y="0"/>
                  </a:lnTo>
                  <a:lnTo>
                    <a:pt x="3575838" y="12829"/>
                  </a:lnTo>
                  <a:lnTo>
                    <a:pt x="3599405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3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3609975" h="70484">
                  <a:moveTo>
                    <a:pt x="3609419" y="70450"/>
                  </a:moveTo>
                  <a:lnTo>
                    <a:pt x="3575838" y="44514"/>
                  </a:lnTo>
                  <a:lnTo>
                    <a:pt x="3533497" y="38099"/>
                  </a:lnTo>
                  <a:lnTo>
                    <a:pt x="3599405" y="38099"/>
                  </a:lnTo>
                  <a:lnTo>
                    <a:pt x="3609334" y="68693"/>
                  </a:lnTo>
                  <a:lnTo>
                    <a:pt x="3609419" y="70450"/>
                  </a:lnTo>
                  <a:close/>
                </a:path>
              </a:pathLst>
            </a:custGeom>
            <a:solidFill>
              <a:srgbClr val="A754F6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1CE34FC8-3352-7540-79A7-F445036C8698}"/>
                </a:ext>
              </a:extLst>
            </p:cNvPr>
            <p:cNvSpPr/>
            <p:nvPr/>
          </p:nvSpPr>
          <p:spPr>
            <a:xfrm>
              <a:off x="9705974" y="1371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5" y="606300"/>
                  </a:lnTo>
                  <a:lnTo>
                    <a:pt x="216321" y="596475"/>
                  </a:lnTo>
                  <a:lnTo>
                    <a:pt x="174480" y="580335"/>
                  </a:lnTo>
                  <a:lnTo>
                    <a:pt x="135461" y="558231"/>
                  </a:lnTo>
                  <a:lnTo>
                    <a:pt x="100107" y="530641"/>
                  </a:lnTo>
                  <a:lnTo>
                    <a:pt x="69185" y="498162"/>
                  </a:lnTo>
                  <a:lnTo>
                    <a:pt x="43362" y="461498"/>
                  </a:lnTo>
                  <a:lnTo>
                    <a:pt x="23199" y="421441"/>
                  </a:lnTo>
                  <a:lnTo>
                    <a:pt x="9133" y="378860"/>
                  </a:lnTo>
                  <a:lnTo>
                    <a:pt x="1466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5" y="245336"/>
                  </a:lnTo>
                  <a:lnTo>
                    <a:pt x="17815" y="202115"/>
                  </a:lnTo>
                  <a:lnTo>
                    <a:pt x="35989" y="161118"/>
                  </a:lnTo>
                  <a:lnTo>
                    <a:pt x="59980" y="123230"/>
                  </a:lnTo>
                  <a:lnTo>
                    <a:pt x="89272" y="89273"/>
                  </a:lnTo>
                  <a:lnTo>
                    <a:pt x="123228" y="59982"/>
                  </a:lnTo>
                  <a:lnTo>
                    <a:pt x="161116" y="35990"/>
                  </a:lnTo>
                  <a:lnTo>
                    <a:pt x="202115" y="17817"/>
                  </a:lnTo>
                  <a:lnTo>
                    <a:pt x="245335" y="5856"/>
                  </a:lnTo>
                  <a:lnTo>
                    <a:pt x="289844" y="366"/>
                  </a:lnTo>
                  <a:lnTo>
                    <a:pt x="304799" y="0"/>
                  </a:lnTo>
                  <a:lnTo>
                    <a:pt x="319756" y="366"/>
                  </a:lnTo>
                  <a:lnTo>
                    <a:pt x="364263" y="5856"/>
                  </a:lnTo>
                  <a:lnTo>
                    <a:pt x="407483" y="17817"/>
                  </a:lnTo>
                  <a:lnTo>
                    <a:pt x="448480" y="35990"/>
                  </a:lnTo>
                  <a:lnTo>
                    <a:pt x="486368" y="59982"/>
                  </a:lnTo>
                  <a:lnTo>
                    <a:pt x="520325" y="89273"/>
                  </a:lnTo>
                  <a:lnTo>
                    <a:pt x="549616" y="123230"/>
                  </a:lnTo>
                  <a:lnTo>
                    <a:pt x="573607" y="161118"/>
                  </a:lnTo>
                  <a:lnTo>
                    <a:pt x="591781" y="202115"/>
                  </a:lnTo>
                  <a:lnTo>
                    <a:pt x="603742" y="245336"/>
                  </a:lnTo>
                  <a:lnTo>
                    <a:pt x="609233" y="289844"/>
                  </a:lnTo>
                  <a:lnTo>
                    <a:pt x="609599" y="304799"/>
                  </a:lnTo>
                  <a:lnTo>
                    <a:pt x="609233" y="319755"/>
                  </a:lnTo>
                  <a:lnTo>
                    <a:pt x="603742" y="364263"/>
                  </a:lnTo>
                  <a:lnTo>
                    <a:pt x="591782" y="407483"/>
                  </a:lnTo>
                  <a:lnTo>
                    <a:pt x="573607" y="448481"/>
                  </a:lnTo>
                  <a:lnTo>
                    <a:pt x="549616" y="486368"/>
                  </a:lnTo>
                  <a:lnTo>
                    <a:pt x="520325" y="520325"/>
                  </a:lnTo>
                  <a:lnTo>
                    <a:pt x="486368" y="549617"/>
                  </a:lnTo>
                  <a:lnTo>
                    <a:pt x="448480" y="573609"/>
                  </a:lnTo>
                  <a:lnTo>
                    <a:pt x="407483" y="591782"/>
                  </a:lnTo>
                  <a:lnTo>
                    <a:pt x="364263" y="603743"/>
                  </a:lnTo>
                  <a:lnTo>
                    <a:pt x="319756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31" name="object 31">
              <a:extLst>
                <a:ext uri="{FF2B5EF4-FFF2-40B4-BE49-F238E27FC236}">
                  <a16:creationId xmlns:a16="http://schemas.microsoft.com/office/drawing/2014/main" id="{6EC81638-40D7-5E18-7277-8B16FF7E366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67899" y="1504949"/>
              <a:ext cx="285749" cy="342899"/>
            </a:xfrm>
            <a:prstGeom prst="rect">
              <a:avLst/>
            </a:prstGeom>
          </p:spPr>
        </p:pic>
      </p:grpSp>
      <p:sp>
        <p:nvSpPr>
          <p:cNvPr id="11" name="object 32">
            <a:extLst>
              <a:ext uri="{FF2B5EF4-FFF2-40B4-BE49-F238E27FC236}">
                <a16:creationId xmlns:a16="http://schemas.microsoft.com/office/drawing/2014/main" id="{A2ED8A86-9CDD-3E0D-673A-75078B752535}"/>
              </a:ext>
            </a:extLst>
          </p:cNvPr>
          <p:cNvSpPr txBox="1"/>
          <p:nvPr/>
        </p:nvSpPr>
        <p:spPr>
          <a:xfrm>
            <a:off x="4743350" y="2968177"/>
            <a:ext cx="3225850" cy="4534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내부 인력의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리터러시 강화를 위한 교육 진 행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2" name="object 33">
            <a:extLst>
              <a:ext uri="{FF2B5EF4-FFF2-40B4-BE49-F238E27FC236}">
                <a16:creationId xmlns:a16="http://schemas.microsoft.com/office/drawing/2014/main" id="{30BD4A73-E72A-8FD9-37CD-874211D30A3A}"/>
              </a:ext>
            </a:extLst>
          </p:cNvPr>
          <p:cNvSpPr txBox="1"/>
          <p:nvPr/>
        </p:nvSpPr>
        <p:spPr>
          <a:xfrm>
            <a:off x="4743350" y="3501577"/>
            <a:ext cx="3600450" cy="4534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외부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컨설팅 및 솔루션 전문 기업과의 전략 적 협력 구축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3" name="object 34">
            <a:extLst>
              <a:ext uri="{FF2B5EF4-FFF2-40B4-BE49-F238E27FC236}">
                <a16:creationId xmlns:a16="http://schemas.microsoft.com/office/drawing/2014/main" id="{65C37B7F-87A3-3475-ED5D-DE091F3AAAEF}"/>
              </a:ext>
            </a:extLst>
          </p:cNvPr>
          <p:cNvSpPr txBox="1"/>
          <p:nvPr/>
        </p:nvSpPr>
        <p:spPr>
          <a:xfrm>
            <a:off x="4743350" y="4034977"/>
            <a:ext cx="3600450" cy="4534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검증된 솔루션과 노하우를 활용하여 투자 리스 크 감소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4" name="object 35">
            <a:extLst>
              <a:ext uri="{FF2B5EF4-FFF2-40B4-BE49-F238E27FC236}">
                <a16:creationId xmlns:a16="http://schemas.microsoft.com/office/drawing/2014/main" id="{E0FA07AC-0267-2AC4-56B0-49ABE173A10B}"/>
              </a:ext>
            </a:extLst>
          </p:cNvPr>
          <p:cNvSpPr txBox="1"/>
          <p:nvPr/>
        </p:nvSpPr>
        <p:spPr>
          <a:xfrm>
            <a:off x="8743849" y="2556545"/>
            <a:ext cx="2769641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solidFill>
                  <a:srgbClr val="1F2937"/>
                </a:solidFill>
                <a:latin typeface="Malgun Gothic"/>
                <a:cs typeface="Malgun Gothic"/>
              </a:rPr>
              <a:t>정부 지원 사업 활용 방안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15" name="object 36">
            <a:extLst>
              <a:ext uri="{FF2B5EF4-FFF2-40B4-BE49-F238E27FC236}">
                <a16:creationId xmlns:a16="http://schemas.microsoft.com/office/drawing/2014/main" id="{0ECE1803-2619-D6DC-9FF3-9DD0671197E3}"/>
              </a:ext>
            </a:extLst>
          </p:cNvPr>
          <p:cNvGrpSpPr/>
          <p:nvPr/>
        </p:nvGrpSpPr>
        <p:grpSpPr>
          <a:xfrm>
            <a:off x="8435975" y="3032159"/>
            <a:ext cx="3152774" cy="3048000"/>
            <a:chOff x="8429625" y="2590799"/>
            <a:chExt cx="3152774" cy="3048000"/>
          </a:xfrm>
        </p:grpSpPr>
        <p:pic>
          <p:nvPicPr>
            <p:cNvPr id="20" name="object 37">
              <a:extLst>
                <a:ext uri="{FF2B5EF4-FFF2-40B4-BE49-F238E27FC236}">
                  <a16:creationId xmlns:a16="http://schemas.microsoft.com/office/drawing/2014/main" id="{6D27A445-1150-C10C-381C-308F5F992AC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9625" y="2590799"/>
              <a:ext cx="152399" cy="152399"/>
            </a:xfrm>
            <a:prstGeom prst="rect">
              <a:avLst/>
            </a:prstGeom>
          </p:spPr>
        </p:pic>
        <p:pic>
          <p:nvPicPr>
            <p:cNvPr id="21" name="object 38">
              <a:extLst>
                <a:ext uri="{FF2B5EF4-FFF2-40B4-BE49-F238E27FC236}">
                  <a16:creationId xmlns:a16="http://schemas.microsoft.com/office/drawing/2014/main" id="{58EBD8E7-5D56-024B-D4CC-14E786A315B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9625" y="3124199"/>
              <a:ext cx="152399" cy="152399"/>
            </a:xfrm>
            <a:prstGeom prst="rect">
              <a:avLst/>
            </a:prstGeom>
          </p:spPr>
        </p:pic>
        <p:pic>
          <p:nvPicPr>
            <p:cNvPr id="22" name="object 39">
              <a:extLst>
                <a:ext uri="{FF2B5EF4-FFF2-40B4-BE49-F238E27FC236}">
                  <a16:creationId xmlns:a16="http://schemas.microsoft.com/office/drawing/2014/main" id="{1518BEE2-9996-CCF3-7F5B-57447BCBECB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9625" y="3657599"/>
              <a:ext cx="152399" cy="152399"/>
            </a:xfrm>
            <a:prstGeom prst="rect">
              <a:avLst/>
            </a:prstGeom>
          </p:spPr>
        </p:pic>
        <p:sp>
          <p:nvSpPr>
            <p:cNvPr id="23" name="object 40">
              <a:extLst>
                <a:ext uri="{FF2B5EF4-FFF2-40B4-BE49-F238E27FC236}">
                  <a16:creationId xmlns:a16="http://schemas.microsoft.com/office/drawing/2014/main" id="{09C00914-B20A-679B-F2CC-5D43CEFD6F3F}"/>
                </a:ext>
              </a:extLst>
            </p:cNvPr>
            <p:cNvSpPr/>
            <p:nvPr/>
          </p:nvSpPr>
          <p:spPr>
            <a:xfrm>
              <a:off x="10820399" y="48767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3"/>
                  </a:lnTo>
                  <a:lnTo>
                    <a:pt x="288423" y="750581"/>
                  </a:lnTo>
                  <a:lnTo>
                    <a:pt x="243881" y="736470"/>
                  </a:lnTo>
                  <a:lnTo>
                    <a:pt x="201395" y="717011"/>
                  </a:lnTo>
                  <a:lnTo>
                    <a:pt x="161613" y="692497"/>
                  </a:lnTo>
                  <a:lnTo>
                    <a:pt x="125135" y="663302"/>
                  </a:lnTo>
                  <a:lnTo>
                    <a:pt x="92504" y="629860"/>
                  </a:lnTo>
                  <a:lnTo>
                    <a:pt x="64210" y="592670"/>
                  </a:lnTo>
                  <a:lnTo>
                    <a:pt x="40678" y="552298"/>
                  </a:lnTo>
                  <a:lnTo>
                    <a:pt x="22271" y="509354"/>
                  </a:lnTo>
                  <a:lnTo>
                    <a:pt x="9257" y="464479"/>
                  </a:lnTo>
                  <a:lnTo>
                    <a:pt x="1833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2" y="325095"/>
                  </a:lnTo>
                  <a:lnTo>
                    <a:pt x="13800" y="279384"/>
                  </a:lnTo>
                  <a:lnTo>
                    <a:pt x="29000" y="235196"/>
                  </a:lnTo>
                  <a:lnTo>
                    <a:pt x="49496" y="193203"/>
                  </a:lnTo>
                  <a:lnTo>
                    <a:pt x="74977" y="154037"/>
                  </a:lnTo>
                  <a:lnTo>
                    <a:pt x="105059" y="118286"/>
                  </a:lnTo>
                  <a:lnTo>
                    <a:pt x="139295" y="86482"/>
                  </a:lnTo>
                  <a:lnTo>
                    <a:pt x="177166" y="59108"/>
                  </a:lnTo>
                  <a:lnTo>
                    <a:pt x="218100" y="36579"/>
                  </a:lnTo>
                  <a:lnTo>
                    <a:pt x="261483" y="19230"/>
                  </a:lnTo>
                  <a:lnTo>
                    <a:pt x="306669" y="7320"/>
                  </a:lnTo>
                  <a:lnTo>
                    <a:pt x="352975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2" y="4123"/>
                  </a:lnTo>
                  <a:lnTo>
                    <a:pt x="482612" y="13800"/>
                  </a:lnTo>
                  <a:lnTo>
                    <a:pt x="526800" y="29001"/>
                  </a:lnTo>
                  <a:lnTo>
                    <a:pt x="568794" y="49497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5" y="139296"/>
                  </a:lnTo>
                  <a:lnTo>
                    <a:pt x="702890" y="177167"/>
                  </a:lnTo>
                  <a:lnTo>
                    <a:pt x="725419" y="218101"/>
                  </a:lnTo>
                  <a:lnTo>
                    <a:pt x="742768" y="261484"/>
                  </a:lnTo>
                  <a:lnTo>
                    <a:pt x="754678" y="306670"/>
                  </a:lnTo>
                  <a:lnTo>
                    <a:pt x="760967" y="352975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6" y="436904"/>
                  </a:lnTo>
                  <a:lnTo>
                    <a:pt x="748198" y="482613"/>
                  </a:lnTo>
                  <a:lnTo>
                    <a:pt x="732997" y="526801"/>
                  </a:lnTo>
                  <a:lnTo>
                    <a:pt x="712500" y="568796"/>
                  </a:lnTo>
                  <a:lnTo>
                    <a:pt x="687021" y="607960"/>
                  </a:lnTo>
                  <a:lnTo>
                    <a:pt x="656939" y="643712"/>
                  </a:lnTo>
                  <a:lnTo>
                    <a:pt x="622703" y="675517"/>
                  </a:lnTo>
                  <a:lnTo>
                    <a:pt x="584830" y="702890"/>
                  </a:lnTo>
                  <a:lnTo>
                    <a:pt x="543896" y="725419"/>
                  </a:lnTo>
                  <a:lnTo>
                    <a:pt x="500513" y="742768"/>
                  </a:lnTo>
                  <a:lnTo>
                    <a:pt x="455326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4" name="object 41">
              <a:extLst>
                <a:ext uri="{FF2B5EF4-FFF2-40B4-BE49-F238E27FC236}">
                  <a16:creationId xmlns:a16="http://schemas.microsoft.com/office/drawing/2014/main" id="{4FE72629-1E26-1EFE-CE5F-8ADDEECB3B7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29949" y="5067299"/>
              <a:ext cx="342899" cy="380999"/>
            </a:xfrm>
            <a:prstGeom prst="rect">
              <a:avLst/>
            </a:prstGeom>
          </p:spPr>
        </p:pic>
      </p:grpSp>
      <p:sp>
        <p:nvSpPr>
          <p:cNvPr id="16" name="object 42">
            <a:extLst>
              <a:ext uri="{FF2B5EF4-FFF2-40B4-BE49-F238E27FC236}">
                <a16:creationId xmlns:a16="http://schemas.microsoft.com/office/drawing/2014/main" id="{5BD29EF4-B138-7567-4158-62BF586325D4}"/>
              </a:ext>
            </a:extLst>
          </p:cNvPr>
          <p:cNvSpPr txBox="1"/>
          <p:nvPr/>
        </p:nvSpPr>
        <p:spPr>
          <a:xfrm>
            <a:off x="8655000" y="2968177"/>
            <a:ext cx="3060750" cy="227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'AI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자율 제조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'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로드맵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지원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사업 참여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7" name="object 43">
            <a:extLst>
              <a:ext uri="{FF2B5EF4-FFF2-40B4-BE49-F238E27FC236}">
                <a16:creationId xmlns:a16="http://schemas.microsoft.com/office/drawing/2014/main" id="{069D4EEF-CB15-57E3-5045-56C3CA1E7EFE}"/>
              </a:ext>
            </a:extLst>
          </p:cNvPr>
          <p:cNvSpPr txBox="1"/>
          <p:nvPr/>
        </p:nvSpPr>
        <p:spPr>
          <a:xfrm>
            <a:off x="8654999" y="3501577"/>
            <a:ext cx="3060749" cy="4534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초기 투자 부담 경감 및 정부의 마중물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역할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활용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8" name="object 44">
            <a:extLst>
              <a:ext uri="{FF2B5EF4-FFF2-40B4-BE49-F238E27FC236}">
                <a16:creationId xmlns:a16="http://schemas.microsoft.com/office/drawing/2014/main" id="{11B1AE8E-FBCF-EB3A-3E54-5D1D6C97DB1E}"/>
              </a:ext>
            </a:extLst>
          </p:cNvPr>
          <p:cNvSpPr txBox="1"/>
          <p:nvPr/>
        </p:nvSpPr>
        <p:spPr>
          <a:xfrm>
            <a:off x="8655000" y="4034977"/>
            <a:ext cx="3060748" cy="4534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외부 지원을 통한 혁신 기반 강화 및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경쟁력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확보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9" name="object 45">
            <a:extLst>
              <a:ext uri="{FF2B5EF4-FFF2-40B4-BE49-F238E27FC236}">
                <a16:creationId xmlns:a16="http://schemas.microsoft.com/office/drawing/2014/main" id="{ADFFC043-3F1A-A1C5-907D-059A1C222EE2}"/>
              </a:ext>
            </a:extLst>
          </p:cNvPr>
          <p:cNvSpPr txBox="1"/>
          <p:nvPr/>
        </p:nvSpPr>
        <p:spPr>
          <a:xfrm>
            <a:off x="603249" y="5121017"/>
            <a:ext cx="9871710" cy="99695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950" b="1" dirty="0">
                <a:solidFill>
                  <a:srgbClr val="FFFFFF"/>
                </a:solidFill>
                <a:latin typeface="Trebuchet MS"/>
                <a:cs typeface="Trebuchet MS"/>
              </a:rPr>
              <a:t>AI </a:t>
            </a:r>
            <a:r>
              <a:rPr sz="2000" b="1" dirty="0">
                <a:solidFill>
                  <a:srgbClr val="FFFFFF"/>
                </a:solidFill>
                <a:latin typeface="Malgun Gothic"/>
                <a:cs typeface="Malgun Gothic"/>
              </a:rPr>
              <a:t>트랜스폼의 성공적 실행을 위한 핵심 요소</a:t>
            </a:r>
            <a:endParaRPr sz="2000">
              <a:latin typeface="Malgun Gothic"/>
              <a:cs typeface="Malgun Gothic"/>
            </a:endParaRPr>
          </a:p>
          <a:p>
            <a:pPr marL="12700" marR="5080">
              <a:lnSpc>
                <a:spcPct val="111100"/>
              </a:lnSpc>
              <a:spcBef>
                <a:spcPts val="545"/>
              </a:spcBef>
            </a:pPr>
            <a:r>
              <a:rPr sz="1350" dirty="0">
                <a:solidFill>
                  <a:srgbClr val="FFFFFF"/>
                </a:solidFill>
                <a:latin typeface="Malgun Gothic"/>
                <a:cs typeface="Malgun Gothic"/>
              </a:rPr>
              <a:t>대덕전자의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AI </a:t>
            </a:r>
            <a:r>
              <a:rPr sz="1350" dirty="0">
                <a:solidFill>
                  <a:srgbClr val="FFFFFF"/>
                </a:solidFill>
                <a:latin typeface="Malgun Gothic"/>
                <a:cs typeface="Malgun Gothic"/>
              </a:rPr>
              <a:t>트랜스폼은 단순한 기술 도입이 아닌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FFFFFF"/>
                </a:solidFill>
                <a:latin typeface="Malgun Gothic"/>
                <a:cs typeface="Malgun Gothic"/>
              </a:rPr>
              <a:t>조직 문화와 인적 역량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FFFFFF"/>
                </a:solidFill>
                <a:latin typeface="Malgun Gothic"/>
                <a:cs typeface="Malgun Gothic"/>
              </a:rPr>
              <a:t>외부 협력이 함께 어우러진 종합적 혁신 과정입니다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. </a:t>
            </a:r>
            <a:r>
              <a:rPr sz="1350" dirty="0">
                <a:solidFill>
                  <a:srgbClr val="FFFFFF"/>
                </a:solidFill>
                <a:latin typeface="Malgun Gothic"/>
                <a:cs typeface="Malgun Gothic"/>
              </a:rPr>
              <a:t>기술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FFFFFF"/>
                </a:solidFill>
                <a:latin typeface="Malgun Gothic"/>
                <a:cs typeface="Malgun Gothic"/>
              </a:rPr>
              <a:t>사람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FFFFFF"/>
                </a:solidFill>
                <a:latin typeface="Malgun Gothic"/>
                <a:cs typeface="Malgun Gothic"/>
              </a:rPr>
              <a:t>프로세스가 유기 적으로 결합될 때 진정한 초격차 경쟁력이 확보됩니다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43" name="object 26">
            <a:extLst>
              <a:ext uri="{FF2B5EF4-FFF2-40B4-BE49-F238E27FC236}">
                <a16:creationId xmlns:a16="http://schemas.microsoft.com/office/drawing/2014/main" id="{6B009724-8247-38BE-EF07-33D5C1A302F1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378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7EF38EB7-EFFA-81EE-5376-89290A34E0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1" y="13493"/>
            <a:ext cx="12191999" cy="6857999"/>
          </a:xfrm>
          <a:prstGeom prst="rect">
            <a:avLst/>
          </a:prstGeom>
        </p:spPr>
      </p:pic>
      <p:sp>
        <p:nvSpPr>
          <p:cNvPr id="68" name="object 2">
            <a:extLst>
              <a:ext uri="{FF2B5EF4-FFF2-40B4-BE49-F238E27FC236}">
                <a16:creationId xmlns:a16="http://schemas.microsoft.com/office/drawing/2014/main" id="{69596D04-E4E2-70FC-ECF1-D2304A961090}"/>
              </a:ext>
            </a:extLst>
          </p:cNvPr>
          <p:cNvSpPr/>
          <p:nvPr/>
        </p:nvSpPr>
        <p:spPr>
          <a:xfrm>
            <a:off x="8858249" y="1"/>
            <a:ext cx="3333751" cy="3333751"/>
          </a:xfrm>
          <a:custGeom>
            <a:avLst/>
            <a:gdLst/>
            <a:ahLst/>
            <a:cxnLst/>
            <a:rect l="l" t="t" r="r" b="b"/>
            <a:pathLst>
              <a:path w="3333750" h="3333750">
                <a:moveTo>
                  <a:pt x="2381249" y="3333749"/>
                </a:moveTo>
                <a:lnTo>
                  <a:pt x="2322810" y="3333032"/>
                </a:lnTo>
                <a:lnTo>
                  <a:pt x="2264406" y="3330880"/>
                </a:lnTo>
                <a:lnTo>
                  <a:pt x="2206073" y="3327297"/>
                </a:lnTo>
                <a:lnTo>
                  <a:pt x="2147846" y="3322283"/>
                </a:lnTo>
                <a:lnTo>
                  <a:pt x="2089760" y="3315841"/>
                </a:lnTo>
                <a:lnTo>
                  <a:pt x="2031849" y="3307976"/>
                </a:lnTo>
                <a:lnTo>
                  <a:pt x="1974146" y="3298691"/>
                </a:lnTo>
                <a:lnTo>
                  <a:pt x="1916689" y="3287994"/>
                </a:lnTo>
                <a:lnTo>
                  <a:pt x="1859514" y="3275889"/>
                </a:lnTo>
                <a:lnTo>
                  <a:pt x="1802652" y="3262385"/>
                </a:lnTo>
                <a:lnTo>
                  <a:pt x="1746140" y="3247490"/>
                </a:lnTo>
                <a:lnTo>
                  <a:pt x="1690009" y="3231213"/>
                </a:lnTo>
                <a:lnTo>
                  <a:pt x="1634294" y="3213563"/>
                </a:lnTo>
                <a:lnTo>
                  <a:pt x="1579030" y="3194551"/>
                </a:lnTo>
                <a:lnTo>
                  <a:pt x="1524248" y="3174188"/>
                </a:lnTo>
                <a:lnTo>
                  <a:pt x="1469984" y="3152487"/>
                </a:lnTo>
                <a:lnTo>
                  <a:pt x="1416268" y="3129461"/>
                </a:lnTo>
                <a:lnTo>
                  <a:pt x="1363132" y="3105123"/>
                </a:lnTo>
                <a:lnTo>
                  <a:pt x="1310612" y="3079490"/>
                </a:lnTo>
                <a:lnTo>
                  <a:pt x="1258737" y="3052574"/>
                </a:lnTo>
                <a:lnTo>
                  <a:pt x="1207536" y="3024394"/>
                </a:lnTo>
                <a:lnTo>
                  <a:pt x="1157043" y="2994965"/>
                </a:lnTo>
                <a:lnTo>
                  <a:pt x="1107286" y="2964307"/>
                </a:lnTo>
                <a:lnTo>
                  <a:pt x="1058298" y="2932436"/>
                </a:lnTo>
                <a:lnTo>
                  <a:pt x="1010106" y="2899373"/>
                </a:lnTo>
                <a:lnTo>
                  <a:pt x="962741" y="2865137"/>
                </a:lnTo>
                <a:lnTo>
                  <a:pt x="916230" y="2829749"/>
                </a:lnTo>
                <a:lnTo>
                  <a:pt x="870601" y="2793230"/>
                </a:lnTo>
                <a:lnTo>
                  <a:pt x="825881" y="2755602"/>
                </a:lnTo>
                <a:lnTo>
                  <a:pt x="782100" y="2716889"/>
                </a:lnTo>
                <a:lnTo>
                  <a:pt x="739281" y="2677113"/>
                </a:lnTo>
                <a:lnTo>
                  <a:pt x="697451" y="2636297"/>
                </a:lnTo>
                <a:lnTo>
                  <a:pt x="656635" y="2594467"/>
                </a:lnTo>
                <a:lnTo>
                  <a:pt x="616859" y="2551649"/>
                </a:lnTo>
                <a:lnTo>
                  <a:pt x="578146" y="2507867"/>
                </a:lnTo>
                <a:lnTo>
                  <a:pt x="540519" y="2463148"/>
                </a:lnTo>
                <a:lnTo>
                  <a:pt x="503999" y="2417519"/>
                </a:lnTo>
                <a:lnTo>
                  <a:pt x="468611" y="2371008"/>
                </a:lnTo>
                <a:lnTo>
                  <a:pt x="434375" y="2323642"/>
                </a:lnTo>
                <a:lnTo>
                  <a:pt x="401312" y="2275451"/>
                </a:lnTo>
                <a:lnTo>
                  <a:pt x="369441" y="2226462"/>
                </a:lnTo>
                <a:lnTo>
                  <a:pt x="338782" y="2176706"/>
                </a:lnTo>
                <a:lnTo>
                  <a:pt x="309354" y="2126213"/>
                </a:lnTo>
                <a:lnTo>
                  <a:pt x="281174" y="2075013"/>
                </a:lnTo>
                <a:lnTo>
                  <a:pt x="254259" y="2023136"/>
                </a:lnTo>
                <a:lnTo>
                  <a:pt x="228624" y="1970615"/>
                </a:lnTo>
                <a:lnTo>
                  <a:pt x="204287" y="1917480"/>
                </a:lnTo>
                <a:lnTo>
                  <a:pt x="181261" y="1863764"/>
                </a:lnTo>
                <a:lnTo>
                  <a:pt x="159559" y="1809499"/>
                </a:lnTo>
                <a:lnTo>
                  <a:pt x="139197" y="1754718"/>
                </a:lnTo>
                <a:lnTo>
                  <a:pt x="120185" y="1699454"/>
                </a:lnTo>
                <a:lnTo>
                  <a:pt x="102534" y="1643740"/>
                </a:lnTo>
                <a:lnTo>
                  <a:pt x="86257" y="1587609"/>
                </a:lnTo>
                <a:lnTo>
                  <a:pt x="71361" y="1531096"/>
                </a:lnTo>
                <a:lnTo>
                  <a:pt x="57858" y="1474234"/>
                </a:lnTo>
                <a:lnTo>
                  <a:pt x="45754" y="1417058"/>
                </a:lnTo>
                <a:lnTo>
                  <a:pt x="35056" y="1359602"/>
                </a:lnTo>
                <a:lnTo>
                  <a:pt x="25772" y="1301901"/>
                </a:lnTo>
                <a:lnTo>
                  <a:pt x="17907" y="1243990"/>
                </a:lnTo>
                <a:lnTo>
                  <a:pt x="11466" y="1185903"/>
                </a:lnTo>
                <a:lnTo>
                  <a:pt x="6451" y="1127675"/>
                </a:lnTo>
                <a:lnTo>
                  <a:pt x="2867" y="1069342"/>
                </a:lnTo>
                <a:lnTo>
                  <a:pt x="716" y="1010938"/>
                </a:lnTo>
                <a:lnTo>
                  <a:pt x="0" y="952499"/>
                </a:lnTo>
                <a:lnTo>
                  <a:pt x="178" y="923276"/>
                </a:lnTo>
                <a:lnTo>
                  <a:pt x="1613" y="864854"/>
                </a:lnTo>
                <a:lnTo>
                  <a:pt x="4480" y="806477"/>
                </a:lnTo>
                <a:lnTo>
                  <a:pt x="8780" y="748197"/>
                </a:lnTo>
                <a:lnTo>
                  <a:pt x="14509" y="690031"/>
                </a:lnTo>
                <a:lnTo>
                  <a:pt x="21662" y="632031"/>
                </a:lnTo>
                <a:lnTo>
                  <a:pt x="30238" y="574216"/>
                </a:lnTo>
                <a:lnTo>
                  <a:pt x="40228" y="516638"/>
                </a:lnTo>
                <a:lnTo>
                  <a:pt x="51631" y="459313"/>
                </a:lnTo>
                <a:lnTo>
                  <a:pt x="64434" y="402294"/>
                </a:lnTo>
                <a:lnTo>
                  <a:pt x="78637" y="345598"/>
                </a:lnTo>
                <a:lnTo>
                  <a:pt x="94223" y="289277"/>
                </a:lnTo>
                <a:lnTo>
                  <a:pt x="111190" y="233346"/>
                </a:lnTo>
                <a:lnTo>
                  <a:pt x="129521" y="177856"/>
                </a:lnTo>
                <a:lnTo>
                  <a:pt x="149211" y="122825"/>
                </a:lnTo>
                <a:lnTo>
                  <a:pt x="170243" y="68302"/>
                </a:lnTo>
                <a:lnTo>
                  <a:pt x="192610" y="14304"/>
                </a:lnTo>
                <a:lnTo>
                  <a:pt x="3333750" y="0"/>
                </a:lnTo>
                <a:lnTo>
                  <a:pt x="3333750" y="3134901"/>
                </a:lnTo>
                <a:lnTo>
                  <a:pt x="3292512" y="3152487"/>
                </a:lnTo>
                <a:lnTo>
                  <a:pt x="3238248" y="3174188"/>
                </a:lnTo>
                <a:lnTo>
                  <a:pt x="3183467" y="3194551"/>
                </a:lnTo>
                <a:lnTo>
                  <a:pt x="3128203" y="3213563"/>
                </a:lnTo>
                <a:lnTo>
                  <a:pt x="3072488" y="3231213"/>
                </a:lnTo>
                <a:lnTo>
                  <a:pt x="3016358" y="3247490"/>
                </a:lnTo>
                <a:lnTo>
                  <a:pt x="2959845" y="3262385"/>
                </a:lnTo>
                <a:lnTo>
                  <a:pt x="2902985" y="3275889"/>
                </a:lnTo>
                <a:lnTo>
                  <a:pt x="2845808" y="3287994"/>
                </a:lnTo>
                <a:lnTo>
                  <a:pt x="2788353" y="3298691"/>
                </a:lnTo>
                <a:lnTo>
                  <a:pt x="2730651" y="3307976"/>
                </a:lnTo>
                <a:lnTo>
                  <a:pt x="2672742" y="3315841"/>
                </a:lnTo>
                <a:lnTo>
                  <a:pt x="2614652" y="3322283"/>
                </a:lnTo>
                <a:lnTo>
                  <a:pt x="2556425" y="3327297"/>
                </a:lnTo>
                <a:lnTo>
                  <a:pt x="2498096" y="3330880"/>
                </a:lnTo>
                <a:lnTo>
                  <a:pt x="2439689" y="3333032"/>
                </a:lnTo>
                <a:lnTo>
                  <a:pt x="2381249" y="3333749"/>
                </a:lnTo>
                <a:close/>
              </a:path>
            </a:pathLst>
          </a:custGeom>
          <a:solidFill>
            <a:srgbClr val="FF6E40">
              <a:alpha val="78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3">
            <a:extLst>
              <a:ext uri="{FF2B5EF4-FFF2-40B4-BE49-F238E27FC236}">
                <a16:creationId xmlns:a16="http://schemas.microsoft.com/office/drawing/2014/main" id="{C3956C19-502A-78AC-3B45-BE30A04E3767}"/>
              </a:ext>
            </a:extLst>
          </p:cNvPr>
          <p:cNvSpPr/>
          <p:nvPr/>
        </p:nvSpPr>
        <p:spPr>
          <a:xfrm>
            <a:off x="0" y="4953107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823263" y="1904892"/>
                </a:moveTo>
                <a:lnTo>
                  <a:pt x="0" y="1904892"/>
                </a:lnTo>
                <a:lnTo>
                  <a:pt x="0" y="81627"/>
                </a:lnTo>
                <a:lnTo>
                  <a:pt x="44757" y="66606"/>
                </a:lnTo>
                <a:lnTo>
                  <a:pt x="95184" y="51647"/>
                </a:lnTo>
                <a:lnTo>
                  <a:pt x="146126" y="38553"/>
                </a:lnTo>
                <a:lnTo>
                  <a:pt x="197514" y="27345"/>
                </a:lnTo>
                <a:lnTo>
                  <a:pt x="249280" y="18035"/>
                </a:lnTo>
                <a:lnTo>
                  <a:pt x="301355" y="10636"/>
                </a:lnTo>
                <a:lnTo>
                  <a:pt x="353668" y="5160"/>
                </a:lnTo>
                <a:lnTo>
                  <a:pt x="406144" y="1613"/>
                </a:lnTo>
                <a:lnTo>
                  <a:pt x="458715" y="0"/>
                </a:lnTo>
                <a:lnTo>
                  <a:pt x="493784" y="0"/>
                </a:lnTo>
                <a:lnTo>
                  <a:pt x="546355" y="1613"/>
                </a:lnTo>
                <a:lnTo>
                  <a:pt x="598831" y="5160"/>
                </a:lnTo>
                <a:lnTo>
                  <a:pt x="651144" y="10636"/>
                </a:lnTo>
                <a:lnTo>
                  <a:pt x="703219" y="18035"/>
                </a:lnTo>
                <a:lnTo>
                  <a:pt x="754985" y="27345"/>
                </a:lnTo>
                <a:lnTo>
                  <a:pt x="806372" y="38553"/>
                </a:lnTo>
                <a:lnTo>
                  <a:pt x="857315" y="51647"/>
                </a:lnTo>
                <a:lnTo>
                  <a:pt x="907742" y="66606"/>
                </a:lnTo>
                <a:lnTo>
                  <a:pt x="957581" y="83410"/>
                </a:lnTo>
                <a:lnTo>
                  <a:pt x="1006768" y="102038"/>
                </a:lnTo>
                <a:lnTo>
                  <a:pt x="1055238" y="122464"/>
                </a:lnTo>
                <a:lnTo>
                  <a:pt x="1102923" y="144661"/>
                </a:lnTo>
                <a:lnTo>
                  <a:pt x="1149757" y="168597"/>
                </a:lnTo>
                <a:lnTo>
                  <a:pt x="1195679" y="194240"/>
                </a:lnTo>
                <a:lnTo>
                  <a:pt x="1240627" y="221557"/>
                </a:lnTo>
                <a:lnTo>
                  <a:pt x="1284540" y="250510"/>
                </a:lnTo>
                <a:lnTo>
                  <a:pt x="1327355" y="281058"/>
                </a:lnTo>
                <a:lnTo>
                  <a:pt x="1369016" y="313162"/>
                </a:lnTo>
                <a:lnTo>
                  <a:pt x="1409470" y="346779"/>
                </a:lnTo>
                <a:lnTo>
                  <a:pt x="1448659" y="381862"/>
                </a:lnTo>
                <a:lnTo>
                  <a:pt x="1486528" y="418363"/>
                </a:lnTo>
                <a:lnTo>
                  <a:pt x="1523028" y="456232"/>
                </a:lnTo>
                <a:lnTo>
                  <a:pt x="1558112" y="495420"/>
                </a:lnTo>
                <a:lnTo>
                  <a:pt x="1591729" y="535875"/>
                </a:lnTo>
                <a:lnTo>
                  <a:pt x="1623832" y="577536"/>
                </a:lnTo>
                <a:lnTo>
                  <a:pt x="1654381" y="620351"/>
                </a:lnTo>
                <a:lnTo>
                  <a:pt x="1683334" y="664263"/>
                </a:lnTo>
                <a:lnTo>
                  <a:pt x="1710651" y="709211"/>
                </a:lnTo>
                <a:lnTo>
                  <a:pt x="1736294" y="755133"/>
                </a:lnTo>
                <a:lnTo>
                  <a:pt x="1760230" y="801967"/>
                </a:lnTo>
                <a:lnTo>
                  <a:pt x="1782426" y="849652"/>
                </a:lnTo>
                <a:lnTo>
                  <a:pt x="1802853" y="898123"/>
                </a:lnTo>
                <a:lnTo>
                  <a:pt x="1821480" y="947309"/>
                </a:lnTo>
                <a:lnTo>
                  <a:pt x="1838285" y="997149"/>
                </a:lnTo>
                <a:lnTo>
                  <a:pt x="1853244" y="1047575"/>
                </a:lnTo>
                <a:lnTo>
                  <a:pt x="1866338" y="1098517"/>
                </a:lnTo>
                <a:lnTo>
                  <a:pt x="1877546" y="1149905"/>
                </a:lnTo>
                <a:lnTo>
                  <a:pt x="1886856" y="1201671"/>
                </a:lnTo>
                <a:lnTo>
                  <a:pt x="1894255" y="1253747"/>
                </a:lnTo>
                <a:lnTo>
                  <a:pt x="1899731" y="1306060"/>
                </a:lnTo>
                <a:lnTo>
                  <a:pt x="1903278" y="1358536"/>
                </a:lnTo>
                <a:lnTo>
                  <a:pt x="1904892" y="1411107"/>
                </a:lnTo>
                <a:lnTo>
                  <a:pt x="1904892" y="1446176"/>
                </a:lnTo>
                <a:lnTo>
                  <a:pt x="1903278" y="1498748"/>
                </a:lnTo>
                <a:lnTo>
                  <a:pt x="1899731" y="1551224"/>
                </a:lnTo>
                <a:lnTo>
                  <a:pt x="1894255" y="1603536"/>
                </a:lnTo>
                <a:lnTo>
                  <a:pt x="1886856" y="1655611"/>
                </a:lnTo>
                <a:lnTo>
                  <a:pt x="1877546" y="1707377"/>
                </a:lnTo>
                <a:lnTo>
                  <a:pt x="1866338" y="1758764"/>
                </a:lnTo>
                <a:lnTo>
                  <a:pt x="1853244" y="1809707"/>
                </a:lnTo>
                <a:lnTo>
                  <a:pt x="1838285" y="1860134"/>
                </a:lnTo>
                <a:lnTo>
                  <a:pt x="1823263" y="1904892"/>
                </a:lnTo>
                <a:close/>
              </a:path>
            </a:pathLst>
          </a:custGeom>
          <a:solidFill>
            <a:srgbClr val="FF6E40">
              <a:alpha val="78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4">
            <a:extLst>
              <a:ext uri="{FF2B5EF4-FFF2-40B4-BE49-F238E27FC236}">
                <a16:creationId xmlns:a16="http://schemas.microsoft.com/office/drawing/2014/main" id="{65EEA428-36F3-9EA1-5934-2E8C0739E7AE}"/>
              </a:ext>
            </a:extLst>
          </p:cNvPr>
          <p:cNvSpPr/>
          <p:nvPr/>
        </p:nvSpPr>
        <p:spPr>
          <a:xfrm>
            <a:off x="7315199" y="3428999"/>
            <a:ext cx="1905001" cy="1905001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499" y="1904999"/>
                </a:moveTo>
                <a:lnTo>
                  <a:pt x="905762" y="1903852"/>
                </a:lnTo>
                <a:lnTo>
                  <a:pt x="859138" y="1900413"/>
                </a:lnTo>
                <a:lnTo>
                  <a:pt x="812738" y="1894689"/>
                </a:lnTo>
                <a:lnTo>
                  <a:pt x="766675" y="1886696"/>
                </a:lnTo>
                <a:lnTo>
                  <a:pt x="721061" y="1876453"/>
                </a:lnTo>
                <a:lnTo>
                  <a:pt x="676004" y="1863985"/>
                </a:lnTo>
                <a:lnTo>
                  <a:pt x="631611" y="1849320"/>
                </a:lnTo>
                <a:lnTo>
                  <a:pt x="587993" y="1832494"/>
                </a:lnTo>
                <a:lnTo>
                  <a:pt x="545253" y="1813549"/>
                </a:lnTo>
                <a:lnTo>
                  <a:pt x="503494" y="1792529"/>
                </a:lnTo>
                <a:lnTo>
                  <a:pt x="462815" y="1769486"/>
                </a:lnTo>
                <a:lnTo>
                  <a:pt x="423318" y="1744474"/>
                </a:lnTo>
                <a:lnTo>
                  <a:pt x="385095" y="1717554"/>
                </a:lnTo>
                <a:lnTo>
                  <a:pt x="348239" y="1688792"/>
                </a:lnTo>
                <a:lnTo>
                  <a:pt x="312839" y="1658255"/>
                </a:lnTo>
                <a:lnTo>
                  <a:pt x="278980" y="1626018"/>
                </a:lnTo>
                <a:lnTo>
                  <a:pt x="246743" y="1592159"/>
                </a:lnTo>
                <a:lnTo>
                  <a:pt x="216207" y="1556759"/>
                </a:lnTo>
                <a:lnTo>
                  <a:pt x="187443" y="1519903"/>
                </a:lnTo>
                <a:lnTo>
                  <a:pt x="160524" y="1481679"/>
                </a:lnTo>
                <a:lnTo>
                  <a:pt x="135512" y="1442182"/>
                </a:lnTo>
                <a:lnTo>
                  <a:pt x="112469" y="1401505"/>
                </a:lnTo>
                <a:lnTo>
                  <a:pt x="91449" y="1359745"/>
                </a:lnTo>
                <a:lnTo>
                  <a:pt x="72503" y="1317005"/>
                </a:lnTo>
                <a:lnTo>
                  <a:pt x="55678" y="1273387"/>
                </a:lnTo>
                <a:lnTo>
                  <a:pt x="41013" y="1228996"/>
                </a:lnTo>
                <a:lnTo>
                  <a:pt x="28544" y="1183938"/>
                </a:lnTo>
                <a:lnTo>
                  <a:pt x="18301" y="1138323"/>
                </a:lnTo>
                <a:lnTo>
                  <a:pt x="10308" y="1092260"/>
                </a:lnTo>
                <a:lnTo>
                  <a:pt x="4586" y="1045861"/>
                </a:lnTo>
                <a:lnTo>
                  <a:pt x="1147" y="999237"/>
                </a:lnTo>
                <a:lnTo>
                  <a:pt x="0" y="952499"/>
                </a:lnTo>
                <a:lnTo>
                  <a:pt x="286" y="929124"/>
                </a:lnTo>
                <a:lnTo>
                  <a:pt x="2580" y="882430"/>
                </a:lnTo>
                <a:lnTo>
                  <a:pt x="7162" y="835903"/>
                </a:lnTo>
                <a:lnTo>
                  <a:pt x="14021" y="789658"/>
                </a:lnTo>
                <a:lnTo>
                  <a:pt x="23142" y="743806"/>
                </a:lnTo>
                <a:lnTo>
                  <a:pt x="34502" y="698456"/>
                </a:lnTo>
                <a:lnTo>
                  <a:pt x="48073" y="653718"/>
                </a:lnTo>
                <a:lnTo>
                  <a:pt x="63823" y="609699"/>
                </a:lnTo>
                <a:lnTo>
                  <a:pt x="81713" y="566507"/>
                </a:lnTo>
                <a:lnTo>
                  <a:pt x="101703" y="524244"/>
                </a:lnTo>
                <a:lnTo>
                  <a:pt x="123741" y="483014"/>
                </a:lnTo>
                <a:lnTo>
                  <a:pt x="147775" y="442914"/>
                </a:lnTo>
                <a:lnTo>
                  <a:pt x="173749" y="404042"/>
                </a:lnTo>
                <a:lnTo>
                  <a:pt x="201598" y="366491"/>
                </a:lnTo>
                <a:lnTo>
                  <a:pt x="231257" y="330352"/>
                </a:lnTo>
                <a:lnTo>
                  <a:pt x="262653" y="295712"/>
                </a:lnTo>
                <a:lnTo>
                  <a:pt x="295711" y="262654"/>
                </a:lnTo>
                <a:lnTo>
                  <a:pt x="330352" y="231258"/>
                </a:lnTo>
                <a:lnTo>
                  <a:pt x="366491" y="201599"/>
                </a:lnTo>
                <a:lnTo>
                  <a:pt x="404041" y="173750"/>
                </a:lnTo>
                <a:lnTo>
                  <a:pt x="442913" y="147776"/>
                </a:lnTo>
                <a:lnTo>
                  <a:pt x="483013" y="123742"/>
                </a:lnTo>
                <a:lnTo>
                  <a:pt x="524244" y="101703"/>
                </a:lnTo>
                <a:lnTo>
                  <a:pt x="566506" y="81715"/>
                </a:lnTo>
                <a:lnTo>
                  <a:pt x="609699" y="63824"/>
                </a:lnTo>
                <a:lnTo>
                  <a:pt x="653717" y="48074"/>
                </a:lnTo>
                <a:lnTo>
                  <a:pt x="698455" y="34503"/>
                </a:lnTo>
                <a:lnTo>
                  <a:pt x="743804" y="23143"/>
                </a:lnTo>
                <a:lnTo>
                  <a:pt x="789657" y="14023"/>
                </a:lnTo>
                <a:lnTo>
                  <a:pt x="835903" y="7163"/>
                </a:lnTo>
                <a:lnTo>
                  <a:pt x="882429" y="2580"/>
                </a:lnTo>
                <a:lnTo>
                  <a:pt x="929124" y="286"/>
                </a:lnTo>
                <a:lnTo>
                  <a:pt x="952499" y="0"/>
                </a:lnTo>
                <a:lnTo>
                  <a:pt x="975875" y="286"/>
                </a:lnTo>
                <a:lnTo>
                  <a:pt x="1022569" y="2580"/>
                </a:lnTo>
                <a:lnTo>
                  <a:pt x="1069095" y="7163"/>
                </a:lnTo>
                <a:lnTo>
                  <a:pt x="1115340" y="14023"/>
                </a:lnTo>
                <a:lnTo>
                  <a:pt x="1161193" y="23143"/>
                </a:lnTo>
                <a:lnTo>
                  <a:pt x="1206543" y="34503"/>
                </a:lnTo>
                <a:lnTo>
                  <a:pt x="1251281" y="48074"/>
                </a:lnTo>
                <a:lnTo>
                  <a:pt x="1295299" y="63824"/>
                </a:lnTo>
                <a:lnTo>
                  <a:pt x="1338492" y="81715"/>
                </a:lnTo>
                <a:lnTo>
                  <a:pt x="1380754" y="101703"/>
                </a:lnTo>
                <a:lnTo>
                  <a:pt x="1421984" y="123742"/>
                </a:lnTo>
                <a:lnTo>
                  <a:pt x="1462084" y="147776"/>
                </a:lnTo>
                <a:lnTo>
                  <a:pt x="1500956" y="173750"/>
                </a:lnTo>
                <a:lnTo>
                  <a:pt x="1538507" y="201599"/>
                </a:lnTo>
                <a:lnTo>
                  <a:pt x="1574646" y="231258"/>
                </a:lnTo>
                <a:lnTo>
                  <a:pt x="1609286" y="262654"/>
                </a:lnTo>
                <a:lnTo>
                  <a:pt x="1642344" y="295712"/>
                </a:lnTo>
                <a:lnTo>
                  <a:pt x="1673741" y="330352"/>
                </a:lnTo>
                <a:lnTo>
                  <a:pt x="1703400" y="366491"/>
                </a:lnTo>
                <a:lnTo>
                  <a:pt x="1731249" y="404042"/>
                </a:lnTo>
                <a:lnTo>
                  <a:pt x="1757222" y="442914"/>
                </a:lnTo>
                <a:lnTo>
                  <a:pt x="1781257" y="483014"/>
                </a:lnTo>
                <a:lnTo>
                  <a:pt x="1803295" y="524244"/>
                </a:lnTo>
                <a:lnTo>
                  <a:pt x="1823283" y="566507"/>
                </a:lnTo>
                <a:lnTo>
                  <a:pt x="1841174" y="609699"/>
                </a:lnTo>
                <a:lnTo>
                  <a:pt x="1856924" y="653717"/>
                </a:lnTo>
                <a:lnTo>
                  <a:pt x="1870496" y="698455"/>
                </a:lnTo>
                <a:lnTo>
                  <a:pt x="1881855" y="743805"/>
                </a:lnTo>
                <a:lnTo>
                  <a:pt x="1890976" y="789658"/>
                </a:lnTo>
                <a:lnTo>
                  <a:pt x="1897836" y="835903"/>
                </a:lnTo>
                <a:lnTo>
                  <a:pt x="1902419" y="882429"/>
                </a:lnTo>
                <a:lnTo>
                  <a:pt x="1904712" y="929124"/>
                </a:lnTo>
                <a:lnTo>
                  <a:pt x="1904999" y="952499"/>
                </a:lnTo>
                <a:lnTo>
                  <a:pt x="1904712" y="975875"/>
                </a:lnTo>
                <a:lnTo>
                  <a:pt x="1902419" y="1022570"/>
                </a:lnTo>
                <a:lnTo>
                  <a:pt x="1897836" y="1069096"/>
                </a:lnTo>
                <a:lnTo>
                  <a:pt x="1890976" y="1115341"/>
                </a:lnTo>
                <a:lnTo>
                  <a:pt x="1881855" y="1161193"/>
                </a:lnTo>
                <a:lnTo>
                  <a:pt x="1870496" y="1206543"/>
                </a:lnTo>
                <a:lnTo>
                  <a:pt x="1856925" y="1251281"/>
                </a:lnTo>
                <a:lnTo>
                  <a:pt x="1841174" y="1295299"/>
                </a:lnTo>
                <a:lnTo>
                  <a:pt x="1823284" y="1338491"/>
                </a:lnTo>
                <a:lnTo>
                  <a:pt x="1803295" y="1380754"/>
                </a:lnTo>
                <a:lnTo>
                  <a:pt x="1781257" y="1421984"/>
                </a:lnTo>
                <a:lnTo>
                  <a:pt x="1757222" y="1462084"/>
                </a:lnTo>
                <a:lnTo>
                  <a:pt x="1731249" y="1500956"/>
                </a:lnTo>
                <a:lnTo>
                  <a:pt x="1703400" y="1538507"/>
                </a:lnTo>
                <a:lnTo>
                  <a:pt x="1673741" y="1574646"/>
                </a:lnTo>
                <a:lnTo>
                  <a:pt x="1642344" y="1609286"/>
                </a:lnTo>
                <a:lnTo>
                  <a:pt x="1609286" y="1642345"/>
                </a:lnTo>
                <a:lnTo>
                  <a:pt x="1574646" y="1673741"/>
                </a:lnTo>
                <a:lnTo>
                  <a:pt x="1538507" y="1703399"/>
                </a:lnTo>
                <a:lnTo>
                  <a:pt x="1500956" y="1731248"/>
                </a:lnTo>
                <a:lnTo>
                  <a:pt x="1462084" y="1757222"/>
                </a:lnTo>
                <a:lnTo>
                  <a:pt x="1421984" y="1781257"/>
                </a:lnTo>
                <a:lnTo>
                  <a:pt x="1380754" y="1803295"/>
                </a:lnTo>
                <a:lnTo>
                  <a:pt x="1338492" y="1823284"/>
                </a:lnTo>
                <a:lnTo>
                  <a:pt x="1295299" y="1841174"/>
                </a:lnTo>
                <a:lnTo>
                  <a:pt x="1251281" y="1856924"/>
                </a:lnTo>
                <a:lnTo>
                  <a:pt x="1206543" y="1870495"/>
                </a:lnTo>
                <a:lnTo>
                  <a:pt x="1161193" y="1881855"/>
                </a:lnTo>
                <a:lnTo>
                  <a:pt x="1115340" y="1890976"/>
                </a:lnTo>
                <a:lnTo>
                  <a:pt x="1069095" y="1897836"/>
                </a:lnTo>
                <a:lnTo>
                  <a:pt x="1022569" y="1902419"/>
                </a:lnTo>
                <a:lnTo>
                  <a:pt x="975875" y="1904712"/>
                </a:lnTo>
                <a:lnTo>
                  <a:pt x="952499" y="1904999"/>
                </a:lnTo>
                <a:close/>
              </a:path>
            </a:pathLst>
          </a:custGeom>
          <a:solidFill>
            <a:srgbClr val="FF6E40">
              <a:alpha val="78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">
            <a:extLst>
              <a:ext uri="{FF2B5EF4-FFF2-40B4-BE49-F238E27FC236}">
                <a16:creationId xmlns:a16="http://schemas.microsoft.com/office/drawing/2014/main" id="{9300009C-A5BB-6598-921A-B26C58872BEC}"/>
              </a:ext>
            </a:extLst>
          </p:cNvPr>
          <p:cNvSpPr/>
          <p:nvPr/>
        </p:nvSpPr>
        <p:spPr>
          <a:xfrm>
            <a:off x="5619750" y="2962274"/>
            <a:ext cx="952500" cy="57151"/>
          </a:xfrm>
          <a:custGeom>
            <a:avLst/>
            <a:gdLst/>
            <a:ahLst/>
            <a:cxnLst/>
            <a:rect l="l" t="t" r="r" b="b"/>
            <a:pathLst>
              <a:path w="952500" h="57150">
                <a:moveTo>
                  <a:pt x="952499" y="57149"/>
                </a:moveTo>
                <a:lnTo>
                  <a:pt x="0" y="57149"/>
                </a:lnTo>
                <a:lnTo>
                  <a:pt x="0" y="0"/>
                </a:lnTo>
                <a:lnTo>
                  <a:pt x="952499" y="0"/>
                </a:lnTo>
                <a:lnTo>
                  <a:pt x="952499" y="57149"/>
                </a:lnTo>
                <a:close/>
              </a:path>
            </a:pathLst>
          </a:custGeom>
          <a:solidFill>
            <a:srgbClr val="FF6E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8">
            <a:extLst>
              <a:ext uri="{FF2B5EF4-FFF2-40B4-BE49-F238E27FC236}">
                <a16:creationId xmlns:a16="http://schemas.microsoft.com/office/drawing/2014/main" id="{A079066F-77AA-4317-7D16-EA2D5EFAED2E}"/>
              </a:ext>
            </a:extLst>
          </p:cNvPr>
          <p:cNvSpPr/>
          <p:nvPr/>
        </p:nvSpPr>
        <p:spPr>
          <a:xfrm>
            <a:off x="5638807" y="1857374"/>
            <a:ext cx="923925" cy="266700"/>
          </a:xfrm>
          <a:custGeom>
            <a:avLst/>
            <a:gdLst/>
            <a:ahLst/>
            <a:cxnLst/>
            <a:rect l="l" t="t" r="r" b="b"/>
            <a:pathLst>
              <a:path w="923925" h="266700">
                <a:moveTo>
                  <a:pt x="790574" y="266699"/>
                </a:moveTo>
                <a:lnTo>
                  <a:pt x="133349" y="266699"/>
                </a:lnTo>
                <a:lnTo>
                  <a:pt x="126798" y="266539"/>
                </a:lnTo>
                <a:lnTo>
                  <a:pt x="88432" y="258908"/>
                </a:lnTo>
                <a:lnTo>
                  <a:pt x="53905" y="240453"/>
                </a:lnTo>
                <a:lnTo>
                  <a:pt x="26245" y="212793"/>
                </a:lnTo>
                <a:lnTo>
                  <a:pt x="7790" y="178266"/>
                </a:lnTo>
                <a:lnTo>
                  <a:pt x="159" y="139901"/>
                </a:lnTo>
                <a:lnTo>
                  <a:pt x="0" y="133349"/>
                </a:lnTo>
                <a:lnTo>
                  <a:pt x="159" y="126798"/>
                </a:lnTo>
                <a:lnTo>
                  <a:pt x="7790" y="88432"/>
                </a:lnTo>
                <a:lnTo>
                  <a:pt x="26245" y="53906"/>
                </a:lnTo>
                <a:lnTo>
                  <a:pt x="53905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790574" y="0"/>
                </a:lnTo>
                <a:lnTo>
                  <a:pt x="829284" y="5740"/>
                </a:lnTo>
                <a:lnTo>
                  <a:pt x="864659" y="22473"/>
                </a:lnTo>
                <a:lnTo>
                  <a:pt x="893656" y="48752"/>
                </a:lnTo>
                <a:lnTo>
                  <a:pt x="913773" y="82318"/>
                </a:lnTo>
                <a:lnTo>
                  <a:pt x="923283" y="120279"/>
                </a:lnTo>
                <a:lnTo>
                  <a:pt x="923924" y="133349"/>
                </a:lnTo>
                <a:lnTo>
                  <a:pt x="923764" y="139901"/>
                </a:lnTo>
                <a:lnTo>
                  <a:pt x="916132" y="178266"/>
                </a:lnTo>
                <a:lnTo>
                  <a:pt x="897678" y="212793"/>
                </a:lnTo>
                <a:lnTo>
                  <a:pt x="870017" y="240453"/>
                </a:lnTo>
                <a:lnTo>
                  <a:pt x="835491" y="258908"/>
                </a:lnTo>
                <a:lnTo>
                  <a:pt x="797126" y="266539"/>
                </a:lnTo>
                <a:lnTo>
                  <a:pt x="790574" y="266699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9">
            <a:extLst>
              <a:ext uri="{FF2B5EF4-FFF2-40B4-BE49-F238E27FC236}">
                <a16:creationId xmlns:a16="http://schemas.microsoft.com/office/drawing/2014/main" id="{EABE60E8-CDF5-E9B8-1C76-4988D8C1A986}"/>
              </a:ext>
            </a:extLst>
          </p:cNvPr>
          <p:cNvSpPr txBox="1"/>
          <p:nvPr/>
        </p:nvSpPr>
        <p:spPr>
          <a:xfrm>
            <a:off x="5909311" y="1884490"/>
            <a:ext cx="643891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 err="1">
                <a:solidFill>
                  <a:srgbClr val="374050"/>
                </a:solidFill>
                <a:latin typeface="Malgun Gothic"/>
                <a:cs typeface="Malgun Gothic"/>
              </a:rPr>
              <a:t>설명회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76" name="object 10">
            <a:extLst>
              <a:ext uri="{FF2B5EF4-FFF2-40B4-BE49-F238E27FC236}">
                <a16:creationId xmlns:a16="http://schemas.microsoft.com/office/drawing/2014/main" id="{56F06D93-9FCD-FBC4-D5CB-5F75C248099E}"/>
              </a:ext>
            </a:extLst>
          </p:cNvPr>
          <p:cNvSpPr txBox="1">
            <a:spLocks/>
          </p:cNvSpPr>
          <p:nvPr/>
        </p:nvSpPr>
        <p:spPr>
          <a:xfrm>
            <a:off x="2571634" y="2238095"/>
            <a:ext cx="7865906" cy="575542"/>
          </a:xfrm>
          <a:prstGeom prst="rect">
            <a:avLst/>
          </a:prstGeom>
        </p:spPr>
        <p:txBody>
          <a:bodyPr vert="horz" wrap="square" lIns="0" tIns="14605" rIns="0" bIns="0" rtlCol="0" anchor="b">
            <a:sp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3"/>
              </a:spcBef>
            </a:pPr>
            <a:r>
              <a:rPr lang="ko-KR" altLang="en-US" sz="4049" dirty="0">
                <a:solidFill>
                  <a:schemeClr val="bg1"/>
                </a:solidFill>
              </a:rPr>
              <a:t>대덕전자 </a:t>
            </a:r>
            <a:r>
              <a:rPr lang="en-US" altLang="ko-KR" sz="3951" dirty="0">
                <a:solidFill>
                  <a:schemeClr val="bg1"/>
                </a:solidFill>
                <a:latin typeface="Cambria"/>
                <a:cs typeface="Cambria"/>
              </a:rPr>
              <a:t>AI</a:t>
            </a:r>
            <a:r>
              <a:rPr lang="ko-KR" altLang="en-US" sz="3951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lang="ko-KR" altLang="en-US" sz="4049" dirty="0">
                <a:solidFill>
                  <a:schemeClr val="bg1"/>
                </a:solidFill>
              </a:rPr>
              <a:t>트랜스폼 실행 계획</a:t>
            </a:r>
            <a:endParaRPr lang="ko-KR" altLang="en-US" sz="4049" dirty="0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77" name="object 11">
            <a:extLst>
              <a:ext uri="{FF2B5EF4-FFF2-40B4-BE49-F238E27FC236}">
                <a16:creationId xmlns:a16="http://schemas.microsoft.com/office/drawing/2014/main" id="{73FD6F8C-0130-7942-EE53-A726E993BFEF}"/>
              </a:ext>
            </a:extLst>
          </p:cNvPr>
          <p:cNvSpPr txBox="1"/>
          <p:nvPr/>
        </p:nvSpPr>
        <p:spPr>
          <a:xfrm>
            <a:off x="3504250" y="3168062"/>
            <a:ext cx="6000674" cy="324447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000" dirty="0">
                <a:solidFill>
                  <a:schemeClr val="bg1"/>
                </a:solidFill>
                <a:latin typeface="Malgun Gothic"/>
                <a:cs typeface="Malgun Gothic"/>
              </a:rPr>
              <a:t>초격차 제조 경쟁력 확보를 </a:t>
            </a:r>
            <a:r>
              <a:rPr sz="2000" dirty="0" err="1">
                <a:solidFill>
                  <a:schemeClr val="bg1"/>
                </a:solidFill>
                <a:latin typeface="Malgun Gothic"/>
                <a:cs typeface="Malgun Gothic"/>
              </a:rPr>
              <a:t>위한</a:t>
            </a:r>
            <a:r>
              <a:rPr sz="2000" dirty="0">
                <a:solidFill>
                  <a:schemeClr val="bg1"/>
                </a:solidFill>
                <a:latin typeface="Malgun Gothic"/>
                <a:cs typeface="Malgun Gothic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Malgun Gothic"/>
                <a:cs typeface="Malgun Gothic"/>
              </a:rPr>
              <a:t>로드맵</a:t>
            </a:r>
            <a:endParaRPr sz="2000"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pic>
        <p:nvPicPr>
          <p:cNvPr id="78" name="object 12">
            <a:extLst>
              <a:ext uri="{FF2B5EF4-FFF2-40B4-BE49-F238E27FC236}">
                <a16:creationId xmlns:a16="http://schemas.microsoft.com/office/drawing/2014/main" id="{FE250FE4-A7BA-7FB5-E4B8-B0E76184D2E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3458" y="4010034"/>
            <a:ext cx="342899" cy="381000"/>
          </a:xfrm>
          <a:prstGeom prst="rect">
            <a:avLst/>
          </a:prstGeom>
        </p:spPr>
      </p:pic>
      <p:sp>
        <p:nvSpPr>
          <p:cNvPr id="79" name="object 13">
            <a:extLst>
              <a:ext uri="{FF2B5EF4-FFF2-40B4-BE49-F238E27FC236}">
                <a16:creationId xmlns:a16="http://schemas.microsoft.com/office/drawing/2014/main" id="{4EB31C8E-36B4-80AE-DC6C-F5F4AC173AFA}"/>
              </a:ext>
            </a:extLst>
          </p:cNvPr>
          <p:cNvSpPr txBox="1"/>
          <p:nvPr/>
        </p:nvSpPr>
        <p:spPr>
          <a:xfrm>
            <a:off x="4321820" y="4494339"/>
            <a:ext cx="1403993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chemeClr val="bg1"/>
                </a:solidFill>
                <a:latin typeface="Malgun Gothic"/>
                <a:cs typeface="Malgun Gothic"/>
              </a:rPr>
              <a:t>지능형 품질관리</a:t>
            </a:r>
          </a:p>
        </p:txBody>
      </p:sp>
      <p:pic>
        <p:nvPicPr>
          <p:cNvPr id="80" name="object 14">
            <a:extLst>
              <a:ext uri="{FF2B5EF4-FFF2-40B4-BE49-F238E27FC236}">
                <a16:creationId xmlns:a16="http://schemas.microsoft.com/office/drawing/2014/main" id="{9CA89E7A-F0B0-07FD-A40F-5FAB4191FC3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48383" y="4010034"/>
            <a:ext cx="342899" cy="381000"/>
          </a:xfrm>
          <a:prstGeom prst="rect">
            <a:avLst/>
          </a:prstGeom>
        </p:spPr>
      </p:pic>
      <p:sp>
        <p:nvSpPr>
          <p:cNvPr id="81" name="object 15">
            <a:extLst>
              <a:ext uri="{FF2B5EF4-FFF2-40B4-BE49-F238E27FC236}">
                <a16:creationId xmlns:a16="http://schemas.microsoft.com/office/drawing/2014/main" id="{270D3812-95FC-B974-4C0E-5297D3109CCD}"/>
              </a:ext>
            </a:extLst>
          </p:cNvPr>
          <p:cNvSpPr txBox="1"/>
          <p:nvPr/>
        </p:nvSpPr>
        <p:spPr>
          <a:xfrm>
            <a:off x="5735637" y="4494341"/>
            <a:ext cx="1294838" cy="194155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chemeClr val="bg1"/>
                </a:solidFill>
                <a:latin typeface="Franklin Gothic Demi"/>
                <a:cs typeface="Franklin Gothic Demi"/>
              </a:rPr>
              <a:t>AI </a:t>
            </a:r>
            <a:r>
              <a:rPr sz="1149" dirty="0">
                <a:solidFill>
                  <a:schemeClr val="bg1"/>
                </a:solidFill>
                <a:latin typeface="Malgun Gothic"/>
                <a:cs typeface="Malgun Gothic"/>
              </a:rPr>
              <a:t>기반 지식관리</a:t>
            </a:r>
          </a:p>
        </p:txBody>
      </p:sp>
      <p:pic>
        <p:nvPicPr>
          <p:cNvPr id="82" name="object 16">
            <a:extLst>
              <a:ext uri="{FF2B5EF4-FFF2-40B4-BE49-F238E27FC236}">
                <a16:creationId xmlns:a16="http://schemas.microsoft.com/office/drawing/2014/main" id="{363B4301-CC86-4DA2-DCDA-A6462439BBF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29483" y="4010034"/>
            <a:ext cx="342899" cy="381000"/>
          </a:xfrm>
          <a:prstGeom prst="rect">
            <a:avLst/>
          </a:prstGeom>
        </p:spPr>
      </p:pic>
      <p:sp>
        <p:nvSpPr>
          <p:cNvPr id="83" name="object 17">
            <a:extLst>
              <a:ext uri="{FF2B5EF4-FFF2-40B4-BE49-F238E27FC236}">
                <a16:creationId xmlns:a16="http://schemas.microsoft.com/office/drawing/2014/main" id="{20B9DB29-A427-C4BC-33C1-CE288569A50B}"/>
              </a:ext>
            </a:extLst>
          </p:cNvPr>
          <p:cNvSpPr txBox="1"/>
          <p:nvPr/>
        </p:nvSpPr>
        <p:spPr>
          <a:xfrm>
            <a:off x="7059612" y="4494340"/>
            <a:ext cx="1448768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chemeClr val="bg1"/>
                </a:solidFill>
                <a:latin typeface="Malgun Gothic"/>
                <a:cs typeface="Malgun Gothic"/>
              </a:rPr>
              <a:t>디지털 트윈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721AFF39-2F85-C61B-DE4B-3141B0FA1A2E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-4763" y="3969"/>
            <a:ext cx="2905124" cy="2905124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3A504CFF-AA18-A8E2-92E0-6E91FBAA4E5F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77360" y="4052092"/>
            <a:ext cx="2438399" cy="2438399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E8B6A520-7D69-80F0-94CC-93A7B31571D3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-4763" y="1672176"/>
            <a:ext cx="2922841" cy="4302632"/>
          </a:xfrm>
          <a:prstGeom prst="rect">
            <a:avLst/>
          </a:prstGeom>
        </p:spPr>
      </p:pic>
      <p:pic>
        <p:nvPicPr>
          <p:cNvPr id="6" name="object 17">
            <a:extLst>
              <a:ext uri="{FF2B5EF4-FFF2-40B4-BE49-F238E27FC236}">
                <a16:creationId xmlns:a16="http://schemas.microsoft.com/office/drawing/2014/main" id="{E2CAB565-ADE1-D81A-7C7F-E09F32766836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95935" y="5023643"/>
            <a:ext cx="133349" cy="152399"/>
          </a:xfrm>
          <a:prstGeom prst="rect">
            <a:avLst/>
          </a:prstGeom>
        </p:spPr>
      </p:pic>
      <p:sp>
        <p:nvSpPr>
          <p:cNvPr id="7" name="object 23">
            <a:extLst>
              <a:ext uri="{FF2B5EF4-FFF2-40B4-BE49-F238E27FC236}">
                <a16:creationId xmlns:a16="http://schemas.microsoft.com/office/drawing/2014/main" id="{13E6C6E0-3DC4-0B7F-283E-FB91465EB294}"/>
              </a:ext>
            </a:extLst>
          </p:cNvPr>
          <p:cNvSpPr txBox="1"/>
          <p:nvPr/>
        </p:nvSpPr>
        <p:spPr>
          <a:xfrm>
            <a:off x="5792785" y="4984902"/>
            <a:ext cx="824865" cy="21672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solidFill>
                  <a:srgbClr val="9CA2AF"/>
                </a:solidFill>
                <a:latin typeface="Arial"/>
                <a:cs typeface="Arial"/>
              </a:rPr>
              <a:t>2025-0</a:t>
            </a:r>
            <a:r>
              <a:rPr lang="en-US" sz="1300" dirty="0">
                <a:solidFill>
                  <a:srgbClr val="9CA2AF"/>
                </a:solidFill>
                <a:latin typeface="Arial"/>
                <a:cs typeface="Arial"/>
              </a:rPr>
              <a:t>9</a:t>
            </a:r>
            <a:endParaRPr sz="13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7318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92390ED-0F42-4AFD-311D-C2268F431FC4}"/>
              </a:ext>
            </a:extLst>
          </p:cNvPr>
          <p:cNvSpPr/>
          <p:nvPr/>
        </p:nvSpPr>
        <p:spPr>
          <a:xfrm>
            <a:off x="-1" y="2"/>
            <a:ext cx="12192001" cy="6476998"/>
          </a:xfrm>
          <a:custGeom>
            <a:avLst/>
            <a:gdLst/>
            <a:ahLst/>
            <a:cxnLst/>
            <a:rect l="l" t="t" r="r" b="b"/>
            <a:pathLst>
              <a:path w="12192000" h="6934200">
                <a:moveTo>
                  <a:pt x="12191999" y="6934199"/>
                </a:moveTo>
                <a:lnTo>
                  <a:pt x="0" y="6934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9341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F0E99FF-F3D3-7DFD-20CF-4290D4E6A7C3}"/>
              </a:ext>
            </a:extLst>
          </p:cNvPr>
          <p:cNvGrpSpPr/>
          <p:nvPr/>
        </p:nvGrpSpPr>
        <p:grpSpPr>
          <a:xfrm>
            <a:off x="457199" y="4400549"/>
            <a:ext cx="11277599" cy="2076450"/>
            <a:chOff x="457199" y="4400549"/>
            <a:chExt cx="11277600" cy="20764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30594F1-B8A6-D630-E9AB-37DF0F09DDE3}"/>
                </a:ext>
              </a:extLst>
            </p:cNvPr>
            <p:cNvSpPr/>
            <p:nvPr/>
          </p:nvSpPr>
          <p:spPr>
            <a:xfrm>
              <a:off x="457199" y="4400549"/>
              <a:ext cx="11277600" cy="2076450"/>
            </a:xfrm>
            <a:custGeom>
              <a:avLst/>
              <a:gdLst/>
              <a:ahLst/>
              <a:cxnLst/>
              <a:rect l="l" t="t" r="r" b="b"/>
              <a:pathLst>
                <a:path w="11277600" h="2076450">
                  <a:moveTo>
                    <a:pt x="11206402" y="2076449"/>
                  </a:moveTo>
                  <a:lnTo>
                    <a:pt x="71196" y="2076449"/>
                  </a:lnTo>
                  <a:lnTo>
                    <a:pt x="66241" y="2075961"/>
                  </a:lnTo>
                  <a:lnTo>
                    <a:pt x="29705" y="2060827"/>
                  </a:lnTo>
                  <a:lnTo>
                    <a:pt x="3885" y="2024787"/>
                  </a:lnTo>
                  <a:lnTo>
                    <a:pt x="0" y="2005252"/>
                  </a:lnTo>
                  <a:lnTo>
                    <a:pt x="0" y="20002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1206402" y="0"/>
                  </a:lnTo>
                  <a:lnTo>
                    <a:pt x="11247891" y="15621"/>
                  </a:lnTo>
                  <a:lnTo>
                    <a:pt x="11273712" y="51661"/>
                  </a:lnTo>
                  <a:lnTo>
                    <a:pt x="11277599" y="71196"/>
                  </a:lnTo>
                  <a:lnTo>
                    <a:pt x="11277599" y="2005252"/>
                  </a:lnTo>
                  <a:lnTo>
                    <a:pt x="11261975" y="2046744"/>
                  </a:lnTo>
                  <a:lnTo>
                    <a:pt x="11225936" y="2072563"/>
                  </a:lnTo>
                  <a:lnTo>
                    <a:pt x="11211357" y="2075961"/>
                  </a:lnTo>
                  <a:lnTo>
                    <a:pt x="11206402" y="2076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31F9710-74EE-4346-E5CF-83EE546A9DE4}"/>
                </a:ext>
              </a:extLst>
            </p:cNvPr>
            <p:cNvSpPr/>
            <p:nvPr/>
          </p:nvSpPr>
          <p:spPr>
            <a:xfrm>
              <a:off x="685799" y="462914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8"/>
                  </a:lnTo>
                  <a:lnTo>
                    <a:pt x="99345" y="431784"/>
                  </a:lnTo>
                  <a:lnTo>
                    <a:pt x="64230" y="400989"/>
                  </a:lnTo>
                  <a:lnTo>
                    <a:pt x="35798" y="363934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2"/>
                  </a:lnTo>
                  <a:lnTo>
                    <a:pt x="44464" y="99344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3"/>
                  </a:lnTo>
                  <a:lnTo>
                    <a:pt x="461108" y="154203"/>
                  </a:lnTo>
                  <a:lnTo>
                    <a:pt x="473195" y="199317"/>
                  </a:lnTo>
                  <a:lnTo>
                    <a:pt x="476250" y="230326"/>
                  </a:lnTo>
                  <a:lnTo>
                    <a:pt x="476249" y="238124"/>
                  </a:lnTo>
                  <a:lnTo>
                    <a:pt x="476250" y="245923"/>
                  </a:lnTo>
                  <a:lnTo>
                    <a:pt x="470152" y="292228"/>
                  </a:lnTo>
                  <a:lnTo>
                    <a:pt x="455139" y="336455"/>
                  </a:lnTo>
                  <a:lnTo>
                    <a:pt x="431785" y="376904"/>
                  </a:lnTo>
                  <a:lnTo>
                    <a:pt x="400990" y="412018"/>
                  </a:lnTo>
                  <a:lnTo>
                    <a:pt x="363935" y="440450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A2CF48DE-0A62-B7F6-24DB-3F4FAC8A657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674" y="4733924"/>
              <a:ext cx="190499" cy="266699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2F8FB38-896C-5613-AD89-6C7EE7FA833D}"/>
              </a:ext>
            </a:extLst>
          </p:cNvPr>
          <p:cNvSpPr txBox="1">
            <a:spLocks/>
          </p:cNvSpPr>
          <p:nvPr/>
        </p:nvSpPr>
        <p:spPr>
          <a:xfrm>
            <a:off x="457198" y="359281"/>
            <a:ext cx="5020762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dirty="0"/>
              <a:t>제안 배경 및 요약</a:t>
            </a: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00E083DB-F929-8A54-D1C8-E81CF45D767C}"/>
              </a:ext>
            </a:extLst>
          </p:cNvPr>
          <p:cNvGrpSpPr/>
          <p:nvPr/>
        </p:nvGrpSpPr>
        <p:grpSpPr>
          <a:xfrm>
            <a:off x="457198" y="1143001"/>
            <a:ext cx="5524500" cy="3028950"/>
            <a:chOff x="457199" y="1142999"/>
            <a:chExt cx="5524500" cy="3028950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3F26F50B-8994-7BC2-FC01-D9B09DC72C6C}"/>
                </a:ext>
              </a:extLst>
            </p:cNvPr>
            <p:cNvSpPr/>
            <p:nvPr/>
          </p:nvSpPr>
          <p:spPr>
            <a:xfrm>
              <a:off x="457199" y="1142999"/>
              <a:ext cx="5524500" cy="3028950"/>
            </a:xfrm>
            <a:custGeom>
              <a:avLst/>
              <a:gdLst/>
              <a:ahLst/>
              <a:cxnLst/>
              <a:rect l="l" t="t" r="r" b="b"/>
              <a:pathLst>
                <a:path w="5524500" h="3028950">
                  <a:moveTo>
                    <a:pt x="5453302" y="3028949"/>
                  </a:moveTo>
                  <a:lnTo>
                    <a:pt x="71196" y="3028949"/>
                  </a:lnTo>
                  <a:lnTo>
                    <a:pt x="66241" y="3028461"/>
                  </a:lnTo>
                  <a:lnTo>
                    <a:pt x="29705" y="3013327"/>
                  </a:lnTo>
                  <a:lnTo>
                    <a:pt x="3885" y="2977287"/>
                  </a:lnTo>
                  <a:lnTo>
                    <a:pt x="0" y="2957752"/>
                  </a:lnTo>
                  <a:lnTo>
                    <a:pt x="0" y="29527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53302" y="0"/>
                  </a:lnTo>
                  <a:lnTo>
                    <a:pt x="5494793" y="15621"/>
                  </a:lnTo>
                  <a:lnTo>
                    <a:pt x="5520612" y="51661"/>
                  </a:lnTo>
                  <a:lnTo>
                    <a:pt x="5524499" y="71196"/>
                  </a:lnTo>
                  <a:lnTo>
                    <a:pt x="5524499" y="2957752"/>
                  </a:lnTo>
                  <a:lnTo>
                    <a:pt x="5508876" y="2999243"/>
                  </a:lnTo>
                  <a:lnTo>
                    <a:pt x="5472837" y="3025063"/>
                  </a:lnTo>
                  <a:lnTo>
                    <a:pt x="5458257" y="3028461"/>
                  </a:lnTo>
                  <a:lnTo>
                    <a:pt x="5453302" y="30289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9FDBDE1-8752-0BD5-D011-280B5055A70A}"/>
                </a:ext>
              </a:extLst>
            </p:cNvPr>
            <p:cNvSpPr/>
            <p:nvPr/>
          </p:nvSpPr>
          <p:spPr>
            <a:xfrm>
              <a:off x="685799" y="137159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8" y="363935"/>
                  </a:lnTo>
                  <a:lnTo>
                    <a:pt x="15141" y="322046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20"/>
                  </a:lnTo>
                  <a:lnTo>
                    <a:pt x="21110" y="139793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4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7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3"/>
                  </a:lnTo>
                  <a:lnTo>
                    <a:pt x="473195" y="199318"/>
                  </a:lnTo>
                  <a:lnTo>
                    <a:pt x="476250" y="230326"/>
                  </a:lnTo>
                  <a:lnTo>
                    <a:pt x="476249" y="238124"/>
                  </a:lnTo>
                  <a:lnTo>
                    <a:pt x="476250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9"/>
                  </a:lnTo>
                  <a:lnTo>
                    <a:pt x="363935" y="440451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EC7C96C0-CC70-AC92-A377-1C433A3AE84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674" y="1476374"/>
              <a:ext cx="190499" cy="266699"/>
            </a:xfrm>
            <a:prstGeom prst="rect">
              <a:avLst/>
            </a:prstGeom>
          </p:spPr>
        </p:pic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811A966B-AF1A-CA35-1F17-1B2EA695E155}"/>
              </a:ext>
            </a:extLst>
          </p:cNvPr>
          <p:cNvSpPr txBox="1"/>
          <p:nvPr/>
        </p:nvSpPr>
        <p:spPr>
          <a:xfrm>
            <a:off x="1301749" y="1457964"/>
            <a:ext cx="1396845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도전과제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14" name="object 14">
            <a:extLst>
              <a:ext uri="{FF2B5EF4-FFF2-40B4-BE49-F238E27FC236}">
                <a16:creationId xmlns:a16="http://schemas.microsoft.com/office/drawing/2014/main" id="{3BCCB45A-253A-0897-9C0C-4AA6A9488D75}"/>
              </a:ext>
            </a:extLst>
          </p:cNvPr>
          <p:cNvGrpSpPr/>
          <p:nvPr/>
        </p:nvGrpSpPr>
        <p:grpSpPr>
          <a:xfrm>
            <a:off x="685801" y="2076450"/>
            <a:ext cx="114300" cy="1257299"/>
            <a:chOff x="685799" y="2076450"/>
            <a:chExt cx="114300" cy="1257300"/>
          </a:xfrm>
        </p:grpSpPr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6DB4E7B5-0BE7-B083-3AE6-984165ABF4E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" y="2076450"/>
              <a:ext cx="114299" cy="114299"/>
            </a:xfrm>
            <a:prstGeom prst="rect">
              <a:avLst/>
            </a:prstGeom>
          </p:spPr>
        </p:pic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1A87C291-A3E3-DC10-FC81-E5C83DF9D51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" y="2647950"/>
              <a:ext cx="114299" cy="114299"/>
            </a:xfrm>
            <a:prstGeom prst="rect">
              <a:avLst/>
            </a:prstGeom>
          </p:spPr>
        </p:pic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AC4CBB6B-4B07-E1B4-9750-19EE370B5EB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" y="3219450"/>
              <a:ext cx="114299" cy="114299"/>
            </a:xfrm>
            <a:prstGeom prst="rect">
              <a:avLst/>
            </a:prstGeom>
          </p:spPr>
        </p:pic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EE316A64-EB68-CE66-AF6F-6B0375BB17B7}"/>
              </a:ext>
            </a:extLst>
          </p:cNvPr>
          <p:cNvSpPr txBox="1"/>
          <p:nvPr/>
        </p:nvSpPr>
        <p:spPr>
          <a:xfrm>
            <a:off x="863601" y="1964217"/>
            <a:ext cx="4804410" cy="46314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복잡한 미세 결함 관리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: FC-BGA, MLB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등 고집적 기판은 눈으로 식별하기 어 려운 수많은 잠재적 불량유형을 가짐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19AD373-D9ED-930C-787E-3DA10EE8906A}"/>
              </a:ext>
            </a:extLst>
          </p:cNvPr>
          <p:cNvSpPr txBox="1"/>
          <p:nvPr/>
        </p:nvSpPr>
        <p:spPr>
          <a:xfrm>
            <a:off x="863605" y="2535715"/>
            <a:ext cx="4794885" cy="46314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데이터 처리 비효율성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: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방대한 데이터가 비표준화된 포맷으로 산재되어 데이 터간의 의미적 연결성이 부족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8A9AB5E8-8AEE-3302-C3B6-D888B012B492}"/>
              </a:ext>
            </a:extLst>
          </p:cNvPr>
          <p:cNvSpPr txBox="1"/>
          <p:nvPr/>
        </p:nvSpPr>
        <p:spPr>
          <a:xfrm>
            <a:off x="863605" y="3107217"/>
            <a:ext cx="4794885" cy="47949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고숙련 인력 의존도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: 64%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정도의 제품 불량이 인력의 실수로 인한 것으로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이 로 인한 품질편차와 직원의 피로도 발생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CB9E2DDE-A51A-D06E-4966-24FC081C679E}"/>
              </a:ext>
            </a:extLst>
          </p:cNvPr>
          <p:cNvGrpSpPr/>
          <p:nvPr/>
        </p:nvGrpSpPr>
        <p:grpSpPr>
          <a:xfrm>
            <a:off x="6210298" y="1143001"/>
            <a:ext cx="5524500" cy="3028950"/>
            <a:chOff x="6210298" y="1142999"/>
            <a:chExt cx="5524500" cy="3028950"/>
          </a:xfrm>
        </p:grpSpPr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5D8BE169-4392-A11F-85E3-014A0D8CAEB9}"/>
                </a:ext>
              </a:extLst>
            </p:cNvPr>
            <p:cNvSpPr/>
            <p:nvPr/>
          </p:nvSpPr>
          <p:spPr>
            <a:xfrm>
              <a:off x="6210298" y="1142999"/>
              <a:ext cx="5524500" cy="3028950"/>
            </a:xfrm>
            <a:custGeom>
              <a:avLst/>
              <a:gdLst/>
              <a:ahLst/>
              <a:cxnLst/>
              <a:rect l="l" t="t" r="r" b="b"/>
              <a:pathLst>
                <a:path w="5524500" h="3028950">
                  <a:moveTo>
                    <a:pt x="5453303" y="3028949"/>
                  </a:moveTo>
                  <a:lnTo>
                    <a:pt x="71196" y="3028949"/>
                  </a:lnTo>
                  <a:lnTo>
                    <a:pt x="66241" y="3028461"/>
                  </a:lnTo>
                  <a:lnTo>
                    <a:pt x="29705" y="3013327"/>
                  </a:lnTo>
                  <a:lnTo>
                    <a:pt x="3885" y="2977287"/>
                  </a:lnTo>
                  <a:lnTo>
                    <a:pt x="0" y="2957752"/>
                  </a:lnTo>
                  <a:lnTo>
                    <a:pt x="0" y="29527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53303" y="0"/>
                  </a:lnTo>
                  <a:lnTo>
                    <a:pt x="5494792" y="15621"/>
                  </a:lnTo>
                  <a:lnTo>
                    <a:pt x="5520613" y="51661"/>
                  </a:lnTo>
                  <a:lnTo>
                    <a:pt x="5524500" y="71196"/>
                  </a:lnTo>
                  <a:lnTo>
                    <a:pt x="5524500" y="2957752"/>
                  </a:lnTo>
                  <a:lnTo>
                    <a:pt x="5508876" y="2999243"/>
                  </a:lnTo>
                  <a:lnTo>
                    <a:pt x="5472837" y="3025063"/>
                  </a:lnTo>
                  <a:lnTo>
                    <a:pt x="5458258" y="3028461"/>
                  </a:lnTo>
                  <a:lnTo>
                    <a:pt x="5453303" y="30289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814E0F9D-4756-F191-5002-BD4A59F0AAE1}"/>
                </a:ext>
              </a:extLst>
            </p:cNvPr>
            <p:cNvSpPr/>
            <p:nvPr/>
          </p:nvSpPr>
          <p:spPr>
            <a:xfrm>
              <a:off x="6438899" y="137159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5" y="476249"/>
                  </a:lnTo>
                  <a:lnTo>
                    <a:pt x="222545" y="475867"/>
                  </a:lnTo>
                  <a:lnTo>
                    <a:pt x="184018" y="470152"/>
                  </a:lnTo>
                  <a:lnTo>
                    <a:pt x="139792" y="455139"/>
                  </a:lnTo>
                  <a:lnTo>
                    <a:pt x="99344" y="431785"/>
                  </a:lnTo>
                  <a:lnTo>
                    <a:pt x="64229" y="400989"/>
                  </a:lnTo>
                  <a:lnTo>
                    <a:pt x="35796" y="363935"/>
                  </a:lnTo>
                  <a:lnTo>
                    <a:pt x="15140" y="322046"/>
                  </a:lnTo>
                  <a:lnTo>
                    <a:pt x="3052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5" y="184020"/>
                  </a:lnTo>
                  <a:lnTo>
                    <a:pt x="21109" y="139793"/>
                  </a:lnTo>
                  <a:lnTo>
                    <a:pt x="44462" y="99345"/>
                  </a:lnTo>
                  <a:lnTo>
                    <a:pt x="75259" y="64230"/>
                  </a:lnTo>
                  <a:lnTo>
                    <a:pt x="112313" y="35798"/>
                  </a:lnTo>
                  <a:lnTo>
                    <a:pt x="154202" y="15141"/>
                  </a:lnTo>
                  <a:lnTo>
                    <a:pt x="199316" y="3054"/>
                  </a:lnTo>
                  <a:lnTo>
                    <a:pt x="230325" y="0"/>
                  </a:lnTo>
                  <a:lnTo>
                    <a:pt x="245923" y="0"/>
                  </a:lnTo>
                  <a:lnTo>
                    <a:pt x="292228" y="6097"/>
                  </a:lnTo>
                  <a:lnTo>
                    <a:pt x="336455" y="21110"/>
                  </a:lnTo>
                  <a:lnTo>
                    <a:pt x="376903" y="44463"/>
                  </a:lnTo>
                  <a:lnTo>
                    <a:pt x="412018" y="75259"/>
                  </a:lnTo>
                  <a:lnTo>
                    <a:pt x="440450" y="112314"/>
                  </a:lnTo>
                  <a:lnTo>
                    <a:pt x="461107" y="154203"/>
                  </a:lnTo>
                  <a:lnTo>
                    <a:pt x="473195" y="199318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8" y="336456"/>
                  </a:lnTo>
                  <a:lnTo>
                    <a:pt x="431784" y="376904"/>
                  </a:lnTo>
                  <a:lnTo>
                    <a:pt x="400989" y="412019"/>
                  </a:lnTo>
                  <a:lnTo>
                    <a:pt x="363934" y="440451"/>
                  </a:lnTo>
                  <a:lnTo>
                    <a:pt x="322045" y="461107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3F6BD1F8-0823-CD59-1BD5-191D94354DB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0349" y="1476374"/>
              <a:ext cx="142874" cy="266699"/>
            </a:xfrm>
            <a:prstGeom prst="rect">
              <a:avLst/>
            </a:prstGeom>
          </p:spPr>
        </p:pic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63ADE6A7-74BC-55C7-0C1C-20019545C3E0}"/>
              </a:ext>
            </a:extLst>
          </p:cNvPr>
          <p:cNvSpPr txBox="1"/>
          <p:nvPr/>
        </p:nvSpPr>
        <p:spPr>
          <a:xfrm>
            <a:off x="7054852" y="1457968"/>
            <a:ext cx="1815943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50" b="1" dirty="0">
                <a:solidFill>
                  <a:srgbClr val="374050"/>
                </a:solidFill>
                <a:latin typeface="Trebuchet MS"/>
                <a:cs typeface="Trebuchet MS"/>
              </a:rPr>
              <a:t>AI </a:t>
            </a: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도입 필요성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26" name="object 26">
            <a:extLst>
              <a:ext uri="{FF2B5EF4-FFF2-40B4-BE49-F238E27FC236}">
                <a16:creationId xmlns:a16="http://schemas.microsoft.com/office/drawing/2014/main" id="{096FD17B-5DE1-817B-ABC9-553ED1C11B52}"/>
              </a:ext>
            </a:extLst>
          </p:cNvPr>
          <p:cNvGrpSpPr/>
          <p:nvPr/>
        </p:nvGrpSpPr>
        <p:grpSpPr>
          <a:xfrm>
            <a:off x="6438900" y="2076450"/>
            <a:ext cx="114300" cy="1600200"/>
            <a:chOff x="6438899" y="2076450"/>
            <a:chExt cx="114300" cy="1600200"/>
          </a:xfrm>
        </p:grpSpPr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F7E4A54F-72CB-6F58-3364-13CB3B06A2B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8899" y="2076450"/>
              <a:ext cx="114299" cy="114299"/>
            </a:xfrm>
            <a:prstGeom prst="rect">
              <a:avLst/>
            </a:prstGeom>
          </p:spPr>
        </p:pic>
        <p:pic>
          <p:nvPicPr>
            <p:cNvPr id="28" name="object 28">
              <a:extLst>
                <a:ext uri="{FF2B5EF4-FFF2-40B4-BE49-F238E27FC236}">
                  <a16:creationId xmlns:a16="http://schemas.microsoft.com/office/drawing/2014/main" id="{521A3598-B0AB-E203-0B96-C7D0D31FA71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8899" y="2647950"/>
              <a:ext cx="114299" cy="114299"/>
            </a:xfrm>
            <a:prstGeom prst="rect">
              <a:avLst/>
            </a:prstGeom>
          </p:spPr>
        </p:pic>
        <p:pic>
          <p:nvPicPr>
            <p:cNvPr id="29" name="object 29">
              <a:extLst>
                <a:ext uri="{FF2B5EF4-FFF2-40B4-BE49-F238E27FC236}">
                  <a16:creationId xmlns:a16="http://schemas.microsoft.com/office/drawing/2014/main" id="{FB2E9E15-8408-DDCD-288E-CB4D952B005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8899" y="3219450"/>
              <a:ext cx="114299" cy="114299"/>
            </a:xfrm>
            <a:prstGeom prst="rect">
              <a:avLst/>
            </a:prstGeom>
          </p:spPr>
        </p:pic>
        <p:pic>
          <p:nvPicPr>
            <p:cNvPr id="30" name="object 30">
              <a:extLst>
                <a:ext uri="{FF2B5EF4-FFF2-40B4-BE49-F238E27FC236}">
                  <a16:creationId xmlns:a16="http://schemas.microsoft.com/office/drawing/2014/main" id="{E9F23B1C-E5A4-99EA-F001-3E6DA22FDFB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8899" y="3562349"/>
              <a:ext cx="114299" cy="114299"/>
            </a:xfrm>
            <a:prstGeom prst="rect">
              <a:avLst/>
            </a:prstGeom>
          </p:spPr>
        </p:pic>
      </p:grpSp>
      <p:sp>
        <p:nvSpPr>
          <p:cNvPr id="31" name="object 31">
            <a:extLst>
              <a:ext uri="{FF2B5EF4-FFF2-40B4-BE49-F238E27FC236}">
                <a16:creationId xmlns:a16="http://schemas.microsoft.com/office/drawing/2014/main" id="{E68E1387-AEF4-8900-4724-7FDDD4E15915}"/>
              </a:ext>
            </a:extLst>
          </p:cNvPr>
          <p:cNvSpPr txBox="1"/>
          <p:nvPr/>
        </p:nvSpPr>
        <p:spPr>
          <a:xfrm>
            <a:off x="6616702" y="1996315"/>
            <a:ext cx="4899660" cy="438582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24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육안으로 감지하기 어려운 미세 불량을 초안에 잡아내고 라이드타임을 단축할 수 있음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(LG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이노텍 사례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)</a:t>
            </a:r>
            <a:endParaRPr sz="1451">
              <a:latin typeface="Microsoft Sans Serif"/>
              <a:cs typeface="Microsoft Sans Serif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6C4CF6EF-BA8D-D4DD-EBCF-8B44B09A9D7E}"/>
              </a:ext>
            </a:extLst>
          </p:cNvPr>
          <p:cNvSpPr txBox="1"/>
          <p:nvPr/>
        </p:nvSpPr>
        <p:spPr>
          <a:xfrm>
            <a:off x="6616709" y="2535715"/>
            <a:ext cx="4871084" cy="46314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데이터의 정제 및 구조화가 선행되어야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모델 학습 및 추론의 효율성을 극대 화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1432A53C-ACE9-EA69-29AB-2C5EC68B90A8}"/>
              </a:ext>
            </a:extLst>
          </p:cNvPr>
          <p:cNvSpPr txBox="1"/>
          <p:nvPr/>
        </p:nvSpPr>
        <p:spPr>
          <a:xfrm>
            <a:off x="6616700" y="3128214"/>
            <a:ext cx="5019598" cy="2348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89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인력의 역량 재배치 및 강화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(Reskilling, Upskilling)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이 필수적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B4B4CEA0-4F2B-3904-806B-0CA19F31417D}"/>
              </a:ext>
            </a:extLst>
          </p:cNvPr>
          <p:cNvSpPr txBox="1"/>
          <p:nvPr/>
        </p:nvSpPr>
        <p:spPr>
          <a:xfrm>
            <a:off x="6616710" y="3471121"/>
            <a:ext cx="4889489" cy="43236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3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정부의 자율제조 로드맵을 수립하고 전방위적 지원을 제공하는 등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조혁신 이 국가적 산업적 패러다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igm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전환의 핵심이 됨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E4C7B383-B559-A31F-7981-34778C7DD57C}"/>
              </a:ext>
            </a:extLst>
          </p:cNvPr>
          <p:cNvSpPr txBox="1"/>
          <p:nvPr/>
        </p:nvSpPr>
        <p:spPr>
          <a:xfrm>
            <a:off x="1301750" y="4715514"/>
            <a:ext cx="1987860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제안 요약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36" name="object 36">
            <a:extLst>
              <a:ext uri="{FF2B5EF4-FFF2-40B4-BE49-F238E27FC236}">
                <a16:creationId xmlns:a16="http://schemas.microsoft.com/office/drawing/2014/main" id="{07F1DCA8-984F-A287-3A25-2CF17A8B812A}"/>
              </a:ext>
            </a:extLst>
          </p:cNvPr>
          <p:cNvGrpSpPr/>
          <p:nvPr/>
        </p:nvGrpSpPr>
        <p:grpSpPr>
          <a:xfrm>
            <a:off x="685799" y="5257799"/>
            <a:ext cx="3505200" cy="990600"/>
            <a:chOff x="685799" y="5257799"/>
            <a:chExt cx="3505200" cy="990600"/>
          </a:xfrm>
        </p:grpSpPr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72E81696-7BA3-AECF-3F69-16FEA368A34A}"/>
                </a:ext>
              </a:extLst>
            </p:cNvPr>
            <p:cNvSpPr/>
            <p:nvPr/>
          </p:nvSpPr>
          <p:spPr>
            <a:xfrm>
              <a:off x="685799" y="5257799"/>
              <a:ext cx="3505200" cy="990600"/>
            </a:xfrm>
            <a:custGeom>
              <a:avLst/>
              <a:gdLst/>
              <a:ahLst/>
              <a:cxnLst/>
              <a:rect l="l" t="t" r="r" b="b"/>
              <a:pathLst>
                <a:path w="3505200" h="990600">
                  <a:moveTo>
                    <a:pt x="3434002" y="990599"/>
                  </a:moveTo>
                  <a:lnTo>
                    <a:pt x="71196" y="990599"/>
                  </a:lnTo>
                  <a:lnTo>
                    <a:pt x="66241" y="990111"/>
                  </a:lnTo>
                  <a:lnTo>
                    <a:pt x="29705" y="974977"/>
                  </a:lnTo>
                  <a:lnTo>
                    <a:pt x="3885" y="938936"/>
                  </a:lnTo>
                  <a:lnTo>
                    <a:pt x="0" y="919403"/>
                  </a:lnTo>
                  <a:lnTo>
                    <a:pt x="0" y="9143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34002" y="0"/>
                  </a:lnTo>
                  <a:lnTo>
                    <a:pt x="3475493" y="15621"/>
                  </a:lnTo>
                  <a:lnTo>
                    <a:pt x="3501313" y="51661"/>
                  </a:lnTo>
                  <a:lnTo>
                    <a:pt x="3505199" y="71196"/>
                  </a:lnTo>
                  <a:lnTo>
                    <a:pt x="3505199" y="919403"/>
                  </a:lnTo>
                  <a:lnTo>
                    <a:pt x="3489577" y="960893"/>
                  </a:lnTo>
                  <a:lnTo>
                    <a:pt x="3453536" y="986712"/>
                  </a:lnTo>
                  <a:lnTo>
                    <a:pt x="3438957" y="990111"/>
                  </a:lnTo>
                  <a:lnTo>
                    <a:pt x="3434002" y="9905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>
              <a:extLst>
                <a:ext uri="{FF2B5EF4-FFF2-40B4-BE49-F238E27FC236}">
                  <a16:creationId xmlns:a16="http://schemas.microsoft.com/office/drawing/2014/main" id="{5E785298-F523-6C63-43D7-D7070046BF8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199" y="5448299"/>
              <a:ext cx="152399" cy="152399"/>
            </a:xfrm>
            <a:prstGeom prst="rect">
              <a:avLst/>
            </a:prstGeom>
          </p:spPr>
        </p:pic>
      </p:grpSp>
      <p:sp>
        <p:nvSpPr>
          <p:cNvPr id="39" name="object 39">
            <a:extLst>
              <a:ext uri="{FF2B5EF4-FFF2-40B4-BE49-F238E27FC236}">
                <a16:creationId xmlns:a16="http://schemas.microsoft.com/office/drawing/2014/main" id="{4B076A9F-CB43-D23C-7BB6-BD8A7A9ACA90}"/>
              </a:ext>
            </a:extLst>
          </p:cNvPr>
          <p:cNvSpPr txBox="1"/>
          <p:nvPr/>
        </p:nvSpPr>
        <p:spPr>
          <a:xfrm>
            <a:off x="1054100" y="5406262"/>
            <a:ext cx="2302417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지능형 품질관리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3D4BD743-5981-9A8D-10B8-F2FAD390994A}"/>
              </a:ext>
            </a:extLst>
          </p:cNvPr>
          <p:cNvSpPr txBox="1"/>
          <p:nvPr/>
        </p:nvSpPr>
        <p:spPr>
          <a:xfrm>
            <a:off x="825500" y="5699300"/>
            <a:ext cx="3215640" cy="3767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15"/>
              </a:spcBef>
            </a:pPr>
            <a:r>
              <a:rPr sz="1200" dirty="0">
                <a:solidFill>
                  <a:srgbClr val="4A5462"/>
                </a:solidFill>
                <a:latin typeface="Lucida Sans"/>
                <a:cs typeface="Lucida Sans"/>
              </a:rPr>
              <a:t>AI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비전 검사 및 머신러닝 기반 예측 유지보수로 불량률 제 로화 및 설비 가동률 극대화</a:t>
            </a:r>
            <a:endParaRPr sz="1149">
              <a:latin typeface="Malgun Gothic"/>
              <a:cs typeface="Malgun Gothic"/>
            </a:endParaRPr>
          </a:p>
        </p:txBody>
      </p:sp>
      <p:grpSp>
        <p:nvGrpSpPr>
          <p:cNvPr id="41" name="object 41">
            <a:extLst>
              <a:ext uri="{FF2B5EF4-FFF2-40B4-BE49-F238E27FC236}">
                <a16:creationId xmlns:a16="http://schemas.microsoft.com/office/drawing/2014/main" id="{91102EE6-F887-C5C3-3453-4D908CF54C7D}"/>
              </a:ext>
            </a:extLst>
          </p:cNvPr>
          <p:cNvGrpSpPr/>
          <p:nvPr/>
        </p:nvGrpSpPr>
        <p:grpSpPr>
          <a:xfrm>
            <a:off x="4343399" y="5257799"/>
            <a:ext cx="3505200" cy="990600"/>
            <a:chOff x="4343399" y="5257799"/>
            <a:chExt cx="3505200" cy="990600"/>
          </a:xfrm>
        </p:grpSpPr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7DC61606-E989-10AF-F33B-1AC2DE3715DA}"/>
                </a:ext>
              </a:extLst>
            </p:cNvPr>
            <p:cNvSpPr/>
            <p:nvPr/>
          </p:nvSpPr>
          <p:spPr>
            <a:xfrm>
              <a:off x="4343399" y="5257799"/>
              <a:ext cx="3505200" cy="990600"/>
            </a:xfrm>
            <a:custGeom>
              <a:avLst/>
              <a:gdLst/>
              <a:ahLst/>
              <a:cxnLst/>
              <a:rect l="l" t="t" r="r" b="b"/>
              <a:pathLst>
                <a:path w="3505200" h="990600">
                  <a:moveTo>
                    <a:pt x="3434002" y="990599"/>
                  </a:moveTo>
                  <a:lnTo>
                    <a:pt x="71196" y="990599"/>
                  </a:lnTo>
                  <a:lnTo>
                    <a:pt x="66241" y="990111"/>
                  </a:lnTo>
                  <a:lnTo>
                    <a:pt x="29705" y="974977"/>
                  </a:lnTo>
                  <a:lnTo>
                    <a:pt x="3885" y="938936"/>
                  </a:lnTo>
                  <a:lnTo>
                    <a:pt x="0" y="919403"/>
                  </a:lnTo>
                  <a:lnTo>
                    <a:pt x="0" y="9143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34002" y="0"/>
                  </a:lnTo>
                  <a:lnTo>
                    <a:pt x="3475494" y="15621"/>
                  </a:lnTo>
                  <a:lnTo>
                    <a:pt x="3501313" y="51661"/>
                  </a:lnTo>
                  <a:lnTo>
                    <a:pt x="3505199" y="71196"/>
                  </a:lnTo>
                  <a:lnTo>
                    <a:pt x="3505199" y="919403"/>
                  </a:lnTo>
                  <a:lnTo>
                    <a:pt x="3489577" y="960893"/>
                  </a:lnTo>
                  <a:lnTo>
                    <a:pt x="3453536" y="986712"/>
                  </a:lnTo>
                  <a:lnTo>
                    <a:pt x="3438957" y="990111"/>
                  </a:lnTo>
                  <a:lnTo>
                    <a:pt x="3434002" y="9905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>
              <a:extLst>
                <a:ext uri="{FF2B5EF4-FFF2-40B4-BE49-F238E27FC236}">
                  <a16:creationId xmlns:a16="http://schemas.microsoft.com/office/drawing/2014/main" id="{C55F9CA5-CF20-023B-4BDD-9393F82C81D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95799" y="5448299"/>
              <a:ext cx="152399" cy="152399"/>
            </a:xfrm>
            <a:prstGeom prst="rect">
              <a:avLst/>
            </a:prstGeom>
          </p:spPr>
        </p:pic>
      </p:grpSp>
      <p:sp>
        <p:nvSpPr>
          <p:cNvPr id="44" name="object 44">
            <a:extLst>
              <a:ext uri="{FF2B5EF4-FFF2-40B4-BE49-F238E27FC236}">
                <a16:creationId xmlns:a16="http://schemas.microsoft.com/office/drawing/2014/main" id="{AC2E4ECC-D62C-761F-2EF3-D6DF2820622F}"/>
              </a:ext>
            </a:extLst>
          </p:cNvPr>
          <p:cNvSpPr txBox="1"/>
          <p:nvPr/>
        </p:nvSpPr>
        <p:spPr>
          <a:xfrm>
            <a:off x="4711699" y="5406262"/>
            <a:ext cx="2041524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00" b="1" dirty="0">
                <a:solidFill>
                  <a:srgbClr val="374050"/>
                </a:solidFill>
                <a:latin typeface="Trebuchet MS"/>
                <a:cs typeface="Trebuchet MS"/>
              </a:rPr>
              <a:t>AI 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기반 지식관리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73AC8695-358D-89B6-4F1A-2C56E98B1B57}"/>
              </a:ext>
            </a:extLst>
          </p:cNvPr>
          <p:cNvSpPr txBox="1"/>
          <p:nvPr/>
        </p:nvSpPr>
        <p:spPr>
          <a:xfrm>
            <a:off x="4483100" y="5704014"/>
            <a:ext cx="3148965" cy="5593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65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온톨로지 및 지식 그래프로 산재된 데이터를 의미있는 정 보로 변환하고 </a:t>
            </a:r>
            <a:r>
              <a:rPr sz="1200" dirty="0">
                <a:solidFill>
                  <a:srgbClr val="4A5462"/>
                </a:solidFill>
                <a:latin typeface="Lucida Sans"/>
                <a:cs typeface="Lucida Sans"/>
              </a:rPr>
              <a:t>LLM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기반 분석 시스템으로 정확도 높이기</a:t>
            </a:r>
            <a:endParaRPr sz="1149">
              <a:latin typeface="Malgun Gothic"/>
              <a:cs typeface="Malgun Gothic"/>
            </a:endParaRPr>
          </a:p>
        </p:txBody>
      </p:sp>
      <p:grpSp>
        <p:nvGrpSpPr>
          <p:cNvPr id="46" name="object 46">
            <a:extLst>
              <a:ext uri="{FF2B5EF4-FFF2-40B4-BE49-F238E27FC236}">
                <a16:creationId xmlns:a16="http://schemas.microsoft.com/office/drawing/2014/main" id="{035EEDE2-5E33-56C3-DE42-43450A267FB4}"/>
              </a:ext>
            </a:extLst>
          </p:cNvPr>
          <p:cNvGrpSpPr/>
          <p:nvPr/>
        </p:nvGrpSpPr>
        <p:grpSpPr>
          <a:xfrm>
            <a:off x="8000999" y="5257799"/>
            <a:ext cx="3505200" cy="990600"/>
            <a:chOff x="8000999" y="5257799"/>
            <a:chExt cx="3505200" cy="990600"/>
          </a:xfrm>
        </p:grpSpPr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7FBDB9FA-C31E-A829-FECC-2896653ACEFC}"/>
                </a:ext>
              </a:extLst>
            </p:cNvPr>
            <p:cNvSpPr/>
            <p:nvPr/>
          </p:nvSpPr>
          <p:spPr>
            <a:xfrm>
              <a:off x="8000999" y="5257799"/>
              <a:ext cx="3505200" cy="990600"/>
            </a:xfrm>
            <a:custGeom>
              <a:avLst/>
              <a:gdLst/>
              <a:ahLst/>
              <a:cxnLst/>
              <a:rect l="l" t="t" r="r" b="b"/>
              <a:pathLst>
                <a:path w="3505200" h="990600">
                  <a:moveTo>
                    <a:pt x="3434002" y="990599"/>
                  </a:moveTo>
                  <a:lnTo>
                    <a:pt x="71196" y="990599"/>
                  </a:lnTo>
                  <a:lnTo>
                    <a:pt x="66240" y="990111"/>
                  </a:lnTo>
                  <a:lnTo>
                    <a:pt x="29705" y="974977"/>
                  </a:lnTo>
                  <a:lnTo>
                    <a:pt x="3885" y="938936"/>
                  </a:lnTo>
                  <a:lnTo>
                    <a:pt x="0" y="919403"/>
                  </a:lnTo>
                  <a:lnTo>
                    <a:pt x="0" y="9143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34002" y="0"/>
                  </a:lnTo>
                  <a:lnTo>
                    <a:pt x="3475493" y="15621"/>
                  </a:lnTo>
                  <a:lnTo>
                    <a:pt x="3501313" y="51661"/>
                  </a:lnTo>
                  <a:lnTo>
                    <a:pt x="3505199" y="71196"/>
                  </a:lnTo>
                  <a:lnTo>
                    <a:pt x="3505199" y="919403"/>
                  </a:lnTo>
                  <a:lnTo>
                    <a:pt x="3489577" y="960893"/>
                  </a:lnTo>
                  <a:lnTo>
                    <a:pt x="3453537" y="986712"/>
                  </a:lnTo>
                  <a:lnTo>
                    <a:pt x="3438957" y="990111"/>
                  </a:lnTo>
                  <a:lnTo>
                    <a:pt x="3434002" y="9905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>
              <a:extLst>
                <a:ext uri="{FF2B5EF4-FFF2-40B4-BE49-F238E27FC236}">
                  <a16:creationId xmlns:a16="http://schemas.microsoft.com/office/drawing/2014/main" id="{6E81FC18-B5C2-BD3E-43B3-02C27FD47AD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53399" y="5448299"/>
              <a:ext cx="152399" cy="152399"/>
            </a:xfrm>
            <a:prstGeom prst="rect">
              <a:avLst/>
            </a:prstGeom>
          </p:spPr>
        </p:pic>
      </p:grpSp>
      <p:sp>
        <p:nvSpPr>
          <p:cNvPr id="49" name="object 49">
            <a:extLst>
              <a:ext uri="{FF2B5EF4-FFF2-40B4-BE49-F238E27FC236}">
                <a16:creationId xmlns:a16="http://schemas.microsoft.com/office/drawing/2014/main" id="{56AC2139-2302-E904-9B69-D199AE7052C3}"/>
              </a:ext>
            </a:extLst>
          </p:cNvPr>
          <p:cNvSpPr txBox="1"/>
          <p:nvPr/>
        </p:nvSpPr>
        <p:spPr>
          <a:xfrm>
            <a:off x="8369300" y="5406262"/>
            <a:ext cx="1466076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디지털 트윈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A7FBF0DC-6984-9561-0453-5C69E4E9C858}"/>
              </a:ext>
            </a:extLst>
          </p:cNvPr>
          <p:cNvSpPr txBox="1"/>
          <p:nvPr/>
        </p:nvSpPr>
        <p:spPr>
          <a:xfrm>
            <a:off x="8140700" y="5699300"/>
            <a:ext cx="3148965" cy="567784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15"/>
              </a:spcBef>
            </a:pPr>
            <a:r>
              <a:rPr sz="1200" dirty="0">
                <a:solidFill>
                  <a:srgbClr val="4A5462"/>
                </a:solidFill>
                <a:latin typeface="Lucida Sans"/>
                <a:cs typeface="Lucida Sans"/>
              </a:rPr>
              <a:t>ROS/Gazebo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기반 가상 생산라인 구축하고 실시간 데이 터로 가상모델 최적화 및 자율 생산 제어 시스템 구축</a:t>
            </a:r>
            <a:endParaRPr sz="1149">
              <a:latin typeface="Malgun Gothic"/>
              <a:cs typeface="Malgun Gothic"/>
            </a:endParaRPr>
          </a:p>
        </p:txBody>
      </p:sp>
      <p:pic>
        <p:nvPicPr>
          <p:cNvPr id="51" name="object 26">
            <a:extLst>
              <a:ext uri="{FF2B5EF4-FFF2-40B4-BE49-F238E27FC236}">
                <a16:creationId xmlns:a16="http://schemas.microsoft.com/office/drawing/2014/main" id="{D678F210-04FC-544A-233B-B88BC78832B0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23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457B6A6-8872-E258-C112-CDFAA06B4F5A}"/>
              </a:ext>
            </a:extLst>
          </p:cNvPr>
          <p:cNvSpPr/>
          <p:nvPr/>
        </p:nvSpPr>
        <p:spPr>
          <a:xfrm>
            <a:off x="-1" y="1"/>
            <a:ext cx="12192001" cy="8191500"/>
          </a:xfrm>
          <a:custGeom>
            <a:avLst/>
            <a:gdLst/>
            <a:ahLst/>
            <a:cxnLst/>
            <a:rect l="l" t="t" r="r" b="b"/>
            <a:pathLst>
              <a:path w="12192000" h="8191500">
                <a:moveTo>
                  <a:pt x="12191999" y="8191499"/>
                </a:moveTo>
                <a:lnTo>
                  <a:pt x="0" y="81914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81914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0241660-0AF8-0C78-5B1E-04BBA76E4F17}"/>
              </a:ext>
            </a:extLst>
          </p:cNvPr>
          <p:cNvSpPr txBox="1">
            <a:spLocks/>
          </p:cNvSpPr>
          <p:nvPr/>
        </p:nvSpPr>
        <p:spPr>
          <a:xfrm>
            <a:off x="457198" y="386948"/>
            <a:ext cx="6899742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dirty="0"/>
              <a:t>대덕전자의 현재 도전과제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FB7234B-D363-0A94-EBF5-3DE41836A509}"/>
              </a:ext>
            </a:extLst>
          </p:cNvPr>
          <p:cNvSpPr txBox="1"/>
          <p:nvPr/>
        </p:nvSpPr>
        <p:spPr>
          <a:xfrm>
            <a:off x="444504" y="1022286"/>
            <a:ext cx="11030490" cy="2467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99" dirty="0">
                <a:solidFill>
                  <a:srgbClr val="4A5462"/>
                </a:solidFill>
                <a:latin typeface="Malgun Gothic"/>
                <a:cs typeface="Malgun Gothic"/>
              </a:rPr>
              <a:t>대덕전자는 이미 </a:t>
            </a:r>
            <a:r>
              <a:rPr sz="1499" dirty="0">
                <a:solidFill>
                  <a:srgbClr val="4A5462"/>
                </a:solidFill>
                <a:latin typeface="Microsoft Sans Serif"/>
                <a:cs typeface="Microsoft Sans Serif"/>
              </a:rPr>
              <a:t>FC-BGA, MLB </a:t>
            </a:r>
            <a:r>
              <a:rPr sz="1499" dirty="0">
                <a:solidFill>
                  <a:srgbClr val="4A5462"/>
                </a:solidFill>
                <a:latin typeface="Malgun Gothic"/>
                <a:cs typeface="Malgun Gothic"/>
              </a:rPr>
              <a:t>등 고부가가치 제품 시장에서 선도하고 있지만</a:t>
            </a:r>
            <a:r>
              <a:rPr sz="1499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499" dirty="0">
                <a:solidFill>
                  <a:srgbClr val="4A5462"/>
                </a:solidFill>
                <a:latin typeface="Malgun Gothic"/>
                <a:cs typeface="Malgun Gothic"/>
              </a:rPr>
              <a:t>다음과 같은 구조적 난제에 직면하고 있습니다</a:t>
            </a:r>
            <a:r>
              <a:rPr sz="1499" dirty="0">
                <a:solidFill>
                  <a:srgbClr val="4A5462"/>
                </a:solidFill>
                <a:latin typeface="Microsoft Sans Serif"/>
                <a:cs typeface="Microsoft Sans Serif"/>
              </a:rPr>
              <a:t>.</a:t>
            </a:r>
            <a:endParaRPr sz="1499" dirty="0">
              <a:latin typeface="Microsoft Sans Serif"/>
              <a:cs typeface="Microsoft Sans Serif"/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C816CEB1-1A16-4938-F69C-DB9B72E01E70}"/>
              </a:ext>
            </a:extLst>
          </p:cNvPr>
          <p:cNvGrpSpPr/>
          <p:nvPr/>
        </p:nvGrpSpPr>
        <p:grpSpPr>
          <a:xfrm>
            <a:off x="485779" y="1466850"/>
            <a:ext cx="3552825" cy="3810000"/>
            <a:chOff x="485775" y="1466849"/>
            <a:chExt cx="3552825" cy="3810000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D3CFF23-33DB-51D9-81E4-09CAB1547F0A}"/>
                </a:ext>
              </a:extLst>
            </p:cNvPr>
            <p:cNvSpPr/>
            <p:nvPr/>
          </p:nvSpPr>
          <p:spPr>
            <a:xfrm>
              <a:off x="485775" y="1466849"/>
              <a:ext cx="3552825" cy="3810000"/>
            </a:xfrm>
            <a:custGeom>
              <a:avLst/>
              <a:gdLst/>
              <a:ahLst/>
              <a:cxnLst/>
              <a:rect l="l" t="t" r="r" b="b"/>
              <a:pathLst>
                <a:path w="3552825" h="3810000">
                  <a:moveTo>
                    <a:pt x="3481627" y="3809999"/>
                  </a:moveTo>
                  <a:lnTo>
                    <a:pt x="71196" y="3809999"/>
                  </a:lnTo>
                  <a:lnTo>
                    <a:pt x="66241" y="3809511"/>
                  </a:lnTo>
                  <a:lnTo>
                    <a:pt x="29705" y="3794377"/>
                  </a:lnTo>
                  <a:lnTo>
                    <a:pt x="3885" y="3758337"/>
                  </a:lnTo>
                  <a:lnTo>
                    <a:pt x="0" y="3738802"/>
                  </a:lnTo>
                  <a:lnTo>
                    <a:pt x="0" y="3733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481627" y="0"/>
                  </a:lnTo>
                  <a:lnTo>
                    <a:pt x="3523119" y="15621"/>
                  </a:lnTo>
                  <a:lnTo>
                    <a:pt x="3548938" y="51662"/>
                  </a:lnTo>
                  <a:lnTo>
                    <a:pt x="3552824" y="71196"/>
                  </a:lnTo>
                  <a:lnTo>
                    <a:pt x="3552824" y="3738802"/>
                  </a:lnTo>
                  <a:lnTo>
                    <a:pt x="3537202" y="3780293"/>
                  </a:lnTo>
                  <a:lnTo>
                    <a:pt x="3501162" y="3806113"/>
                  </a:lnTo>
                  <a:lnTo>
                    <a:pt x="3486583" y="3809511"/>
                  </a:lnTo>
                  <a:lnTo>
                    <a:pt x="3481627" y="3809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C1445D9-7F9C-0D4B-34EB-BB0A306C427E}"/>
                </a:ext>
              </a:extLst>
            </p:cNvPr>
            <p:cNvSpPr/>
            <p:nvPr/>
          </p:nvSpPr>
          <p:spPr>
            <a:xfrm>
              <a:off x="1981199" y="16954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5"/>
                  </a:lnTo>
                  <a:lnTo>
                    <a:pt x="126995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4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4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D2D4D8F-ABB3-EE57-DDE3-2DBF2FC77C47}"/>
                </a:ext>
              </a:extLst>
            </p:cNvPr>
            <p:cNvSpPr/>
            <p:nvPr/>
          </p:nvSpPr>
          <p:spPr>
            <a:xfrm>
              <a:off x="1981199" y="2800349"/>
              <a:ext cx="571500" cy="38100"/>
            </a:xfrm>
            <a:custGeom>
              <a:avLst/>
              <a:gdLst/>
              <a:ahLst/>
              <a:cxnLst/>
              <a:rect l="l" t="t" r="r" b="b"/>
              <a:pathLst>
                <a:path w="571500" h="38100">
                  <a:moveTo>
                    <a:pt x="5714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571499" y="0"/>
                  </a:lnTo>
                  <a:lnTo>
                    <a:pt x="571499" y="38099"/>
                  </a:lnTo>
                  <a:close/>
                </a:path>
              </a:pathLst>
            </a:custGeom>
            <a:solidFill>
              <a:srgbClr val="FF6E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B40D2E49-8320-705D-94A1-11F6E3A30D4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2650" y="1828799"/>
              <a:ext cx="228599" cy="304799"/>
            </a:xfrm>
            <a:prstGeom prst="rect">
              <a:avLst/>
            </a:prstGeom>
          </p:spPr>
        </p:pic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0C1466B2-7A46-306B-7481-73BA39FDBFF7}"/>
              </a:ext>
            </a:extLst>
          </p:cNvPr>
          <p:cNvSpPr txBox="1"/>
          <p:nvPr/>
        </p:nvSpPr>
        <p:spPr>
          <a:xfrm>
            <a:off x="1708048" y="2400940"/>
            <a:ext cx="1436595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미세결함 관리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27AADB76-FD7E-2DD4-395E-920D033C75BF}"/>
              </a:ext>
            </a:extLst>
          </p:cNvPr>
          <p:cNvGrpSpPr/>
          <p:nvPr/>
        </p:nvGrpSpPr>
        <p:grpSpPr>
          <a:xfrm>
            <a:off x="714374" y="1476375"/>
            <a:ext cx="7124700" cy="3810000"/>
            <a:chOff x="714374" y="1476374"/>
            <a:chExt cx="7124700" cy="3810000"/>
          </a:xfrm>
        </p:grpSpPr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E64F3401-26F8-DF76-AAD7-967E44F1C8B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74" y="3067049"/>
              <a:ext cx="114299" cy="114299"/>
            </a:xfrm>
            <a:prstGeom prst="rect">
              <a:avLst/>
            </a:prstGeom>
          </p:spPr>
        </p:pic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503F2832-5170-EC50-24F4-094C41A89F5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74" y="3767719"/>
              <a:ext cx="114299" cy="114299"/>
            </a:xfrm>
            <a:prstGeom prst="rect">
              <a:avLst/>
            </a:prstGeom>
          </p:spPr>
        </p:pic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E9D8978D-05CA-4A84-A8EF-DCB849B2AE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74" y="4490685"/>
              <a:ext cx="114299" cy="114299"/>
            </a:xfrm>
            <a:prstGeom prst="rect">
              <a:avLst/>
            </a:prstGeom>
          </p:spPr>
        </p:pic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1101174E-9FEE-43F5-D648-34D4F2F518D3}"/>
                </a:ext>
              </a:extLst>
            </p:cNvPr>
            <p:cNvSpPr/>
            <p:nvPr/>
          </p:nvSpPr>
          <p:spPr>
            <a:xfrm>
              <a:off x="4276724" y="1476374"/>
              <a:ext cx="3562350" cy="3810000"/>
            </a:xfrm>
            <a:custGeom>
              <a:avLst/>
              <a:gdLst/>
              <a:ahLst/>
              <a:cxnLst/>
              <a:rect l="l" t="t" r="r" b="b"/>
              <a:pathLst>
                <a:path w="3562350" h="3810000">
                  <a:moveTo>
                    <a:pt x="3491153" y="3809999"/>
                  </a:moveTo>
                  <a:lnTo>
                    <a:pt x="71196" y="3809999"/>
                  </a:lnTo>
                  <a:lnTo>
                    <a:pt x="66241" y="3809511"/>
                  </a:lnTo>
                  <a:lnTo>
                    <a:pt x="29705" y="3794377"/>
                  </a:lnTo>
                  <a:lnTo>
                    <a:pt x="3885" y="3758337"/>
                  </a:lnTo>
                  <a:lnTo>
                    <a:pt x="0" y="3738802"/>
                  </a:lnTo>
                  <a:lnTo>
                    <a:pt x="0" y="3733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491153" y="0"/>
                  </a:lnTo>
                  <a:lnTo>
                    <a:pt x="3532643" y="15621"/>
                  </a:lnTo>
                  <a:lnTo>
                    <a:pt x="3558463" y="51662"/>
                  </a:lnTo>
                  <a:lnTo>
                    <a:pt x="3562349" y="71196"/>
                  </a:lnTo>
                  <a:lnTo>
                    <a:pt x="3562349" y="3738802"/>
                  </a:lnTo>
                  <a:lnTo>
                    <a:pt x="3546727" y="3780293"/>
                  </a:lnTo>
                  <a:lnTo>
                    <a:pt x="3510687" y="3806113"/>
                  </a:lnTo>
                  <a:lnTo>
                    <a:pt x="3496108" y="3809511"/>
                  </a:lnTo>
                  <a:lnTo>
                    <a:pt x="3491153" y="3809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D1828B61-047B-955B-94DF-31F9B6AF3AEE}"/>
                </a:ext>
              </a:extLst>
            </p:cNvPr>
            <p:cNvSpPr/>
            <p:nvPr/>
          </p:nvSpPr>
          <p:spPr>
            <a:xfrm>
              <a:off x="5772149" y="17049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5"/>
                  </a:lnTo>
                  <a:lnTo>
                    <a:pt x="126995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4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4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3DDF5469-C8DF-D129-791A-19523F59CFBD}"/>
                </a:ext>
              </a:extLst>
            </p:cNvPr>
            <p:cNvSpPr/>
            <p:nvPr/>
          </p:nvSpPr>
          <p:spPr>
            <a:xfrm>
              <a:off x="5772149" y="2809874"/>
              <a:ext cx="571500" cy="38100"/>
            </a:xfrm>
            <a:custGeom>
              <a:avLst/>
              <a:gdLst/>
              <a:ahLst/>
              <a:cxnLst/>
              <a:rect l="l" t="t" r="r" b="b"/>
              <a:pathLst>
                <a:path w="571500" h="38100">
                  <a:moveTo>
                    <a:pt x="5714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571499" y="0"/>
                  </a:lnTo>
                  <a:lnTo>
                    <a:pt x="571499" y="38099"/>
                  </a:lnTo>
                  <a:close/>
                </a:path>
              </a:pathLst>
            </a:custGeom>
            <a:solidFill>
              <a:srgbClr val="FF6E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9FDC3F93-BD10-BF14-1332-8267673F542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3124" y="1838324"/>
              <a:ext cx="200024" cy="304799"/>
            </a:xfrm>
            <a:prstGeom prst="rect">
              <a:avLst/>
            </a:prstGeom>
          </p:spPr>
        </p:pic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76C7942D-6A56-7830-430A-30B65173C00F}"/>
              </a:ext>
            </a:extLst>
          </p:cNvPr>
          <p:cNvSpPr txBox="1"/>
          <p:nvPr/>
        </p:nvSpPr>
        <p:spPr>
          <a:xfrm>
            <a:off x="892175" y="2954818"/>
            <a:ext cx="3159719" cy="689613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FC-BGA, MLB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등 고집적 기판은 눈으로 식별 하기 어려운 수많은 잠재적 불량유형을 가짐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9E5BE11-35DC-D773-2897-A330C74D1080}"/>
              </a:ext>
            </a:extLst>
          </p:cNvPr>
          <p:cNvSpPr txBox="1"/>
          <p:nvPr/>
        </p:nvSpPr>
        <p:spPr>
          <a:xfrm>
            <a:off x="892177" y="3743334"/>
            <a:ext cx="2785109" cy="42896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기존 검사방식의 한계로 인해 품질관리 실패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5DF00A9-AE30-EC84-53C6-0157CD53F389}"/>
              </a:ext>
            </a:extLst>
          </p:cNvPr>
          <p:cNvSpPr txBox="1"/>
          <p:nvPr/>
        </p:nvSpPr>
        <p:spPr>
          <a:xfrm>
            <a:off x="892175" y="4422069"/>
            <a:ext cx="2823210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생산성 및 수익성 저하로 이어지는 연쇄적 문 제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DA0A95B0-06E0-A2F3-8A82-1DA2B1C759B7}"/>
              </a:ext>
            </a:extLst>
          </p:cNvPr>
          <p:cNvSpPr txBox="1"/>
          <p:nvPr/>
        </p:nvSpPr>
        <p:spPr>
          <a:xfrm>
            <a:off x="5216375" y="2410469"/>
            <a:ext cx="2199186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데이터 처리 비효율성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24" name="object 24">
            <a:extLst>
              <a:ext uri="{FF2B5EF4-FFF2-40B4-BE49-F238E27FC236}">
                <a16:creationId xmlns:a16="http://schemas.microsoft.com/office/drawing/2014/main" id="{63B32FB0-4429-97E6-12FF-4A09E0649874}"/>
              </a:ext>
            </a:extLst>
          </p:cNvPr>
          <p:cNvGrpSpPr/>
          <p:nvPr/>
        </p:nvGrpSpPr>
        <p:grpSpPr>
          <a:xfrm>
            <a:off x="4505326" y="3076575"/>
            <a:ext cx="114300" cy="1714500"/>
            <a:chOff x="4505325" y="3076574"/>
            <a:chExt cx="114300" cy="1714500"/>
          </a:xfrm>
        </p:grpSpPr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15F5C33A-45CB-D9D4-5117-8CDEEBA4A77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325" y="3076574"/>
              <a:ext cx="114299" cy="114299"/>
            </a:xfrm>
            <a:prstGeom prst="rect">
              <a:avLst/>
            </a:prstGeom>
          </p:spPr>
        </p:pic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CBC80060-5153-BE62-3A5C-D594DD8DD00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325" y="3609974"/>
              <a:ext cx="114299" cy="114299"/>
            </a:xfrm>
            <a:prstGeom prst="rect">
              <a:avLst/>
            </a:prstGeom>
          </p:spPr>
        </p:pic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17752CD4-F939-A2F6-3AD5-E9D3D139D67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325" y="4143374"/>
              <a:ext cx="114299" cy="114299"/>
            </a:xfrm>
            <a:prstGeom prst="rect">
              <a:avLst/>
            </a:prstGeom>
          </p:spPr>
        </p:pic>
        <p:pic>
          <p:nvPicPr>
            <p:cNvPr id="28" name="object 28">
              <a:extLst>
                <a:ext uri="{FF2B5EF4-FFF2-40B4-BE49-F238E27FC236}">
                  <a16:creationId xmlns:a16="http://schemas.microsoft.com/office/drawing/2014/main" id="{CEE9E2C3-4C84-45E1-6995-250665D9A4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325" y="4676774"/>
              <a:ext cx="114299" cy="114299"/>
            </a:xfrm>
            <a:prstGeom prst="rect">
              <a:avLst/>
            </a:prstGeom>
          </p:spPr>
        </p:pic>
      </p:grpSp>
      <p:sp>
        <p:nvSpPr>
          <p:cNvPr id="29" name="object 29">
            <a:extLst>
              <a:ext uri="{FF2B5EF4-FFF2-40B4-BE49-F238E27FC236}">
                <a16:creationId xmlns:a16="http://schemas.microsoft.com/office/drawing/2014/main" id="{F5B7B350-58A5-E16F-6AA6-FEF431A307C9}"/>
              </a:ext>
            </a:extLst>
          </p:cNvPr>
          <p:cNvSpPr txBox="1"/>
          <p:nvPr/>
        </p:nvSpPr>
        <p:spPr>
          <a:xfrm>
            <a:off x="4686250" y="2964343"/>
            <a:ext cx="2899409" cy="46314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제조업은 소매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금융 등 타 산업보다 훨씬 많은 데이터를 생성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FE84CD43-67B1-2237-7E07-B8E66C7CE956}"/>
              </a:ext>
            </a:extLst>
          </p:cNvPr>
          <p:cNvSpPr txBox="1"/>
          <p:nvPr/>
        </p:nvSpPr>
        <p:spPr>
          <a:xfrm>
            <a:off x="4686259" y="3507899"/>
            <a:ext cx="2927985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데이터가 파편화되어 있어 의미있는 통찰로 이 어지지 못함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776EA63-58B4-264E-E288-8A3FEA39B4CD}"/>
              </a:ext>
            </a:extLst>
          </p:cNvPr>
          <p:cNvSpPr txBox="1"/>
          <p:nvPr/>
        </p:nvSpPr>
        <p:spPr>
          <a:xfrm>
            <a:off x="4686259" y="4041299"/>
            <a:ext cx="2927985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비표준화된 포맷으로 인한 데이터 간의 의미적 연결성 부족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89AA5C8C-3A4E-49BD-B71F-D70479940EC8}"/>
              </a:ext>
            </a:extLst>
          </p:cNvPr>
          <p:cNvSpPr txBox="1"/>
          <p:nvPr/>
        </p:nvSpPr>
        <p:spPr>
          <a:xfrm>
            <a:off x="4686251" y="4585539"/>
            <a:ext cx="2962340" cy="2348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89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모델 학습 및 추론의 효율성 저하</a:t>
            </a:r>
            <a:endParaRPr sz="1350" dirty="0">
              <a:latin typeface="Malgun Gothic"/>
              <a:cs typeface="Malgun Gothic"/>
            </a:endParaRPr>
          </a:p>
        </p:txBody>
      </p:sp>
      <p:grpSp>
        <p:nvGrpSpPr>
          <p:cNvPr id="33" name="object 33">
            <a:extLst>
              <a:ext uri="{FF2B5EF4-FFF2-40B4-BE49-F238E27FC236}">
                <a16:creationId xmlns:a16="http://schemas.microsoft.com/office/drawing/2014/main" id="{DA3D6A48-16B9-468F-2B9F-3B232A677579}"/>
              </a:ext>
            </a:extLst>
          </p:cNvPr>
          <p:cNvGrpSpPr/>
          <p:nvPr/>
        </p:nvGrpSpPr>
        <p:grpSpPr>
          <a:xfrm>
            <a:off x="8143883" y="1485900"/>
            <a:ext cx="3552825" cy="3810000"/>
            <a:chOff x="8143875" y="1485899"/>
            <a:chExt cx="3552825" cy="3810000"/>
          </a:xfrm>
        </p:grpSpPr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07AF2953-DD89-F3C4-7F18-15414F87E0A8}"/>
                </a:ext>
              </a:extLst>
            </p:cNvPr>
            <p:cNvSpPr/>
            <p:nvPr/>
          </p:nvSpPr>
          <p:spPr>
            <a:xfrm>
              <a:off x="8143875" y="1485899"/>
              <a:ext cx="3552825" cy="3810000"/>
            </a:xfrm>
            <a:custGeom>
              <a:avLst/>
              <a:gdLst/>
              <a:ahLst/>
              <a:cxnLst/>
              <a:rect l="l" t="t" r="r" b="b"/>
              <a:pathLst>
                <a:path w="3552825" h="3810000">
                  <a:moveTo>
                    <a:pt x="3481627" y="3809999"/>
                  </a:moveTo>
                  <a:lnTo>
                    <a:pt x="71196" y="3809999"/>
                  </a:lnTo>
                  <a:lnTo>
                    <a:pt x="66241" y="3809511"/>
                  </a:lnTo>
                  <a:lnTo>
                    <a:pt x="29705" y="3794377"/>
                  </a:lnTo>
                  <a:lnTo>
                    <a:pt x="3885" y="3758337"/>
                  </a:lnTo>
                  <a:lnTo>
                    <a:pt x="0" y="3738802"/>
                  </a:lnTo>
                  <a:lnTo>
                    <a:pt x="0" y="3733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481627" y="0"/>
                  </a:lnTo>
                  <a:lnTo>
                    <a:pt x="3523119" y="15621"/>
                  </a:lnTo>
                  <a:lnTo>
                    <a:pt x="3548938" y="51662"/>
                  </a:lnTo>
                  <a:lnTo>
                    <a:pt x="3552824" y="71196"/>
                  </a:lnTo>
                  <a:lnTo>
                    <a:pt x="3552824" y="3738802"/>
                  </a:lnTo>
                  <a:lnTo>
                    <a:pt x="3537202" y="3780293"/>
                  </a:lnTo>
                  <a:lnTo>
                    <a:pt x="3501162" y="3806113"/>
                  </a:lnTo>
                  <a:lnTo>
                    <a:pt x="3486583" y="3809511"/>
                  </a:lnTo>
                  <a:lnTo>
                    <a:pt x="3481627" y="3809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4FDD1B9D-7FA5-901C-58B4-5337747ABAD0}"/>
                </a:ext>
              </a:extLst>
            </p:cNvPr>
            <p:cNvSpPr/>
            <p:nvPr/>
          </p:nvSpPr>
          <p:spPr>
            <a:xfrm>
              <a:off x="9629774" y="171449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6" y="544065"/>
                  </a:lnTo>
                  <a:lnTo>
                    <a:pt x="126995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4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4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EF9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DC0658EF-1F7B-D805-0973-02CE155E7924}"/>
                </a:ext>
              </a:extLst>
            </p:cNvPr>
            <p:cNvSpPr/>
            <p:nvPr/>
          </p:nvSpPr>
          <p:spPr>
            <a:xfrm>
              <a:off x="9629774" y="2819399"/>
              <a:ext cx="571500" cy="38100"/>
            </a:xfrm>
            <a:custGeom>
              <a:avLst/>
              <a:gdLst/>
              <a:ahLst/>
              <a:cxnLst/>
              <a:rect l="l" t="t" r="r" b="b"/>
              <a:pathLst>
                <a:path w="571500" h="38100">
                  <a:moveTo>
                    <a:pt x="5714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571499" y="0"/>
                  </a:lnTo>
                  <a:lnTo>
                    <a:pt x="571499" y="38099"/>
                  </a:lnTo>
                  <a:close/>
                </a:path>
              </a:pathLst>
            </a:custGeom>
            <a:solidFill>
              <a:srgbClr val="FF6E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>
              <a:extLst>
                <a:ext uri="{FF2B5EF4-FFF2-40B4-BE49-F238E27FC236}">
                  <a16:creationId xmlns:a16="http://schemas.microsoft.com/office/drawing/2014/main" id="{5E58C8C4-6B7D-8FE5-D535-40730171FF4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72650" y="1847849"/>
              <a:ext cx="285749" cy="304799"/>
            </a:xfrm>
            <a:prstGeom prst="rect">
              <a:avLst/>
            </a:prstGeom>
          </p:spPr>
        </p:pic>
      </p:grpSp>
      <p:sp>
        <p:nvSpPr>
          <p:cNvPr id="38" name="object 38">
            <a:extLst>
              <a:ext uri="{FF2B5EF4-FFF2-40B4-BE49-F238E27FC236}">
                <a16:creationId xmlns:a16="http://schemas.microsoft.com/office/drawing/2014/main" id="{238D2F85-4FB8-C7A8-F3A7-174D00A16F78}"/>
              </a:ext>
            </a:extLst>
          </p:cNvPr>
          <p:cNvSpPr txBox="1"/>
          <p:nvPr/>
        </p:nvSpPr>
        <p:spPr>
          <a:xfrm>
            <a:off x="9163001" y="2419994"/>
            <a:ext cx="1904584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고숙련 인력 의존성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39" name="object 39">
            <a:extLst>
              <a:ext uri="{FF2B5EF4-FFF2-40B4-BE49-F238E27FC236}">
                <a16:creationId xmlns:a16="http://schemas.microsoft.com/office/drawing/2014/main" id="{C979B72B-C0BA-8028-9DC0-2ED509D6FBAB}"/>
              </a:ext>
            </a:extLst>
          </p:cNvPr>
          <p:cNvGrpSpPr/>
          <p:nvPr/>
        </p:nvGrpSpPr>
        <p:grpSpPr>
          <a:xfrm>
            <a:off x="8382008" y="3086100"/>
            <a:ext cx="104775" cy="1714500"/>
            <a:chOff x="8382000" y="3086099"/>
            <a:chExt cx="104775" cy="1714500"/>
          </a:xfrm>
        </p:grpSpPr>
        <p:pic>
          <p:nvPicPr>
            <p:cNvPr id="40" name="object 40">
              <a:extLst>
                <a:ext uri="{FF2B5EF4-FFF2-40B4-BE49-F238E27FC236}">
                  <a16:creationId xmlns:a16="http://schemas.microsoft.com/office/drawing/2014/main" id="{A9733888-8A84-9D5F-D8AC-D86713F15CE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2000" y="3086099"/>
              <a:ext cx="104774" cy="114299"/>
            </a:xfrm>
            <a:prstGeom prst="rect">
              <a:avLst/>
            </a:prstGeom>
          </p:spPr>
        </p:pic>
        <p:pic>
          <p:nvPicPr>
            <p:cNvPr id="41" name="object 41">
              <a:extLst>
                <a:ext uri="{FF2B5EF4-FFF2-40B4-BE49-F238E27FC236}">
                  <a16:creationId xmlns:a16="http://schemas.microsoft.com/office/drawing/2014/main" id="{059F6096-D584-2511-09CC-607B7ED9D93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2000" y="3619499"/>
              <a:ext cx="104774" cy="114299"/>
            </a:xfrm>
            <a:prstGeom prst="rect">
              <a:avLst/>
            </a:prstGeom>
          </p:spPr>
        </p:pic>
        <p:pic>
          <p:nvPicPr>
            <p:cNvPr id="42" name="object 42">
              <a:extLst>
                <a:ext uri="{FF2B5EF4-FFF2-40B4-BE49-F238E27FC236}">
                  <a16:creationId xmlns:a16="http://schemas.microsoft.com/office/drawing/2014/main" id="{26926571-8DA6-2BFE-03FE-CC85A530A61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2000" y="4152899"/>
              <a:ext cx="104774" cy="114299"/>
            </a:xfrm>
            <a:prstGeom prst="rect">
              <a:avLst/>
            </a:prstGeom>
          </p:spPr>
        </p:pic>
        <p:pic>
          <p:nvPicPr>
            <p:cNvPr id="43" name="object 43">
              <a:extLst>
                <a:ext uri="{FF2B5EF4-FFF2-40B4-BE49-F238E27FC236}">
                  <a16:creationId xmlns:a16="http://schemas.microsoft.com/office/drawing/2014/main" id="{919BF85B-6A5E-F8B2-2A97-8B437BFE4AA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2000" y="4686299"/>
              <a:ext cx="104774" cy="114299"/>
            </a:xfrm>
            <a:prstGeom prst="rect">
              <a:avLst/>
            </a:prstGeom>
          </p:spPr>
        </p:pic>
      </p:grpSp>
      <p:sp>
        <p:nvSpPr>
          <p:cNvPr id="44" name="object 44">
            <a:extLst>
              <a:ext uri="{FF2B5EF4-FFF2-40B4-BE49-F238E27FC236}">
                <a16:creationId xmlns:a16="http://schemas.microsoft.com/office/drawing/2014/main" id="{83FD38AF-B600-893C-C62F-572CD4212002}"/>
              </a:ext>
            </a:extLst>
          </p:cNvPr>
          <p:cNvSpPr txBox="1"/>
          <p:nvPr/>
        </p:nvSpPr>
        <p:spPr>
          <a:xfrm>
            <a:off x="8547008" y="2973866"/>
            <a:ext cx="2813685" cy="46314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64%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정도의 제품 불량이 인력의 실수로 인한 것으로 확인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9AA43833-C361-E230-3E1F-6727A162F024}"/>
              </a:ext>
            </a:extLst>
          </p:cNvPr>
          <p:cNvSpPr txBox="1"/>
          <p:nvPr/>
        </p:nvSpPr>
        <p:spPr>
          <a:xfrm>
            <a:off x="8547009" y="3528268"/>
            <a:ext cx="3552825" cy="98911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89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인력의 역량 재배치 및 강화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(Reskilling,</a:t>
            </a:r>
            <a:endParaRPr sz="1451" dirty="0">
              <a:latin typeface="Microsoft Sans Serif"/>
              <a:cs typeface="Microsoft Sans Serif"/>
            </a:endParaRPr>
          </a:p>
          <a:p>
            <a:pPr marL="12700">
              <a:spcBef>
                <a:spcPts val="60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Upskilling)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필요</a:t>
            </a:r>
            <a:endParaRPr sz="1350" dirty="0">
              <a:latin typeface="Malgun Gothic"/>
              <a:cs typeface="Malgun Gothic"/>
            </a:endParaRPr>
          </a:p>
          <a:p>
            <a:pPr marL="12700" marR="5080">
              <a:lnSpc>
                <a:spcPct val="111100"/>
              </a:lnSpc>
              <a:spcBef>
                <a:spcPts val="580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품질편차와 직원의 피로도를 유발하는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주요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요인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6E9A4C3A-837D-2716-ED47-A6D849BA5DCF}"/>
              </a:ext>
            </a:extLst>
          </p:cNvPr>
          <p:cNvSpPr txBox="1"/>
          <p:nvPr/>
        </p:nvSpPr>
        <p:spPr>
          <a:xfrm>
            <a:off x="8547009" y="4606529"/>
            <a:ext cx="2927985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자동화되지 않은 반복작업으로 인한 인력의 낭 비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33049C65-99DA-453C-0A44-639915F3D000}"/>
              </a:ext>
            </a:extLst>
          </p:cNvPr>
          <p:cNvSpPr/>
          <p:nvPr/>
        </p:nvSpPr>
        <p:spPr>
          <a:xfrm>
            <a:off x="485776" y="4857748"/>
            <a:ext cx="11277599" cy="1905001"/>
          </a:xfrm>
          <a:custGeom>
            <a:avLst/>
            <a:gdLst/>
            <a:ahLst/>
            <a:cxnLst/>
            <a:rect l="l" t="t" r="r" b="b"/>
            <a:pathLst>
              <a:path w="11277600" h="1905000">
                <a:moveTo>
                  <a:pt x="11206402" y="1904999"/>
                </a:moveTo>
                <a:lnTo>
                  <a:pt x="71196" y="1904999"/>
                </a:lnTo>
                <a:lnTo>
                  <a:pt x="66241" y="1904511"/>
                </a:lnTo>
                <a:lnTo>
                  <a:pt x="29705" y="1889377"/>
                </a:lnTo>
                <a:lnTo>
                  <a:pt x="3885" y="1853337"/>
                </a:lnTo>
                <a:lnTo>
                  <a:pt x="0" y="1833803"/>
                </a:lnTo>
                <a:lnTo>
                  <a:pt x="0" y="1828799"/>
                </a:lnTo>
                <a:lnTo>
                  <a:pt x="0" y="71196"/>
                </a:lnTo>
                <a:lnTo>
                  <a:pt x="15621" y="29705"/>
                </a:lnTo>
                <a:lnTo>
                  <a:pt x="51662" y="3885"/>
                </a:lnTo>
                <a:lnTo>
                  <a:pt x="71196" y="0"/>
                </a:lnTo>
                <a:lnTo>
                  <a:pt x="11206402" y="0"/>
                </a:lnTo>
                <a:lnTo>
                  <a:pt x="11247890" y="15621"/>
                </a:lnTo>
                <a:lnTo>
                  <a:pt x="11273712" y="51662"/>
                </a:lnTo>
                <a:lnTo>
                  <a:pt x="11277597" y="71196"/>
                </a:lnTo>
                <a:lnTo>
                  <a:pt x="11277597" y="1833803"/>
                </a:lnTo>
                <a:lnTo>
                  <a:pt x="11261975" y="1875294"/>
                </a:lnTo>
                <a:lnTo>
                  <a:pt x="11225935" y="1901113"/>
                </a:lnTo>
                <a:lnTo>
                  <a:pt x="11211356" y="1904511"/>
                </a:lnTo>
                <a:lnTo>
                  <a:pt x="11206402" y="1904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object 49">
            <a:extLst>
              <a:ext uri="{FF2B5EF4-FFF2-40B4-BE49-F238E27FC236}">
                <a16:creationId xmlns:a16="http://schemas.microsoft.com/office/drawing/2014/main" id="{530CA5EF-F9B3-CB48-297E-47E1017C3DD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4576" y="5344682"/>
            <a:ext cx="7619998" cy="761999"/>
          </a:xfrm>
          <a:prstGeom prst="rect">
            <a:avLst/>
          </a:prstGeom>
        </p:spPr>
      </p:pic>
      <p:sp>
        <p:nvSpPr>
          <p:cNvPr id="50" name="object 50">
            <a:extLst>
              <a:ext uri="{FF2B5EF4-FFF2-40B4-BE49-F238E27FC236}">
                <a16:creationId xmlns:a16="http://schemas.microsoft.com/office/drawing/2014/main" id="{1B12AD79-D85C-1489-ED37-AE641E5D6CE8}"/>
              </a:ext>
            </a:extLst>
          </p:cNvPr>
          <p:cNvSpPr txBox="1"/>
          <p:nvPr/>
        </p:nvSpPr>
        <p:spPr>
          <a:xfrm>
            <a:off x="1556133" y="6290513"/>
            <a:ext cx="9773503" cy="2348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89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이러한 도전과제들은 서로 연관되어 있으며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하나의 문제 해결은 다른 문제들을 동시에 해결하는 데 기여할 수 있습니다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.</a:t>
            </a:r>
            <a:endParaRPr sz="1451" dirty="0">
              <a:latin typeface="Microsoft Sans Serif"/>
              <a:cs typeface="Microsoft Sans Serif"/>
            </a:endParaRPr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C22EC481-1B31-36FC-CB29-8C6D8B211479}"/>
              </a:ext>
            </a:extLst>
          </p:cNvPr>
          <p:cNvSpPr txBox="1"/>
          <p:nvPr/>
        </p:nvSpPr>
        <p:spPr>
          <a:xfrm>
            <a:off x="5124872" y="5127561"/>
            <a:ext cx="2078812" cy="2467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99" b="1" dirty="0">
                <a:solidFill>
                  <a:srgbClr val="374050"/>
                </a:solidFill>
                <a:latin typeface="Malgun Gothic"/>
                <a:cs typeface="Malgun Gothic"/>
              </a:rPr>
              <a:t>도전과제의 상호연결성</a:t>
            </a:r>
            <a:endParaRPr sz="1499" dirty="0">
              <a:latin typeface="Malgun Gothic"/>
              <a:cs typeface="Malgun Gothic"/>
            </a:endParaRPr>
          </a:p>
        </p:txBody>
      </p:sp>
      <p:pic>
        <p:nvPicPr>
          <p:cNvPr id="47" name="object 26">
            <a:extLst>
              <a:ext uri="{FF2B5EF4-FFF2-40B4-BE49-F238E27FC236}">
                <a16:creationId xmlns:a16="http://schemas.microsoft.com/office/drawing/2014/main" id="{26704465-8B1E-20EA-5262-F8D72FF86A15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47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E668FFC-2910-1EB9-78B8-381B2CF3B45B}"/>
              </a:ext>
            </a:extLst>
          </p:cNvPr>
          <p:cNvSpPr/>
          <p:nvPr/>
        </p:nvSpPr>
        <p:spPr>
          <a:xfrm>
            <a:off x="-1" y="0"/>
            <a:ext cx="12192001" cy="8686800"/>
          </a:xfrm>
          <a:custGeom>
            <a:avLst/>
            <a:gdLst/>
            <a:ahLst/>
            <a:cxnLst/>
            <a:rect l="l" t="t" r="r" b="b"/>
            <a:pathLst>
              <a:path w="12192000" h="8686800">
                <a:moveTo>
                  <a:pt x="12191999" y="8686799"/>
                </a:moveTo>
                <a:lnTo>
                  <a:pt x="0" y="86867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86867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8585733-BA7F-54C1-E463-B66AEAE537C6}"/>
              </a:ext>
            </a:extLst>
          </p:cNvPr>
          <p:cNvGrpSpPr/>
          <p:nvPr/>
        </p:nvGrpSpPr>
        <p:grpSpPr>
          <a:xfrm>
            <a:off x="457199" y="6095999"/>
            <a:ext cx="11277600" cy="685800"/>
            <a:chOff x="457199" y="6095999"/>
            <a:chExt cx="11277600" cy="6858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D11D2C3-C1C4-FF32-4829-3839C96FE5A6}"/>
                </a:ext>
              </a:extLst>
            </p:cNvPr>
            <p:cNvSpPr/>
            <p:nvPr/>
          </p:nvSpPr>
          <p:spPr>
            <a:xfrm>
              <a:off x="476249" y="6095999"/>
              <a:ext cx="11258550" cy="685800"/>
            </a:xfrm>
            <a:custGeom>
              <a:avLst/>
              <a:gdLst/>
              <a:ahLst/>
              <a:cxnLst/>
              <a:rect l="l" t="t" r="r" b="b"/>
              <a:pathLst>
                <a:path w="11258550" h="685800">
                  <a:moveTo>
                    <a:pt x="11187352" y="685799"/>
                  </a:moveTo>
                  <a:lnTo>
                    <a:pt x="53397" y="685799"/>
                  </a:lnTo>
                  <a:lnTo>
                    <a:pt x="49681" y="685311"/>
                  </a:lnTo>
                  <a:lnTo>
                    <a:pt x="14085" y="659942"/>
                  </a:lnTo>
                  <a:lnTo>
                    <a:pt x="366" y="619558"/>
                  </a:lnTo>
                  <a:lnTo>
                    <a:pt x="0" y="614602"/>
                  </a:lnTo>
                  <a:lnTo>
                    <a:pt x="0" y="6095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11187352" y="0"/>
                  </a:lnTo>
                  <a:lnTo>
                    <a:pt x="11228841" y="15620"/>
                  </a:lnTo>
                  <a:lnTo>
                    <a:pt x="11254662" y="51661"/>
                  </a:lnTo>
                  <a:lnTo>
                    <a:pt x="11258549" y="71196"/>
                  </a:lnTo>
                  <a:lnTo>
                    <a:pt x="11258549" y="614602"/>
                  </a:lnTo>
                  <a:lnTo>
                    <a:pt x="11242925" y="656093"/>
                  </a:lnTo>
                  <a:lnTo>
                    <a:pt x="11206886" y="681912"/>
                  </a:lnTo>
                  <a:lnTo>
                    <a:pt x="11192307" y="685311"/>
                  </a:lnTo>
                  <a:lnTo>
                    <a:pt x="11187352" y="6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D8F88D7-4FB6-A995-AA7F-E7C4A18B52AE}"/>
                </a:ext>
              </a:extLst>
            </p:cNvPr>
            <p:cNvSpPr/>
            <p:nvPr/>
          </p:nvSpPr>
          <p:spPr>
            <a:xfrm>
              <a:off x="457199" y="6096276"/>
              <a:ext cx="70485" cy="685800"/>
            </a:xfrm>
            <a:custGeom>
              <a:avLst/>
              <a:gdLst/>
              <a:ahLst/>
              <a:cxnLst/>
              <a:rect l="l" t="t" r="r" b="b"/>
              <a:pathLst>
                <a:path w="70484" h="685800">
                  <a:moveTo>
                    <a:pt x="70450" y="685244"/>
                  </a:moveTo>
                  <a:lnTo>
                    <a:pt x="33857" y="672691"/>
                  </a:lnTo>
                  <a:lnTo>
                    <a:pt x="5800" y="638482"/>
                  </a:lnTo>
                  <a:lnTo>
                    <a:pt x="0" y="6093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0"/>
                  </a:lnTo>
                  <a:lnTo>
                    <a:pt x="38100" y="75922"/>
                  </a:lnTo>
                  <a:lnTo>
                    <a:pt x="38100" y="609322"/>
                  </a:lnTo>
                  <a:lnTo>
                    <a:pt x="44515" y="651663"/>
                  </a:lnTo>
                  <a:lnTo>
                    <a:pt x="66287" y="683588"/>
                  </a:lnTo>
                  <a:lnTo>
                    <a:pt x="70450" y="685244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685417D0-C1A1-F0E4-47EC-FB3ADE5410A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286499"/>
              <a:ext cx="171449" cy="304799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BB4BF723-6280-4E6C-DEFD-09AC8C572685}"/>
              </a:ext>
            </a:extLst>
          </p:cNvPr>
          <p:cNvSpPr txBox="1">
            <a:spLocks/>
          </p:cNvSpPr>
          <p:nvPr/>
        </p:nvSpPr>
        <p:spPr>
          <a:xfrm>
            <a:off x="440634" y="340521"/>
            <a:ext cx="5745589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en-US" altLang="ko-KR" dirty="0"/>
              <a:t>AI</a:t>
            </a:r>
            <a:r>
              <a:rPr lang="ko-KR" altLang="en-US" dirty="0"/>
              <a:t> 도입의 필요성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3A6C5D3-8FDA-E9F2-165B-9C2F55E54576}"/>
              </a:ext>
            </a:extLst>
          </p:cNvPr>
          <p:cNvSpPr/>
          <p:nvPr/>
        </p:nvSpPr>
        <p:spPr>
          <a:xfrm>
            <a:off x="457199" y="1219199"/>
            <a:ext cx="5486399" cy="2133600"/>
          </a:xfrm>
          <a:custGeom>
            <a:avLst/>
            <a:gdLst/>
            <a:ahLst/>
            <a:cxnLst/>
            <a:rect l="l" t="t" r="r" b="b"/>
            <a:pathLst>
              <a:path w="5486400" h="2133600">
                <a:moveTo>
                  <a:pt x="5415202" y="2133599"/>
                </a:moveTo>
                <a:lnTo>
                  <a:pt x="71196" y="2133599"/>
                </a:lnTo>
                <a:lnTo>
                  <a:pt x="66241" y="2133111"/>
                </a:lnTo>
                <a:lnTo>
                  <a:pt x="29705" y="2117977"/>
                </a:lnTo>
                <a:lnTo>
                  <a:pt x="3885" y="2081937"/>
                </a:lnTo>
                <a:lnTo>
                  <a:pt x="0" y="2062403"/>
                </a:lnTo>
                <a:lnTo>
                  <a:pt x="0" y="20573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5415202" y="0"/>
                </a:lnTo>
                <a:lnTo>
                  <a:pt x="5456693" y="15621"/>
                </a:lnTo>
                <a:lnTo>
                  <a:pt x="5482513" y="51661"/>
                </a:lnTo>
                <a:lnTo>
                  <a:pt x="5486399" y="71196"/>
                </a:lnTo>
                <a:lnTo>
                  <a:pt x="5486399" y="2062403"/>
                </a:lnTo>
                <a:lnTo>
                  <a:pt x="5470777" y="2103894"/>
                </a:lnTo>
                <a:lnTo>
                  <a:pt x="5434737" y="2129714"/>
                </a:lnTo>
                <a:lnTo>
                  <a:pt x="5420157" y="2133111"/>
                </a:lnTo>
                <a:lnTo>
                  <a:pt x="5415202" y="2133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4785305-147B-62FD-4470-F9B4C2250EED}"/>
              </a:ext>
            </a:extLst>
          </p:cNvPr>
          <p:cNvSpPr txBox="1"/>
          <p:nvPr/>
        </p:nvSpPr>
        <p:spPr>
          <a:xfrm>
            <a:off x="2252389" y="1429391"/>
            <a:ext cx="2295524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품질관리 고도화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5B295DFD-F53E-E6BD-CBA8-5F47BE2F609B}"/>
              </a:ext>
            </a:extLst>
          </p:cNvPr>
          <p:cNvGrpSpPr/>
          <p:nvPr/>
        </p:nvGrpSpPr>
        <p:grpSpPr>
          <a:xfrm>
            <a:off x="695324" y="1895477"/>
            <a:ext cx="133350" cy="628650"/>
            <a:chOff x="695324" y="1895475"/>
            <a:chExt cx="133350" cy="628650"/>
          </a:xfrm>
        </p:grpSpPr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B4D38C53-DC8A-7D87-2AD8-FAF6328D4AC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324" y="1895475"/>
              <a:ext cx="133349" cy="95249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5EEE9384-81D9-ADB3-1519-47932EAB01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324" y="2428875"/>
              <a:ext cx="133349" cy="95249"/>
            </a:xfrm>
            <a:prstGeom prst="rect">
              <a:avLst/>
            </a:prstGeom>
          </p:spPr>
        </p:pic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F2E973B2-A29A-E161-7316-E3B27DAA36A1}"/>
              </a:ext>
            </a:extLst>
          </p:cNvPr>
          <p:cNvSpPr txBox="1"/>
          <p:nvPr/>
        </p:nvSpPr>
        <p:spPr>
          <a:xfrm>
            <a:off x="901699" y="1792766"/>
            <a:ext cx="4823460" cy="46314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육안으로 감지하기 어려운 미세 불량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(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핀홀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과열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냉땜 등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)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을 초안에 잡아내야 함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0E39897-AAF4-4B5F-21A7-EC8559F741A2}"/>
              </a:ext>
            </a:extLst>
          </p:cNvPr>
          <p:cNvSpPr txBox="1"/>
          <p:nvPr/>
        </p:nvSpPr>
        <p:spPr>
          <a:xfrm>
            <a:off x="901700" y="2326166"/>
            <a:ext cx="4690110" cy="46314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도입으로 기존 검사 방식의 한계를 극복하고 품질편차와 직원 피로도 감 소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411A0CC-2F53-E18C-F560-12AB374CC6C7}"/>
              </a:ext>
            </a:extLst>
          </p:cNvPr>
          <p:cNvSpPr/>
          <p:nvPr/>
        </p:nvSpPr>
        <p:spPr>
          <a:xfrm>
            <a:off x="6248399" y="1219199"/>
            <a:ext cx="5486399" cy="2133600"/>
          </a:xfrm>
          <a:custGeom>
            <a:avLst/>
            <a:gdLst/>
            <a:ahLst/>
            <a:cxnLst/>
            <a:rect l="l" t="t" r="r" b="b"/>
            <a:pathLst>
              <a:path w="5486400" h="2133600">
                <a:moveTo>
                  <a:pt x="5415203" y="2133599"/>
                </a:moveTo>
                <a:lnTo>
                  <a:pt x="71196" y="2133599"/>
                </a:lnTo>
                <a:lnTo>
                  <a:pt x="66241" y="2133111"/>
                </a:lnTo>
                <a:lnTo>
                  <a:pt x="29705" y="2117977"/>
                </a:lnTo>
                <a:lnTo>
                  <a:pt x="3885" y="2081937"/>
                </a:lnTo>
                <a:lnTo>
                  <a:pt x="0" y="2062403"/>
                </a:lnTo>
                <a:lnTo>
                  <a:pt x="0" y="20573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5415203" y="0"/>
                </a:lnTo>
                <a:lnTo>
                  <a:pt x="5456692" y="15621"/>
                </a:lnTo>
                <a:lnTo>
                  <a:pt x="5482513" y="51661"/>
                </a:lnTo>
                <a:lnTo>
                  <a:pt x="5486400" y="71196"/>
                </a:lnTo>
                <a:lnTo>
                  <a:pt x="5486400" y="2062403"/>
                </a:lnTo>
                <a:lnTo>
                  <a:pt x="5470776" y="2103894"/>
                </a:lnTo>
                <a:lnTo>
                  <a:pt x="5434737" y="2129714"/>
                </a:lnTo>
                <a:lnTo>
                  <a:pt x="5420158" y="2133111"/>
                </a:lnTo>
                <a:lnTo>
                  <a:pt x="5415203" y="2133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38E2383-A887-4D69-7316-C2A02C38917B}"/>
              </a:ext>
            </a:extLst>
          </p:cNvPr>
          <p:cNvSpPr txBox="1"/>
          <p:nvPr/>
        </p:nvSpPr>
        <p:spPr>
          <a:xfrm>
            <a:off x="7806626" y="1429393"/>
            <a:ext cx="2441342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데이터 활용 극대화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18" name="object 18">
            <a:extLst>
              <a:ext uri="{FF2B5EF4-FFF2-40B4-BE49-F238E27FC236}">
                <a16:creationId xmlns:a16="http://schemas.microsoft.com/office/drawing/2014/main" id="{5D8D7AB7-ED84-4F0B-C50A-68D5A93C8E04}"/>
              </a:ext>
            </a:extLst>
          </p:cNvPr>
          <p:cNvGrpSpPr/>
          <p:nvPr/>
        </p:nvGrpSpPr>
        <p:grpSpPr>
          <a:xfrm>
            <a:off x="6486524" y="1895475"/>
            <a:ext cx="133350" cy="1162050"/>
            <a:chOff x="6486524" y="1895475"/>
            <a:chExt cx="133350" cy="1162050"/>
          </a:xfrm>
        </p:grpSpPr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67A92A82-773B-DD64-CBF6-9597851B047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6524" y="1895475"/>
              <a:ext cx="133349" cy="95249"/>
            </a:xfrm>
            <a:prstGeom prst="rect">
              <a:avLst/>
            </a:prstGeom>
          </p:spPr>
        </p:pic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B9E18841-E177-D9EE-A86E-29054F40421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6524" y="2428875"/>
              <a:ext cx="133349" cy="95249"/>
            </a:xfrm>
            <a:prstGeom prst="rect">
              <a:avLst/>
            </a:prstGeom>
          </p:spPr>
        </p:pic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CF4043FA-3F74-F8E2-1512-EECA1A46F9F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6524" y="2962275"/>
              <a:ext cx="133349" cy="95249"/>
            </a:xfrm>
            <a:prstGeom prst="rect">
              <a:avLst/>
            </a:prstGeom>
          </p:spPr>
        </p:pic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6F278F36-7E59-1E2C-F76E-AC788F9F1CD4}"/>
              </a:ext>
            </a:extLst>
          </p:cNvPr>
          <p:cNvSpPr txBox="1"/>
          <p:nvPr/>
        </p:nvSpPr>
        <p:spPr>
          <a:xfrm>
            <a:off x="6692900" y="1792768"/>
            <a:ext cx="4690110" cy="46314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제조업은 소매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금융 등보다 방대한 데이터를 생성하지만 이는 주로 파편화 되어 있음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3E33B410-4C1A-F442-0630-80E39D01EDF5}"/>
              </a:ext>
            </a:extLst>
          </p:cNvPr>
          <p:cNvSpPr txBox="1"/>
          <p:nvPr/>
        </p:nvSpPr>
        <p:spPr>
          <a:xfrm>
            <a:off x="6692906" y="2336325"/>
            <a:ext cx="4718686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비표준화된 포맷으로 산재된 데이터가 데이터간의 의미적 연결성을 부족하 게 만듦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B10D1806-133D-F8F0-7F33-BBE1F80371C0}"/>
              </a:ext>
            </a:extLst>
          </p:cNvPr>
          <p:cNvSpPr txBox="1"/>
          <p:nvPr/>
        </p:nvSpPr>
        <p:spPr>
          <a:xfrm>
            <a:off x="6692902" y="2880564"/>
            <a:ext cx="4080509" cy="4425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89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솔루션 도입에 앞서 데이터의 정제 및 구조화가 선행되어야 함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922FB4F7-50C9-5746-5B74-65AA6A2DE49E}"/>
              </a:ext>
            </a:extLst>
          </p:cNvPr>
          <p:cNvSpPr/>
          <p:nvPr/>
        </p:nvSpPr>
        <p:spPr>
          <a:xfrm>
            <a:off x="457199" y="3657598"/>
            <a:ext cx="5486399" cy="2133600"/>
          </a:xfrm>
          <a:custGeom>
            <a:avLst/>
            <a:gdLst/>
            <a:ahLst/>
            <a:cxnLst/>
            <a:rect l="l" t="t" r="r" b="b"/>
            <a:pathLst>
              <a:path w="5486400" h="2133600">
                <a:moveTo>
                  <a:pt x="5415202" y="2133599"/>
                </a:moveTo>
                <a:lnTo>
                  <a:pt x="71196" y="2133599"/>
                </a:lnTo>
                <a:lnTo>
                  <a:pt x="66241" y="2133110"/>
                </a:lnTo>
                <a:lnTo>
                  <a:pt x="29705" y="2117977"/>
                </a:lnTo>
                <a:lnTo>
                  <a:pt x="3885" y="2081937"/>
                </a:lnTo>
                <a:lnTo>
                  <a:pt x="0" y="2062403"/>
                </a:lnTo>
                <a:lnTo>
                  <a:pt x="0" y="20573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5415202" y="0"/>
                </a:lnTo>
                <a:lnTo>
                  <a:pt x="5456693" y="15621"/>
                </a:lnTo>
                <a:lnTo>
                  <a:pt x="5482513" y="51661"/>
                </a:lnTo>
                <a:lnTo>
                  <a:pt x="5486399" y="71196"/>
                </a:lnTo>
                <a:lnTo>
                  <a:pt x="5486399" y="2062403"/>
                </a:lnTo>
                <a:lnTo>
                  <a:pt x="5470777" y="2103893"/>
                </a:lnTo>
                <a:lnTo>
                  <a:pt x="5434737" y="2129712"/>
                </a:lnTo>
                <a:lnTo>
                  <a:pt x="5420157" y="2133110"/>
                </a:lnTo>
                <a:lnTo>
                  <a:pt x="5415202" y="2133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4AC5DB1F-364B-C6FA-9AD7-DB4F16A3B452}"/>
              </a:ext>
            </a:extLst>
          </p:cNvPr>
          <p:cNvSpPr txBox="1"/>
          <p:nvPr/>
        </p:nvSpPr>
        <p:spPr>
          <a:xfrm>
            <a:off x="2273996" y="3867790"/>
            <a:ext cx="2292997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인력 효율성 증대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801E6C6B-F076-F24D-94D2-20FE649DDF0C}"/>
              </a:ext>
            </a:extLst>
          </p:cNvPr>
          <p:cNvGrpSpPr/>
          <p:nvPr/>
        </p:nvGrpSpPr>
        <p:grpSpPr>
          <a:xfrm>
            <a:off x="695324" y="4333876"/>
            <a:ext cx="133350" cy="1162050"/>
            <a:chOff x="695324" y="4333875"/>
            <a:chExt cx="133350" cy="1162050"/>
          </a:xfrm>
        </p:grpSpPr>
        <p:pic>
          <p:nvPicPr>
            <p:cNvPr id="28" name="object 28">
              <a:extLst>
                <a:ext uri="{FF2B5EF4-FFF2-40B4-BE49-F238E27FC236}">
                  <a16:creationId xmlns:a16="http://schemas.microsoft.com/office/drawing/2014/main" id="{68F953E2-5F66-BFAD-2DE7-287B09C3693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324" y="4333875"/>
              <a:ext cx="133349" cy="95249"/>
            </a:xfrm>
            <a:prstGeom prst="rect">
              <a:avLst/>
            </a:prstGeom>
          </p:spPr>
        </p:pic>
        <p:pic>
          <p:nvPicPr>
            <p:cNvPr id="29" name="object 29">
              <a:extLst>
                <a:ext uri="{FF2B5EF4-FFF2-40B4-BE49-F238E27FC236}">
                  <a16:creationId xmlns:a16="http://schemas.microsoft.com/office/drawing/2014/main" id="{456ED06B-5935-23C7-558C-2B641C9063E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324" y="4867275"/>
              <a:ext cx="133349" cy="95249"/>
            </a:xfrm>
            <a:prstGeom prst="rect">
              <a:avLst/>
            </a:prstGeom>
          </p:spPr>
        </p:pic>
        <p:pic>
          <p:nvPicPr>
            <p:cNvPr id="30" name="object 30">
              <a:extLst>
                <a:ext uri="{FF2B5EF4-FFF2-40B4-BE49-F238E27FC236}">
                  <a16:creationId xmlns:a16="http://schemas.microsoft.com/office/drawing/2014/main" id="{7AB79F5E-9ECD-0881-1215-F4F7A08BF55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324" y="5400675"/>
              <a:ext cx="133349" cy="95249"/>
            </a:xfrm>
            <a:prstGeom prst="rect">
              <a:avLst/>
            </a:prstGeom>
          </p:spPr>
        </p:pic>
      </p:grpSp>
      <p:sp>
        <p:nvSpPr>
          <p:cNvPr id="31" name="object 31">
            <a:extLst>
              <a:ext uri="{FF2B5EF4-FFF2-40B4-BE49-F238E27FC236}">
                <a16:creationId xmlns:a16="http://schemas.microsoft.com/office/drawing/2014/main" id="{89FC15DC-0B6C-8079-4418-919A8DD1FF44}"/>
              </a:ext>
            </a:extLst>
          </p:cNvPr>
          <p:cNvSpPr txBox="1"/>
          <p:nvPr/>
        </p:nvSpPr>
        <p:spPr>
          <a:xfrm>
            <a:off x="901705" y="4231167"/>
            <a:ext cx="4718686" cy="46314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사람의 실수로 인한 제품 불량이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64%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정도 차지하는 높은 고숙련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인력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의존도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2173CF95-6FB1-1E6D-85F2-265A039A016A}"/>
              </a:ext>
            </a:extLst>
          </p:cNvPr>
          <p:cNvSpPr txBox="1"/>
          <p:nvPr/>
        </p:nvSpPr>
        <p:spPr>
          <a:xfrm>
            <a:off x="901705" y="4774722"/>
            <a:ext cx="4718686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단순하고 반복적인 작업을 자동화하여 직원들이 고부가가치 업무에 집중할 수 있도록 지원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D3A68D54-AF5A-F033-20DE-E027C4CBDAF2}"/>
              </a:ext>
            </a:extLst>
          </p:cNvPr>
          <p:cNvSpPr txBox="1"/>
          <p:nvPr/>
        </p:nvSpPr>
        <p:spPr>
          <a:xfrm>
            <a:off x="901700" y="5318963"/>
            <a:ext cx="4718686" cy="4580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89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인력의 역량 재배치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(Reskilling)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및 역량 강화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(Upskilling)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의 필요성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CDFC574E-ED44-CC23-4865-6B7B810A21AA}"/>
              </a:ext>
            </a:extLst>
          </p:cNvPr>
          <p:cNvSpPr/>
          <p:nvPr/>
        </p:nvSpPr>
        <p:spPr>
          <a:xfrm>
            <a:off x="6248399" y="3657598"/>
            <a:ext cx="5486399" cy="2133600"/>
          </a:xfrm>
          <a:custGeom>
            <a:avLst/>
            <a:gdLst/>
            <a:ahLst/>
            <a:cxnLst/>
            <a:rect l="l" t="t" r="r" b="b"/>
            <a:pathLst>
              <a:path w="5486400" h="2133600">
                <a:moveTo>
                  <a:pt x="5415203" y="2133599"/>
                </a:moveTo>
                <a:lnTo>
                  <a:pt x="71196" y="2133599"/>
                </a:lnTo>
                <a:lnTo>
                  <a:pt x="66241" y="2133110"/>
                </a:lnTo>
                <a:lnTo>
                  <a:pt x="29705" y="2117977"/>
                </a:lnTo>
                <a:lnTo>
                  <a:pt x="3885" y="2081937"/>
                </a:lnTo>
                <a:lnTo>
                  <a:pt x="0" y="2062403"/>
                </a:lnTo>
                <a:lnTo>
                  <a:pt x="0" y="20573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5415203" y="0"/>
                </a:lnTo>
                <a:lnTo>
                  <a:pt x="5456692" y="15621"/>
                </a:lnTo>
                <a:lnTo>
                  <a:pt x="5482513" y="51661"/>
                </a:lnTo>
                <a:lnTo>
                  <a:pt x="5486400" y="71196"/>
                </a:lnTo>
                <a:lnTo>
                  <a:pt x="5486400" y="2062403"/>
                </a:lnTo>
                <a:lnTo>
                  <a:pt x="5470776" y="2103893"/>
                </a:lnTo>
                <a:lnTo>
                  <a:pt x="5434737" y="2129712"/>
                </a:lnTo>
                <a:lnTo>
                  <a:pt x="5420158" y="2133110"/>
                </a:lnTo>
                <a:lnTo>
                  <a:pt x="5415203" y="2133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12B42B79-CE9B-514A-63A2-A74E8F468E8E}"/>
              </a:ext>
            </a:extLst>
          </p:cNvPr>
          <p:cNvSpPr txBox="1"/>
          <p:nvPr/>
        </p:nvSpPr>
        <p:spPr>
          <a:xfrm>
            <a:off x="7937654" y="3867792"/>
            <a:ext cx="2338193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미래 시장 주도권 확보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36" name="object 36">
            <a:extLst>
              <a:ext uri="{FF2B5EF4-FFF2-40B4-BE49-F238E27FC236}">
                <a16:creationId xmlns:a16="http://schemas.microsoft.com/office/drawing/2014/main" id="{105A23AE-2B8D-3D0D-4C3B-D87E859DBB5A}"/>
              </a:ext>
            </a:extLst>
          </p:cNvPr>
          <p:cNvGrpSpPr/>
          <p:nvPr/>
        </p:nvGrpSpPr>
        <p:grpSpPr>
          <a:xfrm>
            <a:off x="6486524" y="4333876"/>
            <a:ext cx="133350" cy="1162050"/>
            <a:chOff x="6486524" y="4333875"/>
            <a:chExt cx="133350" cy="1162050"/>
          </a:xfrm>
        </p:grpSpPr>
        <p:pic>
          <p:nvPicPr>
            <p:cNvPr id="37" name="object 37">
              <a:extLst>
                <a:ext uri="{FF2B5EF4-FFF2-40B4-BE49-F238E27FC236}">
                  <a16:creationId xmlns:a16="http://schemas.microsoft.com/office/drawing/2014/main" id="{7E49FD4B-4EB0-E60B-A331-6D2DB795154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6524" y="4333875"/>
              <a:ext cx="133349" cy="95249"/>
            </a:xfrm>
            <a:prstGeom prst="rect">
              <a:avLst/>
            </a:prstGeom>
          </p:spPr>
        </p:pic>
        <p:pic>
          <p:nvPicPr>
            <p:cNvPr id="38" name="object 38">
              <a:extLst>
                <a:ext uri="{FF2B5EF4-FFF2-40B4-BE49-F238E27FC236}">
                  <a16:creationId xmlns:a16="http://schemas.microsoft.com/office/drawing/2014/main" id="{E8E840E9-585E-8942-52F9-48B7CA332A2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6524" y="4867275"/>
              <a:ext cx="133349" cy="95249"/>
            </a:xfrm>
            <a:prstGeom prst="rect">
              <a:avLst/>
            </a:prstGeom>
          </p:spPr>
        </p:pic>
        <p:pic>
          <p:nvPicPr>
            <p:cNvPr id="39" name="object 39">
              <a:extLst>
                <a:ext uri="{FF2B5EF4-FFF2-40B4-BE49-F238E27FC236}">
                  <a16:creationId xmlns:a16="http://schemas.microsoft.com/office/drawing/2014/main" id="{48292A05-B2A6-6BF3-B174-AEFBD630B3C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6524" y="5400675"/>
              <a:ext cx="133349" cy="95249"/>
            </a:xfrm>
            <a:prstGeom prst="rect">
              <a:avLst/>
            </a:prstGeom>
          </p:spPr>
        </p:pic>
      </p:grpSp>
      <p:sp>
        <p:nvSpPr>
          <p:cNvPr id="40" name="object 40">
            <a:extLst>
              <a:ext uri="{FF2B5EF4-FFF2-40B4-BE49-F238E27FC236}">
                <a16:creationId xmlns:a16="http://schemas.microsoft.com/office/drawing/2014/main" id="{E3C231FF-EB2E-33C0-7A8E-086452E5A28A}"/>
              </a:ext>
            </a:extLst>
          </p:cNvPr>
          <p:cNvSpPr txBox="1"/>
          <p:nvPr/>
        </p:nvSpPr>
        <p:spPr>
          <a:xfrm>
            <a:off x="6692909" y="4252169"/>
            <a:ext cx="5041889" cy="966611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3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정부가 자율제조 로드맵을 수립하고 전방위적 지원을 제공하는 등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조혁신 이 국가적 산업적 패러다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igm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전환의 핵심이 됨</a:t>
            </a:r>
            <a:endParaRPr sz="1350" dirty="0">
              <a:latin typeface="Malgun Gothic"/>
              <a:cs typeface="Malgun Gothic"/>
            </a:endParaRPr>
          </a:p>
          <a:p>
            <a:pPr marL="12700" marR="110478">
              <a:lnSpc>
                <a:spcPct val="111100"/>
              </a:lnSpc>
              <a:spcBef>
                <a:spcPts val="580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경쟁력 조기에 확보하는 것은 단순히 내부 효율성을 개선하는 것보다 더 중 요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0E86FD99-55C5-19AB-8C82-9175D42274EC}"/>
              </a:ext>
            </a:extLst>
          </p:cNvPr>
          <p:cNvSpPr txBox="1"/>
          <p:nvPr/>
        </p:nvSpPr>
        <p:spPr>
          <a:xfrm>
            <a:off x="6692899" y="5330062"/>
            <a:ext cx="3965575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기술적 해결책보다는 전략적 접근이 필요한 시점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2C095996-6C2B-6A99-2719-F1A57BD77CA9}"/>
              </a:ext>
            </a:extLst>
          </p:cNvPr>
          <p:cNvSpPr txBox="1"/>
          <p:nvPr/>
        </p:nvSpPr>
        <p:spPr>
          <a:xfrm>
            <a:off x="996950" y="6320662"/>
            <a:ext cx="10204450" cy="42896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전략적 결론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: </a:t>
            </a:r>
            <a:r>
              <a:rPr sz="1300" dirty="0">
                <a:solidFill>
                  <a:srgbClr val="374050"/>
                </a:solidFill>
                <a:latin typeface="Arial"/>
                <a:cs typeface="Arial"/>
              </a:rPr>
              <a:t>AI </a:t>
            </a:r>
            <a:r>
              <a:rPr sz="1350" dirty="0">
                <a:solidFill>
                  <a:srgbClr val="374050"/>
                </a:solidFill>
                <a:latin typeface="Malgun Gothic"/>
                <a:cs typeface="Malgun Gothic"/>
              </a:rPr>
              <a:t>도입은 대덕전자의 내부 효율성 개선뿐만 아니라 미래 시장에서의 생존권과 주도권을 확보하기 위한 필수적 전략이 되어야 합니다</a:t>
            </a:r>
            <a:r>
              <a:rPr sz="1300" dirty="0">
                <a:solidFill>
                  <a:srgbClr val="374050"/>
                </a:solidFill>
                <a:latin typeface="Arial"/>
                <a:cs typeface="Arial"/>
              </a:rPr>
              <a:t>.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43" name="object 26">
            <a:extLst>
              <a:ext uri="{FF2B5EF4-FFF2-40B4-BE49-F238E27FC236}">
                <a16:creationId xmlns:a16="http://schemas.microsoft.com/office/drawing/2014/main" id="{ACA2F314-7B4F-BDDA-7A54-79053F5C370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929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0CECEFE-27A0-ECC4-C6C6-1A3331AD00DD}"/>
              </a:ext>
            </a:extLst>
          </p:cNvPr>
          <p:cNvSpPr/>
          <p:nvPr/>
        </p:nvSpPr>
        <p:spPr>
          <a:xfrm>
            <a:off x="-1" y="2"/>
            <a:ext cx="12192001" cy="7200899"/>
          </a:xfrm>
          <a:custGeom>
            <a:avLst/>
            <a:gdLst/>
            <a:ahLst/>
            <a:cxnLst/>
            <a:rect l="l" t="t" r="r" b="b"/>
            <a:pathLst>
              <a:path w="12192000" h="7200900">
                <a:moveTo>
                  <a:pt x="12191999" y="7200899"/>
                </a:moveTo>
                <a:lnTo>
                  <a:pt x="0" y="72008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2008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>
            <a:extLst>
              <a:ext uri="{FF2B5EF4-FFF2-40B4-BE49-F238E27FC236}">
                <a16:creationId xmlns:a16="http://schemas.microsoft.com/office/drawing/2014/main" id="{81A411A9-E87A-9221-DF29-FDD057162C4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1" y="1142998"/>
            <a:ext cx="11277598" cy="24384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DBC37D0-52CF-97A6-405D-20A5D0B3EEB6}"/>
              </a:ext>
            </a:extLst>
          </p:cNvPr>
          <p:cNvSpPr txBox="1">
            <a:spLocks/>
          </p:cNvSpPr>
          <p:nvPr/>
        </p:nvSpPr>
        <p:spPr>
          <a:xfrm>
            <a:off x="437255" y="365411"/>
            <a:ext cx="750748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dirty="0"/>
              <a:t>핵심 통찰 및 전략적 방향성</a:t>
            </a: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D4DE99FD-2F1D-5EA6-102E-2BDEA83CFB9D}"/>
              </a:ext>
            </a:extLst>
          </p:cNvPr>
          <p:cNvGrpSpPr/>
          <p:nvPr/>
        </p:nvGrpSpPr>
        <p:grpSpPr>
          <a:xfrm>
            <a:off x="457198" y="3705224"/>
            <a:ext cx="5524500" cy="2933700"/>
            <a:chOff x="457199" y="3809999"/>
            <a:chExt cx="5524500" cy="293370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D3D3378-80AA-E367-900A-DA7C59A24D6A}"/>
                </a:ext>
              </a:extLst>
            </p:cNvPr>
            <p:cNvSpPr/>
            <p:nvPr/>
          </p:nvSpPr>
          <p:spPr>
            <a:xfrm>
              <a:off x="457199" y="3809999"/>
              <a:ext cx="5524500" cy="2933700"/>
            </a:xfrm>
            <a:custGeom>
              <a:avLst/>
              <a:gdLst/>
              <a:ahLst/>
              <a:cxnLst/>
              <a:rect l="l" t="t" r="r" b="b"/>
              <a:pathLst>
                <a:path w="5524500" h="2933700">
                  <a:moveTo>
                    <a:pt x="5453302" y="2933699"/>
                  </a:moveTo>
                  <a:lnTo>
                    <a:pt x="71196" y="2933699"/>
                  </a:lnTo>
                  <a:lnTo>
                    <a:pt x="66241" y="2933211"/>
                  </a:lnTo>
                  <a:lnTo>
                    <a:pt x="29705" y="2918077"/>
                  </a:lnTo>
                  <a:lnTo>
                    <a:pt x="3885" y="2882036"/>
                  </a:lnTo>
                  <a:lnTo>
                    <a:pt x="0" y="2862502"/>
                  </a:lnTo>
                  <a:lnTo>
                    <a:pt x="0" y="2857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53302" y="0"/>
                  </a:lnTo>
                  <a:lnTo>
                    <a:pt x="5494793" y="15621"/>
                  </a:lnTo>
                  <a:lnTo>
                    <a:pt x="5520612" y="51661"/>
                  </a:lnTo>
                  <a:lnTo>
                    <a:pt x="5524499" y="71196"/>
                  </a:lnTo>
                  <a:lnTo>
                    <a:pt x="5524499" y="2862502"/>
                  </a:lnTo>
                  <a:lnTo>
                    <a:pt x="5508876" y="2903992"/>
                  </a:lnTo>
                  <a:lnTo>
                    <a:pt x="5472837" y="2929813"/>
                  </a:lnTo>
                  <a:lnTo>
                    <a:pt x="5458257" y="2933211"/>
                  </a:lnTo>
                  <a:lnTo>
                    <a:pt x="5453302" y="2933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8B1EC01-454D-AD3C-5471-5DE3217413DB}"/>
                </a:ext>
              </a:extLst>
            </p:cNvPr>
            <p:cNvSpPr/>
            <p:nvPr/>
          </p:nvSpPr>
          <p:spPr>
            <a:xfrm>
              <a:off x="647699" y="40004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E5B6EAF6-D31F-DFE3-CE20-59164FDD7F2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474" y="4114799"/>
              <a:ext cx="171449" cy="152399"/>
            </a:xfrm>
            <a:prstGeom prst="rect">
              <a:avLst/>
            </a:prstGeom>
          </p:spPr>
        </p:pic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06903702-AFDB-B667-214A-742C520902AC}"/>
              </a:ext>
            </a:extLst>
          </p:cNvPr>
          <p:cNvSpPr txBox="1"/>
          <p:nvPr/>
        </p:nvSpPr>
        <p:spPr>
          <a:xfrm>
            <a:off x="1130302" y="3934464"/>
            <a:ext cx="4794888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품질관리</a:t>
            </a:r>
            <a:r>
              <a:rPr sz="1700" dirty="0">
                <a:solidFill>
                  <a:srgbClr val="374050"/>
                </a:solidFill>
                <a:latin typeface="Arial Black"/>
                <a:cs typeface="Arial Black"/>
              </a:rPr>
              <a:t>, </a:t>
            </a: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지식관리</a:t>
            </a:r>
            <a:r>
              <a:rPr sz="1700" dirty="0">
                <a:solidFill>
                  <a:srgbClr val="374050"/>
                </a:solidFill>
                <a:latin typeface="Arial Black"/>
                <a:cs typeface="Arial Black"/>
              </a:rPr>
              <a:t>, </a:t>
            </a: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디지털트윈의 유기적 연결성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C9D9225E-F9C0-A63A-8E08-82C0DE4FBBA5}"/>
              </a:ext>
            </a:extLst>
          </p:cNvPr>
          <p:cNvGrpSpPr/>
          <p:nvPr/>
        </p:nvGrpSpPr>
        <p:grpSpPr>
          <a:xfrm>
            <a:off x="647700" y="4429125"/>
            <a:ext cx="152399" cy="1869691"/>
            <a:chOff x="647699" y="4533899"/>
            <a:chExt cx="152399" cy="1869690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0495B991-E1DD-67CC-65C7-9809694571F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" y="4533899"/>
              <a:ext cx="152399" cy="152399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FA6338DC-193F-54E6-C5BE-6882D295206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" y="5067299"/>
              <a:ext cx="152399" cy="152399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91C6946D-ECDC-DF2A-82CF-C7BBF6B2007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" y="5600699"/>
              <a:ext cx="152399" cy="152399"/>
            </a:xfrm>
            <a:prstGeom prst="rect">
              <a:avLst/>
            </a:prstGeom>
          </p:spPr>
        </p:pic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59B04D4C-5595-6AAF-028A-F7F78ABDDC1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" y="6251190"/>
              <a:ext cx="152399" cy="152399"/>
            </a:xfrm>
            <a:prstGeom prst="rect">
              <a:avLst/>
            </a:prstGeom>
          </p:spPr>
        </p:pic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8B756F81-1A40-7BC8-46E5-8D18BE714729}"/>
              </a:ext>
            </a:extLst>
          </p:cNvPr>
          <p:cNvSpPr txBox="1"/>
          <p:nvPr/>
        </p:nvSpPr>
        <p:spPr>
          <a:xfrm>
            <a:off x="863605" y="4365148"/>
            <a:ext cx="4832985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각 요소는 독립적인 점이 아닌 하나의 유기적인 시스템을 구성하는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선으로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연결되어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있음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2472F04-4C6E-D189-918A-DC6A30C59686}"/>
              </a:ext>
            </a:extLst>
          </p:cNvPr>
          <p:cNvSpPr txBox="1"/>
          <p:nvPr/>
        </p:nvSpPr>
        <p:spPr>
          <a:xfrm>
            <a:off x="863600" y="4898542"/>
            <a:ext cx="4899660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지식 그래프는 산재된 제조 데이터와 전문가의 노하우를 통합하여 품질관리의 근본원인 분석을 지원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1205A86-66AB-4A64-DE36-02A1C303A25E}"/>
              </a:ext>
            </a:extLst>
          </p:cNvPr>
          <p:cNvSpPr txBox="1"/>
          <p:nvPr/>
        </p:nvSpPr>
        <p:spPr>
          <a:xfrm>
            <a:off x="863600" y="5431942"/>
            <a:ext cx="4937760" cy="68403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디지털 트윈은 이러한 온톨로지 기반의 지식 체계위에 구축되어 물리적 공장과 가상세계가 의미적으로 연결된 정교한 시뮬레이션을 가능하게 함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2C92531-B5B0-550F-CC39-83014ED97587}"/>
              </a:ext>
            </a:extLst>
          </p:cNvPr>
          <p:cNvSpPr txBox="1"/>
          <p:nvPr/>
        </p:nvSpPr>
        <p:spPr>
          <a:xfrm>
            <a:off x="863600" y="6128517"/>
            <a:ext cx="4832985" cy="455767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제조공정의 운영철학을 수동에서 자동화</a:t>
            </a:r>
            <a:r>
              <a:rPr sz="140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예측</a:t>
            </a:r>
            <a:r>
              <a:rPr sz="140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자율로 전환하는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근본적인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패러다</a:t>
            </a:r>
            <a:r>
              <a:rPr lang="ko-KR" altLang="en-US" sz="1401" dirty="0">
                <a:solidFill>
                  <a:srgbClr val="4A5462"/>
                </a:solidFill>
                <a:latin typeface="Microsoft Sans Serif"/>
                <a:cs typeface="Microsoft Sans Serif"/>
              </a:rPr>
              <a:t>임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변화가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필요</a:t>
            </a:r>
            <a:endParaRPr sz="1350" dirty="0">
              <a:latin typeface="Malgun Gothic"/>
              <a:cs typeface="Malgun Gothic"/>
            </a:endParaRPr>
          </a:p>
        </p:txBody>
      </p:sp>
      <p:grpSp>
        <p:nvGrpSpPr>
          <p:cNvPr id="19" name="object 19">
            <a:extLst>
              <a:ext uri="{FF2B5EF4-FFF2-40B4-BE49-F238E27FC236}">
                <a16:creationId xmlns:a16="http://schemas.microsoft.com/office/drawing/2014/main" id="{9074C7CE-4888-0B21-609C-B87A8D951F69}"/>
              </a:ext>
            </a:extLst>
          </p:cNvPr>
          <p:cNvGrpSpPr/>
          <p:nvPr/>
        </p:nvGrpSpPr>
        <p:grpSpPr>
          <a:xfrm>
            <a:off x="6210298" y="3705224"/>
            <a:ext cx="5524500" cy="2933700"/>
            <a:chOff x="6210298" y="3809999"/>
            <a:chExt cx="5524500" cy="2933700"/>
          </a:xfrm>
        </p:grpSpPr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C09CF60A-91F6-BC56-020F-69D603CF9C5B}"/>
                </a:ext>
              </a:extLst>
            </p:cNvPr>
            <p:cNvSpPr/>
            <p:nvPr/>
          </p:nvSpPr>
          <p:spPr>
            <a:xfrm>
              <a:off x="6210298" y="3809999"/>
              <a:ext cx="5524500" cy="2933700"/>
            </a:xfrm>
            <a:custGeom>
              <a:avLst/>
              <a:gdLst/>
              <a:ahLst/>
              <a:cxnLst/>
              <a:rect l="l" t="t" r="r" b="b"/>
              <a:pathLst>
                <a:path w="5524500" h="2933700">
                  <a:moveTo>
                    <a:pt x="5453303" y="2933699"/>
                  </a:moveTo>
                  <a:lnTo>
                    <a:pt x="71196" y="2933699"/>
                  </a:lnTo>
                  <a:lnTo>
                    <a:pt x="66241" y="2933211"/>
                  </a:lnTo>
                  <a:lnTo>
                    <a:pt x="29705" y="2918077"/>
                  </a:lnTo>
                  <a:lnTo>
                    <a:pt x="3885" y="2882036"/>
                  </a:lnTo>
                  <a:lnTo>
                    <a:pt x="0" y="2862502"/>
                  </a:lnTo>
                  <a:lnTo>
                    <a:pt x="0" y="2857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53303" y="0"/>
                  </a:lnTo>
                  <a:lnTo>
                    <a:pt x="5494792" y="15621"/>
                  </a:lnTo>
                  <a:lnTo>
                    <a:pt x="5520613" y="51661"/>
                  </a:lnTo>
                  <a:lnTo>
                    <a:pt x="5524500" y="71196"/>
                  </a:lnTo>
                  <a:lnTo>
                    <a:pt x="5524500" y="2862502"/>
                  </a:lnTo>
                  <a:lnTo>
                    <a:pt x="5508876" y="2903992"/>
                  </a:lnTo>
                  <a:lnTo>
                    <a:pt x="5472837" y="2929813"/>
                  </a:lnTo>
                  <a:lnTo>
                    <a:pt x="5458258" y="2933211"/>
                  </a:lnTo>
                  <a:lnTo>
                    <a:pt x="5453303" y="2933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50FD0D98-10B8-6E59-8455-E7000561B3B4}"/>
                </a:ext>
              </a:extLst>
            </p:cNvPr>
            <p:cNvSpPr/>
            <p:nvPr/>
          </p:nvSpPr>
          <p:spPr>
            <a:xfrm>
              <a:off x="6400799" y="40004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6" y="27095"/>
                  </a:lnTo>
                  <a:lnTo>
                    <a:pt x="325202" y="55796"/>
                  </a:lnTo>
                  <a:lnTo>
                    <a:pt x="353902" y="92572"/>
                  </a:lnTo>
                  <a:lnTo>
                    <a:pt x="372798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8" y="245799"/>
                  </a:lnTo>
                  <a:lnTo>
                    <a:pt x="353902" y="288426"/>
                  </a:lnTo>
                  <a:lnTo>
                    <a:pt x="325202" y="325203"/>
                  </a:lnTo>
                  <a:lnTo>
                    <a:pt x="288426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id="{75DC0067-814F-FE6C-A4F7-1B42503A77E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24624" y="4114799"/>
              <a:ext cx="133349" cy="152399"/>
            </a:xfrm>
            <a:prstGeom prst="rect">
              <a:avLst/>
            </a:prstGeom>
          </p:spPr>
        </p:pic>
      </p:grpSp>
      <p:sp>
        <p:nvSpPr>
          <p:cNvPr id="23" name="object 23">
            <a:extLst>
              <a:ext uri="{FF2B5EF4-FFF2-40B4-BE49-F238E27FC236}">
                <a16:creationId xmlns:a16="http://schemas.microsoft.com/office/drawing/2014/main" id="{0B10F841-1A7A-2005-E50A-D290CEDF69F3}"/>
              </a:ext>
            </a:extLst>
          </p:cNvPr>
          <p:cNvSpPr txBox="1"/>
          <p:nvPr/>
        </p:nvSpPr>
        <p:spPr>
          <a:xfrm>
            <a:off x="6883400" y="3934467"/>
            <a:ext cx="3972311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오픈소스 기술 채택의 전략적 중요성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24" name="object 24">
            <a:extLst>
              <a:ext uri="{FF2B5EF4-FFF2-40B4-BE49-F238E27FC236}">
                <a16:creationId xmlns:a16="http://schemas.microsoft.com/office/drawing/2014/main" id="{5444B462-D9BA-2E3A-B9F6-7301C49A65CF}"/>
              </a:ext>
            </a:extLst>
          </p:cNvPr>
          <p:cNvGrpSpPr/>
          <p:nvPr/>
        </p:nvGrpSpPr>
        <p:grpSpPr>
          <a:xfrm>
            <a:off x="6400800" y="4429125"/>
            <a:ext cx="152400" cy="1752601"/>
            <a:chOff x="6400799" y="4533899"/>
            <a:chExt cx="152400" cy="1752600"/>
          </a:xfrm>
        </p:grpSpPr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10B93E82-396D-B637-064E-CB7CAE50128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799" y="4533899"/>
              <a:ext cx="152399" cy="152399"/>
            </a:xfrm>
            <a:prstGeom prst="rect">
              <a:avLst/>
            </a:prstGeom>
          </p:spPr>
        </p:pic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EF8668D9-CEF7-33E7-F558-A6374AAC4C3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799" y="5067299"/>
              <a:ext cx="152399" cy="152399"/>
            </a:xfrm>
            <a:prstGeom prst="rect">
              <a:avLst/>
            </a:prstGeom>
          </p:spPr>
        </p:pic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11769125-2103-B7B9-C474-5C6B7CA8E9A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799" y="5600699"/>
              <a:ext cx="152399" cy="152399"/>
            </a:xfrm>
            <a:prstGeom prst="rect">
              <a:avLst/>
            </a:prstGeom>
          </p:spPr>
        </p:pic>
        <p:pic>
          <p:nvPicPr>
            <p:cNvPr id="28" name="object 28">
              <a:extLst>
                <a:ext uri="{FF2B5EF4-FFF2-40B4-BE49-F238E27FC236}">
                  <a16:creationId xmlns:a16="http://schemas.microsoft.com/office/drawing/2014/main" id="{114C2702-A2BF-0BFD-2690-FEE669A2356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799" y="6134099"/>
              <a:ext cx="152399" cy="152399"/>
            </a:xfrm>
            <a:prstGeom prst="rect">
              <a:avLst/>
            </a:prstGeom>
          </p:spPr>
        </p:pic>
      </p:grpSp>
      <p:sp>
        <p:nvSpPr>
          <p:cNvPr id="29" name="object 29">
            <a:extLst>
              <a:ext uri="{FF2B5EF4-FFF2-40B4-BE49-F238E27FC236}">
                <a16:creationId xmlns:a16="http://schemas.microsoft.com/office/drawing/2014/main" id="{E9282BCA-D2C0-CEEF-5019-78AB249612D6}"/>
              </a:ext>
            </a:extLst>
          </p:cNvPr>
          <p:cNvSpPr txBox="1"/>
          <p:nvPr/>
        </p:nvSpPr>
        <p:spPr>
          <a:xfrm>
            <a:off x="6616701" y="4365150"/>
            <a:ext cx="4937760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단순히 라이선스 비용을 절감하기 위한 재무적 결정이 아니라 기업의 장기적인 경쟁력을 확보하기 위한 전략적 선택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6A481B30-CB76-8C19-64C6-614F36DE6CC6}"/>
              </a:ext>
            </a:extLst>
          </p:cNvPr>
          <p:cNvSpPr txBox="1"/>
          <p:nvPr/>
        </p:nvSpPr>
        <p:spPr>
          <a:xfrm>
            <a:off x="6616700" y="4898542"/>
            <a:ext cx="4832985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독점 솔루션은 특정 벤더에 대한 기술적 종속성을 야기하여 기술 변화에 대한 신속한 대응이나 맞춤화가 어려움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C78CF46A-AD43-48BC-F420-CF769128AF37}"/>
              </a:ext>
            </a:extLst>
          </p:cNvPr>
          <p:cNvSpPr txBox="1"/>
          <p:nvPr/>
        </p:nvSpPr>
        <p:spPr>
          <a:xfrm>
            <a:off x="6616700" y="5431942"/>
            <a:ext cx="4899660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소스코드에 대한 접근권한을 제공하여 내부 기술진이 시스템을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자유롭게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수정하고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최적화할 수 있는 탁월한 유연성을 보장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92E374BA-1318-59EE-1409-B10D32ACAE03}"/>
              </a:ext>
            </a:extLst>
          </p:cNvPr>
          <p:cNvSpPr txBox="1"/>
          <p:nvPr/>
        </p:nvSpPr>
        <p:spPr>
          <a:xfrm>
            <a:off x="6616700" y="5958538"/>
            <a:ext cx="4880610" cy="460383"/>
          </a:xfrm>
          <a:prstGeom prst="rect">
            <a:avLst/>
          </a:prstGeom>
        </p:spPr>
        <p:txBody>
          <a:bodyPr vert="horz" wrap="square" lIns="0" tIns="13971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10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로컬 </a:t>
            </a:r>
            <a:r>
              <a:rPr sz="1401" dirty="0">
                <a:solidFill>
                  <a:srgbClr val="4A5462"/>
                </a:solidFill>
                <a:latin typeface="Microsoft Sans Serif"/>
                <a:cs typeface="Microsoft Sans Serif"/>
              </a:rPr>
              <a:t>LLM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엔진을 활용하면 민감한 내부 데이터를 외부로 전송할 필요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없이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데이터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주권을 확보하고 보안 위험을 최소화</a:t>
            </a:r>
            <a:endParaRPr sz="1350" dirty="0">
              <a:latin typeface="Malgun Gothic"/>
              <a:cs typeface="Malgun Gothic"/>
            </a:endParaRPr>
          </a:p>
        </p:txBody>
      </p:sp>
      <p:grpSp>
        <p:nvGrpSpPr>
          <p:cNvPr id="33" name="object 33">
            <a:extLst>
              <a:ext uri="{FF2B5EF4-FFF2-40B4-BE49-F238E27FC236}">
                <a16:creationId xmlns:a16="http://schemas.microsoft.com/office/drawing/2014/main" id="{9ED95C3B-119A-69BF-49FE-55C2DCDA233A}"/>
              </a:ext>
            </a:extLst>
          </p:cNvPr>
          <p:cNvGrpSpPr/>
          <p:nvPr/>
        </p:nvGrpSpPr>
        <p:grpSpPr>
          <a:xfrm>
            <a:off x="1380494" y="1333813"/>
            <a:ext cx="1828800" cy="1104901"/>
            <a:chOff x="3276599" y="1295399"/>
            <a:chExt cx="1828800" cy="1104900"/>
          </a:xfrm>
        </p:grpSpPr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3DBD01C1-E115-74B4-EC3C-B4EE6E262403}"/>
                </a:ext>
              </a:extLst>
            </p:cNvPr>
            <p:cNvSpPr/>
            <p:nvPr/>
          </p:nvSpPr>
          <p:spPr>
            <a:xfrm>
              <a:off x="3276599" y="1295399"/>
              <a:ext cx="1828800" cy="1104900"/>
            </a:xfrm>
            <a:custGeom>
              <a:avLst/>
              <a:gdLst/>
              <a:ahLst/>
              <a:cxnLst/>
              <a:rect l="l" t="t" r="r" b="b"/>
              <a:pathLst>
                <a:path w="1828800" h="1104900">
                  <a:moveTo>
                    <a:pt x="1757603" y="1104899"/>
                  </a:moveTo>
                  <a:lnTo>
                    <a:pt x="71196" y="1104899"/>
                  </a:lnTo>
                  <a:lnTo>
                    <a:pt x="66241" y="1104411"/>
                  </a:lnTo>
                  <a:lnTo>
                    <a:pt x="29705" y="1089277"/>
                  </a:lnTo>
                  <a:lnTo>
                    <a:pt x="3885" y="1053237"/>
                  </a:lnTo>
                  <a:lnTo>
                    <a:pt x="0" y="1033703"/>
                  </a:lnTo>
                  <a:lnTo>
                    <a:pt x="0" y="1028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757603" y="0"/>
                  </a:lnTo>
                  <a:lnTo>
                    <a:pt x="1799093" y="15621"/>
                  </a:lnTo>
                  <a:lnTo>
                    <a:pt x="1824914" y="51661"/>
                  </a:lnTo>
                  <a:lnTo>
                    <a:pt x="1828799" y="71196"/>
                  </a:lnTo>
                  <a:lnTo>
                    <a:pt x="1828799" y="1033703"/>
                  </a:lnTo>
                  <a:lnTo>
                    <a:pt x="1813177" y="1075194"/>
                  </a:lnTo>
                  <a:lnTo>
                    <a:pt x="1777137" y="1101013"/>
                  </a:lnTo>
                  <a:lnTo>
                    <a:pt x="1762557" y="1104411"/>
                  </a:lnTo>
                  <a:lnTo>
                    <a:pt x="1757603" y="1104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>
              <a:extLst>
                <a:ext uri="{FF2B5EF4-FFF2-40B4-BE49-F238E27FC236}">
                  <a16:creationId xmlns:a16="http://schemas.microsoft.com/office/drawing/2014/main" id="{820AF07D-6363-245F-1093-C30E422630F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76699" y="1447799"/>
              <a:ext cx="228599" cy="304799"/>
            </a:xfrm>
            <a:prstGeom prst="rect">
              <a:avLst/>
            </a:prstGeom>
          </p:spPr>
        </p:pic>
      </p:grpSp>
      <p:sp>
        <p:nvSpPr>
          <p:cNvPr id="36" name="object 36">
            <a:extLst>
              <a:ext uri="{FF2B5EF4-FFF2-40B4-BE49-F238E27FC236}">
                <a16:creationId xmlns:a16="http://schemas.microsoft.com/office/drawing/2014/main" id="{BEE1732A-55FF-780C-D833-DD9F682B8177}"/>
              </a:ext>
            </a:extLst>
          </p:cNvPr>
          <p:cNvSpPr txBox="1"/>
          <p:nvPr/>
        </p:nvSpPr>
        <p:spPr>
          <a:xfrm>
            <a:off x="1512892" y="1820114"/>
            <a:ext cx="1696402" cy="488082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algn="ctr">
              <a:spcBef>
                <a:spcPts val="584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지능형 품질관리</a:t>
            </a:r>
            <a:endParaRPr sz="1350" dirty="0">
              <a:latin typeface="Malgun Gothic"/>
              <a:cs typeface="Malgun Gothic"/>
            </a:endParaRPr>
          </a:p>
          <a:p>
            <a:pPr algn="ctr">
              <a:spcBef>
                <a:spcPts val="379"/>
              </a:spcBef>
            </a:pP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AI 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비전 검사 </a:t>
            </a: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&amp; 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예측 유지보수</a:t>
            </a:r>
            <a:endParaRPr sz="1001" dirty="0">
              <a:latin typeface="Malgun Gothic"/>
              <a:cs typeface="Malgun Gothic"/>
            </a:endParaRPr>
          </a:p>
        </p:txBody>
      </p:sp>
      <p:grpSp>
        <p:nvGrpSpPr>
          <p:cNvPr id="37" name="object 37">
            <a:extLst>
              <a:ext uri="{FF2B5EF4-FFF2-40B4-BE49-F238E27FC236}">
                <a16:creationId xmlns:a16="http://schemas.microsoft.com/office/drawing/2014/main" id="{886F7C9E-62EB-0585-206E-7DBBC1060778}"/>
              </a:ext>
            </a:extLst>
          </p:cNvPr>
          <p:cNvGrpSpPr/>
          <p:nvPr/>
        </p:nvGrpSpPr>
        <p:grpSpPr>
          <a:xfrm>
            <a:off x="9380116" y="1333813"/>
            <a:ext cx="1828800" cy="1104901"/>
            <a:chOff x="7086599" y="1295399"/>
            <a:chExt cx="1828800" cy="1104900"/>
          </a:xfrm>
        </p:grpSpPr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00B937C6-6486-09E9-CC06-6FDF46298628}"/>
                </a:ext>
              </a:extLst>
            </p:cNvPr>
            <p:cNvSpPr/>
            <p:nvPr/>
          </p:nvSpPr>
          <p:spPr>
            <a:xfrm>
              <a:off x="7086599" y="1295399"/>
              <a:ext cx="1828800" cy="1104900"/>
            </a:xfrm>
            <a:custGeom>
              <a:avLst/>
              <a:gdLst/>
              <a:ahLst/>
              <a:cxnLst/>
              <a:rect l="l" t="t" r="r" b="b"/>
              <a:pathLst>
                <a:path w="1828800" h="1104900">
                  <a:moveTo>
                    <a:pt x="1757602" y="1104899"/>
                  </a:moveTo>
                  <a:lnTo>
                    <a:pt x="71196" y="1104899"/>
                  </a:lnTo>
                  <a:lnTo>
                    <a:pt x="66240" y="1104411"/>
                  </a:lnTo>
                  <a:lnTo>
                    <a:pt x="29704" y="1089277"/>
                  </a:lnTo>
                  <a:lnTo>
                    <a:pt x="3884" y="1053237"/>
                  </a:lnTo>
                  <a:lnTo>
                    <a:pt x="0" y="1033703"/>
                  </a:lnTo>
                  <a:lnTo>
                    <a:pt x="0" y="1028699"/>
                  </a:lnTo>
                  <a:lnTo>
                    <a:pt x="0" y="71196"/>
                  </a:lnTo>
                  <a:lnTo>
                    <a:pt x="15620" y="29705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1757602" y="0"/>
                  </a:lnTo>
                  <a:lnTo>
                    <a:pt x="1799093" y="15621"/>
                  </a:lnTo>
                  <a:lnTo>
                    <a:pt x="1824912" y="51661"/>
                  </a:lnTo>
                  <a:lnTo>
                    <a:pt x="1828799" y="71196"/>
                  </a:lnTo>
                  <a:lnTo>
                    <a:pt x="1828799" y="1033703"/>
                  </a:lnTo>
                  <a:lnTo>
                    <a:pt x="1813176" y="1075194"/>
                  </a:lnTo>
                  <a:lnTo>
                    <a:pt x="1777136" y="1101013"/>
                  </a:lnTo>
                  <a:lnTo>
                    <a:pt x="1762557" y="1104411"/>
                  </a:lnTo>
                  <a:lnTo>
                    <a:pt x="1757602" y="1104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>
              <a:extLst>
                <a:ext uri="{FF2B5EF4-FFF2-40B4-BE49-F238E27FC236}">
                  <a16:creationId xmlns:a16="http://schemas.microsoft.com/office/drawing/2014/main" id="{10EE2756-D689-956B-0F4E-B0CBCA21AD6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86699" y="1447799"/>
              <a:ext cx="228599" cy="304799"/>
            </a:xfrm>
            <a:prstGeom prst="rect">
              <a:avLst/>
            </a:prstGeom>
          </p:spPr>
        </p:pic>
      </p:grpSp>
      <p:sp>
        <p:nvSpPr>
          <p:cNvPr id="40" name="object 40">
            <a:extLst>
              <a:ext uri="{FF2B5EF4-FFF2-40B4-BE49-F238E27FC236}">
                <a16:creationId xmlns:a16="http://schemas.microsoft.com/office/drawing/2014/main" id="{0305C47E-7DB8-DAB1-AA31-A49042CAB2C0}"/>
              </a:ext>
            </a:extLst>
          </p:cNvPr>
          <p:cNvSpPr txBox="1"/>
          <p:nvPr/>
        </p:nvSpPr>
        <p:spPr>
          <a:xfrm>
            <a:off x="9594429" y="1853638"/>
            <a:ext cx="1828800" cy="488082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6667">
              <a:spcBef>
                <a:spcPts val="584"/>
              </a:spcBef>
            </a:pPr>
            <a:r>
              <a:rPr sz="1300" b="1" dirty="0">
                <a:solidFill>
                  <a:srgbClr val="374050"/>
                </a:solidFill>
                <a:latin typeface="Trebuchet MS"/>
                <a:cs typeface="Trebuchet MS"/>
              </a:rPr>
              <a:t>AI 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기반 지식관리</a:t>
            </a:r>
            <a:endParaRPr sz="1350" dirty="0">
              <a:latin typeface="Malgun Gothic"/>
              <a:cs typeface="Malgun Gothic"/>
            </a:endParaRPr>
          </a:p>
          <a:p>
            <a:pPr marL="12700">
              <a:spcBef>
                <a:spcPts val="379"/>
              </a:spcBef>
            </a:pP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온톨로지 </a:t>
            </a: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&amp; 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지식 그래프</a:t>
            </a:r>
            <a:endParaRPr sz="1001" dirty="0">
              <a:latin typeface="Malgun Gothic"/>
              <a:cs typeface="Malgun Gothic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2F36CA94-7952-A34B-D4EF-BE562C7B8E19}"/>
              </a:ext>
            </a:extLst>
          </p:cNvPr>
          <p:cNvSpPr/>
          <p:nvPr/>
        </p:nvSpPr>
        <p:spPr>
          <a:xfrm>
            <a:off x="5181600" y="2476499"/>
            <a:ext cx="1828800" cy="1104900"/>
          </a:xfrm>
          <a:custGeom>
            <a:avLst/>
            <a:gdLst/>
            <a:ahLst/>
            <a:cxnLst/>
            <a:rect l="l" t="t" r="r" b="b"/>
            <a:pathLst>
              <a:path w="1828800" h="1104900">
                <a:moveTo>
                  <a:pt x="1757603" y="1104899"/>
                </a:moveTo>
                <a:lnTo>
                  <a:pt x="71196" y="1104899"/>
                </a:lnTo>
                <a:lnTo>
                  <a:pt x="66241" y="1104411"/>
                </a:lnTo>
                <a:lnTo>
                  <a:pt x="29705" y="1089277"/>
                </a:lnTo>
                <a:lnTo>
                  <a:pt x="3885" y="1053237"/>
                </a:lnTo>
                <a:lnTo>
                  <a:pt x="0" y="1033703"/>
                </a:lnTo>
                <a:lnTo>
                  <a:pt x="0" y="10286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757603" y="0"/>
                </a:lnTo>
                <a:lnTo>
                  <a:pt x="1799094" y="15621"/>
                </a:lnTo>
                <a:lnTo>
                  <a:pt x="1824913" y="51661"/>
                </a:lnTo>
                <a:lnTo>
                  <a:pt x="1828799" y="71196"/>
                </a:lnTo>
                <a:lnTo>
                  <a:pt x="1828799" y="1033703"/>
                </a:lnTo>
                <a:lnTo>
                  <a:pt x="1813178" y="1075194"/>
                </a:lnTo>
                <a:lnTo>
                  <a:pt x="1777137" y="1101013"/>
                </a:lnTo>
                <a:lnTo>
                  <a:pt x="1762558" y="1104411"/>
                </a:lnTo>
                <a:lnTo>
                  <a:pt x="1757603" y="1104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>
            <a:extLst>
              <a:ext uri="{FF2B5EF4-FFF2-40B4-BE49-F238E27FC236}">
                <a16:creationId xmlns:a16="http://schemas.microsoft.com/office/drawing/2014/main" id="{59E18AB3-2F46-2E67-2014-F550005CB92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81700" y="2628899"/>
            <a:ext cx="228599" cy="304799"/>
          </a:xfrm>
          <a:prstGeom prst="rect">
            <a:avLst/>
          </a:prstGeom>
        </p:spPr>
      </p:pic>
      <p:sp>
        <p:nvSpPr>
          <p:cNvPr id="45" name="object 45">
            <a:extLst>
              <a:ext uri="{FF2B5EF4-FFF2-40B4-BE49-F238E27FC236}">
                <a16:creationId xmlns:a16="http://schemas.microsoft.com/office/drawing/2014/main" id="{DBADA0E8-CEA5-F48A-F525-7A01D76B190C}"/>
              </a:ext>
            </a:extLst>
          </p:cNvPr>
          <p:cNvSpPr/>
          <p:nvPr/>
        </p:nvSpPr>
        <p:spPr>
          <a:xfrm>
            <a:off x="5801360" y="1988636"/>
            <a:ext cx="599440" cy="666145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599" y="1219199"/>
                </a:moveTo>
                <a:lnTo>
                  <a:pt x="564759" y="1217548"/>
                </a:lnTo>
                <a:lnTo>
                  <a:pt x="520152" y="1212602"/>
                </a:lnTo>
                <a:lnTo>
                  <a:pt x="476031" y="1204387"/>
                </a:lnTo>
                <a:lnTo>
                  <a:pt x="432642" y="1192950"/>
                </a:lnTo>
                <a:lnTo>
                  <a:pt x="390212" y="1178354"/>
                </a:lnTo>
                <a:lnTo>
                  <a:pt x="348962" y="1160672"/>
                </a:lnTo>
                <a:lnTo>
                  <a:pt x="309125" y="1140002"/>
                </a:lnTo>
                <a:lnTo>
                  <a:pt x="270924" y="1116463"/>
                </a:lnTo>
                <a:lnTo>
                  <a:pt x="234558" y="1090178"/>
                </a:lnTo>
                <a:lnTo>
                  <a:pt x="200217" y="1061284"/>
                </a:lnTo>
                <a:lnTo>
                  <a:pt x="168095" y="1029940"/>
                </a:lnTo>
                <a:lnTo>
                  <a:pt x="138372" y="996326"/>
                </a:lnTo>
                <a:lnTo>
                  <a:pt x="111202" y="960616"/>
                </a:lnTo>
                <a:lnTo>
                  <a:pt x="86728" y="922997"/>
                </a:lnTo>
                <a:lnTo>
                  <a:pt x="65088" y="883679"/>
                </a:lnTo>
                <a:lnTo>
                  <a:pt x="46403" y="842883"/>
                </a:lnTo>
                <a:lnTo>
                  <a:pt x="30768" y="800824"/>
                </a:lnTo>
                <a:lnTo>
                  <a:pt x="18268" y="757720"/>
                </a:lnTo>
                <a:lnTo>
                  <a:pt x="8973" y="713813"/>
                </a:lnTo>
                <a:lnTo>
                  <a:pt x="2935" y="669351"/>
                </a:lnTo>
                <a:lnTo>
                  <a:pt x="183" y="624564"/>
                </a:lnTo>
                <a:lnTo>
                  <a:pt x="0" y="609599"/>
                </a:lnTo>
                <a:lnTo>
                  <a:pt x="183" y="594635"/>
                </a:lnTo>
                <a:lnTo>
                  <a:pt x="2935" y="549848"/>
                </a:lnTo>
                <a:lnTo>
                  <a:pt x="8973" y="505385"/>
                </a:lnTo>
                <a:lnTo>
                  <a:pt x="18268" y="461479"/>
                </a:lnTo>
                <a:lnTo>
                  <a:pt x="30768" y="418375"/>
                </a:lnTo>
                <a:lnTo>
                  <a:pt x="46403" y="376316"/>
                </a:lnTo>
                <a:lnTo>
                  <a:pt x="65088" y="335520"/>
                </a:lnTo>
                <a:lnTo>
                  <a:pt x="86728" y="296202"/>
                </a:lnTo>
                <a:lnTo>
                  <a:pt x="111202" y="258583"/>
                </a:lnTo>
                <a:lnTo>
                  <a:pt x="138372" y="222873"/>
                </a:lnTo>
                <a:lnTo>
                  <a:pt x="168095" y="189259"/>
                </a:lnTo>
                <a:lnTo>
                  <a:pt x="200217" y="157915"/>
                </a:lnTo>
                <a:lnTo>
                  <a:pt x="234558" y="129021"/>
                </a:lnTo>
                <a:lnTo>
                  <a:pt x="270924" y="102736"/>
                </a:lnTo>
                <a:lnTo>
                  <a:pt x="309125" y="79196"/>
                </a:lnTo>
                <a:lnTo>
                  <a:pt x="348962" y="58527"/>
                </a:lnTo>
                <a:lnTo>
                  <a:pt x="390212" y="40845"/>
                </a:lnTo>
                <a:lnTo>
                  <a:pt x="432642" y="26249"/>
                </a:lnTo>
                <a:lnTo>
                  <a:pt x="476031" y="14812"/>
                </a:lnTo>
                <a:lnTo>
                  <a:pt x="520152" y="6597"/>
                </a:lnTo>
                <a:lnTo>
                  <a:pt x="564759" y="1651"/>
                </a:lnTo>
                <a:lnTo>
                  <a:pt x="609599" y="0"/>
                </a:lnTo>
                <a:lnTo>
                  <a:pt x="624564" y="183"/>
                </a:lnTo>
                <a:lnTo>
                  <a:pt x="669351" y="2935"/>
                </a:lnTo>
                <a:lnTo>
                  <a:pt x="713813" y="8973"/>
                </a:lnTo>
                <a:lnTo>
                  <a:pt x="757720" y="18268"/>
                </a:lnTo>
                <a:lnTo>
                  <a:pt x="800824" y="30768"/>
                </a:lnTo>
                <a:lnTo>
                  <a:pt x="842883" y="46403"/>
                </a:lnTo>
                <a:lnTo>
                  <a:pt x="883679" y="65088"/>
                </a:lnTo>
                <a:lnTo>
                  <a:pt x="922997" y="86728"/>
                </a:lnTo>
                <a:lnTo>
                  <a:pt x="960616" y="111202"/>
                </a:lnTo>
                <a:lnTo>
                  <a:pt x="996326" y="138372"/>
                </a:lnTo>
                <a:lnTo>
                  <a:pt x="1029940" y="168095"/>
                </a:lnTo>
                <a:lnTo>
                  <a:pt x="1061284" y="200217"/>
                </a:lnTo>
                <a:lnTo>
                  <a:pt x="1090178" y="234558"/>
                </a:lnTo>
                <a:lnTo>
                  <a:pt x="1116463" y="270924"/>
                </a:lnTo>
                <a:lnTo>
                  <a:pt x="1140002" y="309125"/>
                </a:lnTo>
                <a:lnTo>
                  <a:pt x="1160672" y="348962"/>
                </a:lnTo>
                <a:lnTo>
                  <a:pt x="1178354" y="390212"/>
                </a:lnTo>
                <a:lnTo>
                  <a:pt x="1192950" y="432642"/>
                </a:lnTo>
                <a:lnTo>
                  <a:pt x="1204387" y="476031"/>
                </a:lnTo>
                <a:lnTo>
                  <a:pt x="1212602" y="520152"/>
                </a:lnTo>
                <a:lnTo>
                  <a:pt x="1217548" y="564759"/>
                </a:lnTo>
                <a:lnTo>
                  <a:pt x="1219199" y="609599"/>
                </a:lnTo>
                <a:lnTo>
                  <a:pt x="1219016" y="624564"/>
                </a:lnTo>
                <a:lnTo>
                  <a:pt x="1216264" y="669351"/>
                </a:lnTo>
                <a:lnTo>
                  <a:pt x="1210226" y="713813"/>
                </a:lnTo>
                <a:lnTo>
                  <a:pt x="1200931" y="757720"/>
                </a:lnTo>
                <a:lnTo>
                  <a:pt x="1188431" y="800824"/>
                </a:lnTo>
                <a:lnTo>
                  <a:pt x="1172796" y="842883"/>
                </a:lnTo>
                <a:lnTo>
                  <a:pt x="1154111" y="883679"/>
                </a:lnTo>
                <a:lnTo>
                  <a:pt x="1132471" y="922997"/>
                </a:lnTo>
                <a:lnTo>
                  <a:pt x="1107997" y="960616"/>
                </a:lnTo>
                <a:lnTo>
                  <a:pt x="1080827" y="996326"/>
                </a:lnTo>
                <a:lnTo>
                  <a:pt x="1051104" y="1029940"/>
                </a:lnTo>
                <a:lnTo>
                  <a:pt x="1018982" y="1061284"/>
                </a:lnTo>
                <a:lnTo>
                  <a:pt x="984641" y="1090178"/>
                </a:lnTo>
                <a:lnTo>
                  <a:pt x="948275" y="1116463"/>
                </a:lnTo>
                <a:lnTo>
                  <a:pt x="910074" y="1140002"/>
                </a:lnTo>
                <a:lnTo>
                  <a:pt x="870237" y="1160672"/>
                </a:lnTo>
                <a:lnTo>
                  <a:pt x="828987" y="1178354"/>
                </a:lnTo>
                <a:lnTo>
                  <a:pt x="786557" y="1192950"/>
                </a:lnTo>
                <a:lnTo>
                  <a:pt x="743168" y="1204387"/>
                </a:lnTo>
                <a:lnTo>
                  <a:pt x="699046" y="1212602"/>
                </a:lnTo>
                <a:lnTo>
                  <a:pt x="654440" y="1217548"/>
                </a:lnTo>
                <a:lnTo>
                  <a:pt x="609599" y="1219199"/>
                </a:lnTo>
                <a:close/>
              </a:path>
            </a:pathLst>
          </a:custGeom>
          <a:solidFill>
            <a:srgbClr val="FFE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46">
            <a:extLst>
              <a:ext uri="{FF2B5EF4-FFF2-40B4-BE49-F238E27FC236}">
                <a16:creationId xmlns:a16="http://schemas.microsoft.com/office/drawing/2014/main" id="{DC47550B-07E6-A43D-631D-A69B9C64F424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53125" y="2095498"/>
            <a:ext cx="285749" cy="304799"/>
          </a:xfrm>
          <a:prstGeom prst="rect">
            <a:avLst/>
          </a:prstGeom>
        </p:spPr>
      </p:pic>
      <p:sp>
        <p:nvSpPr>
          <p:cNvPr id="47" name="object 47">
            <a:extLst>
              <a:ext uri="{FF2B5EF4-FFF2-40B4-BE49-F238E27FC236}">
                <a16:creationId xmlns:a16="http://schemas.microsoft.com/office/drawing/2014/main" id="{8BC743A3-023E-3B27-20D6-E087E7A6DFA4}"/>
              </a:ext>
            </a:extLst>
          </p:cNvPr>
          <p:cNvSpPr txBox="1"/>
          <p:nvPr/>
        </p:nvSpPr>
        <p:spPr>
          <a:xfrm>
            <a:off x="5328384" y="2438714"/>
            <a:ext cx="1564441" cy="922561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algn="ctr">
              <a:spcBef>
                <a:spcPts val="136"/>
              </a:spcBef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유기적 연결</a:t>
            </a:r>
            <a:endParaRPr sz="1149" dirty="0">
              <a:latin typeface="Malgun Gothic"/>
              <a:cs typeface="Malgun Gothic"/>
            </a:endParaRPr>
          </a:p>
          <a:p>
            <a:pPr>
              <a:spcBef>
                <a:spcPts val="1241"/>
              </a:spcBef>
            </a:pPr>
            <a:endParaRPr sz="1049" dirty="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디지털 트윈</a:t>
            </a:r>
            <a:endParaRPr sz="1350" dirty="0">
              <a:latin typeface="Malgun Gothic"/>
              <a:cs typeface="Malgun Gothic"/>
            </a:endParaRPr>
          </a:p>
          <a:p>
            <a:pPr algn="ctr">
              <a:spcBef>
                <a:spcPts val="379"/>
              </a:spcBef>
            </a:pP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가상 생산라인 </a:t>
            </a: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&amp; 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자율 제조</a:t>
            </a:r>
            <a:endParaRPr sz="1001" dirty="0">
              <a:latin typeface="Malgun Gothic"/>
              <a:cs typeface="Malgun Gothic"/>
            </a:endParaRPr>
          </a:p>
        </p:txBody>
      </p:sp>
      <p:pic>
        <p:nvPicPr>
          <p:cNvPr id="48" name="object 26">
            <a:extLst>
              <a:ext uri="{FF2B5EF4-FFF2-40B4-BE49-F238E27FC236}">
                <a16:creationId xmlns:a16="http://schemas.microsoft.com/office/drawing/2014/main" id="{058572D0-FDDE-DCE7-E615-BE0D86F9D3CC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72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93A1BDEE-846F-3F3D-1A57-A6DED7A5F459}"/>
              </a:ext>
            </a:extLst>
          </p:cNvPr>
          <p:cNvGrpSpPr/>
          <p:nvPr/>
        </p:nvGrpSpPr>
        <p:grpSpPr>
          <a:xfrm>
            <a:off x="457199" y="5732661"/>
            <a:ext cx="11277600" cy="533400"/>
            <a:chOff x="457199" y="5448300"/>
            <a:chExt cx="11277600" cy="533400"/>
          </a:xfrm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30F037A9-6C24-0FF9-3B2E-0107F6CB38AA}"/>
                </a:ext>
              </a:extLst>
            </p:cNvPr>
            <p:cNvSpPr/>
            <p:nvPr/>
          </p:nvSpPr>
          <p:spPr>
            <a:xfrm>
              <a:off x="457199" y="5107623"/>
              <a:ext cx="11277600" cy="533400"/>
            </a:xfrm>
            <a:custGeom>
              <a:avLst/>
              <a:gdLst/>
              <a:ahLst/>
              <a:cxnLst/>
              <a:rect l="l" t="t" r="r" b="b"/>
              <a:pathLst>
                <a:path w="11277600" h="533400">
                  <a:moveTo>
                    <a:pt x="11206402" y="533398"/>
                  </a:moveTo>
                  <a:lnTo>
                    <a:pt x="71196" y="533398"/>
                  </a:lnTo>
                  <a:lnTo>
                    <a:pt x="66241" y="532910"/>
                  </a:lnTo>
                  <a:lnTo>
                    <a:pt x="29705" y="517776"/>
                  </a:lnTo>
                  <a:lnTo>
                    <a:pt x="3885" y="481736"/>
                  </a:lnTo>
                  <a:lnTo>
                    <a:pt x="0" y="462202"/>
                  </a:lnTo>
                  <a:lnTo>
                    <a:pt x="0" y="457199"/>
                  </a:lnTo>
                  <a:lnTo>
                    <a:pt x="0" y="71195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11206402" y="0"/>
                  </a:lnTo>
                  <a:lnTo>
                    <a:pt x="11247891" y="15621"/>
                  </a:lnTo>
                  <a:lnTo>
                    <a:pt x="11273712" y="51660"/>
                  </a:lnTo>
                  <a:lnTo>
                    <a:pt x="11277599" y="71195"/>
                  </a:lnTo>
                  <a:lnTo>
                    <a:pt x="11277599" y="462202"/>
                  </a:lnTo>
                  <a:lnTo>
                    <a:pt x="11261975" y="503693"/>
                  </a:lnTo>
                  <a:lnTo>
                    <a:pt x="11225936" y="529512"/>
                  </a:lnTo>
                  <a:lnTo>
                    <a:pt x="11211357" y="532910"/>
                  </a:lnTo>
                  <a:lnTo>
                    <a:pt x="11206402" y="5333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6CBA4265-9135-E3DC-CBE9-7D89C36C076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599" y="5298122"/>
              <a:ext cx="171449" cy="152399"/>
            </a:xfrm>
            <a:prstGeom prst="rect">
              <a:avLst/>
            </a:prstGeom>
          </p:spPr>
        </p:pic>
      </p:grpSp>
      <p:sp>
        <p:nvSpPr>
          <p:cNvPr id="8" name="object 6">
            <a:extLst>
              <a:ext uri="{FF2B5EF4-FFF2-40B4-BE49-F238E27FC236}">
                <a16:creationId xmlns:a16="http://schemas.microsoft.com/office/drawing/2014/main" id="{4255D28A-A1F1-3B50-3D26-6C0903013D8C}"/>
              </a:ext>
            </a:extLst>
          </p:cNvPr>
          <p:cNvSpPr txBox="1">
            <a:spLocks/>
          </p:cNvSpPr>
          <p:nvPr/>
        </p:nvSpPr>
        <p:spPr>
          <a:xfrm>
            <a:off x="457198" y="349373"/>
            <a:ext cx="7259319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dirty="0"/>
              <a:t>프로젝트 로드맵 개요</a:t>
            </a:r>
          </a:p>
        </p:txBody>
      </p:sp>
      <p:grpSp>
        <p:nvGrpSpPr>
          <p:cNvPr id="9" name="object 7">
            <a:extLst>
              <a:ext uri="{FF2B5EF4-FFF2-40B4-BE49-F238E27FC236}">
                <a16:creationId xmlns:a16="http://schemas.microsoft.com/office/drawing/2014/main" id="{28AAF3A9-F829-36A7-4FD4-3CAEFAB65297}"/>
              </a:ext>
            </a:extLst>
          </p:cNvPr>
          <p:cNvGrpSpPr/>
          <p:nvPr/>
        </p:nvGrpSpPr>
        <p:grpSpPr>
          <a:xfrm>
            <a:off x="457198" y="2494162"/>
            <a:ext cx="5524500" cy="3009900"/>
            <a:chOff x="457199" y="2209799"/>
            <a:chExt cx="5524500" cy="3009900"/>
          </a:xfrm>
        </p:grpSpPr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0898BBE8-A04F-2ABB-769A-17CF508277AD}"/>
                </a:ext>
              </a:extLst>
            </p:cNvPr>
            <p:cNvSpPr/>
            <p:nvPr/>
          </p:nvSpPr>
          <p:spPr>
            <a:xfrm>
              <a:off x="457199" y="1869122"/>
              <a:ext cx="5524500" cy="3009900"/>
            </a:xfrm>
            <a:custGeom>
              <a:avLst/>
              <a:gdLst/>
              <a:ahLst/>
              <a:cxnLst/>
              <a:rect l="l" t="t" r="r" b="b"/>
              <a:pathLst>
                <a:path w="5524500" h="3009900">
                  <a:moveTo>
                    <a:pt x="5453302" y="3009899"/>
                  </a:moveTo>
                  <a:lnTo>
                    <a:pt x="71196" y="3009899"/>
                  </a:lnTo>
                  <a:lnTo>
                    <a:pt x="66241" y="3009411"/>
                  </a:lnTo>
                  <a:lnTo>
                    <a:pt x="29705" y="2994278"/>
                  </a:lnTo>
                  <a:lnTo>
                    <a:pt x="3885" y="2958237"/>
                  </a:lnTo>
                  <a:lnTo>
                    <a:pt x="0" y="2938703"/>
                  </a:lnTo>
                  <a:lnTo>
                    <a:pt x="0" y="2933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53302" y="0"/>
                  </a:lnTo>
                  <a:lnTo>
                    <a:pt x="5494793" y="15621"/>
                  </a:lnTo>
                  <a:lnTo>
                    <a:pt x="5520612" y="51661"/>
                  </a:lnTo>
                  <a:lnTo>
                    <a:pt x="5524499" y="71196"/>
                  </a:lnTo>
                  <a:lnTo>
                    <a:pt x="5524499" y="2938703"/>
                  </a:lnTo>
                  <a:lnTo>
                    <a:pt x="5508876" y="2980193"/>
                  </a:lnTo>
                  <a:lnTo>
                    <a:pt x="5472837" y="3006013"/>
                  </a:lnTo>
                  <a:lnTo>
                    <a:pt x="5458257" y="3009411"/>
                  </a:lnTo>
                  <a:lnTo>
                    <a:pt x="5453302" y="3009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2E2B5020-A244-0DF2-AF8F-DC850155618D}"/>
                </a:ext>
              </a:extLst>
            </p:cNvPr>
            <p:cNvSpPr/>
            <p:nvPr/>
          </p:nvSpPr>
          <p:spPr>
            <a:xfrm>
              <a:off x="685799" y="21358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0">
              <a:extLst>
                <a:ext uri="{FF2B5EF4-FFF2-40B4-BE49-F238E27FC236}">
                  <a16:creationId xmlns:a16="http://schemas.microsoft.com/office/drawing/2014/main" id="{5F085E66-C2BD-6F2C-DD25-587599FB6F9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099" y="2250122"/>
              <a:ext cx="152399" cy="152399"/>
            </a:xfrm>
            <a:prstGeom prst="rect">
              <a:avLst/>
            </a:prstGeom>
          </p:spPr>
        </p:pic>
      </p:grpSp>
      <p:sp>
        <p:nvSpPr>
          <p:cNvPr id="13" name="object 11">
            <a:extLst>
              <a:ext uri="{FF2B5EF4-FFF2-40B4-BE49-F238E27FC236}">
                <a16:creationId xmlns:a16="http://schemas.microsoft.com/office/drawing/2014/main" id="{F4D1F79A-5BA3-3326-B2B0-F7008D1503FC}"/>
              </a:ext>
            </a:extLst>
          </p:cNvPr>
          <p:cNvSpPr txBox="1"/>
          <p:nvPr/>
        </p:nvSpPr>
        <p:spPr>
          <a:xfrm>
            <a:off x="1168404" y="2357815"/>
            <a:ext cx="3643625" cy="498725"/>
          </a:xfrm>
          <a:prstGeom prst="rect">
            <a:avLst/>
          </a:prstGeom>
        </p:spPr>
        <p:txBody>
          <a:bodyPr vert="horz" wrap="square" lIns="0" tIns="34289" rIns="0" bIns="0" rtlCol="0">
            <a:spAutoFit/>
          </a:bodyPr>
          <a:lstStyle/>
          <a:p>
            <a:pPr marL="12700">
              <a:spcBef>
                <a:spcPts val="270"/>
              </a:spcBef>
            </a:pPr>
            <a:r>
              <a:rPr sz="1700" b="1" dirty="0">
                <a:solidFill>
                  <a:srgbClr val="1F2937"/>
                </a:solidFill>
                <a:latin typeface="Malgun Gothic"/>
                <a:cs typeface="Malgun Gothic"/>
              </a:rPr>
              <a:t>사전컨설팅 </a:t>
            </a:r>
            <a:r>
              <a:rPr sz="1650" b="1" dirty="0">
                <a:solidFill>
                  <a:srgbClr val="1F2937"/>
                </a:solidFill>
                <a:latin typeface="Trebuchet MS"/>
                <a:cs typeface="Trebuchet MS"/>
              </a:rPr>
              <a:t>(1-6</a:t>
            </a:r>
            <a:r>
              <a:rPr sz="1700" b="1" dirty="0">
                <a:solidFill>
                  <a:srgbClr val="1F2937"/>
                </a:solidFill>
                <a:latin typeface="Malgun Gothic"/>
                <a:cs typeface="Malgun Gothic"/>
              </a:rPr>
              <a:t>개월</a:t>
            </a:r>
            <a:r>
              <a:rPr sz="1650" b="1" dirty="0">
                <a:solidFill>
                  <a:srgbClr val="1F2937"/>
                </a:solidFill>
                <a:latin typeface="Trebuchet MS"/>
                <a:cs typeface="Trebuchet MS"/>
              </a:rPr>
              <a:t>)</a:t>
            </a:r>
            <a:endParaRPr sz="1650" dirty="0">
              <a:latin typeface="Trebuchet MS"/>
              <a:cs typeface="Trebuchet MS"/>
            </a:endParaRPr>
          </a:p>
          <a:p>
            <a:pPr marL="12700">
              <a:spcBef>
                <a:spcPts val="160"/>
              </a:spcBef>
            </a:pPr>
            <a:r>
              <a:rPr sz="1149" dirty="0">
                <a:solidFill>
                  <a:srgbClr val="6A7280"/>
                </a:solidFill>
                <a:latin typeface="Microsoft Sans Serif"/>
                <a:cs typeface="Microsoft Sans Serif"/>
              </a:rPr>
              <a:t>AI </a:t>
            </a: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도입 기반 마련</a:t>
            </a:r>
            <a:r>
              <a:rPr sz="1149" dirty="0">
                <a:solidFill>
                  <a:srgbClr val="6A7280"/>
                </a:solidFill>
                <a:latin typeface="Microsoft Sans Serif"/>
                <a:cs typeface="Microsoft Sans Serif"/>
              </a:rPr>
              <a:t>, PoC </a:t>
            </a: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를 통한 기술 검증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14" name="object 12">
            <a:extLst>
              <a:ext uri="{FF2B5EF4-FFF2-40B4-BE49-F238E27FC236}">
                <a16:creationId xmlns:a16="http://schemas.microsoft.com/office/drawing/2014/main" id="{50C9D7C7-EF48-5BD1-B0B7-BA015C4BF5C1}"/>
              </a:ext>
            </a:extLst>
          </p:cNvPr>
          <p:cNvGrpSpPr/>
          <p:nvPr/>
        </p:nvGrpSpPr>
        <p:grpSpPr>
          <a:xfrm>
            <a:off x="685798" y="3349088"/>
            <a:ext cx="304801" cy="1638301"/>
            <a:chOff x="685799" y="3047999"/>
            <a:chExt cx="304800" cy="1638300"/>
          </a:xfrm>
        </p:grpSpPr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0A22B411-1A08-7BA5-B14C-FCC3BBAFEED3}"/>
                </a:ext>
              </a:extLst>
            </p:cNvPr>
            <p:cNvSpPr/>
            <p:nvPr/>
          </p:nvSpPr>
          <p:spPr>
            <a:xfrm>
              <a:off x="685799" y="270732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9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4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>
              <a:extLst>
                <a:ext uri="{FF2B5EF4-FFF2-40B4-BE49-F238E27FC236}">
                  <a16:creationId xmlns:a16="http://schemas.microsoft.com/office/drawing/2014/main" id="{89A4EC79-600E-A992-3519-C6B63775F31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1999" y="2783522"/>
              <a:ext cx="152399" cy="152399"/>
            </a:xfrm>
            <a:prstGeom prst="rect">
              <a:avLst/>
            </a:prstGeom>
          </p:spPr>
        </p:pic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78A918E0-7EB2-2F6D-60EF-0DF115BF36C9}"/>
                </a:ext>
              </a:extLst>
            </p:cNvPr>
            <p:cNvSpPr/>
            <p:nvPr/>
          </p:nvSpPr>
          <p:spPr>
            <a:xfrm>
              <a:off x="685799" y="327882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9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6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6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3"/>
                  </a:lnTo>
                  <a:lnTo>
                    <a:pt x="203733" y="295895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6">
              <a:extLst>
                <a:ext uri="{FF2B5EF4-FFF2-40B4-BE49-F238E27FC236}">
                  <a16:creationId xmlns:a16="http://schemas.microsoft.com/office/drawing/2014/main" id="{402CDC25-6095-11BD-4996-C68940621B5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474" y="3355022"/>
              <a:ext cx="171449" cy="152399"/>
            </a:xfrm>
            <a:prstGeom prst="rect">
              <a:avLst/>
            </a:prstGeom>
          </p:spPr>
        </p:pic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F9209352-D93B-653B-A707-F2F0A77A159A}"/>
                </a:ext>
              </a:extLst>
            </p:cNvPr>
            <p:cNvSpPr/>
            <p:nvPr/>
          </p:nvSpPr>
          <p:spPr>
            <a:xfrm>
              <a:off x="685799" y="404082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9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6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6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18">
              <a:extLst>
                <a:ext uri="{FF2B5EF4-FFF2-40B4-BE49-F238E27FC236}">
                  <a16:creationId xmlns:a16="http://schemas.microsoft.com/office/drawing/2014/main" id="{F94E52E3-E847-771A-78F1-EA780CB3B6D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524" y="4117022"/>
              <a:ext cx="133349" cy="152399"/>
            </a:xfrm>
            <a:prstGeom prst="rect">
              <a:avLst/>
            </a:prstGeom>
          </p:spPr>
        </p:pic>
      </p:grpSp>
      <p:sp>
        <p:nvSpPr>
          <p:cNvPr id="21" name="object 19">
            <a:extLst>
              <a:ext uri="{FF2B5EF4-FFF2-40B4-BE49-F238E27FC236}">
                <a16:creationId xmlns:a16="http://schemas.microsoft.com/office/drawing/2014/main" id="{9A61CBD4-01E8-80EC-CE37-B39DC6DAD156}"/>
              </a:ext>
            </a:extLst>
          </p:cNvPr>
          <p:cNvSpPr txBox="1"/>
          <p:nvPr/>
        </p:nvSpPr>
        <p:spPr>
          <a:xfrm>
            <a:off x="1092201" y="3004480"/>
            <a:ext cx="4006218" cy="426398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현황 분석 및 데이터 진단 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(1-2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개월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)</a:t>
            </a:r>
            <a:endParaRPr sz="1350" dirty="0">
              <a:latin typeface="Arial"/>
              <a:cs typeface="Arial"/>
            </a:endParaRPr>
          </a:p>
          <a:p>
            <a:pPr marL="12700">
              <a:spcBef>
                <a:spcPts val="5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기존 데이터 및 조직 역량 감사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, AI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도입 기반 마련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04F2ABC6-E2FE-21D4-F3A4-865A28BEA192}"/>
              </a:ext>
            </a:extLst>
          </p:cNvPr>
          <p:cNvSpPr txBox="1"/>
          <p:nvPr/>
        </p:nvSpPr>
        <p:spPr>
          <a:xfrm>
            <a:off x="1092204" y="3575978"/>
            <a:ext cx="3777615" cy="618758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AI 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인프라 아키텍처 설계 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(3-4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개월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)</a:t>
            </a:r>
            <a:endParaRPr sz="1350" dirty="0">
              <a:latin typeface="Arial"/>
              <a:cs typeface="Arial"/>
            </a:endParaRPr>
          </a:p>
          <a:p>
            <a:pPr marL="12700" marR="5080">
              <a:spcBef>
                <a:spcPts val="5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데이터 파이프라인 및 저장소 설계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, MQTT Broker, Apache Kafka, InfluxDB/TimescaleDB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선정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928B2765-1A8C-311C-46EB-AA175FF181DB}"/>
              </a:ext>
            </a:extLst>
          </p:cNvPr>
          <p:cNvSpPr txBox="1"/>
          <p:nvPr/>
        </p:nvSpPr>
        <p:spPr>
          <a:xfrm>
            <a:off x="1092201" y="4337979"/>
            <a:ext cx="4625341" cy="618758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핵심 기술 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PoC (5-6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개월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)</a:t>
            </a:r>
            <a:endParaRPr sz="1350" dirty="0">
              <a:latin typeface="Arial"/>
              <a:cs typeface="Arial"/>
            </a:endParaRPr>
          </a:p>
          <a:p>
            <a:pPr marL="12700" marR="5080">
              <a:spcBef>
                <a:spcPts val="5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비전 검사 및 지식 그래프 기술 실현 가능성을 검증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, PyTorch/TensorFlow, Neo4j, LLM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기술 테스트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24" name="object 22">
            <a:extLst>
              <a:ext uri="{FF2B5EF4-FFF2-40B4-BE49-F238E27FC236}">
                <a16:creationId xmlns:a16="http://schemas.microsoft.com/office/drawing/2014/main" id="{D0367FB5-024C-81CF-6673-C3C2F942D4DB}"/>
              </a:ext>
            </a:extLst>
          </p:cNvPr>
          <p:cNvGrpSpPr/>
          <p:nvPr/>
        </p:nvGrpSpPr>
        <p:grpSpPr>
          <a:xfrm>
            <a:off x="6210298" y="2494162"/>
            <a:ext cx="5524500" cy="3009900"/>
            <a:chOff x="6210298" y="2209799"/>
            <a:chExt cx="5524500" cy="3009900"/>
          </a:xfrm>
        </p:grpSpPr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27F4C146-40DC-1189-0B48-29F7FE7A1853}"/>
                </a:ext>
              </a:extLst>
            </p:cNvPr>
            <p:cNvSpPr/>
            <p:nvPr/>
          </p:nvSpPr>
          <p:spPr>
            <a:xfrm>
              <a:off x="6210298" y="1869122"/>
              <a:ext cx="5524500" cy="3009900"/>
            </a:xfrm>
            <a:custGeom>
              <a:avLst/>
              <a:gdLst/>
              <a:ahLst/>
              <a:cxnLst/>
              <a:rect l="l" t="t" r="r" b="b"/>
              <a:pathLst>
                <a:path w="5524500" h="3009900">
                  <a:moveTo>
                    <a:pt x="5453303" y="3009899"/>
                  </a:moveTo>
                  <a:lnTo>
                    <a:pt x="71196" y="3009899"/>
                  </a:lnTo>
                  <a:lnTo>
                    <a:pt x="66241" y="3009411"/>
                  </a:lnTo>
                  <a:lnTo>
                    <a:pt x="29705" y="2994278"/>
                  </a:lnTo>
                  <a:lnTo>
                    <a:pt x="3885" y="2958237"/>
                  </a:lnTo>
                  <a:lnTo>
                    <a:pt x="0" y="2938703"/>
                  </a:lnTo>
                  <a:lnTo>
                    <a:pt x="0" y="2933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53303" y="0"/>
                  </a:lnTo>
                  <a:lnTo>
                    <a:pt x="5494792" y="15621"/>
                  </a:lnTo>
                  <a:lnTo>
                    <a:pt x="5520613" y="51661"/>
                  </a:lnTo>
                  <a:lnTo>
                    <a:pt x="5524500" y="71196"/>
                  </a:lnTo>
                  <a:lnTo>
                    <a:pt x="5524500" y="2938703"/>
                  </a:lnTo>
                  <a:lnTo>
                    <a:pt x="5508876" y="2980193"/>
                  </a:lnTo>
                  <a:lnTo>
                    <a:pt x="5472837" y="3006013"/>
                  </a:lnTo>
                  <a:lnTo>
                    <a:pt x="5458258" y="3009411"/>
                  </a:lnTo>
                  <a:lnTo>
                    <a:pt x="5453303" y="3009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ECBA0B44-C592-8233-FE04-08D36D02D01D}"/>
                </a:ext>
              </a:extLst>
            </p:cNvPr>
            <p:cNvSpPr/>
            <p:nvPr/>
          </p:nvSpPr>
          <p:spPr>
            <a:xfrm>
              <a:off x="6438899" y="21358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8"/>
                  </a:lnTo>
                  <a:lnTo>
                    <a:pt x="100696" y="358507"/>
                  </a:lnTo>
                  <a:lnTo>
                    <a:pt x="62574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5" y="92572"/>
                  </a:lnTo>
                  <a:lnTo>
                    <a:pt x="55795" y="55796"/>
                  </a:lnTo>
                  <a:lnTo>
                    <a:pt x="92570" y="27095"/>
                  </a:lnTo>
                  <a:lnTo>
                    <a:pt x="135198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5">
              <a:extLst>
                <a:ext uri="{FF2B5EF4-FFF2-40B4-BE49-F238E27FC236}">
                  <a16:creationId xmlns:a16="http://schemas.microsoft.com/office/drawing/2014/main" id="{1DE0C4F1-D33B-7590-0772-E4079A4F3141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53199" y="2250122"/>
              <a:ext cx="152399" cy="152399"/>
            </a:xfrm>
            <a:prstGeom prst="rect">
              <a:avLst/>
            </a:prstGeom>
          </p:spPr>
        </p:pic>
      </p:grpSp>
      <p:sp>
        <p:nvSpPr>
          <p:cNvPr id="28" name="object 26">
            <a:extLst>
              <a:ext uri="{FF2B5EF4-FFF2-40B4-BE49-F238E27FC236}">
                <a16:creationId xmlns:a16="http://schemas.microsoft.com/office/drawing/2014/main" id="{7EE4518F-8F2F-FDCA-BACA-B614164B3044}"/>
              </a:ext>
            </a:extLst>
          </p:cNvPr>
          <p:cNvSpPr txBox="1"/>
          <p:nvPr/>
        </p:nvSpPr>
        <p:spPr>
          <a:xfrm>
            <a:off x="6921508" y="2357815"/>
            <a:ext cx="3308346" cy="498725"/>
          </a:xfrm>
          <a:prstGeom prst="rect">
            <a:avLst/>
          </a:prstGeom>
        </p:spPr>
        <p:txBody>
          <a:bodyPr vert="horz" wrap="square" lIns="0" tIns="34289" rIns="0" bIns="0" rtlCol="0">
            <a:spAutoFit/>
          </a:bodyPr>
          <a:lstStyle/>
          <a:p>
            <a:pPr marL="12700">
              <a:spcBef>
                <a:spcPts val="270"/>
              </a:spcBef>
            </a:pPr>
            <a:r>
              <a:rPr sz="1700" b="1" dirty="0">
                <a:solidFill>
                  <a:srgbClr val="1F2937"/>
                </a:solidFill>
                <a:latin typeface="Malgun Gothic"/>
                <a:cs typeface="Malgun Gothic"/>
              </a:rPr>
              <a:t>구축 및 확산 </a:t>
            </a:r>
            <a:r>
              <a:rPr sz="1650" b="1" dirty="0">
                <a:solidFill>
                  <a:srgbClr val="1F2937"/>
                </a:solidFill>
                <a:latin typeface="Trebuchet MS"/>
                <a:cs typeface="Trebuchet MS"/>
              </a:rPr>
              <a:t>(7-24</a:t>
            </a:r>
            <a:r>
              <a:rPr sz="1700" b="1" dirty="0">
                <a:solidFill>
                  <a:srgbClr val="1F2937"/>
                </a:solidFill>
                <a:latin typeface="Malgun Gothic"/>
                <a:cs typeface="Malgun Gothic"/>
              </a:rPr>
              <a:t>개월</a:t>
            </a:r>
            <a:r>
              <a:rPr sz="1650" b="1" dirty="0">
                <a:solidFill>
                  <a:srgbClr val="1F2937"/>
                </a:solidFill>
                <a:latin typeface="Trebuchet MS"/>
                <a:cs typeface="Trebuchet MS"/>
              </a:rPr>
              <a:t>)</a:t>
            </a:r>
            <a:endParaRPr sz="1650" dirty="0">
              <a:latin typeface="Trebuchet MS"/>
              <a:cs typeface="Trebuchet MS"/>
            </a:endParaRPr>
          </a:p>
          <a:p>
            <a:pPr marL="12700">
              <a:spcBef>
                <a:spcPts val="160"/>
              </a:spcBef>
            </a:pP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지능형 품질관리</a:t>
            </a:r>
            <a:r>
              <a:rPr sz="1149" dirty="0">
                <a:solidFill>
                  <a:srgbClr val="6A7280"/>
                </a:solidFill>
                <a:latin typeface="Microsoft Sans Serif"/>
                <a:cs typeface="Microsoft Sans Serif"/>
              </a:rPr>
              <a:t>, </a:t>
            </a: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지식관리</a:t>
            </a:r>
            <a:r>
              <a:rPr sz="1149" dirty="0">
                <a:solidFill>
                  <a:srgbClr val="6A7280"/>
                </a:solidFill>
                <a:latin typeface="Microsoft Sans Serif"/>
                <a:cs typeface="Microsoft Sans Serif"/>
              </a:rPr>
              <a:t>, </a:t>
            </a: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디지털트윈 구축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29" name="object 27">
            <a:extLst>
              <a:ext uri="{FF2B5EF4-FFF2-40B4-BE49-F238E27FC236}">
                <a16:creationId xmlns:a16="http://schemas.microsoft.com/office/drawing/2014/main" id="{C917D80E-2C74-5C3C-E9BF-58FC64BD7142}"/>
              </a:ext>
            </a:extLst>
          </p:cNvPr>
          <p:cNvGrpSpPr/>
          <p:nvPr/>
        </p:nvGrpSpPr>
        <p:grpSpPr>
          <a:xfrm>
            <a:off x="6438899" y="3349089"/>
            <a:ext cx="304801" cy="1447800"/>
            <a:chOff x="6438899" y="3047999"/>
            <a:chExt cx="304800" cy="1447800"/>
          </a:xfrm>
        </p:grpSpPr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1F57CF86-F911-51CB-BDEE-3999901861E7}"/>
                </a:ext>
              </a:extLst>
            </p:cNvPr>
            <p:cNvSpPr/>
            <p:nvPr/>
          </p:nvSpPr>
          <p:spPr>
            <a:xfrm>
              <a:off x="6438899" y="270732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9"/>
                  </a:lnTo>
                  <a:lnTo>
                    <a:pt x="67730" y="279115"/>
                  </a:lnTo>
                  <a:lnTo>
                    <a:pt x="34590" y="249082"/>
                  </a:lnTo>
                  <a:lnTo>
                    <a:pt x="11599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5"/>
                  </a:lnTo>
                  <a:lnTo>
                    <a:pt x="29994" y="61607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4" y="203733"/>
                  </a:lnTo>
                  <a:lnTo>
                    <a:pt x="274803" y="243192"/>
                  </a:lnTo>
                  <a:lnTo>
                    <a:pt x="243191" y="274804"/>
                  </a:lnTo>
                  <a:lnTo>
                    <a:pt x="203732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29">
              <a:extLst>
                <a:ext uri="{FF2B5EF4-FFF2-40B4-BE49-F238E27FC236}">
                  <a16:creationId xmlns:a16="http://schemas.microsoft.com/office/drawing/2014/main" id="{F79A0746-9BE2-1C53-E192-184B503EB47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15099" y="2783522"/>
              <a:ext cx="152399" cy="152399"/>
            </a:xfrm>
            <a:prstGeom prst="rect">
              <a:avLst/>
            </a:prstGeom>
          </p:spPr>
        </p:pic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56DC70E5-B8DF-5A75-A334-018EFBB237A2}"/>
                </a:ext>
              </a:extLst>
            </p:cNvPr>
            <p:cNvSpPr/>
            <p:nvPr/>
          </p:nvSpPr>
          <p:spPr>
            <a:xfrm>
              <a:off x="6438899" y="327882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9"/>
                  </a:lnTo>
                  <a:lnTo>
                    <a:pt x="67730" y="279115"/>
                  </a:lnTo>
                  <a:lnTo>
                    <a:pt x="34590" y="249082"/>
                  </a:lnTo>
                  <a:lnTo>
                    <a:pt x="11599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5"/>
                  </a:lnTo>
                  <a:lnTo>
                    <a:pt x="29994" y="61606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3" y="61606"/>
                  </a:lnTo>
                  <a:lnTo>
                    <a:pt x="295894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4" y="203733"/>
                  </a:lnTo>
                  <a:lnTo>
                    <a:pt x="274803" y="243192"/>
                  </a:lnTo>
                  <a:lnTo>
                    <a:pt x="243191" y="274803"/>
                  </a:lnTo>
                  <a:lnTo>
                    <a:pt x="203732" y="295895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1">
              <a:extLst>
                <a:ext uri="{FF2B5EF4-FFF2-40B4-BE49-F238E27FC236}">
                  <a16:creationId xmlns:a16="http://schemas.microsoft.com/office/drawing/2014/main" id="{9C4DB4E6-5E71-E512-9D28-F180F9C3B30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5099" y="3355022"/>
              <a:ext cx="152399" cy="152399"/>
            </a:xfrm>
            <a:prstGeom prst="rect">
              <a:avLst/>
            </a:prstGeom>
          </p:spPr>
        </p:pic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6BCACD38-A868-6DE6-AA45-2C8EB4888346}"/>
                </a:ext>
              </a:extLst>
            </p:cNvPr>
            <p:cNvSpPr/>
            <p:nvPr/>
          </p:nvSpPr>
          <p:spPr>
            <a:xfrm>
              <a:off x="6438899" y="385032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8"/>
                  </a:lnTo>
                  <a:lnTo>
                    <a:pt x="67730" y="279115"/>
                  </a:lnTo>
                  <a:lnTo>
                    <a:pt x="34590" y="249082"/>
                  </a:lnTo>
                  <a:lnTo>
                    <a:pt x="11599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5"/>
                  </a:lnTo>
                  <a:lnTo>
                    <a:pt x="29994" y="61606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3" y="61606"/>
                  </a:lnTo>
                  <a:lnTo>
                    <a:pt x="295894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4" y="203733"/>
                  </a:lnTo>
                  <a:lnTo>
                    <a:pt x="274803" y="243192"/>
                  </a:lnTo>
                  <a:lnTo>
                    <a:pt x="243191" y="274803"/>
                  </a:lnTo>
                  <a:lnTo>
                    <a:pt x="203732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3">
              <a:extLst>
                <a:ext uri="{FF2B5EF4-FFF2-40B4-BE49-F238E27FC236}">
                  <a16:creationId xmlns:a16="http://schemas.microsoft.com/office/drawing/2014/main" id="{FB42BD7F-9CE0-834E-02AA-4FE54F9C4D37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15099" y="3926522"/>
              <a:ext cx="152399" cy="152399"/>
            </a:xfrm>
            <a:prstGeom prst="rect">
              <a:avLst/>
            </a:prstGeom>
          </p:spPr>
        </p:pic>
      </p:grpSp>
      <p:sp>
        <p:nvSpPr>
          <p:cNvPr id="36" name="object 34">
            <a:extLst>
              <a:ext uri="{FF2B5EF4-FFF2-40B4-BE49-F238E27FC236}">
                <a16:creationId xmlns:a16="http://schemas.microsoft.com/office/drawing/2014/main" id="{A05B4878-4BA2-D3FB-F068-13052C506B0F}"/>
              </a:ext>
            </a:extLst>
          </p:cNvPr>
          <p:cNvSpPr txBox="1"/>
          <p:nvPr/>
        </p:nvSpPr>
        <p:spPr>
          <a:xfrm>
            <a:off x="6845308" y="3004484"/>
            <a:ext cx="5041892" cy="618758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지능형 품질관리 시스템 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(1-9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개월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)</a:t>
            </a:r>
            <a:endParaRPr sz="1350" dirty="0">
              <a:latin typeface="Arial"/>
              <a:cs typeface="Arial"/>
            </a:endParaRPr>
          </a:p>
          <a:p>
            <a:pPr marL="12700">
              <a:spcBef>
                <a:spcPts val="56"/>
              </a:spcBef>
            </a:pP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비전검사 시스템 우선 도입 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(1-4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),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예측유지보수시스템 구축 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(5-9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)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70063E31-8AE3-651E-0EA4-E945C224D1BE}"/>
              </a:ext>
            </a:extLst>
          </p:cNvPr>
          <p:cNvSpPr txBox="1"/>
          <p:nvPr/>
        </p:nvSpPr>
        <p:spPr>
          <a:xfrm>
            <a:off x="6845307" y="3575984"/>
            <a:ext cx="4846747" cy="426398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AI 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기반 지식관리 시스템 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(6-15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개월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)</a:t>
            </a:r>
            <a:endParaRPr sz="1350" dirty="0">
              <a:latin typeface="Arial"/>
              <a:cs typeface="Arial"/>
            </a:endParaRPr>
          </a:p>
          <a:p>
            <a:pPr marL="12700">
              <a:spcBef>
                <a:spcPts val="5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지식그래프 확장 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(6-10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), LLM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기반 솔루션 개발 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(11-15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)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3094BCAE-3ABA-CF26-8AD7-6DE0E8D9338A}"/>
              </a:ext>
            </a:extLst>
          </p:cNvPr>
          <p:cNvSpPr txBox="1"/>
          <p:nvPr/>
        </p:nvSpPr>
        <p:spPr>
          <a:xfrm>
            <a:off x="6845300" y="4147483"/>
            <a:ext cx="5041891" cy="426398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디지털트윈 기반 자율제조 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(10-18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개월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)</a:t>
            </a:r>
            <a:endParaRPr sz="1350" dirty="0">
              <a:latin typeface="Arial"/>
              <a:cs typeface="Arial"/>
            </a:endParaRPr>
          </a:p>
          <a:p>
            <a:pPr marL="12700">
              <a:spcBef>
                <a:spcPts val="5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공정 시뮬레이션 기반 구축 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(10-14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),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자율 제조 시스템 연동 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(15-18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250" dirty="0">
                <a:solidFill>
                  <a:srgbClr val="4A5462"/>
                </a:solidFill>
                <a:latin typeface="Microsoft Sans Serif"/>
                <a:cs typeface="Microsoft Sans Serif"/>
              </a:rPr>
              <a:t>)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8F710613-AD33-C057-A34E-EB08425E41E4}"/>
              </a:ext>
            </a:extLst>
          </p:cNvPr>
          <p:cNvSpPr txBox="1"/>
          <p:nvPr/>
        </p:nvSpPr>
        <p:spPr>
          <a:xfrm>
            <a:off x="844550" y="5540446"/>
            <a:ext cx="10100372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최종 목표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: 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불량률 제로화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설비 가동률 극대화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데이터 기반 근본원인분석</a:t>
            </a:r>
            <a:r>
              <a:rPr sz="1350" b="1" dirty="0">
                <a:solidFill>
                  <a:srgbClr val="374050"/>
                </a:solidFill>
                <a:latin typeface="Arial"/>
                <a:cs typeface="Arial"/>
              </a:rPr>
              <a:t>, 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생산라인의 부분적 자율화</a:t>
            </a:r>
            <a:endParaRPr sz="1350" dirty="0">
              <a:latin typeface="Malgun Gothic"/>
              <a:cs typeface="Malgun Gothic"/>
            </a:endParaRPr>
          </a:p>
        </p:txBody>
      </p:sp>
      <p:grpSp>
        <p:nvGrpSpPr>
          <p:cNvPr id="40" name="object 38">
            <a:extLst>
              <a:ext uri="{FF2B5EF4-FFF2-40B4-BE49-F238E27FC236}">
                <a16:creationId xmlns:a16="http://schemas.microsoft.com/office/drawing/2014/main" id="{7FD48BF0-8AB7-434C-7E7E-02B152F7602E}"/>
              </a:ext>
            </a:extLst>
          </p:cNvPr>
          <p:cNvGrpSpPr/>
          <p:nvPr/>
        </p:nvGrpSpPr>
        <p:grpSpPr>
          <a:xfrm>
            <a:off x="457199" y="1921732"/>
            <a:ext cx="11277599" cy="190501"/>
            <a:chOff x="457199" y="1447799"/>
            <a:chExt cx="11277600" cy="190500"/>
          </a:xfrm>
        </p:grpSpPr>
        <p:sp>
          <p:nvSpPr>
            <p:cNvPr id="41" name="object 39">
              <a:extLst>
                <a:ext uri="{FF2B5EF4-FFF2-40B4-BE49-F238E27FC236}">
                  <a16:creationId xmlns:a16="http://schemas.microsoft.com/office/drawing/2014/main" id="{07E39A42-76B9-F963-BD04-5A4E8B247B86}"/>
                </a:ext>
              </a:extLst>
            </p:cNvPr>
            <p:cNvSpPr/>
            <p:nvPr/>
          </p:nvSpPr>
          <p:spPr>
            <a:xfrm>
              <a:off x="457199" y="1183322"/>
              <a:ext cx="11277600" cy="38100"/>
            </a:xfrm>
            <a:custGeom>
              <a:avLst/>
              <a:gdLst/>
              <a:ahLst/>
              <a:cxnLst/>
              <a:rect l="l" t="t" r="r" b="b"/>
              <a:pathLst>
                <a:path w="11277600" h="38100">
                  <a:moveTo>
                    <a:pt x="112775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1277599" y="0"/>
                  </a:lnTo>
                  <a:lnTo>
                    <a:pt x="11277599" y="38099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0">
              <a:extLst>
                <a:ext uri="{FF2B5EF4-FFF2-40B4-BE49-F238E27FC236}">
                  <a16:creationId xmlns:a16="http://schemas.microsoft.com/office/drawing/2014/main" id="{1EED6ADE-59C5-30C3-3709-BEA013659923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71649" y="1107122"/>
              <a:ext cx="190499" cy="190499"/>
            </a:xfrm>
            <a:prstGeom prst="rect">
              <a:avLst/>
            </a:prstGeom>
          </p:spPr>
        </p:pic>
      </p:grpSp>
      <p:sp>
        <p:nvSpPr>
          <p:cNvPr id="43" name="object 41">
            <a:extLst>
              <a:ext uri="{FF2B5EF4-FFF2-40B4-BE49-F238E27FC236}">
                <a16:creationId xmlns:a16="http://schemas.microsoft.com/office/drawing/2014/main" id="{B01E3B4A-FC49-5BD6-7DCE-F9E46430D806}"/>
              </a:ext>
            </a:extLst>
          </p:cNvPr>
          <p:cNvSpPr txBox="1"/>
          <p:nvPr/>
        </p:nvSpPr>
        <p:spPr>
          <a:xfrm>
            <a:off x="1582737" y="1265271"/>
            <a:ext cx="781322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사전컨설팅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3C18BE86-D32F-65D5-CDD3-A58EC797EE1E}"/>
              </a:ext>
            </a:extLst>
          </p:cNvPr>
          <p:cNvSpPr txBox="1"/>
          <p:nvPr/>
        </p:nvSpPr>
        <p:spPr>
          <a:xfrm>
            <a:off x="1663700" y="1810676"/>
            <a:ext cx="562927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6A7280"/>
                </a:solidFill>
                <a:latin typeface="Arial"/>
                <a:cs typeface="Arial"/>
              </a:rPr>
              <a:t>1-6</a:t>
            </a:r>
            <a:r>
              <a:rPr sz="1001" dirty="0">
                <a:solidFill>
                  <a:srgbClr val="6A7280"/>
                </a:solidFill>
                <a:latin typeface="Malgun Gothic"/>
                <a:cs typeface="Malgun Gothic"/>
              </a:rPr>
              <a:t>개월</a:t>
            </a:r>
            <a:endParaRPr sz="1001" dirty="0">
              <a:latin typeface="Malgun Gothic"/>
              <a:cs typeface="Malgun Gothic"/>
            </a:endParaRPr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32384C32-F006-2BD2-F0E9-814749458927}"/>
              </a:ext>
            </a:extLst>
          </p:cNvPr>
          <p:cNvSpPr txBox="1"/>
          <p:nvPr/>
        </p:nvSpPr>
        <p:spPr>
          <a:xfrm>
            <a:off x="9955210" y="1227172"/>
            <a:ext cx="906078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구축 및 확산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E705F943-EC37-B21A-7C23-D8258A866DBC}"/>
              </a:ext>
            </a:extLst>
          </p:cNvPr>
          <p:cNvSpPr txBox="1"/>
          <p:nvPr/>
        </p:nvSpPr>
        <p:spPr>
          <a:xfrm>
            <a:off x="10117141" y="1791625"/>
            <a:ext cx="615908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6A7280"/>
                </a:solidFill>
                <a:latin typeface="Arial"/>
                <a:cs typeface="Arial"/>
              </a:rPr>
              <a:t>7-24</a:t>
            </a:r>
            <a:r>
              <a:rPr sz="1001" dirty="0">
                <a:solidFill>
                  <a:srgbClr val="6A7280"/>
                </a:solidFill>
                <a:latin typeface="Malgun Gothic"/>
                <a:cs typeface="Malgun Gothic"/>
              </a:rPr>
              <a:t>개월</a:t>
            </a:r>
            <a:endParaRPr sz="1001" dirty="0">
              <a:latin typeface="Malgun Gothic"/>
              <a:cs typeface="Malgun Gothic"/>
            </a:endParaRPr>
          </a:p>
        </p:txBody>
      </p:sp>
      <p:pic>
        <p:nvPicPr>
          <p:cNvPr id="47" name="object 45">
            <a:extLst>
              <a:ext uri="{FF2B5EF4-FFF2-40B4-BE49-F238E27FC236}">
                <a16:creationId xmlns:a16="http://schemas.microsoft.com/office/drawing/2014/main" id="{FEA18245-20C1-BE20-E314-CD765FF19447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29854" y="1581061"/>
            <a:ext cx="190499" cy="190499"/>
          </a:xfrm>
          <a:prstGeom prst="rect">
            <a:avLst/>
          </a:prstGeom>
        </p:spPr>
      </p:pic>
      <p:pic>
        <p:nvPicPr>
          <p:cNvPr id="2" name="object 26">
            <a:extLst>
              <a:ext uri="{FF2B5EF4-FFF2-40B4-BE49-F238E27FC236}">
                <a16:creationId xmlns:a16="http://schemas.microsoft.com/office/drawing/2014/main" id="{23913AC7-5673-1628-23C7-0A85EC3AD330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84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A499F9C-07E7-FA30-C6A2-D5EC74F39853}"/>
              </a:ext>
            </a:extLst>
          </p:cNvPr>
          <p:cNvGrpSpPr/>
          <p:nvPr/>
        </p:nvGrpSpPr>
        <p:grpSpPr>
          <a:xfrm>
            <a:off x="457199" y="5507780"/>
            <a:ext cx="11277600" cy="952500"/>
            <a:chOff x="457199" y="5295899"/>
            <a:chExt cx="11277600" cy="9525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4F52957-8579-4E2F-EF66-111670C0EA3C}"/>
                </a:ext>
              </a:extLst>
            </p:cNvPr>
            <p:cNvSpPr/>
            <p:nvPr/>
          </p:nvSpPr>
          <p:spPr>
            <a:xfrm>
              <a:off x="457199" y="4955222"/>
              <a:ext cx="11277600" cy="952500"/>
            </a:xfrm>
            <a:custGeom>
              <a:avLst/>
              <a:gdLst/>
              <a:ahLst/>
              <a:cxnLst/>
              <a:rect l="l" t="t" r="r" b="b"/>
              <a:pathLst>
                <a:path w="11277600" h="952500">
                  <a:moveTo>
                    <a:pt x="11206402" y="952499"/>
                  </a:moveTo>
                  <a:lnTo>
                    <a:pt x="71196" y="952499"/>
                  </a:lnTo>
                  <a:lnTo>
                    <a:pt x="66241" y="952011"/>
                  </a:lnTo>
                  <a:lnTo>
                    <a:pt x="29705" y="936877"/>
                  </a:lnTo>
                  <a:lnTo>
                    <a:pt x="3885" y="900836"/>
                  </a:lnTo>
                  <a:lnTo>
                    <a:pt x="0" y="881303"/>
                  </a:lnTo>
                  <a:lnTo>
                    <a:pt x="0" y="876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1206402" y="0"/>
                  </a:lnTo>
                  <a:lnTo>
                    <a:pt x="11247891" y="15621"/>
                  </a:lnTo>
                  <a:lnTo>
                    <a:pt x="11273712" y="51661"/>
                  </a:lnTo>
                  <a:lnTo>
                    <a:pt x="11277599" y="71196"/>
                  </a:lnTo>
                  <a:lnTo>
                    <a:pt x="11277599" y="881303"/>
                  </a:lnTo>
                  <a:lnTo>
                    <a:pt x="11261975" y="922793"/>
                  </a:lnTo>
                  <a:lnTo>
                    <a:pt x="11225936" y="948612"/>
                  </a:lnTo>
                  <a:lnTo>
                    <a:pt x="11211357" y="952011"/>
                  </a:lnTo>
                  <a:lnTo>
                    <a:pt x="11206402" y="9524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C1F0B0D-3109-6E81-C361-77B9EEF12F5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699" y="5183822"/>
              <a:ext cx="152399" cy="152399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8A8F9F4-1217-F2CD-29F7-69D886CAEDBD}"/>
              </a:ext>
            </a:extLst>
          </p:cNvPr>
          <p:cNvSpPr txBox="1">
            <a:spLocks/>
          </p:cNvSpPr>
          <p:nvPr/>
        </p:nvSpPr>
        <p:spPr>
          <a:xfrm>
            <a:off x="428623" y="268587"/>
            <a:ext cx="720740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dirty="0"/>
              <a:t>사전컨설팅 단계 </a:t>
            </a:r>
            <a:r>
              <a:rPr lang="en-US" altLang="ko-KR" dirty="0"/>
              <a:t>(6</a:t>
            </a:r>
            <a:r>
              <a:rPr lang="ko-KR" altLang="en-US" dirty="0"/>
              <a:t>개월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0E83C25-1C7B-6B11-6B8C-89EA9640157E}"/>
              </a:ext>
            </a:extLst>
          </p:cNvPr>
          <p:cNvSpPr txBox="1"/>
          <p:nvPr/>
        </p:nvSpPr>
        <p:spPr>
          <a:xfrm>
            <a:off x="825504" y="1079418"/>
            <a:ext cx="819301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rgbClr val="6A7280"/>
                </a:solidFill>
                <a:latin typeface="Arial"/>
                <a:cs typeface="Arial"/>
              </a:rPr>
              <a:t>1</a:t>
            </a: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개월</a:t>
            </a:r>
            <a:endParaRPr sz="1149">
              <a:latin typeface="Malgun Gothic"/>
              <a:cs typeface="Malgun Gothic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349FC25-6C06-3AF6-F1F0-C95B40BB03D7}"/>
              </a:ext>
            </a:extLst>
          </p:cNvPr>
          <p:cNvSpPr txBox="1"/>
          <p:nvPr/>
        </p:nvSpPr>
        <p:spPr>
          <a:xfrm>
            <a:off x="11017254" y="1079417"/>
            <a:ext cx="602317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rgbClr val="6A7280"/>
                </a:solidFill>
                <a:latin typeface="Arial"/>
                <a:cs typeface="Arial"/>
              </a:rPr>
              <a:t>6</a:t>
            </a: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개월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E41B92E-1C9C-DB5A-2C0E-8A36310458DE}"/>
              </a:ext>
            </a:extLst>
          </p:cNvPr>
          <p:cNvSpPr txBox="1"/>
          <p:nvPr/>
        </p:nvSpPr>
        <p:spPr>
          <a:xfrm>
            <a:off x="863600" y="5353666"/>
            <a:ext cx="2072538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주요 결과물</a:t>
            </a:r>
            <a:endParaRPr sz="1350" dirty="0">
              <a:latin typeface="Malgun Gothic"/>
              <a:cs typeface="Malgun Gothic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E889E6B4-956A-D715-89D5-17AFC5AC8686}"/>
              </a:ext>
            </a:extLst>
          </p:cNvPr>
          <p:cNvGrpSpPr/>
          <p:nvPr/>
        </p:nvGrpSpPr>
        <p:grpSpPr>
          <a:xfrm>
            <a:off x="848436" y="5733364"/>
            <a:ext cx="7514063" cy="174697"/>
            <a:chOff x="724781" y="5526722"/>
            <a:chExt cx="7419092" cy="152399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08FAF66D-903B-6045-1DF1-05ED669338A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4781" y="5526722"/>
              <a:ext cx="114299" cy="152399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9AAA7F5D-F760-DD61-9C5F-FAD7C06ED3E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33874" y="5526722"/>
              <a:ext cx="171449" cy="152399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656C65CC-A9B2-7199-0815-109759A75B2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0524" y="5526722"/>
              <a:ext cx="133349" cy="152399"/>
            </a:xfrm>
            <a:prstGeom prst="rect">
              <a:avLst/>
            </a:prstGeom>
          </p:spPr>
        </p:pic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F6F43993-DEFC-EF08-85E9-430D8C1D3B59}"/>
              </a:ext>
            </a:extLst>
          </p:cNvPr>
          <p:cNvSpPr txBox="1"/>
          <p:nvPr/>
        </p:nvSpPr>
        <p:spPr>
          <a:xfrm>
            <a:off x="1081979" y="5696566"/>
            <a:ext cx="2335871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데이터 레이크 구축 방안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166E40A-DB28-1352-6AEE-F51F288FD786}"/>
              </a:ext>
            </a:extLst>
          </p:cNvPr>
          <p:cNvSpPr txBox="1"/>
          <p:nvPr/>
        </p:nvSpPr>
        <p:spPr>
          <a:xfrm>
            <a:off x="4822030" y="5696566"/>
            <a:ext cx="2258996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지식 그래프 확장 방안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882E9F5-EB4B-D7BD-0017-3C9B50B8C959}"/>
              </a:ext>
            </a:extLst>
          </p:cNvPr>
          <p:cNvSpPr txBox="1"/>
          <p:nvPr/>
        </p:nvSpPr>
        <p:spPr>
          <a:xfrm>
            <a:off x="8466979" y="5683120"/>
            <a:ext cx="2335871" cy="237374"/>
          </a:xfrm>
          <a:prstGeom prst="rect">
            <a:avLst/>
          </a:prstGeom>
        </p:spPr>
        <p:txBody>
          <a:bodyPr vert="horz" wrap="square" lIns="0" tIns="13971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오픈소스 기반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PoC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결과</a:t>
            </a:r>
            <a:endParaRPr sz="1350" dirty="0">
              <a:latin typeface="Malgun Gothic"/>
              <a:cs typeface="Malgun Gothic"/>
            </a:endParaRPr>
          </a:p>
        </p:txBody>
      </p:sp>
      <p:grpSp>
        <p:nvGrpSpPr>
          <p:cNvPr id="17" name="object 17">
            <a:extLst>
              <a:ext uri="{FF2B5EF4-FFF2-40B4-BE49-F238E27FC236}">
                <a16:creationId xmlns:a16="http://schemas.microsoft.com/office/drawing/2014/main" id="{02978982-F16C-9E40-3EBE-BE5B9DB0AF7A}"/>
              </a:ext>
            </a:extLst>
          </p:cNvPr>
          <p:cNvGrpSpPr/>
          <p:nvPr/>
        </p:nvGrpSpPr>
        <p:grpSpPr>
          <a:xfrm>
            <a:off x="1314450" y="1450131"/>
            <a:ext cx="9715499" cy="152400"/>
            <a:chOff x="1314449" y="1238249"/>
            <a:chExt cx="9715500" cy="152400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CF5D8C5E-CC03-97B4-7E1A-E2A41457D636}"/>
                </a:ext>
              </a:extLst>
            </p:cNvPr>
            <p:cNvSpPr/>
            <p:nvPr/>
          </p:nvSpPr>
          <p:spPr>
            <a:xfrm>
              <a:off x="1314449" y="954722"/>
              <a:ext cx="9563100" cy="38100"/>
            </a:xfrm>
            <a:custGeom>
              <a:avLst/>
              <a:gdLst/>
              <a:ahLst/>
              <a:cxnLst/>
              <a:rect l="l" t="t" r="r" b="b"/>
              <a:pathLst>
                <a:path w="9563100" h="38100">
                  <a:moveTo>
                    <a:pt x="95630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9563099" y="0"/>
                  </a:lnTo>
                  <a:lnTo>
                    <a:pt x="9563099" y="38099"/>
                  </a:lnTo>
                  <a:close/>
                </a:path>
              </a:pathLst>
            </a:custGeom>
            <a:solidFill>
              <a:srgbClr val="FF6E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A2697E48-0FEA-F50C-82E1-BE819B2AE02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4449" y="897572"/>
              <a:ext cx="152400" cy="152399"/>
            </a:xfrm>
            <a:prstGeom prst="rect">
              <a:avLst/>
            </a:prstGeom>
          </p:spPr>
        </p:pic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D4FCECC7-CF1E-5C05-9A81-D2404F5FA73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29524" y="897572"/>
              <a:ext cx="152399" cy="152399"/>
            </a:xfrm>
            <a:prstGeom prst="rect">
              <a:avLst/>
            </a:prstGeom>
          </p:spPr>
        </p:pic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65F7AD36-0124-1634-7A8B-B44432C249A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67224" y="897572"/>
              <a:ext cx="152400" cy="152399"/>
            </a:xfrm>
            <a:prstGeom prst="rect">
              <a:avLst/>
            </a:prstGeom>
          </p:spPr>
        </p:pic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id="{210BB786-2A5B-85B2-2FE7-17F71B82816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77548" y="897572"/>
              <a:ext cx="152401" cy="152399"/>
            </a:xfrm>
            <a:prstGeom prst="rect">
              <a:avLst/>
            </a:prstGeom>
          </p:spPr>
        </p:pic>
      </p:grp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267142A5-0C7D-95F7-5B05-1C83F62AB2A9}"/>
              </a:ext>
            </a:extLst>
          </p:cNvPr>
          <p:cNvGrpSpPr/>
          <p:nvPr/>
        </p:nvGrpSpPr>
        <p:grpSpPr>
          <a:xfrm>
            <a:off x="457202" y="2002581"/>
            <a:ext cx="3609976" cy="3276600"/>
            <a:chOff x="457199" y="1790700"/>
            <a:chExt cx="3609975" cy="327660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BD6ADFA3-1DA6-4F7C-11AD-88078232BA41}"/>
                </a:ext>
              </a:extLst>
            </p:cNvPr>
            <p:cNvSpPr/>
            <p:nvPr/>
          </p:nvSpPr>
          <p:spPr>
            <a:xfrm>
              <a:off x="457199" y="1469072"/>
              <a:ext cx="3609975" cy="3257550"/>
            </a:xfrm>
            <a:custGeom>
              <a:avLst/>
              <a:gdLst/>
              <a:ahLst/>
              <a:cxnLst/>
              <a:rect l="l" t="t" r="r" b="b"/>
              <a:pathLst>
                <a:path w="3609975" h="3257550">
                  <a:moveTo>
                    <a:pt x="3538778" y="3257549"/>
                  </a:moveTo>
                  <a:lnTo>
                    <a:pt x="71196" y="3257549"/>
                  </a:lnTo>
                  <a:lnTo>
                    <a:pt x="66241" y="3257060"/>
                  </a:lnTo>
                  <a:lnTo>
                    <a:pt x="29705" y="3241927"/>
                  </a:lnTo>
                  <a:lnTo>
                    <a:pt x="3885" y="3205887"/>
                  </a:lnTo>
                  <a:lnTo>
                    <a:pt x="0" y="3186352"/>
                  </a:lnTo>
                  <a:lnTo>
                    <a:pt x="0" y="31813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538778" y="0"/>
                  </a:lnTo>
                  <a:lnTo>
                    <a:pt x="3580268" y="11716"/>
                  </a:lnTo>
                  <a:lnTo>
                    <a:pt x="3607533" y="42320"/>
                  </a:lnTo>
                  <a:lnTo>
                    <a:pt x="3609974" y="53397"/>
                  </a:lnTo>
                  <a:lnTo>
                    <a:pt x="3609974" y="3186352"/>
                  </a:lnTo>
                  <a:lnTo>
                    <a:pt x="3594352" y="3227843"/>
                  </a:lnTo>
                  <a:lnTo>
                    <a:pt x="3558312" y="3253663"/>
                  </a:lnTo>
                  <a:lnTo>
                    <a:pt x="3543733" y="3257060"/>
                  </a:lnTo>
                  <a:lnTo>
                    <a:pt x="3538778" y="3257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6C97B50D-94AF-F321-BBBD-5EFB40A09DC1}"/>
                </a:ext>
              </a:extLst>
            </p:cNvPr>
            <p:cNvSpPr/>
            <p:nvPr/>
          </p:nvSpPr>
          <p:spPr>
            <a:xfrm>
              <a:off x="457477" y="1450023"/>
              <a:ext cx="3609975" cy="70485"/>
            </a:xfrm>
            <a:custGeom>
              <a:avLst/>
              <a:gdLst/>
              <a:ahLst/>
              <a:cxnLst/>
              <a:rect l="l" t="t" r="r" b="b"/>
              <a:pathLst>
                <a:path w="3609975" h="70485">
                  <a:moveTo>
                    <a:pt x="0" y="70449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3533497" y="0"/>
                  </a:lnTo>
                  <a:lnTo>
                    <a:pt x="3575838" y="12829"/>
                  </a:lnTo>
                  <a:lnTo>
                    <a:pt x="3599406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3609975" h="70485">
                  <a:moveTo>
                    <a:pt x="3609419" y="70449"/>
                  </a:moveTo>
                  <a:lnTo>
                    <a:pt x="3575838" y="44514"/>
                  </a:lnTo>
                  <a:lnTo>
                    <a:pt x="3533497" y="38099"/>
                  </a:lnTo>
                  <a:lnTo>
                    <a:pt x="3599406" y="38099"/>
                  </a:lnTo>
                  <a:lnTo>
                    <a:pt x="3609334" y="68693"/>
                  </a:lnTo>
                  <a:lnTo>
                    <a:pt x="3609419" y="704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2534559F-3FBF-852D-2C46-CAFAE660EC0F}"/>
                </a:ext>
              </a:extLst>
            </p:cNvPr>
            <p:cNvSpPr/>
            <p:nvPr/>
          </p:nvSpPr>
          <p:spPr>
            <a:xfrm>
              <a:off x="685799" y="17167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6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3" y="176659"/>
                  </a:lnTo>
                  <a:lnTo>
                    <a:pt x="20266" y="134201"/>
                  </a:lnTo>
                  <a:lnTo>
                    <a:pt x="42685" y="95371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3"/>
                  </a:lnTo>
                  <a:lnTo>
                    <a:pt x="322998" y="20265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199" y="221112"/>
                  </a:lnTo>
                  <a:lnTo>
                    <a:pt x="457199" y="228599"/>
                  </a:lnTo>
                  <a:lnTo>
                    <a:pt x="457199" y="236086"/>
                  </a:lnTo>
                  <a:lnTo>
                    <a:pt x="451346" y="280540"/>
                  </a:lnTo>
                  <a:lnTo>
                    <a:pt x="436933" y="322998"/>
                  </a:lnTo>
                  <a:lnTo>
                    <a:pt x="414514" y="361828"/>
                  </a:lnTo>
                  <a:lnTo>
                    <a:pt x="384950" y="395538"/>
                  </a:lnTo>
                  <a:lnTo>
                    <a:pt x="349378" y="422833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618AF191-F933-960A-E484-88237E4889F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9149" y="1811972"/>
              <a:ext cx="190499" cy="266699"/>
            </a:xfrm>
            <a:prstGeom prst="rect">
              <a:avLst/>
            </a:prstGeom>
          </p:spPr>
        </p:pic>
      </p:grpSp>
      <p:sp>
        <p:nvSpPr>
          <p:cNvPr id="28" name="object 28">
            <a:extLst>
              <a:ext uri="{FF2B5EF4-FFF2-40B4-BE49-F238E27FC236}">
                <a16:creationId xmlns:a16="http://schemas.microsoft.com/office/drawing/2014/main" id="{4640CD86-7BBE-32D1-C0F5-6E05DB51BD14}"/>
              </a:ext>
            </a:extLst>
          </p:cNvPr>
          <p:cNvSpPr txBox="1"/>
          <p:nvPr/>
        </p:nvSpPr>
        <p:spPr>
          <a:xfrm>
            <a:off x="1282699" y="1887607"/>
            <a:ext cx="2689580" cy="498725"/>
          </a:xfrm>
          <a:prstGeom prst="rect">
            <a:avLst/>
          </a:prstGeom>
        </p:spPr>
        <p:txBody>
          <a:bodyPr vert="horz" wrap="square" lIns="0" tIns="34289" rIns="0" bIns="0" rtlCol="0">
            <a:spAutoFit/>
          </a:bodyPr>
          <a:lstStyle/>
          <a:p>
            <a:pPr marL="12700">
              <a:spcBef>
                <a:spcPts val="270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현황분석 및 데이터 진단</a:t>
            </a:r>
            <a:endParaRPr sz="1700" dirty="0">
              <a:latin typeface="Malgun Gothic"/>
              <a:cs typeface="Malgun Gothic"/>
            </a:endParaRPr>
          </a:p>
          <a:p>
            <a:pPr marL="12700">
              <a:spcBef>
                <a:spcPts val="160"/>
              </a:spcBef>
            </a:pPr>
            <a:r>
              <a:rPr sz="1149" dirty="0">
                <a:solidFill>
                  <a:srgbClr val="6A7280"/>
                </a:solidFill>
                <a:latin typeface="Arial"/>
                <a:cs typeface="Arial"/>
              </a:rPr>
              <a:t>1-2</a:t>
            </a: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개월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29" name="object 29">
            <a:extLst>
              <a:ext uri="{FF2B5EF4-FFF2-40B4-BE49-F238E27FC236}">
                <a16:creationId xmlns:a16="http://schemas.microsoft.com/office/drawing/2014/main" id="{D301433C-93D2-D93C-E188-0B940A01F4A1}"/>
              </a:ext>
            </a:extLst>
          </p:cNvPr>
          <p:cNvGrpSpPr/>
          <p:nvPr/>
        </p:nvGrpSpPr>
        <p:grpSpPr>
          <a:xfrm>
            <a:off x="685799" y="3134432"/>
            <a:ext cx="152400" cy="1523999"/>
            <a:chOff x="685799" y="2705099"/>
            <a:chExt cx="152400" cy="1524000"/>
          </a:xfrm>
        </p:grpSpPr>
        <p:pic>
          <p:nvPicPr>
            <p:cNvPr id="30" name="object 30">
              <a:extLst>
                <a:ext uri="{FF2B5EF4-FFF2-40B4-BE49-F238E27FC236}">
                  <a16:creationId xmlns:a16="http://schemas.microsoft.com/office/drawing/2014/main" id="{B276E528-1853-59BE-0CFD-3F80E5C81AA0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799" y="2364422"/>
              <a:ext cx="152399" cy="152399"/>
            </a:xfrm>
            <a:prstGeom prst="rect">
              <a:avLst/>
            </a:prstGeom>
          </p:spPr>
        </p:pic>
        <p:pic>
          <p:nvPicPr>
            <p:cNvPr id="31" name="object 31">
              <a:extLst>
                <a:ext uri="{FF2B5EF4-FFF2-40B4-BE49-F238E27FC236}">
                  <a16:creationId xmlns:a16="http://schemas.microsoft.com/office/drawing/2014/main" id="{30C00BAF-944A-063A-CDB6-FF191F9F0EF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799" y="3164522"/>
              <a:ext cx="152399" cy="152399"/>
            </a:xfrm>
            <a:prstGeom prst="rect">
              <a:avLst/>
            </a:prstGeom>
          </p:spPr>
        </p:pic>
        <p:pic>
          <p:nvPicPr>
            <p:cNvPr id="32" name="object 32">
              <a:extLst>
                <a:ext uri="{FF2B5EF4-FFF2-40B4-BE49-F238E27FC236}">
                  <a16:creationId xmlns:a16="http://schemas.microsoft.com/office/drawing/2014/main" id="{247B942A-FC0B-0AF4-5D8C-246B4488570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799" y="3736022"/>
              <a:ext cx="152399" cy="152399"/>
            </a:xfrm>
            <a:prstGeom prst="rect">
              <a:avLst/>
            </a:prstGeom>
          </p:spPr>
        </p:pic>
      </p:grpSp>
      <p:sp>
        <p:nvSpPr>
          <p:cNvPr id="33" name="object 33">
            <a:extLst>
              <a:ext uri="{FF2B5EF4-FFF2-40B4-BE49-F238E27FC236}">
                <a16:creationId xmlns:a16="http://schemas.microsoft.com/office/drawing/2014/main" id="{0E4B878E-3F20-8993-23FB-138A3498E784}"/>
              </a:ext>
            </a:extLst>
          </p:cNvPr>
          <p:cNvSpPr txBox="1"/>
          <p:nvPr/>
        </p:nvSpPr>
        <p:spPr>
          <a:xfrm>
            <a:off x="901700" y="2738277"/>
            <a:ext cx="3232104" cy="676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6300"/>
              </a:lnSpc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기존 스마트 제조 시스템에서 수집되는 센서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MES, ERP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등의 데이터 소스 포맷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품질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편화 정도를 심층분석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6611C0B7-69ED-AB11-E6E9-2A6757842D4D}"/>
              </a:ext>
            </a:extLst>
          </p:cNvPr>
          <p:cNvSpPr txBox="1"/>
          <p:nvPr/>
        </p:nvSpPr>
        <p:spPr>
          <a:xfrm>
            <a:off x="901706" y="3517611"/>
            <a:ext cx="3393791" cy="4657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13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현장 작업자의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리터러시 수준과 데이터과학 및 엔지니어링 인력현황을 평가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115737AE-5030-AE78-B1B5-9EBCF153AE2B}"/>
              </a:ext>
            </a:extLst>
          </p:cNvPr>
          <p:cNvSpPr txBox="1"/>
          <p:nvPr/>
        </p:nvSpPr>
        <p:spPr>
          <a:xfrm>
            <a:off x="901705" y="4123318"/>
            <a:ext cx="2867407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데이터레이크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구축의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청사진</a:t>
            </a:r>
            <a:r>
              <a:rPr lang="en-US"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lang="ko-KR" altLang="en-US" sz="1350" dirty="0">
                <a:solidFill>
                  <a:srgbClr val="4A5462"/>
                </a:solidFill>
                <a:latin typeface="Malgun Gothic"/>
                <a:cs typeface="Malgun Gothic"/>
              </a:rPr>
              <a:t>제시</a:t>
            </a:r>
            <a:endParaRPr sz="1350" dirty="0">
              <a:latin typeface="Malgun Gothic"/>
              <a:cs typeface="Malgun Gothic"/>
            </a:endParaRPr>
          </a:p>
        </p:txBody>
      </p:sp>
      <p:grpSp>
        <p:nvGrpSpPr>
          <p:cNvPr id="36" name="object 36">
            <a:extLst>
              <a:ext uri="{FF2B5EF4-FFF2-40B4-BE49-F238E27FC236}">
                <a16:creationId xmlns:a16="http://schemas.microsoft.com/office/drawing/2014/main" id="{C89215A8-1B30-C615-1810-3ACCCD4E1EBB}"/>
              </a:ext>
            </a:extLst>
          </p:cNvPr>
          <p:cNvGrpSpPr/>
          <p:nvPr/>
        </p:nvGrpSpPr>
        <p:grpSpPr>
          <a:xfrm>
            <a:off x="4295775" y="2002581"/>
            <a:ext cx="3600451" cy="3276600"/>
            <a:chOff x="4295774" y="1790700"/>
            <a:chExt cx="3600450" cy="3276600"/>
          </a:xfrm>
        </p:grpSpPr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CF4BFA15-4BC8-FFAB-C1FB-28E8A37284ED}"/>
                </a:ext>
              </a:extLst>
            </p:cNvPr>
            <p:cNvSpPr/>
            <p:nvPr/>
          </p:nvSpPr>
          <p:spPr>
            <a:xfrm>
              <a:off x="4295774" y="1469072"/>
              <a:ext cx="3600450" cy="3257550"/>
            </a:xfrm>
            <a:custGeom>
              <a:avLst/>
              <a:gdLst/>
              <a:ahLst/>
              <a:cxnLst/>
              <a:rect l="l" t="t" r="r" b="b"/>
              <a:pathLst>
                <a:path w="3600450" h="3257550">
                  <a:moveTo>
                    <a:pt x="3529253" y="3257549"/>
                  </a:moveTo>
                  <a:lnTo>
                    <a:pt x="71196" y="3257549"/>
                  </a:lnTo>
                  <a:lnTo>
                    <a:pt x="66241" y="3257060"/>
                  </a:lnTo>
                  <a:lnTo>
                    <a:pt x="29705" y="3241927"/>
                  </a:lnTo>
                  <a:lnTo>
                    <a:pt x="3885" y="3205887"/>
                  </a:lnTo>
                  <a:lnTo>
                    <a:pt x="0" y="3186352"/>
                  </a:lnTo>
                  <a:lnTo>
                    <a:pt x="0" y="31813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529253" y="0"/>
                  </a:lnTo>
                  <a:lnTo>
                    <a:pt x="3570744" y="11716"/>
                  </a:lnTo>
                  <a:lnTo>
                    <a:pt x="3598009" y="42320"/>
                  </a:lnTo>
                  <a:lnTo>
                    <a:pt x="3600449" y="53397"/>
                  </a:lnTo>
                  <a:lnTo>
                    <a:pt x="3600449" y="3186352"/>
                  </a:lnTo>
                  <a:lnTo>
                    <a:pt x="3584827" y="3227843"/>
                  </a:lnTo>
                  <a:lnTo>
                    <a:pt x="3548786" y="3253663"/>
                  </a:lnTo>
                  <a:lnTo>
                    <a:pt x="3534208" y="3257060"/>
                  </a:lnTo>
                  <a:lnTo>
                    <a:pt x="3529253" y="3257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1FFC7E44-6361-A92C-16C3-5186DD8B5E43}"/>
                </a:ext>
              </a:extLst>
            </p:cNvPr>
            <p:cNvSpPr/>
            <p:nvPr/>
          </p:nvSpPr>
          <p:spPr>
            <a:xfrm>
              <a:off x="4296052" y="1450023"/>
              <a:ext cx="3600450" cy="70485"/>
            </a:xfrm>
            <a:custGeom>
              <a:avLst/>
              <a:gdLst/>
              <a:ahLst/>
              <a:cxnLst/>
              <a:rect l="l" t="t" r="r" b="b"/>
              <a:pathLst>
                <a:path w="3600450" h="70485">
                  <a:moveTo>
                    <a:pt x="0" y="70449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3523972" y="0"/>
                  </a:lnTo>
                  <a:lnTo>
                    <a:pt x="3566313" y="12829"/>
                  </a:lnTo>
                  <a:lnTo>
                    <a:pt x="358988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3600450" h="70485">
                  <a:moveTo>
                    <a:pt x="3599894" y="70449"/>
                  </a:moveTo>
                  <a:lnTo>
                    <a:pt x="3566313" y="44514"/>
                  </a:lnTo>
                  <a:lnTo>
                    <a:pt x="3523972" y="38099"/>
                  </a:lnTo>
                  <a:lnTo>
                    <a:pt x="3589880" y="38099"/>
                  </a:lnTo>
                  <a:lnTo>
                    <a:pt x="3599809" y="68693"/>
                  </a:lnTo>
                  <a:lnTo>
                    <a:pt x="3599894" y="7044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1294145F-11AB-285B-B777-C3B65C890AB3}"/>
                </a:ext>
              </a:extLst>
            </p:cNvPr>
            <p:cNvSpPr/>
            <p:nvPr/>
          </p:nvSpPr>
          <p:spPr>
            <a:xfrm>
              <a:off x="4524374" y="17167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7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6"/>
                  </a:lnTo>
                  <a:lnTo>
                    <a:pt x="89364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2" y="176659"/>
                  </a:lnTo>
                  <a:lnTo>
                    <a:pt x="20265" y="134201"/>
                  </a:lnTo>
                  <a:lnTo>
                    <a:pt x="42685" y="95371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7" y="0"/>
                  </a:lnTo>
                  <a:lnTo>
                    <a:pt x="280540" y="5853"/>
                  </a:lnTo>
                  <a:lnTo>
                    <a:pt x="322997" y="20265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2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200" y="221112"/>
                  </a:lnTo>
                  <a:lnTo>
                    <a:pt x="457199" y="228599"/>
                  </a:lnTo>
                  <a:lnTo>
                    <a:pt x="457200" y="236086"/>
                  </a:lnTo>
                  <a:lnTo>
                    <a:pt x="451346" y="280540"/>
                  </a:lnTo>
                  <a:lnTo>
                    <a:pt x="436933" y="322998"/>
                  </a:lnTo>
                  <a:lnTo>
                    <a:pt x="414513" y="361828"/>
                  </a:lnTo>
                  <a:lnTo>
                    <a:pt x="384950" y="395538"/>
                  </a:lnTo>
                  <a:lnTo>
                    <a:pt x="349377" y="422833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6" y="456832"/>
                  </a:lnTo>
                  <a:lnTo>
                    <a:pt x="236087" y="457199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>
              <a:extLst>
                <a:ext uri="{FF2B5EF4-FFF2-40B4-BE49-F238E27FC236}">
                  <a16:creationId xmlns:a16="http://schemas.microsoft.com/office/drawing/2014/main" id="{E57BB833-24A0-E413-1D18-71FAC73651B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57724" y="1811972"/>
              <a:ext cx="190499" cy="266699"/>
            </a:xfrm>
            <a:prstGeom prst="rect">
              <a:avLst/>
            </a:prstGeom>
          </p:spPr>
        </p:pic>
      </p:grpSp>
      <p:sp>
        <p:nvSpPr>
          <p:cNvPr id="41" name="object 41">
            <a:extLst>
              <a:ext uri="{FF2B5EF4-FFF2-40B4-BE49-F238E27FC236}">
                <a16:creationId xmlns:a16="http://schemas.microsoft.com/office/drawing/2014/main" id="{2AA93B05-3069-03DC-2AE9-E3493AC86BBA}"/>
              </a:ext>
            </a:extLst>
          </p:cNvPr>
          <p:cNvSpPr txBox="1"/>
          <p:nvPr/>
        </p:nvSpPr>
        <p:spPr>
          <a:xfrm>
            <a:off x="5118000" y="1887609"/>
            <a:ext cx="2511524" cy="498725"/>
          </a:xfrm>
          <a:prstGeom prst="rect">
            <a:avLst/>
          </a:prstGeom>
        </p:spPr>
        <p:txBody>
          <a:bodyPr vert="horz" wrap="square" lIns="0" tIns="34289" rIns="0" bIns="0" rtlCol="0">
            <a:spAutoFit/>
          </a:bodyPr>
          <a:lstStyle/>
          <a:p>
            <a:pPr marL="12700">
              <a:spcBef>
                <a:spcPts val="270"/>
              </a:spcBef>
            </a:pPr>
            <a:r>
              <a:rPr sz="1650" b="1" dirty="0">
                <a:solidFill>
                  <a:srgbClr val="374050"/>
                </a:solidFill>
                <a:latin typeface="Arial"/>
                <a:cs typeface="Arial"/>
              </a:rPr>
              <a:t>AI </a:t>
            </a: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인프라 아키텍처 설계</a:t>
            </a:r>
            <a:endParaRPr sz="1700" dirty="0">
              <a:latin typeface="Malgun Gothic"/>
              <a:cs typeface="Malgun Gothic"/>
            </a:endParaRPr>
          </a:p>
          <a:p>
            <a:pPr marL="12700">
              <a:spcBef>
                <a:spcPts val="160"/>
              </a:spcBef>
            </a:pPr>
            <a:r>
              <a:rPr sz="1149" dirty="0">
                <a:solidFill>
                  <a:srgbClr val="6A7280"/>
                </a:solidFill>
                <a:latin typeface="Arial"/>
                <a:cs typeface="Arial"/>
              </a:rPr>
              <a:t>3-4</a:t>
            </a: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개월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42" name="object 42">
            <a:extLst>
              <a:ext uri="{FF2B5EF4-FFF2-40B4-BE49-F238E27FC236}">
                <a16:creationId xmlns:a16="http://schemas.microsoft.com/office/drawing/2014/main" id="{192F3696-FF4D-969A-5523-80221A582809}"/>
              </a:ext>
            </a:extLst>
          </p:cNvPr>
          <p:cNvGrpSpPr/>
          <p:nvPr/>
        </p:nvGrpSpPr>
        <p:grpSpPr>
          <a:xfrm>
            <a:off x="4533908" y="3134432"/>
            <a:ext cx="142875" cy="1866900"/>
            <a:chOff x="4533900" y="2705099"/>
            <a:chExt cx="142875" cy="1866900"/>
          </a:xfrm>
        </p:grpSpPr>
        <p:pic>
          <p:nvPicPr>
            <p:cNvPr id="43" name="object 43">
              <a:extLst>
                <a:ext uri="{FF2B5EF4-FFF2-40B4-BE49-F238E27FC236}">
                  <a16:creationId xmlns:a16="http://schemas.microsoft.com/office/drawing/2014/main" id="{AE8FB2DA-A27D-86B4-B2A7-E0FA6F6631DC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33900" y="2364422"/>
              <a:ext cx="142874" cy="152399"/>
            </a:xfrm>
            <a:prstGeom prst="rect">
              <a:avLst/>
            </a:prstGeom>
          </p:spPr>
        </p:pic>
        <p:pic>
          <p:nvPicPr>
            <p:cNvPr id="44" name="object 44">
              <a:extLst>
                <a:ext uri="{FF2B5EF4-FFF2-40B4-BE49-F238E27FC236}">
                  <a16:creationId xmlns:a16="http://schemas.microsoft.com/office/drawing/2014/main" id="{9801DDDE-8654-EEC5-A78E-24F84F0959DA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33900" y="2935922"/>
              <a:ext cx="142874" cy="152399"/>
            </a:xfrm>
            <a:prstGeom prst="rect">
              <a:avLst/>
            </a:prstGeom>
          </p:spPr>
        </p:pic>
        <p:pic>
          <p:nvPicPr>
            <p:cNvPr id="45" name="object 45">
              <a:extLst>
                <a:ext uri="{FF2B5EF4-FFF2-40B4-BE49-F238E27FC236}">
                  <a16:creationId xmlns:a16="http://schemas.microsoft.com/office/drawing/2014/main" id="{C4E6EF05-D18A-2C7B-6E02-9B4816F4884C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33900" y="3507422"/>
              <a:ext cx="142874" cy="152399"/>
            </a:xfrm>
            <a:prstGeom prst="rect">
              <a:avLst/>
            </a:prstGeom>
          </p:spPr>
        </p:pic>
        <p:pic>
          <p:nvPicPr>
            <p:cNvPr id="46" name="object 46">
              <a:extLst>
                <a:ext uri="{FF2B5EF4-FFF2-40B4-BE49-F238E27FC236}">
                  <a16:creationId xmlns:a16="http://schemas.microsoft.com/office/drawing/2014/main" id="{D2A230F6-CB2A-C6E8-5CE3-198042FA08C0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33900" y="4078922"/>
              <a:ext cx="142874" cy="152399"/>
            </a:xfrm>
            <a:prstGeom prst="rect">
              <a:avLst/>
            </a:prstGeom>
          </p:spPr>
        </p:pic>
      </p:grpSp>
      <p:sp>
        <p:nvSpPr>
          <p:cNvPr id="47" name="object 47">
            <a:extLst>
              <a:ext uri="{FF2B5EF4-FFF2-40B4-BE49-F238E27FC236}">
                <a16:creationId xmlns:a16="http://schemas.microsoft.com/office/drawing/2014/main" id="{F3145C42-A5C9-73CA-06FD-E2FEE1F072D2}"/>
              </a:ext>
            </a:extLst>
          </p:cNvPr>
          <p:cNvSpPr txBox="1"/>
          <p:nvPr/>
        </p:nvSpPr>
        <p:spPr>
          <a:xfrm>
            <a:off x="4737000" y="2729779"/>
            <a:ext cx="3113451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센서 데이터의 실시간 수집 및 처리를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위한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아키텍처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설계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A8B5A624-E06B-254B-1B53-5564035E28AD}"/>
              </a:ext>
            </a:extLst>
          </p:cNvPr>
          <p:cNvSpPr txBox="1"/>
          <p:nvPr/>
        </p:nvSpPr>
        <p:spPr>
          <a:xfrm>
            <a:off x="4737008" y="3289015"/>
            <a:ext cx="2974060" cy="4657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13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MQTT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프로토콜을 사용하여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IoT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장비로부터 데이터 수집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7D514B65-C3FF-9931-48B6-EBF185C0D801}"/>
              </a:ext>
            </a:extLst>
          </p:cNvPr>
          <p:cNvSpPr txBox="1"/>
          <p:nvPr/>
        </p:nvSpPr>
        <p:spPr>
          <a:xfrm>
            <a:off x="4737002" y="3860512"/>
            <a:ext cx="2974066" cy="4657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13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Apache Kafka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를 기반으로한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데이터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파이프라인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구축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B8234FD3-DD58-E7C4-20E5-0F3729DD0521}"/>
              </a:ext>
            </a:extLst>
          </p:cNvPr>
          <p:cNvSpPr txBox="1"/>
          <p:nvPr/>
        </p:nvSpPr>
        <p:spPr>
          <a:xfrm>
            <a:off x="4737007" y="4432013"/>
            <a:ext cx="3113451" cy="4657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13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InfluxDB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또는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TimescaleDB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를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대규모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시계열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데이터 저장소로 비교분석</a:t>
            </a:r>
            <a:endParaRPr sz="1350" dirty="0">
              <a:latin typeface="Malgun Gothic"/>
              <a:cs typeface="Malgun Gothic"/>
            </a:endParaRPr>
          </a:p>
        </p:txBody>
      </p:sp>
      <p:grpSp>
        <p:nvGrpSpPr>
          <p:cNvPr id="51" name="object 51">
            <a:extLst>
              <a:ext uri="{FF2B5EF4-FFF2-40B4-BE49-F238E27FC236}">
                <a16:creationId xmlns:a16="http://schemas.microsoft.com/office/drawing/2014/main" id="{A9A2E4B4-FFC2-0FE6-75AB-8E52D6E9654F}"/>
              </a:ext>
            </a:extLst>
          </p:cNvPr>
          <p:cNvGrpSpPr/>
          <p:nvPr/>
        </p:nvGrpSpPr>
        <p:grpSpPr>
          <a:xfrm>
            <a:off x="8124831" y="2002581"/>
            <a:ext cx="3609976" cy="3276600"/>
            <a:chOff x="8124824" y="1790700"/>
            <a:chExt cx="3609975" cy="3276600"/>
          </a:xfrm>
        </p:grpSpPr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534AD4E4-D9D0-774C-E165-F4E242CAF4E4}"/>
                </a:ext>
              </a:extLst>
            </p:cNvPr>
            <p:cNvSpPr/>
            <p:nvPr/>
          </p:nvSpPr>
          <p:spPr>
            <a:xfrm>
              <a:off x="8124824" y="1469072"/>
              <a:ext cx="3609975" cy="3257550"/>
            </a:xfrm>
            <a:custGeom>
              <a:avLst/>
              <a:gdLst/>
              <a:ahLst/>
              <a:cxnLst/>
              <a:rect l="l" t="t" r="r" b="b"/>
              <a:pathLst>
                <a:path w="3609975" h="3257550">
                  <a:moveTo>
                    <a:pt x="3538777" y="3257549"/>
                  </a:moveTo>
                  <a:lnTo>
                    <a:pt x="71196" y="3257549"/>
                  </a:lnTo>
                  <a:lnTo>
                    <a:pt x="66240" y="3257060"/>
                  </a:lnTo>
                  <a:lnTo>
                    <a:pt x="29703" y="3241927"/>
                  </a:lnTo>
                  <a:lnTo>
                    <a:pt x="3884" y="3205887"/>
                  </a:lnTo>
                  <a:lnTo>
                    <a:pt x="0" y="3186352"/>
                  </a:lnTo>
                  <a:lnTo>
                    <a:pt x="0" y="31813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538777" y="0"/>
                  </a:lnTo>
                  <a:lnTo>
                    <a:pt x="3580267" y="11716"/>
                  </a:lnTo>
                  <a:lnTo>
                    <a:pt x="3607532" y="42320"/>
                  </a:lnTo>
                  <a:lnTo>
                    <a:pt x="3609974" y="53397"/>
                  </a:lnTo>
                  <a:lnTo>
                    <a:pt x="3609974" y="3186352"/>
                  </a:lnTo>
                  <a:lnTo>
                    <a:pt x="3594351" y="3227843"/>
                  </a:lnTo>
                  <a:lnTo>
                    <a:pt x="3558311" y="3253663"/>
                  </a:lnTo>
                  <a:lnTo>
                    <a:pt x="3543733" y="3257060"/>
                  </a:lnTo>
                  <a:lnTo>
                    <a:pt x="3538777" y="3257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132CAC7D-1A9F-86AC-0DD0-F5B13C73CFCF}"/>
                </a:ext>
              </a:extLst>
            </p:cNvPr>
            <p:cNvSpPr/>
            <p:nvPr/>
          </p:nvSpPr>
          <p:spPr>
            <a:xfrm>
              <a:off x="8125102" y="1450023"/>
              <a:ext cx="3609975" cy="70485"/>
            </a:xfrm>
            <a:custGeom>
              <a:avLst/>
              <a:gdLst/>
              <a:ahLst/>
              <a:cxnLst/>
              <a:rect l="l" t="t" r="r" b="b"/>
              <a:pathLst>
                <a:path w="3609975" h="70485">
                  <a:moveTo>
                    <a:pt x="0" y="70450"/>
                  </a:moveTo>
                  <a:lnTo>
                    <a:pt x="12550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3533497" y="0"/>
                  </a:lnTo>
                  <a:lnTo>
                    <a:pt x="3575838" y="12829"/>
                  </a:lnTo>
                  <a:lnTo>
                    <a:pt x="3599405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3609975" h="70485">
                  <a:moveTo>
                    <a:pt x="3609419" y="70450"/>
                  </a:moveTo>
                  <a:lnTo>
                    <a:pt x="3575838" y="44514"/>
                  </a:lnTo>
                  <a:lnTo>
                    <a:pt x="3533497" y="38099"/>
                  </a:lnTo>
                  <a:lnTo>
                    <a:pt x="3599405" y="38099"/>
                  </a:lnTo>
                  <a:lnTo>
                    <a:pt x="3609334" y="68693"/>
                  </a:lnTo>
                  <a:lnTo>
                    <a:pt x="3609419" y="7045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3A33BE22-5D0C-9505-42BA-77F3D74C2883}"/>
                </a:ext>
              </a:extLst>
            </p:cNvPr>
            <p:cNvSpPr/>
            <p:nvPr/>
          </p:nvSpPr>
          <p:spPr>
            <a:xfrm>
              <a:off x="8353424" y="17167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2" y="457199"/>
                  </a:lnTo>
                  <a:lnTo>
                    <a:pt x="213643" y="456832"/>
                  </a:lnTo>
                  <a:lnTo>
                    <a:pt x="169404" y="449529"/>
                  </a:lnTo>
                  <a:lnTo>
                    <a:pt x="127440" y="433736"/>
                  </a:lnTo>
                  <a:lnTo>
                    <a:pt x="89364" y="410059"/>
                  </a:lnTo>
                  <a:lnTo>
                    <a:pt x="56638" y="379409"/>
                  </a:lnTo>
                  <a:lnTo>
                    <a:pt x="30521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1" y="176659"/>
                  </a:lnTo>
                  <a:lnTo>
                    <a:pt x="20265" y="134201"/>
                  </a:lnTo>
                  <a:lnTo>
                    <a:pt x="42683" y="95371"/>
                  </a:lnTo>
                  <a:lnTo>
                    <a:pt x="72249" y="61661"/>
                  </a:lnTo>
                  <a:lnTo>
                    <a:pt x="107820" y="34366"/>
                  </a:lnTo>
                  <a:lnTo>
                    <a:pt x="148035" y="14535"/>
                  </a:lnTo>
                  <a:lnTo>
                    <a:pt x="191344" y="2931"/>
                  </a:lnTo>
                  <a:lnTo>
                    <a:pt x="221112" y="0"/>
                  </a:lnTo>
                  <a:lnTo>
                    <a:pt x="236086" y="0"/>
                  </a:lnTo>
                  <a:lnTo>
                    <a:pt x="280540" y="5853"/>
                  </a:lnTo>
                  <a:lnTo>
                    <a:pt x="322997" y="20265"/>
                  </a:lnTo>
                  <a:lnTo>
                    <a:pt x="361827" y="42685"/>
                  </a:lnTo>
                  <a:lnTo>
                    <a:pt x="395538" y="72249"/>
                  </a:lnTo>
                  <a:lnTo>
                    <a:pt x="422831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199" y="221112"/>
                  </a:lnTo>
                  <a:lnTo>
                    <a:pt x="457199" y="228599"/>
                  </a:lnTo>
                  <a:lnTo>
                    <a:pt x="457199" y="236086"/>
                  </a:lnTo>
                  <a:lnTo>
                    <a:pt x="451346" y="280540"/>
                  </a:lnTo>
                  <a:lnTo>
                    <a:pt x="436933" y="322998"/>
                  </a:lnTo>
                  <a:lnTo>
                    <a:pt x="414513" y="361828"/>
                  </a:lnTo>
                  <a:lnTo>
                    <a:pt x="384949" y="395538"/>
                  </a:lnTo>
                  <a:lnTo>
                    <a:pt x="349376" y="422833"/>
                  </a:lnTo>
                  <a:lnTo>
                    <a:pt x="309163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>
              <a:extLst>
                <a:ext uri="{FF2B5EF4-FFF2-40B4-BE49-F238E27FC236}">
                  <a16:creationId xmlns:a16="http://schemas.microsoft.com/office/drawing/2014/main" id="{A4282FAC-151A-3470-EC49-A474989685C8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96299" y="1811972"/>
              <a:ext cx="171449" cy="266699"/>
            </a:xfrm>
            <a:prstGeom prst="rect">
              <a:avLst/>
            </a:prstGeom>
          </p:spPr>
        </p:pic>
      </p:grpSp>
      <p:sp>
        <p:nvSpPr>
          <p:cNvPr id="56" name="object 56">
            <a:extLst>
              <a:ext uri="{FF2B5EF4-FFF2-40B4-BE49-F238E27FC236}">
                <a16:creationId xmlns:a16="http://schemas.microsoft.com/office/drawing/2014/main" id="{C6891326-3824-69AC-3AA1-4170BFDF1BBB}"/>
              </a:ext>
            </a:extLst>
          </p:cNvPr>
          <p:cNvSpPr txBox="1"/>
          <p:nvPr/>
        </p:nvSpPr>
        <p:spPr>
          <a:xfrm>
            <a:off x="8953449" y="1887609"/>
            <a:ext cx="2119712" cy="498725"/>
          </a:xfrm>
          <a:prstGeom prst="rect">
            <a:avLst/>
          </a:prstGeom>
        </p:spPr>
        <p:txBody>
          <a:bodyPr vert="horz" wrap="square" lIns="0" tIns="34289" rIns="0" bIns="0" rtlCol="0">
            <a:spAutoFit/>
          </a:bodyPr>
          <a:lstStyle/>
          <a:p>
            <a:pPr marL="12700">
              <a:spcBef>
                <a:spcPts val="270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핵심 기술 </a:t>
            </a:r>
            <a:r>
              <a:rPr sz="1650" b="1" dirty="0">
                <a:solidFill>
                  <a:srgbClr val="374050"/>
                </a:solidFill>
                <a:latin typeface="Arial"/>
                <a:cs typeface="Arial"/>
              </a:rPr>
              <a:t>PoC</a:t>
            </a:r>
            <a:endParaRPr sz="1650" dirty="0">
              <a:latin typeface="Arial"/>
              <a:cs typeface="Arial"/>
            </a:endParaRPr>
          </a:p>
          <a:p>
            <a:pPr marL="12700">
              <a:spcBef>
                <a:spcPts val="160"/>
              </a:spcBef>
            </a:pPr>
            <a:r>
              <a:rPr sz="1149" dirty="0">
                <a:solidFill>
                  <a:srgbClr val="6A7280"/>
                </a:solidFill>
                <a:latin typeface="Arial"/>
                <a:cs typeface="Arial"/>
              </a:rPr>
              <a:t>5-6</a:t>
            </a: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개월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57" name="object 57">
            <a:extLst>
              <a:ext uri="{FF2B5EF4-FFF2-40B4-BE49-F238E27FC236}">
                <a16:creationId xmlns:a16="http://schemas.microsoft.com/office/drawing/2014/main" id="{F86ACE20-9920-D1E4-C9AE-55FBB3256844}"/>
              </a:ext>
            </a:extLst>
          </p:cNvPr>
          <p:cNvGrpSpPr/>
          <p:nvPr/>
        </p:nvGrpSpPr>
        <p:grpSpPr>
          <a:xfrm>
            <a:off x="8353426" y="3134432"/>
            <a:ext cx="152400" cy="1866900"/>
            <a:chOff x="8353425" y="2705099"/>
            <a:chExt cx="152400" cy="1866900"/>
          </a:xfrm>
        </p:grpSpPr>
        <p:pic>
          <p:nvPicPr>
            <p:cNvPr id="58" name="object 58">
              <a:extLst>
                <a:ext uri="{FF2B5EF4-FFF2-40B4-BE49-F238E27FC236}">
                  <a16:creationId xmlns:a16="http://schemas.microsoft.com/office/drawing/2014/main" id="{E89BD6C6-D5CF-D4AE-BCE3-BCB2D53E9B3C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53425" y="2364422"/>
              <a:ext cx="152399" cy="152399"/>
            </a:xfrm>
            <a:prstGeom prst="rect">
              <a:avLst/>
            </a:prstGeom>
          </p:spPr>
        </p:pic>
        <p:pic>
          <p:nvPicPr>
            <p:cNvPr id="59" name="object 59">
              <a:extLst>
                <a:ext uri="{FF2B5EF4-FFF2-40B4-BE49-F238E27FC236}">
                  <a16:creationId xmlns:a16="http://schemas.microsoft.com/office/drawing/2014/main" id="{753F480B-5E00-6008-EFE4-7E58B4D83B8F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53425" y="2935922"/>
              <a:ext cx="152399" cy="152399"/>
            </a:xfrm>
            <a:prstGeom prst="rect">
              <a:avLst/>
            </a:prstGeom>
          </p:spPr>
        </p:pic>
        <p:pic>
          <p:nvPicPr>
            <p:cNvPr id="60" name="object 60">
              <a:extLst>
                <a:ext uri="{FF2B5EF4-FFF2-40B4-BE49-F238E27FC236}">
                  <a16:creationId xmlns:a16="http://schemas.microsoft.com/office/drawing/2014/main" id="{BCCD435A-9428-750F-A5FF-F79B1BE092D9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53425" y="3507422"/>
              <a:ext cx="152399" cy="152399"/>
            </a:xfrm>
            <a:prstGeom prst="rect">
              <a:avLst/>
            </a:prstGeom>
          </p:spPr>
        </p:pic>
        <p:pic>
          <p:nvPicPr>
            <p:cNvPr id="61" name="object 61">
              <a:extLst>
                <a:ext uri="{FF2B5EF4-FFF2-40B4-BE49-F238E27FC236}">
                  <a16:creationId xmlns:a16="http://schemas.microsoft.com/office/drawing/2014/main" id="{9390A89A-976B-D4C3-DA93-8308873F9DFE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53425" y="4078922"/>
              <a:ext cx="152399" cy="152399"/>
            </a:xfrm>
            <a:prstGeom prst="rect">
              <a:avLst/>
            </a:prstGeom>
          </p:spPr>
        </p:pic>
      </p:grpSp>
      <p:sp>
        <p:nvSpPr>
          <p:cNvPr id="62" name="object 62">
            <a:extLst>
              <a:ext uri="{FF2B5EF4-FFF2-40B4-BE49-F238E27FC236}">
                <a16:creationId xmlns:a16="http://schemas.microsoft.com/office/drawing/2014/main" id="{0E446849-DC2C-4D5F-C18D-1F270D31207F}"/>
              </a:ext>
            </a:extLst>
          </p:cNvPr>
          <p:cNvSpPr txBox="1"/>
          <p:nvPr/>
        </p:nvSpPr>
        <p:spPr>
          <a:xfrm>
            <a:off x="8572460" y="2738278"/>
            <a:ext cx="3162338" cy="45025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50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DeepPCB, PCB Defect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또는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PyTorch, TensorFlow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기반의 불량 검출 모델 학습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61B0B646-5248-E103-09E9-62677A5BE33F}"/>
              </a:ext>
            </a:extLst>
          </p:cNvPr>
          <p:cNvSpPr txBox="1"/>
          <p:nvPr/>
        </p:nvSpPr>
        <p:spPr>
          <a:xfrm>
            <a:off x="8572451" y="3301279"/>
            <a:ext cx="3509895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특정 공정라인에 적용하여 불량 검출 정확도 검증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129A67AE-7350-82B0-BE02-57A906ACDE62}"/>
              </a:ext>
            </a:extLst>
          </p:cNvPr>
          <p:cNvSpPr txBox="1"/>
          <p:nvPr/>
        </p:nvSpPr>
        <p:spPr>
          <a:xfrm>
            <a:off x="8572450" y="3860513"/>
            <a:ext cx="2823210" cy="4820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13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Protege, Neo4j Community Edition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을 사 용한 지식 그래프 구축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8A3CE39D-0A6E-6CBF-826F-516A1EB161BD}"/>
              </a:ext>
            </a:extLst>
          </p:cNvPr>
          <p:cNvSpPr txBox="1"/>
          <p:nvPr/>
        </p:nvSpPr>
        <p:spPr>
          <a:xfrm>
            <a:off x="8572450" y="4432013"/>
            <a:ext cx="2804160" cy="4657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13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LLM(Ollama, Llama3)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을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활용한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기술문서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검색 및 설비 로그 분석</a:t>
            </a:r>
            <a:endParaRPr sz="1350" dirty="0">
              <a:latin typeface="Malgun Gothic"/>
              <a:cs typeface="Malgun Gothic"/>
            </a:endParaRPr>
          </a:p>
        </p:txBody>
      </p:sp>
      <p:pic>
        <p:nvPicPr>
          <p:cNvPr id="66" name="object 26">
            <a:extLst>
              <a:ext uri="{FF2B5EF4-FFF2-40B4-BE49-F238E27FC236}">
                <a16:creationId xmlns:a16="http://schemas.microsoft.com/office/drawing/2014/main" id="{AEB0ACF8-2BC4-79EB-6571-4E658106DD10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64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B154BCA-C7F9-1395-86ED-030BD5DF07D8}"/>
              </a:ext>
            </a:extLst>
          </p:cNvPr>
          <p:cNvSpPr/>
          <p:nvPr/>
        </p:nvSpPr>
        <p:spPr>
          <a:xfrm>
            <a:off x="395867" y="4406029"/>
            <a:ext cx="11277599" cy="1219200"/>
          </a:xfrm>
          <a:custGeom>
            <a:avLst/>
            <a:gdLst/>
            <a:ahLst/>
            <a:cxnLst/>
            <a:rect l="l" t="t" r="r" b="b"/>
            <a:pathLst>
              <a:path w="11277600" h="1219200">
                <a:moveTo>
                  <a:pt x="11206402" y="1219199"/>
                </a:moveTo>
                <a:lnTo>
                  <a:pt x="71196" y="1219199"/>
                </a:lnTo>
                <a:lnTo>
                  <a:pt x="66241" y="1218711"/>
                </a:lnTo>
                <a:lnTo>
                  <a:pt x="29705" y="1203577"/>
                </a:lnTo>
                <a:lnTo>
                  <a:pt x="3885" y="1167537"/>
                </a:lnTo>
                <a:lnTo>
                  <a:pt x="0" y="1148002"/>
                </a:lnTo>
                <a:lnTo>
                  <a:pt x="0" y="11429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11206402" y="0"/>
                </a:lnTo>
                <a:lnTo>
                  <a:pt x="11247891" y="15621"/>
                </a:lnTo>
                <a:lnTo>
                  <a:pt x="11273712" y="51661"/>
                </a:lnTo>
                <a:lnTo>
                  <a:pt x="11277599" y="71196"/>
                </a:lnTo>
                <a:lnTo>
                  <a:pt x="11277599" y="1148002"/>
                </a:lnTo>
                <a:lnTo>
                  <a:pt x="11261975" y="1189493"/>
                </a:lnTo>
                <a:lnTo>
                  <a:pt x="11225936" y="1215313"/>
                </a:lnTo>
                <a:lnTo>
                  <a:pt x="11211357" y="1218711"/>
                </a:lnTo>
                <a:lnTo>
                  <a:pt x="11206402" y="1219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D430263-D680-EC1B-9DBC-B546767FB37F}"/>
              </a:ext>
            </a:extLst>
          </p:cNvPr>
          <p:cNvSpPr txBox="1">
            <a:spLocks/>
          </p:cNvSpPr>
          <p:nvPr/>
        </p:nvSpPr>
        <p:spPr>
          <a:xfrm>
            <a:off x="435555" y="325046"/>
            <a:ext cx="6184899" cy="44242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dirty="0"/>
              <a:t>구축 및 확산 단계 </a:t>
            </a:r>
            <a:r>
              <a:rPr lang="en-US" altLang="ko-KR" dirty="0"/>
              <a:t>(18</a:t>
            </a:r>
            <a:r>
              <a:rPr lang="ko-KR" altLang="en-US" dirty="0"/>
              <a:t>개월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B1E4F303-9EA2-D78F-CD4A-86F45E9AAEE1}"/>
              </a:ext>
            </a:extLst>
          </p:cNvPr>
          <p:cNvGrpSpPr/>
          <p:nvPr/>
        </p:nvGrpSpPr>
        <p:grpSpPr>
          <a:xfrm>
            <a:off x="395870" y="2270206"/>
            <a:ext cx="3609976" cy="2324099"/>
            <a:chOff x="457199" y="1562099"/>
            <a:chExt cx="3609975" cy="232410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7D0CFF2-86A5-AA4D-101D-FB8D10BB6345}"/>
                </a:ext>
              </a:extLst>
            </p:cNvPr>
            <p:cNvSpPr/>
            <p:nvPr/>
          </p:nvSpPr>
          <p:spPr>
            <a:xfrm>
              <a:off x="457199" y="1145222"/>
              <a:ext cx="3609975" cy="2324100"/>
            </a:xfrm>
            <a:custGeom>
              <a:avLst/>
              <a:gdLst/>
              <a:ahLst/>
              <a:cxnLst/>
              <a:rect l="l" t="t" r="r" b="b"/>
              <a:pathLst>
                <a:path w="3609975" h="2324100">
                  <a:moveTo>
                    <a:pt x="3538778" y="2324099"/>
                  </a:moveTo>
                  <a:lnTo>
                    <a:pt x="71196" y="2324099"/>
                  </a:lnTo>
                  <a:lnTo>
                    <a:pt x="66241" y="2323611"/>
                  </a:lnTo>
                  <a:lnTo>
                    <a:pt x="29705" y="2308477"/>
                  </a:lnTo>
                  <a:lnTo>
                    <a:pt x="3885" y="2272437"/>
                  </a:lnTo>
                  <a:lnTo>
                    <a:pt x="0" y="2252903"/>
                  </a:lnTo>
                  <a:lnTo>
                    <a:pt x="0" y="2247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38778" y="0"/>
                  </a:lnTo>
                  <a:lnTo>
                    <a:pt x="3580268" y="15621"/>
                  </a:lnTo>
                  <a:lnTo>
                    <a:pt x="3606088" y="51661"/>
                  </a:lnTo>
                  <a:lnTo>
                    <a:pt x="3609974" y="71196"/>
                  </a:lnTo>
                  <a:lnTo>
                    <a:pt x="3609974" y="2252903"/>
                  </a:lnTo>
                  <a:lnTo>
                    <a:pt x="3594352" y="2294394"/>
                  </a:lnTo>
                  <a:lnTo>
                    <a:pt x="3558312" y="2320213"/>
                  </a:lnTo>
                  <a:lnTo>
                    <a:pt x="3543733" y="2323611"/>
                  </a:lnTo>
                  <a:lnTo>
                    <a:pt x="3538778" y="232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8676438-DD84-8C8B-7BAA-4FF2651AAA67}"/>
                </a:ext>
              </a:extLst>
            </p:cNvPr>
            <p:cNvSpPr/>
            <p:nvPr/>
          </p:nvSpPr>
          <p:spPr>
            <a:xfrm>
              <a:off x="647699" y="13357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7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9" y="135200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310B33A6-4102-BDB0-B08F-035F1126931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1450022"/>
              <a:ext cx="152399" cy="152399"/>
            </a:xfrm>
            <a:prstGeom prst="rect">
              <a:avLst/>
            </a:prstGeom>
          </p:spPr>
        </p:pic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500891B0-C33C-2591-A020-6BB9C27DCE87}"/>
              </a:ext>
            </a:extLst>
          </p:cNvPr>
          <p:cNvSpPr txBox="1"/>
          <p:nvPr/>
        </p:nvSpPr>
        <p:spPr>
          <a:xfrm>
            <a:off x="1068972" y="2104091"/>
            <a:ext cx="2710754" cy="2467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99" b="1" dirty="0">
                <a:solidFill>
                  <a:srgbClr val="1F2937"/>
                </a:solidFill>
                <a:latin typeface="Malgun Gothic"/>
                <a:cs typeface="Malgun Gothic"/>
              </a:rPr>
              <a:t>지능형 품질관리 시스템</a:t>
            </a:r>
            <a:endParaRPr sz="1499" dirty="0">
              <a:latin typeface="Malgun Gothic"/>
              <a:cs typeface="Malgun Gothic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CBDC28F-A4DD-242B-5722-7384CA9E5587}"/>
              </a:ext>
            </a:extLst>
          </p:cNvPr>
          <p:cNvSpPr txBox="1"/>
          <p:nvPr/>
        </p:nvSpPr>
        <p:spPr>
          <a:xfrm>
            <a:off x="573668" y="2521101"/>
            <a:ext cx="1906178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6A7280"/>
                </a:solidFill>
                <a:latin typeface="Malgun Gothic"/>
                <a:cs typeface="Malgun Gothic"/>
              </a:rPr>
              <a:t>구축 기간</a:t>
            </a:r>
            <a:r>
              <a:rPr sz="1001" dirty="0">
                <a:solidFill>
                  <a:srgbClr val="6A7280"/>
                </a:solidFill>
                <a:latin typeface="Arial"/>
                <a:cs typeface="Arial"/>
              </a:rPr>
              <a:t>: 1-9</a:t>
            </a:r>
            <a:r>
              <a:rPr sz="1001" dirty="0">
                <a:solidFill>
                  <a:srgbClr val="6A7280"/>
                </a:solidFill>
                <a:latin typeface="Malgun Gothic"/>
                <a:cs typeface="Malgun Gothic"/>
              </a:rPr>
              <a:t>개월</a:t>
            </a:r>
            <a:endParaRPr sz="1001" dirty="0">
              <a:latin typeface="Malgun Gothic"/>
              <a:cs typeface="Malgun Gothic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076F7599-ADD3-AC62-B4ED-F1FD385536E3}"/>
              </a:ext>
            </a:extLst>
          </p:cNvPr>
          <p:cNvGrpSpPr/>
          <p:nvPr/>
        </p:nvGrpSpPr>
        <p:grpSpPr>
          <a:xfrm>
            <a:off x="586368" y="3260806"/>
            <a:ext cx="133350" cy="1123949"/>
            <a:chOff x="647699" y="2552699"/>
            <a:chExt cx="133350" cy="1123950"/>
          </a:xfrm>
        </p:grpSpPr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152B700D-4460-6043-C436-36BC7077AEC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699" y="2135822"/>
              <a:ext cx="114299" cy="133349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19A272D8-7B50-6493-FDCF-97E7CD82E32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699" y="2631122"/>
              <a:ext cx="114299" cy="133349"/>
            </a:xfrm>
            <a:prstGeom prst="rect">
              <a:avLst/>
            </a:prstGeom>
          </p:spPr>
        </p:pic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DC010BA2-2B8E-4D1F-64A9-6553161A74F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" y="3126422"/>
              <a:ext cx="133349" cy="133349"/>
            </a:xfrm>
            <a:prstGeom prst="rect">
              <a:avLst/>
            </a:prstGeom>
          </p:spPr>
        </p:pic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C2E1E19A-09F4-10CB-16D2-5EB9B6A42E8B}"/>
              </a:ext>
            </a:extLst>
          </p:cNvPr>
          <p:cNvSpPr txBox="1"/>
          <p:nvPr/>
        </p:nvSpPr>
        <p:spPr>
          <a:xfrm>
            <a:off x="878473" y="2786306"/>
            <a:ext cx="286321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Phase 1 (1-4</a:t>
            </a:r>
            <a:r>
              <a:rPr sz="1149" dirty="0">
                <a:latin typeface="Malgun Gothic"/>
                <a:cs typeface="Malgun Gothic"/>
              </a:rPr>
              <a:t>개월</a:t>
            </a:r>
            <a:r>
              <a:rPr sz="1200" dirty="0">
                <a:latin typeface="Arial"/>
                <a:cs typeface="Arial"/>
              </a:rPr>
              <a:t>): </a:t>
            </a:r>
            <a:r>
              <a:rPr sz="1250" dirty="0">
                <a:latin typeface="Microsoft Sans Serif"/>
                <a:cs typeface="Microsoft Sans Serif"/>
              </a:rPr>
              <a:t>PyTorch/TensorFlow </a:t>
            </a:r>
            <a:r>
              <a:rPr sz="1149" dirty="0">
                <a:latin typeface="Malgun Gothic"/>
                <a:cs typeface="Malgun Gothic"/>
              </a:rPr>
              <a:t>기반의 </a:t>
            </a:r>
            <a:r>
              <a:rPr sz="1250" dirty="0">
                <a:latin typeface="Microsoft Sans Serif"/>
                <a:cs typeface="Microsoft Sans Serif"/>
              </a:rPr>
              <a:t>AI </a:t>
            </a:r>
            <a:r>
              <a:rPr sz="1149" dirty="0">
                <a:latin typeface="Malgun Gothic"/>
                <a:cs typeface="Malgun Gothic"/>
              </a:rPr>
              <a:t>비전 검사 시스템 우선 도입</a:t>
            </a:r>
            <a:endParaRPr sz="1149">
              <a:latin typeface="Malgun Gothic"/>
              <a:cs typeface="Malgun Gothic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A281BAC-9BAA-5ACB-AE19-8AA73A9D7285}"/>
              </a:ext>
            </a:extLst>
          </p:cNvPr>
          <p:cNvSpPr txBox="1"/>
          <p:nvPr/>
        </p:nvSpPr>
        <p:spPr>
          <a:xfrm>
            <a:off x="878474" y="3281604"/>
            <a:ext cx="2844165" cy="379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6700"/>
              </a:lnSpc>
            </a:pPr>
            <a:r>
              <a:rPr sz="1200" dirty="0">
                <a:latin typeface="Arial"/>
                <a:cs typeface="Arial"/>
              </a:rPr>
              <a:t>Phase 2 (5-9</a:t>
            </a:r>
            <a:r>
              <a:rPr sz="1149" dirty="0">
                <a:latin typeface="Malgun Gothic"/>
                <a:cs typeface="Malgun Gothic"/>
              </a:rPr>
              <a:t>개월</a:t>
            </a:r>
            <a:r>
              <a:rPr sz="1200" dirty="0">
                <a:latin typeface="Arial"/>
                <a:cs typeface="Arial"/>
              </a:rPr>
              <a:t>): </a:t>
            </a:r>
            <a:r>
              <a:rPr sz="1250" dirty="0">
                <a:latin typeface="Microsoft Sans Serif"/>
                <a:cs typeface="Microsoft Sans Serif"/>
              </a:rPr>
              <a:t>IoT </a:t>
            </a:r>
            <a:r>
              <a:rPr sz="1149" dirty="0">
                <a:latin typeface="Malgun Gothic"/>
                <a:cs typeface="Malgun Gothic"/>
              </a:rPr>
              <a:t>센서데이터를 활용한 예측 유지보수시스템 구축</a:t>
            </a:r>
            <a:endParaRPr sz="1149">
              <a:latin typeface="Malgun Gothic"/>
              <a:cs typeface="Malgun Gothic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CD1C723-80C3-A659-E873-E4F2DDCD2C31}"/>
              </a:ext>
            </a:extLst>
          </p:cNvPr>
          <p:cNvSpPr txBox="1"/>
          <p:nvPr/>
        </p:nvSpPr>
        <p:spPr>
          <a:xfrm>
            <a:off x="878469" y="3780602"/>
            <a:ext cx="3079748" cy="20069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149" dirty="0">
                <a:latin typeface="Malgun Gothic"/>
                <a:cs typeface="Malgun Gothic"/>
              </a:rPr>
              <a:t>목표</a:t>
            </a:r>
            <a:r>
              <a:rPr sz="1200" dirty="0">
                <a:latin typeface="Arial"/>
                <a:cs typeface="Arial"/>
              </a:rPr>
              <a:t>: </a:t>
            </a:r>
            <a:r>
              <a:rPr sz="1149" dirty="0">
                <a:latin typeface="Malgun Gothic"/>
                <a:cs typeface="Malgun Gothic"/>
              </a:rPr>
              <a:t>불량률 제로화 및 설비 가동률 극대화</a:t>
            </a:r>
          </a:p>
        </p:txBody>
      </p:sp>
      <p:grpSp>
        <p:nvGrpSpPr>
          <p:cNvPr id="18" name="object 18">
            <a:extLst>
              <a:ext uri="{FF2B5EF4-FFF2-40B4-BE49-F238E27FC236}">
                <a16:creationId xmlns:a16="http://schemas.microsoft.com/office/drawing/2014/main" id="{ABDADF63-E632-012D-543A-508E5C615CED}"/>
              </a:ext>
            </a:extLst>
          </p:cNvPr>
          <p:cNvGrpSpPr/>
          <p:nvPr/>
        </p:nvGrpSpPr>
        <p:grpSpPr>
          <a:xfrm>
            <a:off x="4234443" y="2270206"/>
            <a:ext cx="3600451" cy="2324099"/>
            <a:chOff x="4295774" y="1562099"/>
            <a:chExt cx="3600450" cy="2324100"/>
          </a:xfrm>
        </p:grpSpPr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72C90DD4-8D00-2C33-3738-F6FF04CD6132}"/>
                </a:ext>
              </a:extLst>
            </p:cNvPr>
            <p:cNvSpPr/>
            <p:nvPr/>
          </p:nvSpPr>
          <p:spPr>
            <a:xfrm>
              <a:off x="4295774" y="1145222"/>
              <a:ext cx="3600450" cy="2324100"/>
            </a:xfrm>
            <a:custGeom>
              <a:avLst/>
              <a:gdLst/>
              <a:ahLst/>
              <a:cxnLst/>
              <a:rect l="l" t="t" r="r" b="b"/>
              <a:pathLst>
                <a:path w="3600450" h="2324100">
                  <a:moveTo>
                    <a:pt x="3529253" y="2324099"/>
                  </a:moveTo>
                  <a:lnTo>
                    <a:pt x="71196" y="2324099"/>
                  </a:lnTo>
                  <a:lnTo>
                    <a:pt x="66241" y="2323611"/>
                  </a:lnTo>
                  <a:lnTo>
                    <a:pt x="29705" y="2308477"/>
                  </a:lnTo>
                  <a:lnTo>
                    <a:pt x="3885" y="2272437"/>
                  </a:lnTo>
                  <a:lnTo>
                    <a:pt x="0" y="2252903"/>
                  </a:lnTo>
                  <a:lnTo>
                    <a:pt x="0" y="2247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29253" y="0"/>
                  </a:lnTo>
                  <a:lnTo>
                    <a:pt x="3570744" y="15621"/>
                  </a:lnTo>
                  <a:lnTo>
                    <a:pt x="3596563" y="51661"/>
                  </a:lnTo>
                  <a:lnTo>
                    <a:pt x="3600449" y="71196"/>
                  </a:lnTo>
                  <a:lnTo>
                    <a:pt x="3600449" y="2252903"/>
                  </a:lnTo>
                  <a:lnTo>
                    <a:pt x="3584827" y="2294394"/>
                  </a:lnTo>
                  <a:lnTo>
                    <a:pt x="3548786" y="2320213"/>
                  </a:lnTo>
                  <a:lnTo>
                    <a:pt x="3534208" y="2323611"/>
                  </a:lnTo>
                  <a:lnTo>
                    <a:pt x="3529253" y="232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97FE8AC5-EE88-087D-72B5-7BFC3FABAE35}"/>
                </a:ext>
              </a:extLst>
            </p:cNvPr>
            <p:cNvSpPr/>
            <p:nvPr/>
          </p:nvSpPr>
          <p:spPr>
            <a:xfrm>
              <a:off x="4486274" y="13357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7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200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E9B58429-E31C-F1E9-EFC0-427774C550B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00574" y="1450022"/>
              <a:ext cx="152399" cy="152399"/>
            </a:xfrm>
            <a:prstGeom prst="rect">
              <a:avLst/>
            </a:prstGeom>
          </p:spPr>
        </p:pic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BB434FE0-5DA7-CCE8-A974-41B786FF4239}"/>
              </a:ext>
            </a:extLst>
          </p:cNvPr>
          <p:cNvSpPr txBox="1"/>
          <p:nvPr/>
        </p:nvSpPr>
        <p:spPr>
          <a:xfrm>
            <a:off x="4904276" y="2104091"/>
            <a:ext cx="3044917" cy="2467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51" b="1" dirty="0">
                <a:solidFill>
                  <a:srgbClr val="1F2937"/>
                </a:solidFill>
                <a:latin typeface="Trebuchet MS"/>
                <a:cs typeface="Trebuchet MS"/>
              </a:rPr>
              <a:t>AI </a:t>
            </a:r>
            <a:r>
              <a:rPr sz="1499" b="1" dirty="0">
                <a:solidFill>
                  <a:srgbClr val="1F2937"/>
                </a:solidFill>
                <a:latin typeface="Malgun Gothic"/>
                <a:cs typeface="Malgun Gothic"/>
              </a:rPr>
              <a:t>기반 지식관리 시스템</a:t>
            </a:r>
            <a:endParaRPr sz="1499" dirty="0">
              <a:latin typeface="Malgun Gothic"/>
              <a:cs typeface="Malgun Gothic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CEA6DB87-C5AE-B64D-C0A2-FBF2BEF5ACEB}"/>
              </a:ext>
            </a:extLst>
          </p:cNvPr>
          <p:cNvSpPr txBox="1"/>
          <p:nvPr/>
        </p:nvSpPr>
        <p:spPr>
          <a:xfrm>
            <a:off x="4408976" y="2521102"/>
            <a:ext cx="1906313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6A7280"/>
                </a:solidFill>
                <a:latin typeface="Malgun Gothic"/>
                <a:cs typeface="Malgun Gothic"/>
              </a:rPr>
              <a:t>구축 기간</a:t>
            </a:r>
            <a:r>
              <a:rPr sz="1001" dirty="0">
                <a:solidFill>
                  <a:srgbClr val="6A7280"/>
                </a:solidFill>
                <a:latin typeface="Arial"/>
                <a:cs typeface="Arial"/>
              </a:rPr>
              <a:t>: 6-15</a:t>
            </a:r>
            <a:r>
              <a:rPr sz="1001" dirty="0">
                <a:solidFill>
                  <a:srgbClr val="6A7280"/>
                </a:solidFill>
                <a:latin typeface="Malgun Gothic"/>
                <a:cs typeface="Malgun Gothic"/>
              </a:rPr>
              <a:t>개월</a:t>
            </a:r>
            <a:endParaRPr sz="1001" dirty="0">
              <a:latin typeface="Malgun Gothic"/>
              <a:cs typeface="Malgun Gothic"/>
            </a:endParaRPr>
          </a:p>
        </p:txBody>
      </p:sp>
      <p:grpSp>
        <p:nvGrpSpPr>
          <p:cNvPr id="24" name="object 24">
            <a:extLst>
              <a:ext uri="{FF2B5EF4-FFF2-40B4-BE49-F238E27FC236}">
                <a16:creationId xmlns:a16="http://schemas.microsoft.com/office/drawing/2014/main" id="{3F66C279-F737-9ABA-2004-F2913BBD7E99}"/>
              </a:ext>
            </a:extLst>
          </p:cNvPr>
          <p:cNvGrpSpPr/>
          <p:nvPr/>
        </p:nvGrpSpPr>
        <p:grpSpPr>
          <a:xfrm>
            <a:off x="4434477" y="3260806"/>
            <a:ext cx="123825" cy="1123949"/>
            <a:chOff x="4495800" y="2552699"/>
            <a:chExt cx="123825" cy="1123950"/>
          </a:xfrm>
        </p:grpSpPr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EBED02EF-74F8-6FEC-FF86-7DB98DECE92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95800" y="2135822"/>
              <a:ext cx="104774" cy="133349"/>
            </a:xfrm>
            <a:prstGeom prst="rect">
              <a:avLst/>
            </a:prstGeom>
          </p:spPr>
        </p:pic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3735021E-3AF1-35F8-E268-4A1D7DE0C71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95800" y="2631122"/>
              <a:ext cx="104774" cy="133349"/>
            </a:xfrm>
            <a:prstGeom prst="rect">
              <a:avLst/>
            </a:prstGeom>
          </p:spPr>
        </p:pic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A7ADD13A-9340-DC86-06A3-30DD2A91098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95800" y="3126422"/>
              <a:ext cx="123824" cy="133349"/>
            </a:xfrm>
            <a:prstGeom prst="rect">
              <a:avLst/>
            </a:prstGeom>
          </p:spPr>
        </p:pic>
      </p:grpSp>
      <p:sp>
        <p:nvSpPr>
          <p:cNvPr id="28" name="object 28">
            <a:extLst>
              <a:ext uri="{FF2B5EF4-FFF2-40B4-BE49-F238E27FC236}">
                <a16:creationId xmlns:a16="http://schemas.microsoft.com/office/drawing/2014/main" id="{520B9029-3CBD-A4FC-BFB3-F9EE110C68BB}"/>
              </a:ext>
            </a:extLst>
          </p:cNvPr>
          <p:cNvSpPr txBox="1"/>
          <p:nvPr/>
        </p:nvSpPr>
        <p:spPr>
          <a:xfrm>
            <a:off x="4713768" y="2786303"/>
            <a:ext cx="3121122" cy="397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6700"/>
              </a:lnSpc>
            </a:pPr>
            <a:r>
              <a:rPr sz="1200" dirty="0">
                <a:latin typeface="Arial"/>
                <a:cs typeface="Arial"/>
              </a:rPr>
              <a:t>Phase 1 (6-10</a:t>
            </a:r>
            <a:r>
              <a:rPr sz="1149" dirty="0">
                <a:latin typeface="Malgun Gothic"/>
                <a:cs typeface="Malgun Gothic"/>
              </a:rPr>
              <a:t>개월</a:t>
            </a:r>
            <a:r>
              <a:rPr sz="1200" dirty="0">
                <a:latin typeface="Arial"/>
                <a:cs typeface="Arial"/>
              </a:rPr>
              <a:t>): </a:t>
            </a:r>
            <a:r>
              <a:rPr sz="1250" dirty="0">
                <a:latin typeface="Microsoft Sans Serif"/>
                <a:cs typeface="Microsoft Sans Serif"/>
              </a:rPr>
              <a:t>Neo4j Community Edition </a:t>
            </a:r>
            <a:r>
              <a:rPr sz="1149" dirty="0">
                <a:latin typeface="Malgun Gothic"/>
                <a:cs typeface="Malgun Gothic"/>
              </a:rPr>
              <a:t>을 중점으로 지식그래프 확장구축</a:t>
            </a: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113EF192-1238-09AC-42D8-BD1F31792CF8}"/>
              </a:ext>
            </a:extLst>
          </p:cNvPr>
          <p:cNvSpPr txBox="1"/>
          <p:nvPr/>
        </p:nvSpPr>
        <p:spPr>
          <a:xfrm>
            <a:off x="4713778" y="3281604"/>
            <a:ext cx="3235415" cy="379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6700"/>
              </a:lnSpc>
            </a:pPr>
            <a:r>
              <a:rPr sz="1200" dirty="0">
                <a:latin typeface="Arial"/>
                <a:cs typeface="Arial"/>
              </a:rPr>
              <a:t>Phase 2 (11-15</a:t>
            </a:r>
            <a:r>
              <a:rPr sz="1149" dirty="0">
                <a:latin typeface="Malgun Gothic"/>
                <a:cs typeface="Malgun Gothic"/>
              </a:rPr>
              <a:t>개월</a:t>
            </a:r>
            <a:r>
              <a:rPr sz="1200" dirty="0">
                <a:latin typeface="Arial"/>
                <a:cs typeface="Arial"/>
              </a:rPr>
              <a:t>): </a:t>
            </a:r>
            <a:r>
              <a:rPr sz="1250" dirty="0">
                <a:latin typeface="Microsoft Sans Serif"/>
                <a:cs typeface="Microsoft Sans Serif"/>
              </a:rPr>
              <a:t>LLM(Ollama/Llama3) </a:t>
            </a:r>
            <a:r>
              <a:rPr sz="1149" dirty="0">
                <a:latin typeface="Malgun Gothic"/>
                <a:cs typeface="Malgun Gothic"/>
              </a:rPr>
              <a:t>기 반 솔루션 개발 및 투입</a:t>
            </a: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4199144C-2926-E2AC-7517-CB43179D45AA}"/>
              </a:ext>
            </a:extLst>
          </p:cNvPr>
          <p:cNvSpPr txBox="1"/>
          <p:nvPr/>
        </p:nvSpPr>
        <p:spPr>
          <a:xfrm>
            <a:off x="4713777" y="3776906"/>
            <a:ext cx="3282992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49" dirty="0">
                <a:latin typeface="Malgun Gothic"/>
                <a:cs typeface="Malgun Gothic"/>
              </a:rPr>
              <a:t>목표</a:t>
            </a:r>
            <a:r>
              <a:rPr sz="1200" dirty="0">
                <a:latin typeface="Arial"/>
                <a:cs typeface="Arial"/>
              </a:rPr>
              <a:t>: </a:t>
            </a:r>
            <a:r>
              <a:rPr sz="1149" dirty="0">
                <a:latin typeface="Malgun Gothic"/>
                <a:cs typeface="Malgun Gothic"/>
              </a:rPr>
              <a:t>데이터 기반 근본원인분석 및 </a:t>
            </a:r>
            <a:r>
              <a:rPr sz="1250" dirty="0">
                <a:latin typeface="Microsoft Sans Serif"/>
                <a:cs typeface="Microsoft Sans Serif"/>
              </a:rPr>
              <a:t>R&amp;D </a:t>
            </a:r>
            <a:r>
              <a:rPr sz="1149" dirty="0">
                <a:latin typeface="Malgun Gothic"/>
                <a:cs typeface="Malgun Gothic"/>
              </a:rPr>
              <a:t>효율화</a:t>
            </a:r>
          </a:p>
        </p:txBody>
      </p:sp>
      <p:grpSp>
        <p:nvGrpSpPr>
          <p:cNvPr id="31" name="object 31">
            <a:extLst>
              <a:ext uri="{FF2B5EF4-FFF2-40B4-BE49-F238E27FC236}">
                <a16:creationId xmlns:a16="http://schemas.microsoft.com/office/drawing/2014/main" id="{38191476-81B3-9599-9247-0136EA1D4281}"/>
              </a:ext>
            </a:extLst>
          </p:cNvPr>
          <p:cNvGrpSpPr/>
          <p:nvPr/>
        </p:nvGrpSpPr>
        <p:grpSpPr>
          <a:xfrm>
            <a:off x="8063499" y="2270206"/>
            <a:ext cx="3609976" cy="2324099"/>
            <a:chOff x="8124824" y="1562099"/>
            <a:chExt cx="3609975" cy="2324100"/>
          </a:xfrm>
        </p:grpSpPr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41A39814-0F98-347B-A454-0C52733BDDA5}"/>
                </a:ext>
              </a:extLst>
            </p:cNvPr>
            <p:cNvSpPr/>
            <p:nvPr/>
          </p:nvSpPr>
          <p:spPr>
            <a:xfrm>
              <a:off x="8124824" y="1145222"/>
              <a:ext cx="3609975" cy="2324100"/>
            </a:xfrm>
            <a:custGeom>
              <a:avLst/>
              <a:gdLst/>
              <a:ahLst/>
              <a:cxnLst/>
              <a:rect l="l" t="t" r="r" b="b"/>
              <a:pathLst>
                <a:path w="3609975" h="2324100">
                  <a:moveTo>
                    <a:pt x="3538777" y="2324099"/>
                  </a:moveTo>
                  <a:lnTo>
                    <a:pt x="71196" y="2324099"/>
                  </a:lnTo>
                  <a:lnTo>
                    <a:pt x="66240" y="2323611"/>
                  </a:lnTo>
                  <a:lnTo>
                    <a:pt x="29703" y="2308477"/>
                  </a:lnTo>
                  <a:lnTo>
                    <a:pt x="3884" y="2272437"/>
                  </a:lnTo>
                  <a:lnTo>
                    <a:pt x="0" y="2252903"/>
                  </a:lnTo>
                  <a:lnTo>
                    <a:pt x="0" y="2247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3538777" y="0"/>
                  </a:lnTo>
                  <a:lnTo>
                    <a:pt x="3580267" y="15621"/>
                  </a:lnTo>
                  <a:lnTo>
                    <a:pt x="3606087" y="51661"/>
                  </a:lnTo>
                  <a:lnTo>
                    <a:pt x="3609974" y="71196"/>
                  </a:lnTo>
                  <a:lnTo>
                    <a:pt x="3609974" y="2252903"/>
                  </a:lnTo>
                  <a:lnTo>
                    <a:pt x="3594351" y="2294394"/>
                  </a:lnTo>
                  <a:lnTo>
                    <a:pt x="3558311" y="2320213"/>
                  </a:lnTo>
                  <a:lnTo>
                    <a:pt x="3543733" y="2323611"/>
                  </a:lnTo>
                  <a:lnTo>
                    <a:pt x="3538777" y="232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ACD20980-80D4-CC6D-D307-A1234086D132}"/>
                </a:ext>
              </a:extLst>
            </p:cNvPr>
            <p:cNvSpPr/>
            <p:nvPr/>
          </p:nvSpPr>
          <p:spPr>
            <a:xfrm>
              <a:off x="8315324" y="13357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9"/>
                  </a:lnTo>
                  <a:lnTo>
                    <a:pt x="100696" y="358507"/>
                  </a:lnTo>
                  <a:lnTo>
                    <a:pt x="62574" y="331659"/>
                  </a:lnTo>
                  <a:lnTo>
                    <a:pt x="32103" y="296335"/>
                  </a:lnTo>
                  <a:lnTo>
                    <a:pt x="11129" y="254667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4" y="92572"/>
                  </a:lnTo>
                  <a:lnTo>
                    <a:pt x="55795" y="55796"/>
                  </a:lnTo>
                  <a:lnTo>
                    <a:pt x="92571" y="27095"/>
                  </a:lnTo>
                  <a:lnTo>
                    <a:pt x="135198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7" y="135200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7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8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>
              <a:extLst>
                <a:ext uri="{FF2B5EF4-FFF2-40B4-BE49-F238E27FC236}">
                  <a16:creationId xmlns:a16="http://schemas.microsoft.com/office/drawing/2014/main" id="{C4B04516-25A9-E1BB-A269-0D34B50021F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29624" y="1450022"/>
              <a:ext cx="152399" cy="152399"/>
            </a:xfrm>
            <a:prstGeom prst="rect">
              <a:avLst/>
            </a:prstGeom>
          </p:spPr>
        </p:pic>
      </p:grpSp>
      <p:sp>
        <p:nvSpPr>
          <p:cNvPr id="35" name="object 35">
            <a:extLst>
              <a:ext uri="{FF2B5EF4-FFF2-40B4-BE49-F238E27FC236}">
                <a16:creationId xmlns:a16="http://schemas.microsoft.com/office/drawing/2014/main" id="{9A4CD9AE-9473-88DD-9ABA-4301EFD2D291}"/>
              </a:ext>
            </a:extLst>
          </p:cNvPr>
          <p:cNvSpPr txBox="1"/>
          <p:nvPr/>
        </p:nvSpPr>
        <p:spPr>
          <a:xfrm>
            <a:off x="8739717" y="2104091"/>
            <a:ext cx="3114677" cy="2467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99" b="1" dirty="0">
                <a:solidFill>
                  <a:srgbClr val="1F2937"/>
                </a:solidFill>
                <a:latin typeface="Malgun Gothic"/>
                <a:cs typeface="Malgun Gothic"/>
              </a:rPr>
              <a:t>디지털 트윈 기반 자율제조 시스템</a:t>
            </a:r>
            <a:endParaRPr sz="1499" dirty="0">
              <a:latin typeface="Malgun Gothic"/>
              <a:cs typeface="Malgun Gothic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7783B06F-6F07-EE69-F6F6-45BC9015613B}"/>
              </a:ext>
            </a:extLst>
          </p:cNvPr>
          <p:cNvSpPr txBox="1"/>
          <p:nvPr/>
        </p:nvSpPr>
        <p:spPr>
          <a:xfrm>
            <a:off x="8244419" y="2521102"/>
            <a:ext cx="1781224" cy="168763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6A7280"/>
                </a:solidFill>
                <a:latin typeface="Malgun Gothic"/>
                <a:cs typeface="Malgun Gothic"/>
              </a:rPr>
              <a:t>구축 기간</a:t>
            </a:r>
            <a:r>
              <a:rPr sz="1001" dirty="0">
                <a:solidFill>
                  <a:srgbClr val="6A7280"/>
                </a:solidFill>
                <a:latin typeface="Arial"/>
                <a:cs typeface="Arial"/>
              </a:rPr>
              <a:t>: 10-18</a:t>
            </a:r>
            <a:r>
              <a:rPr sz="1001" dirty="0">
                <a:solidFill>
                  <a:srgbClr val="6A7280"/>
                </a:solidFill>
                <a:latin typeface="Malgun Gothic"/>
                <a:cs typeface="Malgun Gothic"/>
              </a:rPr>
              <a:t>개월</a:t>
            </a:r>
            <a:endParaRPr sz="1001" dirty="0">
              <a:latin typeface="Malgun Gothic"/>
              <a:cs typeface="Malgun Gothic"/>
            </a:endParaRPr>
          </a:p>
        </p:txBody>
      </p:sp>
      <p:grpSp>
        <p:nvGrpSpPr>
          <p:cNvPr id="37" name="object 37">
            <a:extLst>
              <a:ext uri="{FF2B5EF4-FFF2-40B4-BE49-F238E27FC236}">
                <a16:creationId xmlns:a16="http://schemas.microsoft.com/office/drawing/2014/main" id="{11D73446-B5F9-DEBF-F1AE-083CAC1A2DDE}"/>
              </a:ext>
            </a:extLst>
          </p:cNvPr>
          <p:cNvGrpSpPr/>
          <p:nvPr/>
        </p:nvGrpSpPr>
        <p:grpSpPr>
          <a:xfrm>
            <a:off x="8253995" y="3260806"/>
            <a:ext cx="133350" cy="1123949"/>
            <a:chOff x="8315325" y="2552699"/>
            <a:chExt cx="133350" cy="1123950"/>
          </a:xfrm>
        </p:grpSpPr>
        <p:pic>
          <p:nvPicPr>
            <p:cNvPr id="38" name="object 38">
              <a:extLst>
                <a:ext uri="{FF2B5EF4-FFF2-40B4-BE49-F238E27FC236}">
                  <a16:creationId xmlns:a16="http://schemas.microsoft.com/office/drawing/2014/main" id="{05028F69-EDE4-E3B9-9526-9D76D8A6E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15325" y="2135822"/>
              <a:ext cx="114299" cy="133349"/>
            </a:xfrm>
            <a:prstGeom prst="rect">
              <a:avLst/>
            </a:prstGeom>
          </p:spPr>
        </p:pic>
        <p:pic>
          <p:nvPicPr>
            <p:cNvPr id="39" name="object 39">
              <a:extLst>
                <a:ext uri="{FF2B5EF4-FFF2-40B4-BE49-F238E27FC236}">
                  <a16:creationId xmlns:a16="http://schemas.microsoft.com/office/drawing/2014/main" id="{9A6AD857-F4AC-8BA1-913D-D6575CDC60B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15325" y="2631122"/>
              <a:ext cx="114299" cy="133349"/>
            </a:xfrm>
            <a:prstGeom prst="rect">
              <a:avLst/>
            </a:prstGeom>
          </p:spPr>
        </p:pic>
        <p:pic>
          <p:nvPicPr>
            <p:cNvPr id="40" name="object 40">
              <a:extLst>
                <a:ext uri="{FF2B5EF4-FFF2-40B4-BE49-F238E27FC236}">
                  <a16:creationId xmlns:a16="http://schemas.microsoft.com/office/drawing/2014/main" id="{788213BA-1002-B490-30C9-0A0A885CF15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15325" y="3126422"/>
              <a:ext cx="133349" cy="133349"/>
            </a:xfrm>
            <a:prstGeom prst="rect">
              <a:avLst/>
            </a:prstGeom>
          </p:spPr>
        </p:pic>
      </p:grpSp>
      <p:sp>
        <p:nvSpPr>
          <p:cNvPr id="41" name="object 41">
            <a:extLst>
              <a:ext uri="{FF2B5EF4-FFF2-40B4-BE49-F238E27FC236}">
                <a16:creationId xmlns:a16="http://schemas.microsoft.com/office/drawing/2014/main" id="{7BE61922-580E-BADE-84D3-826F177E48FC}"/>
              </a:ext>
            </a:extLst>
          </p:cNvPr>
          <p:cNvSpPr txBox="1"/>
          <p:nvPr/>
        </p:nvSpPr>
        <p:spPr>
          <a:xfrm>
            <a:off x="8549226" y="2786304"/>
            <a:ext cx="2825115" cy="379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6700"/>
              </a:lnSpc>
            </a:pPr>
            <a:r>
              <a:rPr sz="1200" dirty="0">
                <a:latin typeface="Arial"/>
                <a:cs typeface="Arial"/>
              </a:rPr>
              <a:t>Phase 1 (10-14</a:t>
            </a:r>
            <a:r>
              <a:rPr sz="1149" dirty="0">
                <a:latin typeface="Malgun Gothic"/>
                <a:cs typeface="Malgun Gothic"/>
              </a:rPr>
              <a:t>개월</a:t>
            </a:r>
            <a:r>
              <a:rPr sz="1200" dirty="0">
                <a:latin typeface="Arial"/>
                <a:cs typeface="Arial"/>
              </a:rPr>
              <a:t>): </a:t>
            </a:r>
            <a:r>
              <a:rPr sz="1250" dirty="0">
                <a:latin typeface="Microsoft Sans Serif"/>
                <a:cs typeface="Microsoft Sans Serif"/>
              </a:rPr>
              <a:t>ROS/Gazebo</a:t>
            </a:r>
            <a:r>
              <a:rPr sz="1149" dirty="0">
                <a:latin typeface="Malgun Gothic"/>
                <a:cs typeface="Malgun Gothic"/>
              </a:rPr>
              <a:t>를 활용한 공 정 시뮬레이션 기반 구축</a:t>
            </a:r>
            <a:endParaRPr sz="1149">
              <a:latin typeface="Malgun Gothic"/>
              <a:cs typeface="Malgun Gothic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3A851B68-F3E5-B8C4-1C7B-5D341B5D25E9}"/>
              </a:ext>
            </a:extLst>
          </p:cNvPr>
          <p:cNvSpPr txBox="1"/>
          <p:nvPr/>
        </p:nvSpPr>
        <p:spPr>
          <a:xfrm>
            <a:off x="8549218" y="3285303"/>
            <a:ext cx="3114677" cy="3767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15"/>
              </a:spcBef>
            </a:pPr>
            <a:r>
              <a:rPr sz="1200" dirty="0">
                <a:latin typeface="Arial"/>
                <a:cs typeface="Arial"/>
              </a:rPr>
              <a:t>Phase 2 (15-18</a:t>
            </a:r>
            <a:r>
              <a:rPr sz="1149" dirty="0">
                <a:latin typeface="Malgun Gothic"/>
                <a:cs typeface="Malgun Gothic"/>
              </a:rPr>
              <a:t>개월</a:t>
            </a:r>
            <a:r>
              <a:rPr sz="1200" dirty="0">
                <a:latin typeface="Arial"/>
                <a:cs typeface="Arial"/>
              </a:rPr>
              <a:t>): </a:t>
            </a:r>
            <a:r>
              <a:rPr sz="1149" dirty="0">
                <a:latin typeface="Malgun Gothic"/>
                <a:cs typeface="Malgun Gothic"/>
              </a:rPr>
              <a:t>자율 제조 시스템 연동 및 </a:t>
            </a:r>
            <a:r>
              <a:rPr sz="1149" dirty="0" err="1">
                <a:latin typeface="Malgun Gothic"/>
                <a:cs typeface="Malgun Gothic"/>
              </a:rPr>
              <a:t>가동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8574670B-886B-7D8F-CD82-A6609C6D06DC}"/>
              </a:ext>
            </a:extLst>
          </p:cNvPr>
          <p:cNvSpPr txBox="1"/>
          <p:nvPr/>
        </p:nvSpPr>
        <p:spPr>
          <a:xfrm>
            <a:off x="8549219" y="3780603"/>
            <a:ext cx="2825122" cy="20069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149" dirty="0">
                <a:latin typeface="Malgun Gothic"/>
                <a:cs typeface="Malgun Gothic"/>
              </a:rPr>
              <a:t>목표</a:t>
            </a:r>
            <a:r>
              <a:rPr sz="1200" dirty="0">
                <a:latin typeface="Arial"/>
                <a:cs typeface="Arial"/>
              </a:rPr>
              <a:t>: </a:t>
            </a:r>
            <a:r>
              <a:rPr sz="1149" dirty="0">
                <a:latin typeface="Malgun Gothic"/>
                <a:cs typeface="Malgun Gothic"/>
              </a:rPr>
              <a:t>공정 최적화 및 부분적 자율화</a:t>
            </a: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9BDF8644-05E4-C529-04D6-D8F005EAEA70}"/>
              </a:ext>
            </a:extLst>
          </p:cNvPr>
          <p:cNvSpPr txBox="1"/>
          <p:nvPr/>
        </p:nvSpPr>
        <p:spPr>
          <a:xfrm>
            <a:off x="5147873" y="4547444"/>
            <a:ext cx="1771457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시스템 통합 아키텍처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45" name="object 45">
            <a:extLst>
              <a:ext uri="{FF2B5EF4-FFF2-40B4-BE49-F238E27FC236}">
                <a16:creationId xmlns:a16="http://schemas.microsoft.com/office/drawing/2014/main" id="{4F8C5C93-25B1-6D21-84F5-2736D31AAA56}"/>
              </a:ext>
            </a:extLst>
          </p:cNvPr>
          <p:cNvGrpSpPr/>
          <p:nvPr/>
        </p:nvGrpSpPr>
        <p:grpSpPr>
          <a:xfrm>
            <a:off x="1586492" y="5242006"/>
            <a:ext cx="457201" cy="457201"/>
            <a:chOff x="1647824" y="4533899"/>
            <a:chExt cx="457200" cy="457200"/>
          </a:xfrm>
        </p:grpSpPr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DF50F9AB-B85D-3872-70D9-EAA8767092E8}"/>
                </a:ext>
              </a:extLst>
            </p:cNvPr>
            <p:cNvSpPr/>
            <p:nvPr/>
          </p:nvSpPr>
          <p:spPr>
            <a:xfrm>
              <a:off x="1647824" y="411702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7" y="457199"/>
                  </a:moveTo>
                  <a:lnTo>
                    <a:pt x="221113" y="457199"/>
                  </a:lnTo>
                  <a:lnTo>
                    <a:pt x="213644" y="456833"/>
                  </a:lnTo>
                  <a:lnTo>
                    <a:pt x="169405" y="449529"/>
                  </a:lnTo>
                  <a:lnTo>
                    <a:pt x="127441" y="433735"/>
                  </a:lnTo>
                  <a:lnTo>
                    <a:pt x="89364" y="410058"/>
                  </a:lnTo>
                  <a:lnTo>
                    <a:pt x="56639" y="379409"/>
                  </a:lnTo>
                  <a:lnTo>
                    <a:pt x="30521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7"/>
                  </a:lnTo>
                  <a:lnTo>
                    <a:pt x="0" y="221113"/>
                  </a:lnTo>
                  <a:lnTo>
                    <a:pt x="5853" y="176659"/>
                  </a:lnTo>
                  <a:lnTo>
                    <a:pt x="20265" y="134201"/>
                  </a:lnTo>
                  <a:lnTo>
                    <a:pt x="42685" y="95370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6"/>
                  </a:lnTo>
                  <a:lnTo>
                    <a:pt x="191345" y="2932"/>
                  </a:lnTo>
                  <a:lnTo>
                    <a:pt x="221113" y="0"/>
                  </a:lnTo>
                  <a:lnTo>
                    <a:pt x="236087" y="0"/>
                  </a:lnTo>
                  <a:lnTo>
                    <a:pt x="280540" y="5853"/>
                  </a:lnTo>
                  <a:lnTo>
                    <a:pt x="322998" y="20265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7" y="191345"/>
                  </a:lnTo>
                  <a:lnTo>
                    <a:pt x="457199" y="221113"/>
                  </a:lnTo>
                  <a:lnTo>
                    <a:pt x="457199" y="228599"/>
                  </a:lnTo>
                  <a:lnTo>
                    <a:pt x="457199" y="236087"/>
                  </a:lnTo>
                  <a:lnTo>
                    <a:pt x="451346" y="280540"/>
                  </a:lnTo>
                  <a:lnTo>
                    <a:pt x="436933" y="322997"/>
                  </a:lnTo>
                  <a:lnTo>
                    <a:pt x="414514" y="361828"/>
                  </a:lnTo>
                  <a:lnTo>
                    <a:pt x="384950" y="395538"/>
                  </a:lnTo>
                  <a:lnTo>
                    <a:pt x="349378" y="422832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5" y="456833"/>
                  </a:lnTo>
                  <a:lnTo>
                    <a:pt x="236087" y="4571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>
              <a:extLst>
                <a:ext uri="{FF2B5EF4-FFF2-40B4-BE49-F238E27FC236}">
                  <a16:creationId xmlns:a16="http://schemas.microsoft.com/office/drawing/2014/main" id="{64A69FB5-84D3-5E0C-693E-76B60161A1F9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09749" y="4269422"/>
              <a:ext cx="133349" cy="152399"/>
            </a:xfrm>
            <a:prstGeom prst="rect">
              <a:avLst/>
            </a:prstGeom>
          </p:spPr>
        </p:pic>
      </p:grpSp>
      <p:sp>
        <p:nvSpPr>
          <p:cNvPr id="48" name="object 48">
            <a:extLst>
              <a:ext uri="{FF2B5EF4-FFF2-40B4-BE49-F238E27FC236}">
                <a16:creationId xmlns:a16="http://schemas.microsoft.com/office/drawing/2014/main" id="{B92FC7A0-66F5-E209-2F80-D79BBBC82B62}"/>
              </a:ext>
            </a:extLst>
          </p:cNvPr>
          <p:cNvSpPr txBox="1"/>
          <p:nvPr/>
        </p:nvSpPr>
        <p:spPr>
          <a:xfrm>
            <a:off x="1473037" y="5302398"/>
            <a:ext cx="683260" cy="3227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latin typeface="Malgun Gothic"/>
                <a:cs typeface="Malgun Gothic"/>
              </a:rPr>
              <a:t>데이터 인프라</a:t>
            </a:r>
            <a:endParaRPr sz="1001">
              <a:latin typeface="Malgun Gothic"/>
              <a:cs typeface="Malgun Gothic"/>
            </a:endParaRPr>
          </a:p>
        </p:txBody>
      </p:sp>
      <p:grpSp>
        <p:nvGrpSpPr>
          <p:cNvPr id="49" name="object 49">
            <a:extLst>
              <a:ext uri="{FF2B5EF4-FFF2-40B4-BE49-F238E27FC236}">
                <a16:creationId xmlns:a16="http://schemas.microsoft.com/office/drawing/2014/main" id="{90F43396-2BE8-AC23-7716-97954538D6F4}"/>
              </a:ext>
            </a:extLst>
          </p:cNvPr>
          <p:cNvGrpSpPr/>
          <p:nvPr/>
        </p:nvGrpSpPr>
        <p:grpSpPr>
          <a:xfrm>
            <a:off x="5806069" y="5242006"/>
            <a:ext cx="457201" cy="457201"/>
            <a:chOff x="5867400" y="4533899"/>
            <a:chExt cx="457200" cy="457200"/>
          </a:xfrm>
        </p:grpSpPr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FFE749FD-FD11-460E-B4A7-EC909AF78D3E}"/>
                </a:ext>
              </a:extLst>
            </p:cNvPr>
            <p:cNvSpPr/>
            <p:nvPr/>
          </p:nvSpPr>
          <p:spPr>
            <a:xfrm>
              <a:off x="5867400" y="411702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2" y="457199"/>
                  </a:lnTo>
                  <a:lnTo>
                    <a:pt x="213643" y="456833"/>
                  </a:lnTo>
                  <a:lnTo>
                    <a:pt x="169404" y="449529"/>
                  </a:lnTo>
                  <a:lnTo>
                    <a:pt x="127440" y="433735"/>
                  </a:lnTo>
                  <a:lnTo>
                    <a:pt x="89364" y="410058"/>
                  </a:lnTo>
                  <a:lnTo>
                    <a:pt x="56638" y="379409"/>
                  </a:lnTo>
                  <a:lnTo>
                    <a:pt x="30521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7"/>
                  </a:lnTo>
                  <a:lnTo>
                    <a:pt x="0" y="221113"/>
                  </a:lnTo>
                  <a:lnTo>
                    <a:pt x="5852" y="176659"/>
                  </a:lnTo>
                  <a:lnTo>
                    <a:pt x="20265" y="134201"/>
                  </a:lnTo>
                  <a:lnTo>
                    <a:pt x="42683" y="95370"/>
                  </a:lnTo>
                  <a:lnTo>
                    <a:pt x="72249" y="61661"/>
                  </a:lnTo>
                  <a:lnTo>
                    <a:pt x="107820" y="34366"/>
                  </a:lnTo>
                  <a:lnTo>
                    <a:pt x="148034" y="14536"/>
                  </a:lnTo>
                  <a:lnTo>
                    <a:pt x="191344" y="2932"/>
                  </a:lnTo>
                  <a:lnTo>
                    <a:pt x="221112" y="0"/>
                  </a:lnTo>
                  <a:lnTo>
                    <a:pt x="236086" y="0"/>
                  </a:lnTo>
                  <a:lnTo>
                    <a:pt x="280539" y="5853"/>
                  </a:lnTo>
                  <a:lnTo>
                    <a:pt x="322997" y="20265"/>
                  </a:lnTo>
                  <a:lnTo>
                    <a:pt x="361827" y="42685"/>
                  </a:lnTo>
                  <a:lnTo>
                    <a:pt x="395538" y="72249"/>
                  </a:lnTo>
                  <a:lnTo>
                    <a:pt x="422832" y="107821"/>
                  </a:lnTo>
                  <a:lnTo>
                    <a:pt x="442663" y="148035"/>
                  </a:lnTo>
                  <a:lnTo>
                    <a:pt x="454267" y="191345"/>
                  </a:lnTo>
                  <a:lnTo>
                    <a:pt x="457199" y="221113"/>
                  </a:lnTo>
                  <a:lnTo>
                    <a:pt x="457199" y="228599"/>
                  </a:lnTo>
                  <a:lnTo>
                    <a:pt x="457199" y="236087"/>
                  </a:lnTo>
                  <a:lnTo>
                    <a:pt x="451345" y="280540"/>
                  </a:lnTo>
                  <a:lnTo>
                    <a:pt x="436932" y="322997"/>
                  </a:lnTo>
                  <a:lnTo>
                    <a:pt x="414513" y="361828"/>
                  </a:lnTo>
                  <a:lnTo>
                    <a:pt x="384949" y="395538"/>
                  </a:lnTo>
                  <a:lnTo>
                    <a:pt x="349376" y="422832"/>
                  </a:lnTo>
                  <a:lnTo>
                    <a:pt x="309163" y="442663"/>
                  </a:lnTo>
                  <a:lnTo>
                    <a:pt x="265853" y="454267"/>
                  </a:lnTo>
                  <a:lnTo>
                    <a:pt x="243555" y="456833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>
              <a:extLst>
                <a:ext uri="{FF2B5EF4-FFF2-40B4-BE49-F238E27FC236}">
                  <a16:creationId xmlns:a16="http://schemas.microsoft.com/office/drawing/2014/main" id="{67BD008B-C032-A1E4-3D96-BD8B33BE63D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19799" y="4269422"/>
              <a:ext cx="152399" cy="152399"/>
            </a:xfrm>
            <a:prstGeom prst="rect">
              <a:avLst/>
            </a:prstGeom>
          </p:spPr>
        </p:pic>
      </p:grpSp>
      <p:sp>
        <p:nvSpPr>
          <p:cNvPr id="52" name="object 52">
            <a:extLst>
              <a:ext uri="{FF2B5EF4-FFF2-40B4-BE49-F238E27FC236}">
                <a16:creationId xmlns:a16="http://schemas.microsoft.com/office/drawing/2014/main" id="{89B57139-CF53-477E-1689-BBFBF78D16A9}"/>
              </a:ext>
            </a:extLst>
          </p:cNvPr>
          <p:cNvSpPr txBox="1"/>
          <p:nvPr/>
        </p:nvSpPr>
        <p:spPr>
          <a:xfrm>
            <a:off x="5850526" y="5302398"/>
            <a:ext cx="368936" cy="3227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950" dirty="0">
                <a:latin typeface="Franklin Gothic Demi"/>
                <a:cs typeface="Franklin Gothic Demi"/>
              </a:rPr>
              <a:t>AI </a:t>
            </a:r>
            <a:r>
              <a:rPr sz="1001" dirty="0">
                <a:latin typeface="Malgun Gothic"/>
                <a:cs typeface="Malgun Gothic"/>
              </a:rPr>
              <a:t>코어</a:t>
            </a:r>
            <a:endParaRPr sz="1001">
              <a:latin typeface="Malgun Gothic"/>
              <a:cs typeface="Malgun Gothic"/>
            </a:endParaRPr>
          </a:p>
        </p:txBody>
      </p:sp>
      <p:grpSp>
        <p:nvGrpSpPr>
          <p:cNvPr id="53" name="object 53">
            <a:extLst>
              <a:ext uri="{FF2B5EF4-FFF2-40B4-BE49-F238E27FC236}">
                <a16:creationId xmlns:a16="http://schemas.microsoft.com/office/drawing/2014/main" id="{83F66F48-0292-DBB6-85D9-CE70EC9620A2}"/>
              </a:ext>
            </a:extLst>
          </p:cNvPr>
          <p:cNvGrpSpPr/>
          <p:nvPr/>
        </p:nvGrpSpPr>
        <p:grpSpPr>
          <a:xfrm>
            <a:off x="10025643" y="5242006"/>
            <a:ext cx="457201" cy="457201"/>
            <a:chOff x="10086974" y="4533899"/>
            <a:chExt cx="457200" cy="457200"/>
          </a:xfrm>
        </p:grpSpPr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5E82D3E2-E981-49C0-9D11-7AD63F6529D8}"/>
                </a:ext>
              </a:extLst>
            </p:cNvPr>
            <p:cNvSpPr/>
            <p:nvPr/>
          </p:nvSpPr>
          <p:spPr>
            <a:xfrm>
              <a:off x="10086974" y="411702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5" y="456833"/>
                  </a:lnTo>
                  <a:lnTo>
                    <a:pt x="169404" y="449529"/>
                  </a:lnTo>
                  <a:lnTo>
                    <a:pt x="127441" y="433735"/>
                  </a:lnTo>
                  <a:lnTo>
                    <a:pt x="89364" y="410058"/>
                  </a:lnTo>
                  <a:lnTo>
                    <a:pt x="56638" y="379409"/>
                  </a:lnTo>
                  <a:lnTo>
                    <a:pt x="30520" y="342963"/>
                  </a:lnTo>
                  <a:lnTo>
                    <a:pt x="12015" y="302123"/>
                  </a:lnTo>
                  <a:lnTo>
                    <a:pt x="1834" y="258457"/>
                  </a:lnTo>
                  <a:lnTo>
                    <a:pt x="0" y="236087"/>
                  </a:lnTo>
                  <a:lnTo>
                    <a:pt x="0" y="221113"/>
                  </a:lnTo>
                  <a:lnTo>
                    <a:pt x="5851" y="176659"/>
                  </a:lnTo>
                  <a:lnTo>
                    <a:pt x="20266" y="134201"/>
                  </a:lnTo>
                  <a:lnTo>
                    <a:pt x="42683" y="95370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6"/>
                  </a:lnTo>
                  <a:lnTo>
                    <a:pt x="191345" y="2932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38" y="5853"/>
                  </a:lnTo>
                  <a:lnTo>
                    <a:pt x="322997" y="20265"/>
                  </a:lnTo>
                  <a:lnTo>
                    <a:pt x="361829" y="42685"/>
                  </a:lnTo>
                  <a:lnTo>
                    <a:pt x="395537" y="72249"/>
                  </a:lnTo>
                  <a:lnTo>
                    <a:pt x="422831" y="107821"/>
                  </a:lnTo>
                  <a:lnTo>
                    <a:pt x="442662" y="148035"/>
                  </a:lnTo>
                  <a:lnTo>
                    <a:pt x="454267" y="191345"/>
                  </a:lnTo>
                  <a:lnTo>
                    <a:pt x="457199" y="221113"/>
                  </a:lnTo>
                  <a:lnTo>
                    <a:pt x="457199" y="228599"/>
                  </a:lnTo>
                  <a:lnTo>
                    <a:pt x="457199" y="236087"/>
                  </a:lnTo>
                  <a:lnTo>
                    <a:pt x="451345" y="280540"/>
                  </a:lnTo>
                  <a:lnTo>
                    <a:pt x="436931" y="322997"/>
                  </a:lnTo>
                  <a:lnTo>
                    <a:pt x="414514" y="361828"/>
                  </a:lnTo>
                  <a:lnTo>
                    <a:pt x="384949" y="395538"/>
                  </a:lnTo>
                  <a:lnTo>
                    <a:pt x="349378" y="422832"/>
                  </a:lnTo>
                  <a:lnTo>
                    <a:pt x="309163" y="442663"/>
                  </a:lnTo>
                  <a:lnTo>
                    <a:pt x="265854" y="454267"/>
                  </a:lnTo>
                  <a:lnTo>
                    <a:pt x="243556" y="456833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>
              <a:extLst>
                <a:ext uri="{FF2B5EF4-FFF2-40B4-BE49-F238E27FC236}">
                  <a16:creationId xmlns:a16="http://schemas.microsoft.com/office/drawing/2014/main" id="{B56A02EE-7004-B1DC-1F81-089815016E1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39374" y="4269422"/>
              <a:ext cx="152399" cy="152399"/>
            </a:xfrm>
            <a:prstGeom prst="rect">
              <a:avLst/>
            </a:prstGeom>
          </p:spPr>
        </p:pic>
      </p:grpSp>
      <p:sp>
        <p:nvSpPr>
          <p:cNvPr id="56" name="object 56">
            <a:extLst>
              <a:ext uri="{FF2B5EF4-FFF2-40B4-BE49-F238E27FC236}">
                <a16:creationId xmlns:a16="http://schemas.microsoft.com/office/drawing/2014/main" id="{0488A4FD-5361-C43B-647B-FBC5DA92D676}"/>
              </a:ext>
            </a:extLst>
          </p:cNvPr>
          <p:cNvSpPr txBox="1"/>
          <p:nvPr/>
        </p:nvSpPr>
        <p:spPr>
          <a:xfrm>
            <a:off x="9966068" y="5302398"/>
            <a:ext cx="578485" cy="3227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latin typeface="Malgun Gothic"/>
                <a:cs typeface="Malgun Gothic"/>
              </a:rPr>
              <a:t>디지털 트윈</a:t>
            </a:r>
            <a:endParaRPr sz="1001">
              <a:latin typeface="Malgun Gothic"/>
              <a:cs typeface="Malgun Gothic"/>
            </a:endParaRPr>
          </a:p>
        </p:txBody>
      </p:sp>
      <p:grpSp>
        <p:nvGrpSpPr>
          <p:cNvPr id="57" name="object 57">
            <a:extLst>
              <a:ext uri="{FF2B5EF4-FFF2-40B4-BE49-F238E27FC236}">
                <a16:creationId xmlns:a16="http://schemas.microsoft.com/office/drawing/2014/main" id="{01D6C5AE-F036-2427-3BD4-4AC4BB9CED3A}"/>
              </a:ext>
            </a:extLst>
          </p:cNvPr>
          <p:cNvGrpSpPr/>
          <p:nvPr/>
        </p:nvGrpSpPr>
        <p:grpSpPr>
          <a:xfrm>
            <a:off x="529217" y="1946356"/>
            <a:ext cx="11010899" cy="114300"/>
            <a:chOff x="590549" y="1238249"/>
            <a:chExt cx="11010900" cy="114300"/>
          </a:xfrm>
        </p:grpSpPr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262F54C9-D667-B4AD-AB0E-47D5AAC85ABB}"/>
                </a:ext>
              </a:extLst>
            </p:cNvPr>
            <p:cNvSpPr/>
            <p:nvPr/>
          </p:nvSpPr>
          <p:spPr>
            <a:xfrm>
              <a:off x="647699" y="840422"/>
              <a:ext cx="10896600" cy="76200"/>
            </a:xfrm>
            <a:custGeom>
              <a:avLst/>
              <a:gdLst/>
              <a:ahLst/>
              <a:cxnLst/>
              <a:rect l="l" t="t" r="r" b="b"/>
              <a:pathLst>
                <a:path w="10896600" h="76200">
                  <a:moveTo>
                    <a:pt x="10863551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0863551" y="0"/>
                  </a:lnTo>
                  <a:lnTo>
                    <a:pt x="10895631" y="28187"/>
                  </a:lnTo>
                  <a:lnTo>
                    <a:pt x="10896598" y="33047"/>
                  </a:lnTo>
                  <a:lnTo>
                    <a:pt x="10896598" y="43152"/>
                  </a:lnTo>
                  <a:lnTo>
                    <a:pt x="10868410" y="75233"/>
                  </a:lnTo>
                  <a:lnTo>
                    <a:pt x="10863551" y="76199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>
              <a:extLst>
                <a:ext uri="{FF2B5EF4-FFF2-40B4-BE49-F238E27FC236}">
                  <a16:creationId xmlns:a16="http://schemas.microsoft.com/office/drawing/2014/main" id="{09BE2FB2-231D-048B-859C-61A71B4DAD74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0549" y="821372"/>
              <a:ext cx="114299" cy="114299"/>
            </a:xfrm>
            <a:prstGeom prst="rect">
              <a:avLst/>
            </a:prstGeom>
          </p:spPr>
        </p:pic>
        <p:pic>
          <p:nvPicPr>
            <p:cNvPr id="60" name="object 60">
              <a:extLst>
                <a:ext uri="{FF2B5EF4-FFF2-40B4-BE49-F238E27FC236}">
                  <a16:creationId xmlns:a16="http://schemas.microsoft.com/office/drawing/2014/main" id="{8BCB86B6-CCFA-9BE2-77F0-BF411AF44817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90999" y="821372"/>
              <a:ext cx="114299" cy="114299"/>
            </a:xfrm>
            <a:prstGeom prst="rect">
              <a:avLst/>
            </a:prstGeom>
          </p:spPr>
        </p:pic>
        <p:pic>
          <p:nvPicPr>
            <p:cNvPr id="61" name="object 61">
              <a:extLst>
                <a:ext uri="{FF2B5EF4-FFF2-40B4-BE49-F238E27FC236}">
                  <a16:creationId xmlns:a16="http://schemas.microsoft.com/office/drawing/2014/main" id="{71A8E85C-276A-FFD6-26F8-7BDE3D507A3A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87149" y="821372"/>
              <a:ext cx="114299" cy="114299"/>
            </a:xfrm>
            <a:prstGeom prst="rect">
              <a:avLst/>
            </a:prstGeom>
          </p:spPr>
        </p:pic>
        <p:pic>
          <p:nvPicPr>
            <p:cNvPr id="62" name="object 62">
              <a:extLst>
                <a:ext uri="{FF2B5EF4-FFF2-40B4-BE49-F238E27FC236}">
                  <a16:creationId xmlns:a16="http://schemas.microsoft.com/office/drawing/2014/main" id="{09E0B9B3-ED4A-139B-B845-254304D0A3EC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81924" y="821372"/>
              <a:ext cx="114299" cy="114299"/>
            </a:xfrm>
            <a:prstGeom prst="rect">
              <a:avLst/>
            </a:prstGeom>
          </p:spPr>
        </p:pic>
      </p:grpSp>
      <p:sp>
        <p:nvSpPr>
          <p:cNvPr id="63" name="object 63">
            <a:extLst>
              <a:ext uri="{FF2B5EF4-FFF2-40B4-BE49-F238E27FC236}">
                <a16:creationId xmlns:a16="http://schemas.microsoft.com/office/drawing/2014/main" id="{08134203-E586-05F8-9D94-011F6707D319}"/>
              </a:ext>
            </a:extLst>
          </p:cNvPr>
          <p:cNvSpPr txBox="1"/>
          <p:nvPr/>
        </p:nvSpPr>
        <p:spPr>
          <a:xfrm>
            <a:off x="435555" y="1239172"/>
            <a:ext cx="718596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7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endParaRPr sz="1001" dirty="0">
              <a:latin typeface="Malgun Gothic"/>
              <a:cs typeface="Malgun Gothic"/>
            </a:endParaRPr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3CBF81D7-57A7-AA82-0CB8-D8452D1C5245}"/>
              </a:ext>
            </a:extLst>
          </p:cNvPr>
          <p:cNvSpPr txBox="1"/>
          <p:nvPr/>
        </p:nvSpPr>
        <p:spPr>
          <a:xfrm>
            <a:off x="3998063" y="1239177"/>
            <a:ext cx="555572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12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endParaRPr sz="1001" dirty="0">
              <a:latin typeface="Malgun Gothic"/>
              <a:cs typeface="Malgun Gothic"/>
            </a:endParaRPr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1FA44287-AACF-CA3C-1990-3723FED9720F}"/>
              </a:ext>
            </a:extLst>
          </p:cNvPr>
          <p:cNvSpPr txBox="1"/>
          <p:nvPr/>
        </p:nvSpPr>
        <p:spPr>
          <a:xfrm>
            <a:off x="7593899" y="1239176"/>
            <a:ext cx="650520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15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endParaRPr sz="1001" dirty="0">
              <a:latin typeface="Malgun Gothic"/>
              <a:cs typeface="Malgun Gothic"/>
            </a:endParaRPr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C5B79924-1205-BBA3-C1BB-8CC1C5E783EB}"/>
              </a:ext>
            </a:extLst>
          </p:cNvPr>
          <p:cNvSpPr txBox="1"/>
          <p:nvPr/>
        </p:nvSpPr>
        <p:spPr>
          <a:xfrm>
            <a:off x="11298822" y="1239172"/>
            <a:ext cx="555572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24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endParaRPr sz="1001" dirty="0">
              <a:latin typeface="Malgun Gothic"/>
              <a:cs typeface="Malgun Gothic"/>
            </a:endParaRPr>
          </a:p>
        </p:txBody>
      </p:sp>
      <p:grpSp>
        <p:nvGrpSpPr>
          <p:cNvPr id="67" name="object 67">
            <a:extLst>
              <a:ext uri="{FF2B5EF4-FFF2-40B4-BE49-F238E27FC236}">
                <a16:creationId xmlns:a16="http://schemas.microsoft.com/office/drawing/2014/main" id="{5242FC23-8525-D017-0A2E-2484AFCE5D09}"/>
              </a:ext>
            </a:extLst>
          </p:cNvPr>
          <p:cNvGrpSpPr/>
          <p:nvPr/>
        </p:nvGrpSpPr>
        <p:grpSpPr>
          <a:xfrm>
            <a:off x="3081918" y="5518232"/>
            <a:ext cx="5905500" cy="76199"/>
            <a:chOff x="3143249" y="4810124"/>
            <a:chExt cx="5905500" cy="76200"/>
          </a:xfrm>
        </p:grpSpPr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AD2F4F83-99A3-D796-6587-E001855529B5}"/>
                </a:ext>
              </a:extLst>
            </p:cNvPr>
            <p:cNvSpPr/>
            <p:nvPr/>
          </p:nvSpPr>
          <p:spPr>
            <a:xfrm>
              <a:off x="3143249" y="4431347"/>
              <a:ext cx="1685925" cy="19050"/>
            </a:xfrm>
            <a:custGeom>
              <a:avLst/>
              <a:gdLst/>
              <a:ahLst/>
              <a:cxnLst/>
              <a:rect l="l" t="t" r="r" b="b"/>
              <a:pathLst>
                <a:path w="1685925" h="19050">
                  <a:moveTo>
                    <a:pt x="16859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685924" y="0"/>
                  </a:lnTo>
                  <a:lnTo>
                    <a:pt x="1685924" y="19049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>
              <a:extLst>
                <a:ext uri="{FF2B5EF4-FFF2-40B4-BE49-F238E27FC236}">
                  <a16:creationId xmlns:a16="http://schemas.microsoft.com/office/drawing/2014/main" id="{A550C6B8-04BD-C4C4-38E6-57C55D2C74F0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43349" y="4393247"/>
              <a:ext cx="76199" cy="76199"/>
            </a:xfrm>
            <a:prstGeom prst="rect">
              <a:avLst/>
            </a:prstGeom>
          </p:spPr>
        </p:pic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CE80A7F2-F064-8A7B-8196-D42B2EFF29BC}"/>
                </a:ext>
              </a:extLst>
            </p:cNvPr>
            <p:cNvSpPr/>
            <p:nvPr/>
          </p:nvSpPr>
          <p:spPr>
            <a:xfrm>
              <a:off x="7362824" y="4431347"/>
              <a:ext cx="1685925" cy="19050"/>
            </a:xfrm>
            <a:custGeom>
              <a:avLst/>
              <a:gdLst/>
              <a:ahLst/>
              <a:cxnLst/>
              <a:rect l="l" t="t" r="r" b="b"/>
              <a:pathLst>
                <a:path w="1685925" h="19050">
                  <a:moveTo>
                    <a:pt x="16859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685924" y="0"/>
                  </a:lnTo>
                  <a:lnTo>
                    <a:pt x="1685924" y="19049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>
              <a:extLst>
                <a:ext uri="{FF2B5EF4-FFF2-40B4-BE49-F238E27FC236}">
                  <a16:creationId xmlns:a16="http://schemas.microsoft.com/office/drawing/2014/main" id="{DB00B7E1-B37B-CD5D-C89C-474E47BD0C92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72449" y="4393247"/>
              <a:ext cx="76199" cy="76199"/>
            </a:xfrm>
            <a:prstGeom prst="rect">
              <a:avLst/>
            </a:prstGeom>
          </p:spPr>
        </p:pic>
      </p:grpSp>
      <p:pic>
        <p:nvPicPr>
          <p:cNvPr id="72" name="object 26">
            <a:extLst>
              <a:ext uri="{FF2B5EF4-FFF2-40B4-BE49-F238E27FC236}">
                <a16:creationId xmlns:a16="http://schemas.microsoft.com/office/drawing/2014/main" id="{BC69CE2A-D1F0-7FF9-BB2D-BF333CD9ED23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01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FF49D79-3B90-7DB4-DE62-B11F362DD8C2}"/>
              </a:ext>
            </a:extLst>
          </p:cNvPr>
          <p:cNvGrpSpPr/>
          <p:nvPr/>
        </p:nvGrpSpPr>
        <p:grpSpPr>
          <a:xfrm>
            <a:off x="457199" y="5671333"/>
            <a:ext cx="11277600" cy="952500"/>
            <a:chOff x="457199" y="5448300"/>
            <a:chExt cx="11277600" cy="9525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F5F34E0-D774-FE72-C5D5-E67F0F0FBFDF}"/>
                </a:ext>
              </a:extLst>
            </p:cNvPr>
            <p:cNvSpPr/>
            <p:nvPr/>
          </p:nvSpPr>
          <p:spPr>
            <a:xfrm>
              <a:off x="457199" y="5107623"/>
              <a:ext cx="11277600" cy="952500"/>
            </a:xfrm>
            <a:custGeom>
              <a:avLst/>
              <a:gdLst/>
              <a:ahLst/>
              <a:cxnLst/>
              <a:rect l="l" t="t" r="r" b="b"/>
              <a:pathLst>
                <a:path w="11277600" h="952500">
                  <a:moveTo>
                    <a:pt x="11206402" y="952498"/>
                  </a:moveTo>
                  <a:lnTo>
                    <a:pt x="71196" y="952498"/>
                  </a:lnTo>
                  <a:lnTo>
                    <a:pt x="66241" y="952010"/>
                  </a:lnTo>
                  <a:lnTo>
                    <a:pt x="29705" y="936877"/>
                  </a:lnTo>
                  <a:lnTo>
                    <a:pt x="3885" y="900836"/>
                  </a:lnTo>
                  <a:lnTo>
                    <a:pt x="0" y="881302"/>
                  </a:lnTo>
                  <a:lnTo>
                    <a:pt x="0" y="876299"/>
                  </a:lnTo>
                  <a:lnTo>
                    <a:pt x="0" y="71195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11206402" y="0"/>
                  </a:lnTo>
                  <a:lnTo>
                    <a:pt x="11247891" y="15621"/>
                  </a:lnTo>
                  <a:lnTo>
                    <a:pt x="11273712" y="51660"/>
                  </a:lnTo>
                  <a:lnTo>
                    <a:pt x="11277599" y="71195"/>
                  </a:lnTo>
                  <a:lnTo>
                    <a:pt x="11277599" y="881302"/>
                  </a:lnTo>
                  <a:lnTo>
                    <a:pt x="11261975" y="922793"/>
                  </a:lnTo>
                  <a:lnTo>
                    <a:pt x="11225936" y="948612"/>
                  </a:lnTo>
                  <a:lnTo>
                    <a:pt x="11211357" y="952010"/>
                  </a:lnTo>
                  <a:lnTo>
                    <a:pt x="11206402" y="952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BF142EF3-76D9-D550-6716-08F94A0B148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599" y="5298122"/>
              <a:ext cx="152399" cy="152399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ACB1DCB-D091-C1B0-CF89-D68204185016}"/>
              </a:ext>
            </a:extLst>
          </p:cNvPr>
          <p:cNvSpPr txBox="1">
            <a:spLocks/>
          </p:cNvSpPr>
          <p:nvPr/>
        </p:nvSpPr>
        <p:spPr>
          <a:xfrm>
            <a:off x="408989" y="273366"/>
            <a:ext cx="7422774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dirty="0"/>
              <a:t>상세 프로젝트 일정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9323828-336F-2159-4E12-BD441489B419}"/>
              </a:ext>
            </a:extLst>
          </p:cNvPr>
          <p:cNvSpPr txBox="1"/>
          <p:nvPr/>
        </p:nvSpPr>
        <p:spPr>
          <a:xfrm>
            <a:off x="444504" y="1135720"/>
            <a:ext cx="11364637" cy="42896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대덕전자의 </a:t>
            </a:r>
            <a:r>
              <a:rPr sz="1300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트랜스폼 </a:t>
            </a:r>
            <a:r>
              <a:rPr sz="1300" dirty="0">
                <a:solidFill>
                  <a:srgbClr val="4A5462"/>
                </a:solidFill>
                <a:latin typeface="Microsoft Sans Serif"/>
                <a:cs typeface="Microsoft Sans Serif"/>
              </a:rPr>
              <a:t>2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년 로드맵은 사전컨설팅 단계와 구축 및 확산 단계로 나뉘며</a:t>
            </a:r>
            <a:r>
              <a:rPr sz="1300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각 단계별 핵심 활동과 예상 완료 시점을 다음과 같이 시각화합니다</a:t>
            </a:r>
            <a:r>
              <a:rPr sz="1300" dirty="0">
                <a:solidFill>
                  <a:srgbClr val="4A5462"/>
                </a:solidFill>
                <a:latin typeface="Microsoft Sans Serif"/>
                <a:cs typeface="Microsoft Sans Serif"/>
              </a:rPr>
              <a:t>.</a:t>
            </a:r>
            <a:endParaRPr sz="1300" dirty="0">
              <a:latin typeface="Microsoft Sans Serif"/>
              <a:cs typeface="Microsoft Sans Serif"/>
            </a:endParaRP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EA444472-1A68-F4CA-2A57-B52E8646657C}"/>
              </a:ext>
            </a:extLst>
          </p:cNvPr>
          <p:cNvGrpSpPr/>
          <p:nvPr/>
        </p:nvGrpSpPr>
        <p:grpSpPr>
          <a:xfrm>
            <a:off x="457198" y="3195765"/>
            <a:ext cx="5524500" cy="2286001"/>
            <a:chOff x="457199" y="2933700"/>
            <a:chExt cx="5524500" cy="228600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62C39A7E-7ADB-8204-61DA-864A7258BCF8}"/>
                </a:ext>
              </a:extLst>
            </p:cNvPr>
            <p:cNvSpPr/>
            <p:nvPr/>
          </p:nvSpPr>
          <p:spPr>
            <a:xfrm>
              <a:off x="457199" y="2593023"/>
              <a:ext cx="5524500" cy="2286000"/>
            </a:xfrm>
            <a:custGeom>
              <a:avLst/>
              <a:gdLst/>
              <a:ahLst/>
              <a:cxnLst/>
              <a:rect l="l" t="t" r="r" b="b"/>
              <a:pathLst>
                <a:path w="5524500" h="2286000">
                  <a:moveTo>
                    <a:pt x="5453302" y="2285998"/>
                  </a:moveTo>
                  <a:lnTo>
                    <a:pt x="71196" y="2285998"/>
                  </a:lnTo>
                  <a:lnTo>
                    <a:pt x="66241" y="2285511"/>
                  </a:lnTo>
                  <a:lnTo>
                    <a:pt x="29705" y="2270377"/>
                  </a:lnTo>
                  <a:lnTo>
                    <a:pt x="3885" y="2234336"/>
                  </a:lnTo>
                  <a:lnTo>
                    <a:pt x="0" y="2214803"/>
                  </a:lnTo>
                  <a:lnTo>
                    <a:pt x="0" y="22097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5453302" y="0"/>
                  </a:lnTo>
                  <a:lnTo>
                    <a:pt x="5494793" y="15621"/>
                  </a:lnTo>
                  <a:lnTo>
                    <a:pt x="5520612" y="51661"/>
                  </a:lnTo>
                  <a:lnTo>
                    <a:pt x="5524499" y="71196"/>
                  </a:lnTo>
                  <a:lnTo>
                    <a:pt x="5524499" y="2214803"/>
                  </a:lnTo>
                  <a:lnTo>
                    <a:pt x="5508876" y="2256293"/>
                  </a:lnTo>
                  <a:lnTo>
                    <a:pt x="5472837" y="2282113"/>
                  </a:lnTo>
                  <a:lnTo>
                    <a:pt x="5458257" y="2285511"/>
                  </a:lnTo>
                  <a:lnTo>
                    <a:pt x="5453302" y="22859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E432B2C-3155-6F9E-207B-50EEE4BB8BE9}"/>
                </a:ext>
              </a:extLst>
            </p:cNvPr>
            <p:cNvSpPr/>
            <p:nvPr/>
          </p:nvSpPr>
          <p:spPr>
            <a:xfrm>
              <a:off x="647699" y="278352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9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7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32D60F1F-2086-65A6-9BA9-BEB1D848BD9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849" y="2840672"/>
              <a:ext cx="190499" cy="190499"/>
            </a:xfrm>
            <a:prstGeom prst="rect">
              <a:avLst/>
            </a:prstGeom>
          </p:spPr>
        </p:pic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82124E6D-038D-CCFB-F764-1A4E1BAEE751}"/>
              </a:ext>
            </a:extLst>
          </p:cNvPr>
          <p:cNvSpPr txBox="1"/>
          <p:nvPr/>
        </p:nvSpPr>
        <p:spPr>
          <a:xfrm>
            <a:off x="1016002" y="3046227"/>
            <a:ext cx="3104374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사전컨설팅 </a:t>
            </a:r>
            <a:r>
              <a:rPr sz="1650" b="1" dirty="0">
                <a:solidFill>
                  <a:srgbClr val="374050"/>
                </a:solidFill>
                <a:latin typeface="Trebuchet MS"/>
                <a:cs typeface="Trebuchet MS"/>
              </a:rPr>
              <a:t>(1-6</a:t>
            </a: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개월</a:t>
            </a:r>
            <a:r>
              <a:rPr sz="1650" b="1" dirty="0">
                <a:solidFill>
                  <a:srgbClr val="374050"/>
                </a:solidFill>
                <a:latin typeface="Trebuchet MS"/>
                <a:cs typeface="Trebuchet MS"/>
              </a:rPr>
              <a:t>)</a:t>
            </a:r>
            <a:endParaRPr sz="1650" dirty="0">
              <a:latin typeface="Trebuchet MS"/>
              <a:cs typeface="Trebuchet MS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1EA0A6AB-87A4-BA09-E412-AD2425C5FF97}"/>
              </a:ext>
            </a:extLst>
          </p:cNvPr>
          <p:cNvGrpSpPr/>
          <p:nvPr/>
        </p:nvGrpSpPr>
        <p:grpSpPr>
          <a:xfrm>
            <a:off x="647699" y="3824413"/>
            <a:ext cx="228600" cy="1295400"/>
            <a:chOff x="647699" y="3562349"/>
            <a:chExt cx="228600" cy="1295400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3053EF23-301C-450A-5AC2-68875B96A22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" y="3221672"/>
              <a:ext cx="228600" cy="228599"/>
            </a:xfrm>
            <a:prstGeom prst="rect">
              <a:avLst/>
            </a:prstGeom>
          </p:spPr>
        </p:pic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418DF59B-1D61-2AD9-6810-46E18F7226A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849" y="3259772"/>
              <a:ext cx="114299" cy="152399"/>
            </a:xfrm>
            <a:prstGeom prst="rect">
              <a:avLst/>
            </a:prstGeom>
          </p:spPr>
        </p:pic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21700F36-7D6F-F9A4-00C7-640D7B9205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" y="3755072"/>
              <a:ext cx="228600" cy="228599"/>
            </a:xfrm>
            <a:prstGeom prst="rect">
              <a:avLst/>
            </a:prstGeom>
          </p:spPr>
        </p:pic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3902DF44-FCB4-F8FE-8C29-83BA4504D26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5324" y="3793172"/>
              <a:ext cx="133349" cy="152399"/>
            </a:xfrm>
            <a:prstGeom prst="rect">
              <a:avLst/>
            </a:prstGeom>
          </p:spPr>
        </p:pic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B0AB9DA8-EA5F-D66B-8FC3-8BDCB538A96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" y="4288472"/>
              <a:ext cx="228600" cy="228599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BE76A1F0-E818-797B-0208-D40B4965F92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4374" y="4326572"/>
              <a:ext cx="104774" cy="152399"/>
            </a:xfrm>
            <a:prstGeom prst="rect">
              <a:avLst/>
            </a:prstGeom>
          </p:spPr>
        </p:pic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417ACD35-387E-1D95-F220-52B89F339953}"/>
              </a:ext>
            </a:extLst>
          </p:cNvPr>
          <p:cNvSpPr txBox="1"/>
          <p:nvPr/>
        </p:nvSpPr>
        <p:spPr>
          <a:xfrm>
            <a:off x="939805" y="3443724"/>
            <a:ext cx="3853820" cy="44101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350" b="1" dirty="0">
                <a:solidFill>
                  <a:srgbClr val="4A5462"/>
                </a:solidFill>
                <a:latin typeface="Malgun Gothic"/>
                <a:cs typeface="Malgun Gothic"/>
              </a:rPr>
              <a:t>현황 분석 및 데이터 진단 </a:t>
            </a: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(1-2</a:t>
            </a:r>
            <a:r>
              <a:rPr sz="1350" b="1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)</a:t>
            </a:r>
            <a:endParaRPr sz="1350" dirty="0">
              <a:latin typeface="Arial"/>
              <a:cs typeface="Arial"/>
            </a:endParaRPr>
          </a:p>
          <a:p>
            <a:pPr marL="12700">
              <a:spcBef>
                <a:spcPts val="154"/>
              </a:spcBef>
            </a:pP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기존 데이터 및 조직 역량 감사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4DD97B4-7E5C-BFDC-E927-95E1EBDE4235}"/>
              </a:ext>
            </a:extLst>
          </p:cNvPr>
          <p:cNvSpPr txBox="1"/>
          <p:nvPr/>
        </p:nvSpPr>
        <p:spPr>
          <a:xfrm>
            <a:off x="939804" y="3977124"/>
            <a:ext cx="4156301" cy="44101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AI </a:t>
            </a:r>
            <a:r>
              <a:rPr sz="1350" b="1" dirty="0">
                <a:solidFill>
                  <a:srgbClr val="4A5462"/>
                </a:solidFill>
                <a:latin typeface="Malgun Gothic"/>
                <a:cs typeface="Malgun Gothic"/>
              </a:rPr>
              <a:t>인프라 아키텍처 설계 </a:t>
            </a: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(3-4</a:t>
            </a:r>
            <a:r>
              <a:rPr sz="1350" b="1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)</a:t>
            </a:r>
            <a:endParaRPr sz="1350" dirty="0">
              <a:latin typeface="Arial"/>
              <a:cs typeface="Arial"/>
            </a:endParaRPr>
          </a:p>
          <a:p>
            <a:pPr marL="12700">
              <a:spcBef>
                <a:spcPts val="154"/>
              </a:spcBef>
            </a:pP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데이터 파이프라인 및 저장소 설계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916A3C1C-7A17-61E3-F50C-DEF9AD373BBC}"/>
              </a:ext>
            </a:extLst>
          </p:cNvPr>
          <p:cNvSpPr txBox="1"/>
          <p:nvPr/>
        </p:nvSpPr>
        <p:spPr>
          <a:xfrm>
            <a:off x="939800" y="4510524"/>
            <a:ext cx="4039220" cy="44101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350" b="1" dirty="0">
                <a:solidFill>
                  <a:srgbClr val="4A5462"/>
                </a:solidFill>
                <a:latin typeface="Malgun Gothic"/>
                <a:cs typeface="Malgun Gothic"/>
              </a:rPr>
              <a:t>핵심 기술 </a:t>
            </a: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PoC (5-6</a:t>
            </a:r>
            <a:r>
              <a:rPr sz="1350" b="1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)</a:t>
            </a:r>
            <a:endParaRPr sz="1350" dirty="0">
              <a:latin typeface="Arial"/>
              <a:cs typeface="Arial"/>
            </a:endParaRPr>
          </a:p>
          <a:p>
            <a:pPr marL="12700">
              <a:spcBef>
                <a:spcPts val="154"/>
              </a:spcBef>
            </a:pP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비전 검사 및 지식 그래프 기술 실현 가능성 검증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C8E85C63-FF75-D7F4-CDB4-4BE40EA88B69}"/>
              </a:ext>
            </a:extLst>
          </p:cNvPr>
          <p:cNvGrpSpPr/>
          <p:nvPr/>
        </p:nvGrpSpPr>
        <p:grpSpPr>
          <a:xfrm>
            <a:off x="6210298" y="3195765"/>
            <a:ext cx="5524500" cy="2286001"/>
            <a:chOff x="6210298" y="2933700"/>
            <a:chExt cx="5524500" cy="228600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110E7373-C178-791D-B154-FFAB1CA18C78}"/>
                </a:ext>
              </a:extLst>
            </p:cNvPr>
            <p:cNvSpPr/>
            <p:nvPr/>
          </p:nvSpPr>
          <p:spPr>
            <a:xfrm>
              <a:off x="6210298" y="2593023"/>
              <a:ext cx="5524500" cy="2286000"/>
            </a:xfrm>
            <a:custGeom>
              <a:avLst/>
              <a:gdLst/>
              <a:ahLst/>
              <a:cxnLst/>
              <a:rect l="l" t="t" r="r" b="b"/>
              <a:pathLst>
                <a:path w="5524500" h="2286000">
                  <a:moveTo>
                    <a:pt x="5453303" y="2285998"/>
                  </a:moveTo>
                  <a:lnTo>
                    <a:pt x="71196" y="2285998"/>
                  </a:lnTo>
                  <a:lnTo>
                    <a:pt x="66241" y="2285511"/>
                  </a:lnTo>
                  <a:lnTo>
                    <a:pt x="29705" y="2270377"/>
                  </a:lnTo>
                  <a:lnTo>
                    <a:pt x="3885" y="2234336"/>
                  </a:lnTo>
                  <a:lnTo>
                    <a:pt x="0" y="2214803"/>
                  </a:lnTo>
                  <a:lnTo>
                    <a:pt x="0" y="22097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5453303" y="0"/>
                  </a:lnTo>
                  <a:lnTo>
                    <a:pt x="5494792" y="15621"/>
                  </a:lnTo>
                  <a:lnTo>
                    <a:pt x="5520613" y="51661"/>
                  </a:lnTo>
                  <a:lnTo>
                    <a:pt x="5524500" y="71196"/>
                  </a:lnTo>
                  <a:lnTo>
                    <a:pt x="5524500" y="2214803"/>
                  </a:lnTo>
                  <a:lnTo>
                    <a:pt x="5508876" y="2256293"/>
                  </a:lnTo>
                  <a:lnTo>
                    <a:pt x="5472837" y="2282113"/>
                  </a:lnTo>
                  <a:lnTo>
                    <a:pt x="5458258" y="2285511"/>
                  </a:lnTo>
                  <a:lnTo>
                    <a:pt x="5453303" y="22859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4AF12C65-B975-6E21-CEA6-EB83292827A1}"/>
                </a:ext>
              </a:extLst>
            </p:cNvPr>
            <p:cNvSpPr/>
            <p:nvPr/>
          </p:nvSpPr>
          <p:spPr>
            <a:xfrm>
              <a:off x="6400799" y="278352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9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3" y="243192"/>
                  </a:lnTo>
                  <a:lnTo>
                    <a:pt x="243191" y="274803"/>
                  </a:lnTo>
                  <a:lnTo>
                    <a:pt x="203732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5B7D3BE3-CAD1-66AB-5A7C-811BC23C932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899" y="2840672"/>
              <a:ext cx="238124" cy="190499"/>
            </a:xfrm>
            <a:prstGeom prst="rect">
              <a:avLst/>
            </a:prstGeom>
          </p:spPr>
        </p:pic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773E1B3A-957A-6162-7009-795CCB5014CC}"/>
              </a:ext>
            </a:extLst>
          </p:cNvPr>
          <p:cNvSpPr txBox="1"/>
          <p:nvPr/>
        </p:nvSpPr>
        <p:spPr>
          <a:xfrm>
            <a:off x="6769101" y="3046231"/>
            <a:ext cx="3025140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구축 및 확산 </a:t>
            </a:r>
            <a:r>
              <a:rPr sz="1650" b="1" dirty="0">
                <a:solidFill>
                  <a:srgbClr val="374050"/>
                </a:solidFill>
                <a:latin typeface="Trebuchet MS"/>
                <a:cs typeface="Trebuchet MS"/>
              </a:rPr>
              <a:t>(7-24</a:t>
            </a: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개월</a:t>
            </a:r>
            <a:r>
              <a:rPr sz="1650" b="1" dirty="0">
                <a:solidFill>
                  <a:srgbClr val="374050"/>
                </a:solidFill>
                <a:latin typeface="Trebuchet MS"/>
                <a:cs typeface="Trebuchet MS"/>
              </a:rPr>
              <a:t>)</a:t>
            </a:r>
            <a:endParaRPr sz="1650" dirty="0">
              <a:latin typeface="Trebuchet MS"/>
              <a:cs typeface="Trebuchet MS"/>
            </a:endParaRPr>
          </a:p>
        </p:txBody>
      </p:sp>
      <p:grpSp>
        <p:nvGrpSpPr>
          <p:cNvPr id="28" name="object 28">
            <a:extLst>
              <a:ext uri="{FF2B5EF4-FFF2-40B4-BE49-F238E27FC236}">
                <a16:creationId xmlns:a16="http://schemas.microsoft.com/office/drawing/2014/main" id="{328B1719-2BFF-D047-C5CA-B1E00EA3B04C}"/>
              </a:ext>
            </a:extLst>
          </p:cNvPr>
          <p:cNvGrpSpPr/>
          <p:nvPr/>
        </p:nvGrpSpPr>
        <p:grpSpPr>
          <a:xfrm>
            <a:off x="6400798" y="3824413"/>
            <a:ext cx="228600" cy="1295400"/>
            <a:chOff x="6400798" y="3562349"/>
            <a:chExt cx="228600" cy="1295400"/>
          </a:xfrm>
        </p:grpSpPr>
        <p:pic>
          <p:nvPicPr>
            <p:cNvPr id="29" name="object 29">
              <a:extLst>
                <a:ext uri="{FF2B5EF4-FFF2-40B4-BE49-F238E27FC236}">
                  <a16:creationId xmlns:a16="http://schemas.microsoft.com/office/drawing/2014/main" id="{18DEACD1-74D7-F8BC-4CA3-F9B3A86B885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00798" y="3221672"/>
              <a:ext cx="228600" cy="228599"/>
            </a:xfrm>
            <a:prstGeom prst="rect">
              <a:avLst/>
            </a:prstGeom>
          </p:spPr>
        </p:pic>
        <p:pic>
          <p:nvPicPr>
            <p:cNvPr id="30" name="object 30">
              <a:extLst>
                <a:ext uri="{FF2B5EF4-FFF2-40B4-BE49-F238E27FC236}">
                  <a16:creationId xmlns:a16="http://schemas.microsoft.com/office/drawing/2014/main" id="{F7F49E91-0743-6C34-1728-F4DB11927BA4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57949" y="3259772"/>
              <a:ext cx="114299" cy="152399"/>
            </a:xfrm>
            <a:prstGeom prst="rect">
              <a:avLst/>
            </a:prstGeom>
          </p:spPr>
        </p:pic>
        <p:pic>
          <p:nvPicPr>
            <p:cNvPr id="31" name="object 31">
              <a:extLst>
                <a:ext uri="{FF2B5EF4-FFF2-40B4-BE49-F238E27FC236}">
                  <a16:creationId xmlns:a16="http://schemas.microsoft.com/office/drawing/2014/main" id="{D87B8290-F8C8-544B-5194-F400B9964DB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00798" y="3755072"/>
              <a:ext cx="228600" cy="228599"/>
            </a:xfrm>
            <a:prstGeom prst="rect">
              <a:avLst/>
            </a:prstGeom>
          </p:spPr>
        </p:pic>
        <p:pic>
          <p:nvPicPr>
            <p:cNvPr id="32" name="object 32">
              <a:extLst>
                <a:ext uri="{FF2B5EF4-FFF2-40B4-BE49-F238E27FC236}">
                  <a16:creationId xmlns:a16="http://schemas.microsoft.com/office/drawing/2014/main" id="{DA76025F-BC17-2C6E-7056-0F1C763428E0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57949" y="3793172"/>
              <a:ext cx="114299" cy="152399"/>
            </a:xfrm>
            <a:prstGeom prst="rect">
              <a:avLst/>
            </a:prstGeom>
          </p:spPr>
        </p:pic>
        <p:pic>
          <p:nvPicPr>
            <p:cNvPr id="33" name="object 33">
              <a:extLst>
                <a:ext uri="{FF2B5EF4-FFF2-40B4-BE49-F238E27FC236}">
                  <a16:creationId xmlns:a16="http://schemas.microsoft.com/office/drawing/2014/main" id="{FBFB8AEB-A4E5-77F0-46C1-C99E482BFB1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00798" y="4288472"/>
              <a:ext cx="228600" cy="228599"/>
            </a:xfrm>
            <a:prstGeom prst="rect">
              <a:avLst/>
            </a:prstGeom>
          </p:spPr>
        </p:pic>
        <p:pic>
          <p:nvPicPr>
            <p:cNvPr id="34" name="object 34">
              <a:extLst>
                <a:ext uri="{FF2B5EF4-FFF2-40B4-BE49-F238E27FC236}">
                  <a16:creationId xmlns:a16="http://schemas.microsoft.com/office/drawing/2014/main" id="{E0DE66AB-C066-D62F-0F03-8352ED2D25B8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57949" y="4326572"/>
              <a:ext cx="114299" cy="152399"/>
            </a:xfrm>
            <a:prstGeom prst="rect">
              <a:avLst/>
            </a:prstGeom>
          </p:spPr>
        </p:pic>
      </p:grpSp>
      <p:sp>
        <p:nvSpPr>
          <p:cNvPr id="35" name="object 35">
            <a:extLst>
              <a:ext uri="{FF2B5EF4-FFF2-40B4-BE49-F238E27FC236}">
                <a16:creationId xmlns:a16="http://schemas.microsoft.com/office/drawing/2014/main" id="{AF23A3D9-229B-8F19-407D-E81F5BCC8153}"/>
              </a:ext>
            </a:extLst>
          </p:cNvPr>
          <p:cNvSpPr txBox="1"/>
          <p:nvPr/>
        </p:nvSpPr>
        <p:spPr>
          <a:xfrm>
            <a:off x="6692909" y="3443724"/>
            <a:ext cx="4794242" cy="44101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350" b="1" dirty="0">
                <a:solidFill>
                  <a:srgbClr val="4A5462"/>
                </a:solidFill>
                <a:latin typeface="Malgun Gothic"/>
                <a:cs typeface="Malgun Gothic"/>
              </a:rPr>
              <a:t>지능형 품질 관리 시스템 구축 </a:t>
            </a: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(7-12</a:t>
            </a:r>
            <a:r>
              <a:rPr sz="1350" b="1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)</a:t>
            </a:r>
            <a:endParaRPr sz="1350" dirty="0">
              <a:latin typeface="Arial"/>
              <a:cs typeface="Arial"/>
            </a:endParaRPr>
          </a:p>
          <a:p>
            <a:pPr marL="12700">
              <a:spcBef>
                <a:spcPts val="154"/>
              </a:spcBef>
            </a:pPr>
            <a:r>
              <a:rPr sz="1149" dirty="0">
                <a:solidFill>
                  <a:srgbClr val="6A7280"/>
                </a:solidFill>
                <a:latin typeface="Arial"/>
                <a:cs typeface="Arial"/>
              </a:rPr>
              <a:t>AI </a:t>
            </a: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비전 검사 시스템 우선 도입 및 예측 유지보수 시스템 구축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A7B7E490-9AC2-60C9-0C14-EDA293390CBA}"/>
              </a:ext>
            </a:extLst>
          </p:cNvPr>
          <p:cNvSpPr txBox="1"/>
          <p:nvPr/>
        </p:nvSpPr>
        <p:spPr>
          <a:xfrm>
            <a:off x="6692900" y="3977126"/>
            <a:ext cx="4304707" cy="44101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AI </a:t>
            </a:r>
            <a:r>
              <a:rPr sz="1350" b="1" dirty="0">
                <a:solidFill>
                  <a:srgbClr val="4A5462"/>
                </a:solidFill>
                <a:latin typeface="Malgun Gothic"/>
                <a:cs typeface="Malgun Gothic"/>
              </a:rPr>
              <a:t>기반 지식 관리 시스템 구축 </a:t>
            </a: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(13-18</a:t>
            </a:r>
            <a:r>
              <a:rPr sz="1350" b="1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)</a:t>
            </a:r>
            <a:endParaRPr sz="1350" dirty="0">
              <a:latin typeface="Arial"/>
              <a:cs typeface="Arial"/>
            </a:endParaRPr>
          </a:p>
          <a:p>
            <a:pPr marL="12700">
              <a:spcBef>
                <a:spcPts val="154"/>
              </a:spcBef>
            </a:pP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온톨로지 및 지식 그래프 확장 및 </a:t>
            </a:r>
            <a:r>
              <a:rPr sz="1149" dirty="0">
                <a:solidFill>
                  <a:srgbClr val="6A7280"/>
                </a:solidFill>
                <a:latin typeface="Arial"/>
                <a:cs typeface="Arial"/>
              </a:rPr>
              <a:t>LLM </a:t>
            </a: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기반 솔루션 개발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9463A856-8B1F-7AA4-C3EA-7AFC02134C20}"/>
              </a:ext>
            </a:extLst>
          </p:cNvPr>
          <p:cNvSpPr txBox="1"/>
          <p:nvPr/>
        </p:nvSpPr>
        <p:spPr>
          <a:xfrm>
            <a:off x="6692907" y="4510524"/>
            <a:ext cx="4714791" cy="44101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350" b="1" dirty="0">
                <a:solidFill>
                  <a:srgbClr val="4A5462"/>
                </a:solidFill>
                <a:latin typeface="Malgun Gothic"/>
                <a:cs typeface="Malgun Gothic"/>
              </a:rPr>
              <a:t>디지털 트윈 기반 자율 제조 시스템 구축 </a:t>
            </a: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(19-24</a:t>
            </a:r>
            <a:r>
              <a:rPr sz="1350" b="1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)</a:t>
            </a:r>
            <a:endParaRPr sz="1350" dirty="0">
              <a:latin typeface="Arial"/>
              <a:cs typeface="Arial"/>
            </a:endParaRPr>
          </a:p>
          <a:p>
            <a:pPr marL="12700">
              <a:spcBef>
                <a:spcPts val="154"/>
              </a:spcBef>
            </a:pP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공정 시뮬레이션 기반 구축 및 자율 제조 시스템 연동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6D118969-848B-AF39-8167-E233C77669A6}"/>
              </a:ext>
            </a:extLst>
          </p:cNvPr>
          <p:cNvSpPr txBox="1"/>
          <p:nvPr/>
        </p:nvSpPr>
        <p:spPr>
          <a:xfrm>
            <a:off x="825499" y="5479118"/>
            <a:ext cx="1415047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핵심 목표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0A6BB63D-7A1C-E5D1-546B-52C81D69CC3D}"/>
              </a:ext>
            </a:extLst>
          </p:cNvPr>
          <p:cNvSpPr/>
          <p:nvPr/>
        </p:nvSpPr>
        <p:spPr>
          <a:xfrm>
            <a:off x="609599" y="5787855"/>
            <a:ext cx="3552825" cy="342900"/>
          </a:xfrm>
          <a:custGeom>
            <a:avLst/>
            <a:gdLst/>
            <a:ahLst/>
            <a:cxnLst/>
            <a:rect l="l" t="t" r="r" b="b"/>
            <a:pathLst>
              <a:path w="3552825" h="342900">
                <a:moveTo>
                  <a:pt x="3519776" y="342899"/>
                </a:moveTo>
                <a:lnTo>
                  <a:pt x="33047" y="342899"/>
                </a:lnTo>
                <a:lnTo>
                  <a:pt x="28187" y="341932"/>
                </a:lnTo>
                <a:lnTo>
                  <a:pt x="966" y="314711"/>
                </a:lnTo>
                <a:lnTo>
                  <a:pt x="0" y="309852"/>
                </a:lnTo>
                <a:lnTo>
                  <a:pt x="0" y="3047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519776" y="0"/>
                </a:lnTo>
                <a:lnTo>
                  <a:pt x="3551857" y="28187"/>
                </a:lnTo>
                <a:lnTo>
                  <a:pt x="3552824" y="33047"/>
                </a:lnTo>
                <a:lnTo>
                  <a:pt x="3552824" y="309852"/>
                </a:lnTo>
                <a:lnTo>
                  <a:pt x="3524636" y="341932"/>
                </a:lnTo>
                <a:lnTo>
                  <a:pt x="3519776" y="3428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4B52F477-40F1-7C05-4A4A-46B544419322}"/>
              </a:ext>
            </a:extLst>
          </p:cNvPr>
          <p:cNvSpPr txBox="1"/>
          <p:nvPr/>
        </p:nvSpPr>
        <p:spPr>
          <a:xfrm>
            <a:off x="1350863" y="5853069"/>
            <a:ext cx="2897286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불량률 제로화 및 설비 가동률 극대화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D32D9486-9508-ED25-75F5-D542E2154C65}"/>
              </a:ext>
            </a:extLst>
          </p:cNvPr>
          <p:cNvSpPr/>
          <p:nvPr/>
        </p:nvSpPr>
        <p:spPr>
          <a:xfrm>
            <a:off x="4314824" y="5787855"/>
            <a:ext cx="3562350" cy="342900"/>
          </a:xfrm>
          <a:custGeom>
            <a:avLst/>
            <a:gdLst/>
            <a:ahLst/>
            <a:cxnLst/>
            <a:rect l="l" t="t" r="r" b="b"/>
            <a:pathLst>
              <a:path w="3562350" h="342900">
                <a:moveTo>
                  <a:pt x="3529301" y="342899"/>
                </a:moveTo>
                <a:lnTo>
                  <a:pt x="33047" y="342899"/>
                </a:lnTo>
                <a:lnTo>
                  <a:pt x="28187" y="341932"/>
                </a:lnTo>
                <a:lnTo>
                  <a:pt x="966" y="314711"/>
                </a:lnTo>
                <a:lnTo>
                  <a:pt x="0" y="309852"/>
                </a:lnTo>
                <a:lnTo>
                  <a:pt x="0" y="3047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529301" y="0"/>
                </a:lnTo>
                <a:lnTo>
                  <a:pt x="3561382" y="28187"/>
                </a:lnTo>
                <a:lnTo>
                  <a:pt x="3562349" y="33047"/>
                </a:lnTo>
                <a:lnTo>
                  <a:pt x="3562349" y="309852"/>
                </a:lnTo>
                <a:lnTo>
                  <a:pt x="3534161" y="341932"/>
                </a:lnTo>
                <a:lnTo>
                  <a:pt x="3529301" y="3428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5616E281-F542-E0A9-1922-79917D75683E}"/>
              </a:ext>
            </a:extLst>
          </p:cNvPr>
          <p:cNvSpPr txBox="1"/>
          <p:nvPr/>
        </p:nvSpPr>
        <p:spPr>
          <a:xfrm>
            <a:off x="4902051" y="5853070"/>
            <a:ext cx="3271793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데이터 기반 근본원인 분석 및 </a:t>
            </a:r>
            <a:r>
              <a:rPr sz="1149" dirty="0">
                <a:solidFill>
                  <a:srgbClr val="4A5462"/>
                </a:solidFill>
                <a:latin typeface="Sitka Text"/>
                <a:cs typeface="Sitka Text"/>
              </a:rPr>
              <a:t>R&amp;D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효율화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A8BFA85E-66E7-D096-8D2F-0EF6D190BC2C}"/>
              </a:ext>
            </a:extLst>
          </p:cNvPr>
          <p:cNvSpPr/>
          <p:nvPr/>
        </p:nvSpPr>
        <p:spPr>
          <a:xfrm>
            <a:off x="8029573" y="5787855"/>
            <a:ext cx="3552825" cy="342900"/>
          </a:xfrm>
          <a:custGeom>
            <a:avLst/>
            <a:gdLst/>
            <a:ahLst/>
            <a:cxnLst/>
            <a:rect l="l" t="t" r="r" b="b"/>
            <a:pathLst>
              <a:path w="3552825" h="342900">
                <a:moveTo>
                  <a:pt x="3519777" y="342899"/>
                </a:moveTo>
                <a:lnTo>
                  <a:pt x="33047" y="342899"/>
                </a:lnTo>
                <a:lnTo>
                  <a:pt x="28187" y="341932"/>
                </a:lnTo>
                <a:lnTo>
                  <a:pt x="966" y="314711"/>
                </a:lnTo>
                <a:lnTo>
                  <a:pt x="0" y="309852"/>
                </a:lnTo>
                <a:lnTo>
                  <a:pt x="0" y="3047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519777" y="0"/>
                </a:lnTo>
                <a:lnTo>
                  <a:pt x="3551856" y="28187"/>
                </a:lnTo>
                <a:lnTo>
                  <a:pt x="3552824" y="33047"/>
                </a:lnTo>
                <a:lnTo>
                  <a:pt x="3552824" y="309852"/>
                </a:lnTo>
                <a:lnTo>
                  <a:pt x="3524636" y="341932"/>
                </a:lnTo>
                <a:lnTo>
                  <a:pt x="3519777" y="3428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419E1F2C-C9E1-D8E8-1EB2-DE681FED4F3D}"/>
              </a:ext>
            </a:extLst>
          </p:cNvPr>
          <p:cNvSpPr txBox="1"/>
          <p:nvPr/>
        </p:nvSpPr>
        <p:spPr>
          <a:xfrm>
            <a:off x="8972500" y="5853070"/>
            <a:ext cx="2286052" cy="194156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공정 최적화 및 부분적 자율화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479B1774-95BB-6E32-4566-ADD24BF1654F}"/>
              </a:ext>
            </a:extLst>
          </p:cNvPr>
          <p:cNvSpPr txBox="1"/>
          <p:nvPr/>
        </p:nvSpPr>
        <p:spPr>
          <a:xfrm>
            <a:off x="825504" y="1628864"/>
            <a:ext cx="1466072" cy="44101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algn="ctr">
              <a:spcBef>
                <a:spcPts val="240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사전컨설팅</a:t>
            </a:r>
            <a:endParaRPr sz="1350" dirty="0">
              <a:latin typeface="Malgun Gothic"/>
              <a:cs typeface="Malgun Gothic"/>
            </a:endParaRPr>
          </a:p>
          <a:p>
            <a:pPr marL="1270" algn="ctr">
              <a:spcBef>
                <a:spcPts val="154"/>
              </a:spcBef>
            </a:pPr>
            <a:r>
              <a:rPr sz="1149" dirty="0">
                <a:solidFill>
                  <a:srgbClr val="6A7280"/>
                </a:solidFill>
                <a:latin typeface="Arial"/>
                <a:cs typeface="Arial"/>
              </a:rPr>
              <a:t>1-6 </a:t>
            </a: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개월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4E0A3138-602E-CBE4-D782-337210A70D15}"/>
              </a:ext>
            </a:extLst>
          </p:cNvPr>
          <p:cNvSpPr txBox="1"/>
          <p:nvPr/>
        </p:nvSpPr>
        <p:spPr>
          <a:xfrm>
            <a:off x="10444591" y="1628864"/>
            <a:ext cx="1297642" cy="44101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algn="ctr">
              <a:spcBef>
                <a:spcPts val="240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구축 및 확산</a:t>
            </a:r>
            <a:endParaRPr sz="1350" dirty="0">
              <a:latin typeface="Malgun Gothic"/>
              <a:cs typeface="Malgun Gothic"/>
            </a:endParaRPr>
          </a:p>
          <a:p>
            <a:pPr marL="1270" algn="ctr">
              <a:spcBef>
                <a:spcPts val="154"/>
              </a:spcBef>
            </a:pPr>
            <a:r>
              <a:rPr sz="1149" dirty="0">
                <a:solidFill>
                  <a:srgbClr val="6A7280"/>
                </a:solidFill>
                <a:latin typeface="Arial"/>
                <a:cs typeface="Arial"/>
              </a:rPr>
              <a:t>7-24 </a:t>
            </a:r>
            <a:r>
              <a:rPr sz="1149" dirty="0">
                <a:solidFill>
                  <a:srgbClr val="6A7280"/>
                </a:solidFill>
                <a:latin typeface="Malgun Gothic"/>
                <a:cs typeface="Malgun Gothic"/>
              </a:rPr>
              <a:t>개월</a:t>
            </a:r>
            <a:endParaRPr sz="1149" dirty="0">
              <a:latin typeface="Malgun Gothic"/>
              <a:cs typeface="Malgun Gothic"/>
            </a:endParaRPr>
          </a:p>
        </p:txBody>
      </p:sp>
      <p:pic>
        <p:nvPicPr>
          <p:cNvPr id="47" name="object 47">
            <a:extLst>
              <a:ext uri="{FF2B5EF4-FFF2-40B4-BE49-F238E27FC236}">
                <a16:creationId xmlns:a16="http://schemas.microsoft.com/office/drawing/2014/main" id="{6C2F8123-1647-2DC1-82CB-E68880999B6D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8207" y="2145135"/>
            <a:ext cx="10515600" cy="38099"/>
          </a:xfrm>
          <a:prstGeom prst="rect">
            <a:avLst/>
          </a:prstGeom>
        </p:spPr>
      </p:pic>
      <p:sp>
        <p:nvSpPr>
          <p:cNvPr id="48" name="object 48">
            <a:extLst>
              <a:ext uri="{FF2B5EF4-FFF2-40B4-BE49-F238E27FC236}">
                <a16:creationId xmlns:a16="http://schemas.microsoft.com/office/drawing/2014/main" id="{E0E58BEF-0AED-FEE3-B993-1BE72C220154}"/>
              </a:ext>
            </a:extLst>
          </p:cNvPr>
          <p:cNvSpPr txBox="1"/>
          <p:nvPr/>
        </p:nvSpPr>
        <p:spPr>
          <a:xfrm>
            <a:off x="825499" y="2431897"/>
            <a:ext cx="757973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latin typeface="Arial"/>
                <a:cs typeface="Arial"/>
              </a:rPr>
              <a:t>1</a:t>
            </a:r>
            <a:r>
              <a:rPr sz="1001" dirty="0">
                <a:latin typeface="Malgun Gothic"/>
                <a:cs typeface="Malgun Gothic"/>
              </a:rPr>
              <a:t>개월</a:t>
            </a:r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EC2DA5FF-1E86-24D1-6A2D-C118A970F539}"/>
              </a:ext>
            </a:extLst>
          </p:cNvPr>
          <p:cNvSpPr txBox="1"/>
          <p:nvPr/>
        </p:nvSpPr>
        <p:spPr>
          <a:xfrm>
            <a:off x="2498626" y="2431897"/>
            <a:ext cx="715114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latin typeface="Arial"/>
                <a:cs typeface="Arial"/>
              </a:rPr>
              <a:t>3</a:t>
            </a:r>
            <a:r>
              <a:rPr sz="1001" dirty="0">
                <a:latin typeface="Malgun Gothic"/>
                <a:cs typeface="Malgun Gothic"/>
              </a:rPr>
              <a:t>개월</a:t>
            </a:r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297C60A4-6782-B53E-3484-D108AA3D5557}"/>
              </a:ext>
            </a:extLst>
          </p:cNvPr>
          <p:cNvSpPr txBox="1"/>
          <p:nvPr/>
        </p:nvSpPr>
        <p:spPr>
          <a:xfrm>
            <a:off x="4171751" y="2431898"/>
            <a:ext cx="924355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latin typeface="Arial"/>
                <a:cs typeface="Arial"/>
              </a:rPr>
              <a:t>5</a:t>
            </a:r>
            <a:r>
              <a:rPr sz="1001" dirty="0">
                <a:latin typeface="Malgun Gothic"/>
                <a:cs typeface="Malgun Gothic"/>
              </a:rPr>
              <a:t>개월</a:t>
            </a:r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AAAD4E5F-952B-A4A2-301A-9718D354F607}"/>
              </a:ext>
            </a:extLst>
          </p:cNvPr>
          <p:cNvSpPr txBox="1"/>
          <p:nvPr/>
        </p:nvSpPr>
        <p:spPr>
          <a:xfrm>
            <a:off x="5844876" y="2431899"/>
            <a:ext cx="727372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latin typeface="Arial"/>
                <a:cs typeface="Arial"/>
              </a:rPr>
              <a:t>7</a:t>
            </a:r>
            <a:r>
              <a:rPr sz="1001" dirty="0">
                <a:latin typeface="Malgun Gothic"/>
                <a:cs typeface="Malgun Gothic"/>
              </a:rPr>
              <a:t>개월</a:t>
            </a:r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BB2D4287-403B-8A6F-A81B-C1E3A5656B48}"/>
              </a:ext>
            </a:extLst>
          </p:cNvPr>
          <p:cNvSpPr txBox="1"/>
          <p:nvPr/>
        </p:nvSpPr>
        <p:spPr>
          <a:xfrm>
            <a:off x="7518011" y="2431899"/>
            <a:ext cx="757973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latin typeface="Arial"/>
                <a:cs typeface="Arial"/>
              </a:rPr>
              <a:t>13</a:t>
            </a:r>
            <a:r>
              <a:rPr sz="1001" dirty="0">
                <a:latin typeface="Malgun Gothic"/>
                <a:cs typeface="Malgun Gothic"/>
              </a:rPr>
              <a:t>개월</a:t>
            </a:r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5C29299E-D151-3B52-DF20-2CBF0950BCC7}"/>
              </a:ext>
            </a:extLst>
          </p:cNvPr>
          <p:cNvSpPr txBox="1"/>
          <p:nvPr/>
        </p:nvSpPr>
        <p:spPr>
          <a:xfrm>
            <a:off x="9257811" y="2431898"/>
            <a:ext cx="638895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latin typeface="Arial"/>
                <a:cs typeface="Arial"/>
              </a:rPr>
              <a:t>19</a:t>
            </a:r>
            <a:r>
              <a:rPr sz="1001" dirty="0">
                <a:latin typeface="Malgun Gothic"/>
                <a:cs typeface="Malgun Gothic"/>
              </a:rPr>
              <a:t>개월</a:t>
            </a: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350A8AD6-67D9-D3D7-EC56-53044CE6C438}"/>
              </a:ext>
            </a:extLst>
          </p:cNvPr>
          <p:cNvSpPr txBox="1"/>
          <p:nvPr/>
        </p:nvSpPr>
        <p:spPr>
          <a:xfrm>
            <a:off x="10997608" y="2431896"/>
            <a:ext cx="638894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latin typeface="Arial"/>
                <a:cs typeface="Arial"/>
              </a:rPr>
              <a:t>24</a:t>
            </a:r>
            <a:r>
              <a:rPr sz="1001" dirty="0">
                <a:latin typeface="Malgun Gothic"/>
                <a:cs typeface="Malgun Gothic"/>
              </a:rPr>
              <a:t>개월</a:t>
            </a:r>
            <a:endParaRPr sz="1001">
              <a:latin typeface="Malgun Gothic"/>
              <a:cs typeface="Malgun Gothic"/>
            </a:endParaRPr>
          </a:p>
        </p:txBody>
      </p:sp>
      <p:pic>
        <p:nvPicPr>
          <p:cNvPr id="55" name="object 55">
            <a:extLst>
              <a:ext uri="{FF2B5EF4-FFF2-40B4-BE49-F238E27FC236}">
                <a16:creationId xmlns:a16="http://schemas.microsoft.com/office/drawing/2014/main" id="{71EC4E68-E37A-8930-D0C3-6F9D850E2AA0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04878" y="2259430"/>
            <a:ext cx="152398" cy="152398"/>
          </a:xfrm>
          <a:prstGeom prst="rect">
            <a:avLst/>
          </a:prstGeom>
        </p:spPr>
      </p:pic>
      <p:pic>
        <p:nvPicPr>
          <p:cNvPr id="56" name="object 56">
            <a:extLst>
              <a:ext uri="{FF2B5EF4-FFF2-40B4-BE49-F238E27FC236}">
                <a16:creationId xmlns:a16="http://schemas.microsoft.com/office/drawing/2014/main" id="{5723FDCE-FA72-368B-AB5C-B2A4B017D902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71754" y="2259430"/>
            <a:ext cx="152398" cy="152398"/>
          </a:xfrm>
          <a:prstGeom prst="rect">
            <a:avLst/>
          </a:prstGeom>
        </p:spPr>
      </p:pic>
      <p:pic>
        <p:nvPicPr>
          <p:cNvPr id="57" name="object 57">
            <a:extLst>
              <a:ext uri="{FF2B5EF4-FFF2-40B4-BE49-F238E27FC236}">
                <a16:creationId xmlns:a16="http://schemas.microsoft.com/office/drawing/2014/main" id="{3DA366B1-749C-CCF9-0453-D18FC5C0F714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48149" y="2259434"/>
            <a:ext cx="152400" cy="152398"/>
          </a:xfrm>
          <a:prstGeom prst="rect">
            <a:avLst/>
          </a:prstGeom>
        </p:spPr>
      </p:pic>
      <p:pic>
        <p:nvPicPr>
          <p:cNvPr id="58" name="object 58">
            <a:extLst>
              <a:ext uri="{FF2B5EF4-FFF2-40B4-BE49-F238E27FC236}">
                <a16:creationId xmlns:a16="http://schemas.microsoft.com/office/drawing/2014/main" id="{0526BCB1-2660-5CA1-A610-BC0E4C34F921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915034" y="2259434"/>
            <a:ext cx="152398" cy="152398"/>
          </a:xfrm>
          <a:prstGeom prst="rect">
            <a:avLst/>
          </a:prstGeom>
        </p:spPr>
      </p:pic>
      <p:pic>
        <p:nvPicPr>
          <p:cNvPr id="59" name="object 59">
            <a:extLst>
              <a:ext uri="{FF2B5EF4-FFF2-40B4-BE49-F238E27FC236}">
                <a16:creationId xmlns:a16="http://schemas.microsoft.com/office/drawing/2014/main" id="{26872C9F-0901-0D21-7335-5EE0327080FE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629524" y="2259434"/>
            <a:ext cx="152400" cy="152398"/>
          </a:xfrm>
          <a:prstGeom prst="rect">
            <a:avLst/>
          </a:prstGeom>
        </p:spPr>
      </p:pic>
      <p:pic>
        <p:nvPicPr>
          <p:cNvPr id="60" name="object 60">
            <a:extLst>
              <a:ext uri="{FF2B5EF4-FFF2-40B4-BE49-F238E27FC236}">
                <a16:creationId xmlns:a16="http://schemas.microsoft.com/office/drawing/2014/main" id="{C6B96AC5-2099-30C6-2EB0-B9EC8EFB8EF1}"/>
              </a:ext>
            </a:extLst>
          </p:cNvPr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363076" y="2259434"/>
            <a:ext cx="152400" cy="152398"/>
          </a:xfrm>
          <a:prstGeom prst="rect">
            <a:avLst/>
          </a:prstGeom>
        </p:spPr>
      </p:pic>
      <p:pic>
        <p:nvPicPr>
          <p:cNvPr id="61" name="object 61">
            <a:extLst>
              <a:ext uri="{FF2B5EF4-FFF2-40B4-BE49-F238E27FC236}">
                <a16:creationId xmlns:a16="http://schemas.microsoft.com/office/drawing/2014/main" id="{9CB32AE6-57ED-5AF9-3916-835635D1F4EA}"/>
              </a:ext>
            </a:extLst>
          </p:cNvPr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106154" y="2259430"/>
            <a:ext cx="152398" cy="152398"/>
          </a:xfrm>
          <a:prstGeom prst="rect">
            <a:avLst/>
          </a:prstGeom>
        </p:spPr>
      </p:pic>
      <p:pic>
        <p:nvPicPr>
          <p:cNvPr id="62" name="object 26">
            <a:extLst>
              <a:ext uri="{FF2B5EF4-FFF2-40B4-BE49-F238E27FC236}">
                <a16:creationId xmlns:a16="http://schemas.microsoft.com/office/drawing/2014/main" id="{45004438-9020-E9E6-BFDE-C51D9F7B5763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3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73E08E-A733-3066-7F4B-17A74F56EB76}"/>
              </a:ext>
            </a:extLst>
          </p:cNvPr>
          <p:cNvSpPr txBox="1">
            <a:spLocks/>
          </p:cNvSpPr>
          <p:nvPr/>
        </p:nvSpPr>
        <p:spPr>
          <a:xfrm>
            <a:off x="457198" y="356246"/>
            <a:ext cx="8758492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dirty="0"/>
              <a:t>핵심 기술 스택 </a:t>
            </a:r>
            <a:r>
              <a:rPr lang="en-US" altLang="ko-KR" dirty="0"/>
              <a:t>-</a:t>
            </a:r>
            <a:r>
              <a:rPr lang="ko-KR" altLang="en-US" dirty="0"/>
              <a:t> 지능형 품질관리</a:t>
            </a: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649EDF4-EED1-2EEE-AACA-DDCC3EF6380F}"/>
              </a:ext>
            </a:extLst>
          </p:cNvPr>
          <p:cNvGrpSpPr/>
          <p:nvPr/>
        </p:nvGrpSpPr>
        <p:grpSpPr>
          <a:xfrm>
            <a:off x="457199" y="1739598"/>
            <a:ext cx="476249" cy="476249"/>
            <a:chOff x="457199" y="1143000"/>
            <a:chExt cx="476250" cy="4762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8BD52A4-2AAC-E5ED-0911-CBEEBA1CFE02}"/>
                </a:ext>
              </a:extLst>
            </p:cNvPr>
            <p:cNvSpPr/>
            <p:nvPr/>
          </p:nvSpPr>
          <p:spPr>
            <a:xfrm>
              <a:off x="457199" y="802323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7"/>
                  </a:lnTo>
                  <a:lnTo>
                    <a:pt x="184020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8" y="363935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3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3"/>
                  </a:lnTo>
                  <a:lnTo>
                    <a:pt x="473195" y="199317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9"/>
                  </a:lnTo>
                  <a:lnTo>
                    <a:pt x="363935" y="440451"/>
                  </a:lnTo>
                  <a:lnTo>
                    <a:pt x="322046" y="461108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07E902C-BB9C-BE34-3264-445184E42C9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549" y="907097"/>
              <a:ext cx="219074" cy="266699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2FF1E66F-A466-E079-0073-1055303F335D}"/>
              </a:ext>
            </a:extLst>
          </p:cNvPr>
          <p:cNvSpPr txBox="1"/>
          <p:nvPr/>
        </p:nvSpPr>
        <p:spPr>
          <a:xfrm>
            <a:off x="1073150" y="1485286"/>
            <a:ext cx="3326005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딥러닝 기반 비전 검사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BED9405B-245A-E408-07C0-AA5E40199AC8}"/>
              </a:ext>
            </a:extLst>
          </p:cNvPr>
          <p:cNvGrpSpPr/>
          <p:nvPr/>
        </p:nvGrpSpPr>
        <p:grpSpPr>
          <a:xfrm>
            <a:off x="457199" y="2368247"/>
            <a:ext cx="2667000" cy="1638301"/>
            <a:chOff x="457199" y="1771650"/>
            <a:chExt cx="2667000" cy="163830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7180813D-209F-5DC5-2DB5-4274FD78F5C7}"/>
                </a:ext>
              </a:extLst>
            </p:cNvPr>
            <p:cNvSpPr/>
            <p:nvPr/>
          </p:nvSpPr>
          <p:spPr>
            <a:xfrm>
              <a:off x="457199" y="1430973"/>
              <a:ext cx="2667000" cy="1638300"/>
            </a:xfrm>
            <a:custGeom>
              <a:avLst/>
              <a:gdLst/>
              <a:ahLst/>
              <a:cxnLst/>
              <a:rect l="l" t="t" r="r" b="b"/>
              <a:pathLst>
                <a:path w="2667000" h="1638300">
                  <a:moveTo>
                    <a:pt x="2595803" y="1638299"/>
                  </a:moveTo>
                  <a:lnTo>
                    <a:pt x="71196" y="1638299"/>
                  </a:lnTo>
                  <a:lnTo>
                    <a:pt x="66241" y="1637811"/>
                  </a:lnTo>
                  <a:lnTo>
                    <a:pt x="29705" y="1622677"/>
                  </a:lnTo>
                  <a:lnTo>
                    <a:pt x="3885" y="1586637"/>
                  </a:lnTo>
                  <a:lnTo>
                    <a:pt x="0" y="1567103"/>
                  </a:lnTo>
                  <a:lnTo>
                    <a:pt x="0" y="15620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95803" y="0"/>
                  </a:lnTo>
                  <a:lnTo>
                    <a:pt x="2637294" y="15621"/>
                  </a:lnTo>
                  <a:lnTo>
                    <a:pt x="2663113" y="51661"/>
                  </a:lnTo>
                  <a:lnTo>
                    <a:pt x="2666999" y="71196"/>
                  </a:lnTo>
                  <a:lnTo>
                    <a:pt x="2666999" y="1567103"/>
                  </a:lnTo>
                  <a:lnTo>
                    <a:pt x="2651377" y="1608593"/>
                  </a:lnTo>
                  <a:lnTo>
                    <a:pt x="2615337" y="1634413"/>
                  </a:lnTo>
                  <a:lnTo>
                    <a:pt x="2600758" y="1637811"/>
                  </a:lnTo>
                  <a:lnTo>
                    <a:pt x="2595803" y="163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2CE06BA2-6651-076C-DD13-ED181820AC5F}"/>
                </a:ext>
              </a:extLst>
            </p:cNvPr>
            <p:cNvSpPr/>
            <p:nvPr/>
          </p:nvSpPr>
          <p:spPr>
            <a:xfrm>
              <a:off x="609599" y="2612072"/>
              <a:ext cx="2362200" cy="304800"/>
            </a:xfrm>
            <a:custGeom>
              <a:avLst/>
              <a:gdLst/>
              <a:ahLst/>
              <a:cxnLst/>
              <a:rect l="l" t="t" r="r" b="b"/>
              <a:pathLst>
                <a:path w="2362200" h="304800">
                  <a:moveTo>
                    <a:pt x="2329151" y="304799"/>
                  </a:moveTo>
                  <a:lnTo>
                    <a:pt x="33047" y="304799"/>
                  </a:lnTo>
                  <a:lnTo>
                    <a:pt x="28187" y="303832"/>
                  </a:lnTo>
                  <a:lnTo>
                    <a:pt x="966" y="276612"/>
                  </a:lnTo>
                  <a:lnTo>
                    <a:pt x="0" y="271752"/>
                  </a:lnTo>
                  <a:lnTo>
                    <a:pt x="0" y="2666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329151" y="0"/>
                  </a:lnTo>
                  <a:lnTo>
                    <a:pt x="2361232" y="28187"/>
                  </a:lnTo>
                  <a:lnTo>
                    <a:pt x="2362199" y="33047"/>
                  </a:lnTo>
                  <a:lnTo>
                    <a:pt x="2362199" y="271752"/>
                  </a:lnTo>
                  <a:lnTo>
                    <a:pt x="2334011" y="303832"/>
                  </a:lnTo>
                  <a:lnTo>
                    <a:pt x="2329151" y="3047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0CDA4226-14A0-E90E-5F9A-D28D42E756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" y="1583372"/>
              <a:ext cx="200024" cy="304799"/>
            </a:xfrm>
            <a:prstGeom prst="rect">
              <a:avLst/>
            </a:prstGeom>
          </p:spPr>
        </p:pic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C6F1D1F2-852B-A27A-625E-EB4596FC44B7}"/>
              </a:ext>
            </a:extLst>
          </p:cNvPr>
          <p:cNvSpPr txBox="1"/>
          <p:nvPr/>
        </p:nvSpPr>
        <p:spPr>
          <a:xfrm>
            <a:off x="873130" y="2204905"/>
            <a:ext cx="2479668" cy="2316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01" b="1" dirty="0">
                <a:solidFill>
                  <a:srgbClr val="374050"/>
                </a:solidFill>
                <a:latin typeface="Arial"/>
                <a:cs typeface="Arial"/>
              </a:rPr>
              <a:t>PyTorch / TensorFlow</a:t>
            </a:r>
            <a:endParaRPr sz="1401" dirty="0"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3B23FE7-30C1-1224-0EE9-FD8A7701929A}"/>
              </a:ext>
            </a:extLst>
          </p:cNvPr>
          <p:cNvSpPr txBox="1"/>
          <p:nvPr/>
        </p:nvSpPr>
        <p:spPr>
          <a:xfrm>
            <a:off x="596899" y="2540308"/>
            <a:ext cx="2320290" cy="57374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8700"/>
              </a:lnSpc>
              <a:spcBef>
                <a:spcPts val="89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가장 활발하게 사용되는 딥러닝 프레임워 크로 풍부한 문서와 커뮤니티 지원을 받을 수 있음</a:t>
            </a:r>
            <a:endParaRPr sz="1149">
              <a:latin typeface="Malgun Gothic"/>
              <a:cs typeface="Malgun Gothic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9828160B-A19F-C31E-6880-EAE25CB4030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804" y="3313450"/>
            <a:ext cx="114300" cy="114300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96F016A7-3B02-82F8-464D-F427AE6EF666}"/>
              </a:ext>
            </a:extLst>
          </p:cNvPr>
          <p:cNvSpPr txBox="1"/>
          <p:nvPr/>
        </p:nvSpPr>
        <p:spPr>
          <a:xfrm>
            <a:off x="854079" y="3266841"/>
            <a:ext cx="1927214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C2400C"/>
                </a:solidFill>
                <a:latin typeface="Malgun Gothic"/>
                <a:cs typeface="Malgun Gothic"/>
              </a:rPr>
              <a:t>안정적인 모델 개발 및 배포 가능</a:t>
            </a:r>
            <a:endParaRPr sz="1001" dirty="0">
              <a:latin typeface="Malgun Gothic"/>
              <a:cs typeface="Malgun Gothic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18732259-AFA6-90E2-E791-5C9D2B5AE4CB}"/>
              </a:ext>
            </a:extLst>
          </p:cNvPr>
          <p:cNvGrpSpPr/>
          <p:nvPr/>
        </p:nvGrpSpPr>
        <p:grpSpPr>
          <a:xfrm>
            <a:off x="3276599" y="2368247"/>
            <a:ext cx="2667000" cy="1638301"/>
            <a:chOff x="3276599" y="1771650"/>
            <a:chExt cx="2667000" cy="163830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A129B683-787D-DF4E-1B81-FB3A432E0848}"/>
                </a:ext>
              </a:extLst>
            </p:cNvPr>
            <p:cNvSpPr/>
            <p:nvPr/>
          </p:nvSpPr>
          <p:spPr>
            <a:xfrm>
              <a:off x="3276599" y="1430973"/>
              <a:ext cx="2667000" cy="1638300"/>
            </a:xfrm>
            <a:custGeom>
              <a:avLst/>
              <a:gdLst/>
              <a:ahLst/>
              <a:cxnLst/>
              <a:rect l="l" t="t" r="r" b="b"/>
              <a:pathLst>
                <a:path w="2667000" h="1638300">
                  <a:moveTo>
                    <a:pt x="2595802" y="1638299"/>
                  </a:moveTo>
                  <a:lnTo>
                    <a:pt x="71196" y="1638299"/>
                  </a:lnTo>
                  <a:lnTo>
                    <a:pt x="66241" y="1637811"/>
                  </a:lnTo>
                  <a:lnTo>
                    <a:pt x="29705" y="1622677"/>
                  </a:lnTo>
                  <a:lnTo>
                    <a:pt x="3885" y="1586637"/>
                  </a:lnTo>
                  <a:lnTo>
                    <a:pt x="0" y="1567103"/>
                  </a:lnTo>
                  <a:lnTo>
                    <a:pt x="0" y="15620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95802" y="0"/>
                  </a:lnTo>
                  <a:lnTo>
                    <a:pt x="2637293" y="15621"/>
                  </a:lnTo>
                  <a:lnTo>
                    <a:pt x="2663113" y="51661"/>
                  </a:lnTo>
                  <a:lnTo>
                    <a:pt x="2666999" y="71196"/>
                  </a:lnTo>
                  <a:lnTo>
                    <a:pt x="2666999" y="1567103"/>
                  </a:lnTo>
                  <a:lnTo>
                    <a:pt x="2651377" y="1608593"/>
                  </a:lnTo>
                  <a:lnTo>
                    <a:pt x="2615337" y="1634413"/>
                  </a:lnTo>
                  <a:lnTo>
                    <a:pt x="2600757" y="1637811"/>
                  </a:lnTo>
                  <a:lnTo>
                    <a:pt x="2595802" y="163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C18F8E9A-78EA-09E3-E692-F78D69A50D5F}"/>
                </a:ext>
              </a:extLst>
            </p:cNvPr>
            <p:cNvSpPr/>
            <p:nvPr/>
          </p:nvSpPr>
          <p:spPr>
            <a:xfrm>
              <a:off x="3428999" y="2421572"/>
              <a:ext cx="2362200" cy="457200"/>
            </a:xfrm>
            <a:custGeom>
              <a:avLst/>
              <a:gdLst/>
              <a:ahLst/>
              <a:cxnLst/>
              <a:rect l="l" t="t" r="r" b="b"/>
              <a:pathLst>
                <a:path w="2362200" h="457200">
                  <a:moveTo>
                    <a:pt x="2329151" y="457199"/>
                  </a:moveTo>
                  <a:lnTo>
                    <a:pt x="33047" y="457199"/>
                  </a:lnTo>
                  <a:lnTo>
                    <a:pt x="28187" y="456232"/>
                  </a:lnTo>
                  <a:lnTo>
                    <a:pt x="966" y="429011"/>
                  </a:lnTo>
                  <a:lnTo>
                    <a:pt x="0" y="424152"/>
                  </a:lnTo>
                  <a:lnTo>
                    <a:pt x="0" y="419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329151" y="0"/>
                  </a:lnTo>
                  <a:lnTo>
                    <a:pt x="2361232" y="28187"/>
                  </a:lnTo>
                  <a:lnTo>
                    <a:pt x="2362199" y="33047"/>
                  </a:lnTo>
                  <a:lnTo>
                    <a:pt x="2362199" y="424152"/>
                  </a:lnTo>
                  <a:lnTo>
                    <a:pt x="2334011" y="456232"/>
                  </a:lnTo>
                  <a:lnTo>
                    <a:pt x="2329151" y="4571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AB58FC6F-CC1D-E17D-C05F-BF2B5B4F047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8999" y="1583372"/>
              <a:ext cx="228599" cy="304799"/>
            </a:xfrm>
            <a:prstGeom prst="rect">
              <a:avLst/>
            </a:prstGeom>
          </p:spPr>
        </p:pic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0E1D7BEB-44BF-9087-A59D-D722BEEBED55}"/>
              </a:ext>
            </a:extLst>
          </p:cNvPr>
          <p:cNvSpPr txBox="1"/>
          <p:nvPr/>
        </p:nvSpPr>
        <p:spPr>
          <a:xfrm>
            <a:off x="3721109" y="2204904"/>
            <a:ext cx="1334768" cy="2316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01" b="1" dirty="0">
                <a:solidFill>
                  <a:srgbClr val="374050"/>
                </a:solidFill>
                <a:latin typeface="Arial"/>
                <a:cs typeface="Arial"/>
              </a:rPr>
              <a:t>OpenCV</a:t>
            </a:r>
            <a:endParaRPr sz="1401" dirty="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95FA607-09D0-EB7E-B63C-3404A6044B95}"/>
              </a:ext>
            </a:extLst>
          </p:cNvPr>
          <p:cNvSpPr txBox="1"/>
          <p:nvPr/>
        </p:nvSpPr>
        <p:spPr>
          <a:xfrm>
            <a:off x="3416309" y="2540309"/>
            <a:ext cx="2432506" cy="3810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89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컴퓨터 비전 및 이미지 처리 작업을 위한 강력한 오픈소스 라이브러리</a:t>
            </a:r>
            <a:endParaRPr sz="1149" dirty="0">
              <a:latin typeface="Malgun Gothic"/>
              <a:cs typeface="Malgun Gothic"/>
            </a:endParaRPr>
          </a:p>
        </p:txBody>
      </p:sp>
      <p:pic>
        <p:nvPicPr>
          <p:cNvPr id="22" name="object 22">
            <a:extLst>
              <a:ext uri="{FF2B5EF4-FFF2-40B4-BE49-F238E27FC236}">
                <a16:creationId xmlns:a16="http://schemas.microsoft.com/office/drawing/2014/main" id="{90882012-B418-9119-F3B9-F96472DEC30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05207" y="3122955"/>
            <a:ext cx="114300" cy="114300"/>
          </a:xfrm>
          <a:prstGeom prst="rect">
            <a:avLst/>
          </a:prstGeom>
        </p:spPr>
      </p:pic>
      <p:sp>
        <p:nvSpPr>
          <p:cNvPr id="23" name="object 23">
            <a:extLst>
              <a:ext uri="{FF2B5EF4-FFF2-40B4-BE49-F238E27FC236}">
                <a16:creationId xmlns:a16="http://schemas.microsoft.com/office/drawing/2014/main" id="{441ABF98-3971-E5D6-8E6C-0378B58FE0F0}"/>
              </a:ext>
            </a:extLst>
          </p:cNvPr>
          <p:cNvSpPr txBox="1"/>
          <p:nvPr/>
        </p:nvSpPr>
        <p:spPr>
          <a:xfrm>
            <a:off x="3492510" y="3114444"/>
            <a:ext cx="2158366" cy="3227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indent="180959">
              <a:spcBef>
                <a:spcPts val="113"/>
              </a:spcBef>
            </a:pPr>
            <a:r>
              <a:rPr sz="1001" dirty="0">
                <a:solidFill>
                  <a:srgbClr val="C2400C"/>
                </a:solidFill>
                <a:latin typeface="Malgun Gothic"/>
                <a:cs typeface="Malgun Gothic"/>
              </a:rPr>
              <a:t>실시간 영상 처리 및 데이터 전처리에 필수 적인 기능 제공</a:t>
            </a:r>
            <a:endParaRPr sz="1001" dirty="0">
              <a:latin typeface="Malgun Gothic"/>
              <a:cs typeface="Malgun Gothic"/>
            </a:endParaRPr>
          </a:p>
        </p:txBody>
      </p:sp>
      <p:grpSp>
        <p:nvGrpSpPr>
          <p:cNvPr id="24" name="object 24">
            <a:extLst>
              <a:ext uri="{FF2B5EF4-FFF2-40B4-BE49-F238E27FC236}">
                <a16:creationId xmlns:a16="http://schemas.microsoft.com/office/drawing/2014/main" id="{95A5715E-164B-8334-32AE-3A53CD971570}"/>
              </a:ext>
            </a:extLst>
          </p:cNvPr>
          <p:cNvGrpSpPr/>
          <p:nvPr/>
        </p:nvGrpSpPr>
        <p:grpSpPr>
          <a:xfrm>
            <a:off x="457198" y="4178609"/>
            <a:ext cx="5486399" cy="1257299"/>
            <a:chOff x="457199" y="3562349"/>
            <a:chExt cx="5486400" cy="1257300"/>
          </a:xfrm>
        </p:grpSpPr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A5FB9C43-F5FD-B03C-D8C3-75C3401C7A1A}"/>
                </a:ext>
              </a:extLst>
            </p:cNvPr>
            <p:cNvSpPr/>
            <p:nvPr/>
          </p:nvSpPr>
          <p:spPr>
            <a:xfrm>
              <a:off x="457199" y="3221672"/>
              <a:ext cx="5486400" cy="1257300"/>
            </a:xfrm>
            <a:custGeom>
              <a:avLst/>
              <a:gdLst/>
              <a:ahLst/>
              <a:cxnLst/>
              <a:rect l="l" t="t" r="r" b="b"/>
              <a:pathLst>
                <a:path w="5486400" h="1257300">
                  <a:moveTo>
                    <a:pt x="5415202" y="1257299"/>
                  </a:moveTo>
                  <a:lnTo>
                    <a:pt x="71196" y="1257299"/>
                  </a:lnTo>
                  <a:lnTo>
                    <a:pt x="66241" y="1256811"/>
                  </a:lnTo>
                  <a:lnTo>
                    <a:pt x="29705" y="1241677"/>
                  </a:lnTo>
                  <a:lnTo>
                    <a:pt x="3885" y="1205637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15202" y="0"/>
                  </a:lnTo>
                  <a:lnTo>
                    <a:pt x="5456693" y="15621"/>
                  </a:lnTo>
                  <a:lnTo>
                    <a:pt x="5482513" y="51661"/>
                  </a:lnTo>
                  <a:lnTo>
                    <a:pt x="5486399" y="71196"/>
                  </a:lnTo>
                  <a:lnTo>
                    <a:pt x="5486399" y="1186103"/>
                  </a:lnTo>
                  <a:lnTo>
                    <a:pt x="5470777" y="1227594"/>
                  </a:lnTo>
                  <a:lnTo>
                    <a:pt x="5434737" y="1253413"/>
                  </a:lnTo>
                  <a:lnTo>
                    <a:pt x="5420157" y="1256811"/>
                  </a:lnTo>
                  <a:lnTo>
                    <a:pt x="5415202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4899EB05-55E6-EA92-A0F3-57621D0D24AC}"/>
                </a:ext>
              </a:extLst>
            </p:cNvPr>
            <p:cNvSpPr/>
            <p:nvPr/>
          </p:nvSpPr>
          <p:spPr>
            <a:xfrm>
              <a:off x="609599" y="4021772"/>
              <a:ext cx="5181600" cy="304800"/>
            </a:xfrm>
            <a:custGeom>
              <a:avLst/>
              <a:gdLst/>
              <a:ahLst/>
              <a:cxnLst/>
              <a:rect l="l" t="t" r="r" b="b"/>
              <a:pathLst>
                <a:path w="5181600" h="304800">
                  <a:moveTo>
                    <a:pt x="5148551" y="304799"/>
                  </a:moveTo>
                  <a:lnTo>
                    <a:pt x="33047" y="304799"/>
                  </a:lnTo>
                  <a:lnTo>
                    <a:pt x="28187" y="303832"/>
                  </a:lnTo>
                  <a:lnTo>
                    <a:pt x="966" y="276611"/>
                  </a:lnTo>
                  <a:lnTo>
                    <a:pt x="0" y="271752"/>
                  </a:lnTo>
                  <a:lnTo>
                    <a:pt x="0" y="2666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148551" y="0"/>
                  </a:lnTo>
                  <a:lnTo>
                    <a:pt x="5180632" y="28186"/>
                  </a:lnTo>
                  <a:lnTo>
                    <a:pt x="5181599" y="33047"/>
                  </a:lnTo>
                  <a:lnTo>
                    <a:pt x="5181599" y="271752"/>
                  </a:lnTo>
                  <a:lnTo>
                    <a:pt x="5153411" y="303832"/>
                  </a:lnTo>
                  <a:lnTo>
                    <a:pt x="5148551" y="3047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897F4D83-351F-C03B-AAFA-B52D750CB65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599" y="3374072"/>
              <a:ext cx="200024" cy="304799"/>
            </a:xfrm>
            <a:prstGeom prst="rect">
              <a:avLst/>
            </a:prstGeom>
          </p:spPr>
        </p:pic>
      </p:grpSp>
      <p:sp>
        <p:nvSpPr>
          <p:cNvPr id="28" name="object 28">
            <a:extLst>
              <a:ext uri="{FF2B5EF4-FFF2-40B4-BE49-F238E27FC236}">
                <a16:creationId xmlns:a16="http://schemas.microsoft.com/office/drawing/2014/main" id="{C605676C-88B5-A754-E84D-331A71737F15}"/>
              </a:ext>
            </a:extLst>
          </p:cNvPr>
          <p:cNvSpPr txBox="1"/>
          <p:nvPr/>
        </p:nvSpPr>
        <p:spPr>
          <a:xfrm>
            <a:off x="873125" y="3995606"/>
            <a:ext cx="3001923" cy="2316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01" b="1" dirty="0">
                <a:solidFill>
                  <a:srgbClr val="374050"/>
                </a:solidFill>
                <a:latin typeface="Arial"/>
                <a:cs typeface="Arial"/>
              </a:rPr>
              <a:t>DeepPCB / PCB Defect</a:t>
            </a:r>
            <a:endParaRPr sz="1401" dirty="0">
              <a:latin typeface="Arial"/>
              <a:cs typeface="Arial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3E1438D-5DF8-E7B2-B67E-3BB02DD110AC}"/>
              </a:ext>
            </a:extLst>
          </p:cNvPr>
          <p:cNvSpPr txBox="1"/>
          <p:nvPr/>
        </p:nvSpPr>
        <p:spPr>
          <a:xfrm>
            <a:off x="596903" y="4340686"/>
            <a:ext cx="5410201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공개 데이터셋으로 초기 모델 학습에 소요되는 시간과 비용을 획기적으로 절감</a:t>
            </a:r>
            <a:endParaRPr sz="1149" dirty="0">
              <a:latin typeface="Malgun Gothic"/>
              <a:cs typeface="Malgun Gothic"/>
            </a:endParaRPr>
          </a:p>
        </p:txBody>
      </p:sp>
      <p:pic>
        <p:nvPicPr>
          <p:cNvPr id="30" name="object 30">
            <a:extLst>
              <a:ext uri="{FF2B5EF4-FFF2-40B4-BE49-F238E27FC236}">
                <a16:creationId xmlns:a16="http://schemas.microsoft.com/office/drawing/2014/main" id="{663B9A9E-68D3-D44F-E720-7E6307F5274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804" y="4723151"/>
            <a:ext cx="114300" cy="114300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5890B1C9-E26D-1ECC-1453-202ABA1646EA}"/>
              </a:ext>
            </a:extLst>
          </p:cNvPr>
          <p:cNvSpPr txBox="1"/>
          <p:nvPr/>
        </p:nvSpPr>
        <p:spPr>
          <a:xfrm>
            <a:off x="854076" y="4676540"/>
            <a:ext cx="4796799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C2400C"/>
                </a:solidFill>
                <a:latin typeface="Malgun Gothic"/>
                <a:cs typeface="Malgun Gothic"/>
              </a:rPr>
              <a:t>단계의 성공 확률을 높이고 </a:t>
            </a:r>
            <a:r>
              <a:rPr sz="1001" dirty="0">
                <a:solidFill>
                  <a:srgbClr val="C2400C"/>
                </a:solidFill>
                <a:latin typeface="Microsoft Sans Serif"/>
                <a:cs typeface="Microsoft Sans Serif"/>
              </a:rPr>
              <a:t>PoC </a:t>
            </a:r>
            <a:r>
              <a:rPr sz="1001" dirty="0">
                <a:solidFill>
                  <a:srgbClr val="C2400C"/>
                </a:solidFill>
                <a:latin typeface="Malgun Gothic"/>
                <a:cs typeface="Malgun Gothic"/>
              </a:rPr>
              <a:t>를 통과시키는 데 결정적 역할</a:t>
            </a:r>
            <a:endParaRPr sz="1001" dirty="0">
              <a:latin typeface="Malgun Gothic"/>
              <a:cs typeface="Malgun Gothic"/>
            </a:endParaRPr>
          </a:p>
        </p:txBody>
      </p:sp>
      <p:grpSp>
        <p:nvGrpSpPr>
          <p:cNvPr id="32" name="object 32">
            <a:extLst>
              <a:ext uri="{FF2B5EF4-FFF2-40B4-BE49-F238E27FC236}">
                <a16:creationId xmlns:a16="http://schemas.microsoft.com/office/drawing/2014/main" id="{EBCD26E1-E36F-4364-D4EE-C22C507C4355}"/>
              </a:ext>
            </a:extLst>
          </p:cNvPr>
          <p:cNvGrpSpPr/>
          <p:nvPr/>
        </p:nvGrpSpPr>
        <p:grpSpPr>
          <a:xfrm>
            <a:off x="6248400" y="1739600"/>
            <a:ext cx="476249" cy="476249"/>
            <a:chOff x="6248399" y="1143000"/>
            <a:chExt cx="476250" cy="476250"/>
          </a:xfrm>
        </p:grpSpPr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42209DF-AAEB-29ED-7D91-ACBA48FFD8BC}"/>
                </a:ext>
              </a:extLst>
            </p:cNvPr>
            <p:cNvSpPr/>
            <p:nvPr/>
          </p:nvSpPr>
          <p:spPr>
            <a:xfrm>
              <a:off x="6248399" y="802323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7" y="363935"/>
                  </a:lnTo>
                  <a:lnTo>
                    <a:pt x="15140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09" y="139793"/>
                  </a:lnTo>
                  <a:lnTo>
                    <a:pt x="44463" y="99345"/>
                  </a:lnTo>
                  <a:lnTo>
                    <a:pt x="75260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7" y="154203"/>
                  </a:lnTo>
                  <a:lnTo>
                    <a:pt x="473195" y="199317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8" y="336456"/>
                  </a:lnTo>
                  <a:lnTo>
                    <a:pt x="431784" y="376904"/>
                  </a:lnTo>
                  <a:lnTo>
                    <a:pt x="400989" y="412019"/>
                  </a:lnTo>
                  <a:lnTo>
                    <a:pt x="363935" y="440451"/>
                  </a:lnTo>
                  <a:lnTo>
                    <a:pt x="322046" y="461108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>
              <a:extLst>
                <a:ext uri="{FF2B5EF4-FFF2-40B4-BE49-F238E27FC236}">
                  <a16:creationId xmlns:a16="http://schemas.microsoft.com/office/drawing/2014/main" id="{7166118B-B34A-8EDB-DAD9-6A3A2DAAB84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91274" y="907097"/>
              <a:ext cx="190499" cy="266699"/>
            </a:xfrm>
            <a:prstGeom prst="rect">
              <a:avLst/>
            </a:prstGeom>
          </p:spPr>
        </p:pic>
      </p:grpSp>
      <p:sp>
        <p:nvSpPr>
          <p:cNvPr id="35" name="object 35">
            <a:extLst>
              <a:ext uri="{FF2B5EF4-FFF2-40B4-BE49-F238E27FC236}">
                <a16:creationId xmlns:a16="http://schemas.microsoft.com/office/drawing/2014/main" id="{DC9C081B-BB89-AD22-4C72-4298BFA2B513}"/>
              </a:ext>
            </a:extLst>
          </p:cNvPr>
          <p:cNvSpPr txBox="1"/>
          <p:nvPr/>
        </p:nvSpPr>
        <p:spPr>
          <a:xfrm>
            <a:off x="6864349" y="1485288"/>
            <a:ext cx="4147479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제조 데이터 분석 및 예측 유지보수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36" name="object 36">
            <a:extLst>
              <a:ext uri="{FF2B5EF4-FFF2-40B4-BE49-F238E27FC236}">
                <a16:creationId xmlns:a16="http://schemas.microsoft.com/office/drawing/2014/main" id="{34574017-1B6E-1894-4D3D-D4F20098A91A}"/>
              </a:ext>
            </a:extLst>
          </p:cNvPr>
          <p:cNvGrpSpPr/>
          <p:nvPr/>
        </p:nvGrpSpPr>
        <p:grpSpPr>
          <a:xfrm>
            <a:off x="6248399" y="2368249"/>
            <a:ext cx="2667000" cy="1790699"/>
            <a:chOff x="6248398" y="1771650"/>
            <a:chExt cx="2667000" cy="1790700"/>
          </a:xfrm>
        </p:grpSpPr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95FF8C0C-D7F0-0565-67CA-D7FBD9D61444}"/>
                </a:ext>
              </a:extLst>
            </p:cNvPr>
            <p:cNvSpPr/>
            <p:nvPr/>
          </p:nvSpPr>
          <p:spPr>
            <a:xfrm>
              <a:off x="6248398" y="1430973"/>
              <a:ext cx="2667000" cy="1790700"/>
            </a:xfrm>
            <a:custGeom>
              <a:avLst/>
              <a:gdLst/>
              <a:ahLst/>
              <a:cxnLst/>
              <a:rect l="l" t="t" r="r" b="b"/>
              <a:pathLst>
                <a:path w="2667000" h="1790700">
                  <a:moveTo>
                    <a:pt x="2595802" y="1790699"/>
                  </a:moveTo>
                  <a:lnTo>
                    <a:pt x="71196" y="1790699"/>
                  </a:lnTo>
                  <a:lnTo>
                    <a:pt x="66241" y="1790211"/>
                  </a:lnTo>
                  <a:lnTo>
                    <a:pt x="29705" y="1775077"/>
                  </a:lnTo>
                  <a:lnTo>
                    <a:pt x="3885" y="1739037"/>
                  </a:lnTo>
                  <a:lnTo>
                    <a:pt x="0" y="1719503"/>
                  </a:lnTo>
                  <a:lnTo>
                    <a:pt x="0" y="1714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95802" y="0"/>
                  </a:lnTo>
                  <a:lnTo>
                    <a:pt x="2637294" y="15621"/>
                  </a:lnTo>
                  <a:lnTo>
                    <a:pt x="2663113" y="51661"/>
                  </a:lnTo>
                  <a:lnTo>
                    <a:pt x="2666999" y="71196"/>
                  </a:lnTo>
                  <a:lnTo>
                    <a:pt x="2666999" y="1719503"/>
                  </a:lnTo>
                  <a:lnTo>
                    <a:pt x="2651377" y="1760993"/>
                  </a:lnTo>
                  <a:lnTo>
                    <a:pt x="2615337" y="1786813"/>
                  </a:lnTo>
                  <a:lnTo>
                    <a:pt x="2600757" y="1790211"/>
                  </a:lnTo>
                  <a:lnTo>
                    <a:pt x="2595802" y="1790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E00D782C-B32D-DB75-AA07-0C9D81A07DEC}"/>
                </a:ext>
              </a:extLst>
            </p:cNvPr>
            <p:cNvSpPr/>
            <p:nvPr/>
          </p:nvSpPr>
          <p:spPr>
            <a:xfrm>
              <a:off x="6400798" y="2612072"/>
              <a:ext cx="2362200" cy="457200"/>
            </a:xfrm>
            <a:custGeom>
              <a:avLst/>
              <a:gdLst/>
              <a:ahLst/>
              <a:cxnLst/>
              <a:rect l="l" t="t" r="r" b="b"/>
              <a:pathLst>
                <a:path w="2362200" h="457200">
                  <a:moveTo>
                    <a:pt x="2329152" y="457199"/>
                  </a:moveTo>
                  <a:lnTo>
                    <a:pt x="33047" y="457199"/>
                  </a:lnTo>
                  <a:lnTo>
                    <a:pt x="28187" y="456232"/>
                  </a:lnTo>
                  <a:lnTo>
                    <a:pt x="966" y="429012"/>
                  </a:lnTo>
                  <a:lnTo>
                    <a:pt x="0" y="424152"/>
                  </a:lnTo>
                  <a:lnTo>
                    <a:pt x="0" y="419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329152" y="0"/>
                  </a:lnTo>
                  <a:lnTo>
                    <a:pt x="2361232" y="28187"/>
                  </a:lnTo>
                  <a:lnTo>
                    <a:pt x="2362199" y="33047"/>
                  </a:lnTo>
                  <a:lnTo>
                    <a:pt x="2362199" y="424152"/>
                  </a:lnTo>
                  <a:lnTo>
                    <a:pt x="2334012" y="456232"/>
                  </a:lnTo>
                  <a:lnTo>
                    <a:pt x="2329152" y="4571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>
              <a:extLst>
                <a:ext uri="{FF2B5EF4-FFF2-40B4-BE49-F238E27FC236}">
                  <a16:creationId xmlns:a16="http://schemas.microsoft.com/office/drawing/2014/main" id="{2789A0DD-5163-FA8E-4E50-D0C90034637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00799" y="1583372"/>
              <a:ext cx="228599" cy="304799"/>
            </a:xfrm>
            <a:prstGeom prst="rect">
              <a:avLst/>
            </a:prstGeom>
          </p:spPr>
        </p:pic>
      </p:grpSp>
      <p:sp>
        <p:nvSpPr>
          <p:cNvPr id="40" name="object 40">
            <a:extLst>
              <a:ext uri="{FF2B5EF4-FFF2-40B4-BE49-F238E27FC236}">
                <a16:creationId xmlns:a16="http://schemas.microsoft.com/office/drawing/2014/main" id="{92EE46E6-234F-87C6-B79A-ABCBCC68AADE}"/>
              </a:ext>
            </a:extLst>
          </p:cNvPr>
          <p:cNvSpPr txBox="1"/>
          <p:nvPr/>
        </p:nvSpPr>
        <p:spPr>
          <a:xfrm>
            <a:off x="6692909" y="2204904"/>
            <a:ext cx="1562096" cy="2316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01" b="1" dirty="0">
                <a:solidFill>
                  <a:srgbClr val="374050"/>
                </a:solidFill>
                <a:latin typeface="Arial"/>
                <a:cs typeface="Arial"/>
              </a:rPr>
              <a:t>Apache Kafka</a:t>
            </a:r>
            <a:endParaRPr sz="1401" dirty="0">
              <a:latin typeface="Arial"/>
              <a:cs typeface="Arial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3A2229D5-5E00-0BE5-476A-46D422208842}"/>
              </a:ext>
            </a:extLst>
          </p:cNvPr>
          <p:cNvSpPr txBox="1"/>
          <p:nvPr/>
        </p:nvSpPr>
        <p:spPr>
          <a:xfrm>
            <a:off x="6388108" y="2538487"/>
            <a:ext cx="2386964" cy="572913"/>
          </a:xfrm>
          <a:prstGeom prst="rect">
            <a:avLst/>
          </a:prstGeom>
        </p:spPr>
        <p:txBody>
          <a:bodyPr vert="horz" wrap="square" lIns="0" tIns="6984" rIns="0" bIns="0" rtlCol="0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56"/>
              </a:spcBef>
            </a:pPr>
            <a:r>
              <a:rPr sz="1200" dirty="0">
                <a:solidFill>
                  <a:srgbClr val="4A5462"/>
                </a:solidFill>
                <a:latin typeface="Microsoft Sans Serif"/>
                <a:cs typeface="Microsoft Sans Serif"/>
              </a:rPr>
              <a:t>MQTT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프로토콜을 사용하여 장비로부터 데 이터를 수집하고 대용량 스트림 데이터의 안정적인 처리</a:t>
            </a:r>
            <a:endParaRPr sz="1149">
              <a:latin typeface="Malgun Gothic"/>
              <a:cs typeface="Malgun Gothic"/>
            </a:endParaRPr>
          </a:p>
        </p:txBody>
      </p:sp>
      <p:pic>
        <p:nvPicPr>
          <p:cNvPr id="42" name="object 42">
            <a:extLst>
              <a:ext uri="{FF2B5EF4-FFF2-40B4-BE49-F238E27FC236}">
                <a16:creationId xmlns:a16="http://schemas.microsoft.com/office/drawing/2014/main" id="{C147F1CD-0932-6FC4-C01F-C08FA6B9C0B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7008" y="3313452"/>
            <a:ext cx="114300" cy="114300"/>
          </a:xfrm>
          <a:prstGeom prst="rect">
            <a:avLst/>
          </a:prstGeom>
        </p:spPr>
      </p:pic>
      <p:sp>
        <p:nvSpPr>
          <p:cNvPr id="43" name="object 43">
            <a:extLst>
              <a:ext uri="{FF2B5EF4-FFF2-40B4-BE49-F238E27FC236}">
                <a16:creationId xmlns:a16="http://schemas.microsoft.com/office/drawing/2014/main" id="{2264E84E-AD83-E19E-BCB7-86850A16468A}"/>
              </a:ext>
            </a:extLst>
          </p:cNvPr>
          <p:cNvSpPr txBox="1"/>
          <p:nvPr/>
        </p:nvSpPr>
        <p:spPr>
          <a:xfrm>
            <a:off x="6464308" y="3266845"/>
            <a:ext cx="2159635" cy="3227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indent="180959">
              <a:spcBef>
                <a:spcPts val="113"/>
              </a:spcBef>
            </a:pPr>
            <a:r>
              <a:rPr sz="1001" dirty="0">
                <a:solidFill>
                  <a:srgbClr val="C2400C"/>
                </a:solidFill>
                <a:latin typeface="Malgun Gothic"/>
                <a:cs typeface="Malgun Gothic"/>
              </a:rPr>
              <a:t>데이터 파이프라인으로 </a:t>
            </a:r>
            <a:r>
              <a:rPr sz="1001" dirty="0">
                <a:solidFill>
                  <a:srgbClr val="C2400C"/>
                </a:solidFill>
                <a:latin typeface="Microsoft Sans Serif"/>
                <a:cs typeface="Microsoft Sans Serif"/>
              </a:rPr>
              <a:t>IoT </a:t>
            </a:r>
            <a:r>
              <a:rPr sz="1001" dirty="0">
                <a:solidFill>
                  <a:srgbClr val="C2400C"/>
                </a:solidFill>
                <a:latin typeface="Malgun Gothic"/>
                <a:cs typeface="Malgun Gothic"/>
              </a:rPr>
              <a:t>센서 데이터의 실시간 수집 및 처리</a:t>
            </a:r>
            <a:endParaRPr sz="1001">
              <a:latin typeface="Malgun Gothic"/>
              <a:cs typeface="Malgun Gothic"/>
            </a:endParaRPr>
          </a:p>
        </p:txBody>
      </p:sp>
      <p:grpSp>
        <p:nvGrpSpPr>
          <p:cNvPr id="44" name="object 44">
            <a:extLst>
              <a:ext uri="{FF2B5EF4-FFF2-40B4-BE49-F238E27FC236}">
                <a16:creationId xmlns:a16="http://schemas.microsoft.com/office/drawing/2014/main" id="{B96819D2-713C-7737-28E4-592840CE1C65}"/>
              </a:ext>
            </a:extLst>
          </p:cNvPr>
          <p:cNvGrpSpPr/>
          <p:nvPr/>
        </p:nvGrpSpPr>
        <p:grpSpPr>
          <a:xfrm>
            <a:off x="9067798" y="2368249"/>
            <a:ext cx="2667000" cy="1790699"/>
            <a:chOff x="9067798" y="1771650"/>
            <a:chExt cx="2667000" cy="1790700"/>
          </a:xfrm>
        </p:grpSpPr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8E42A3B6-59DC-9D03-EF1C-C8F358BB50FA}"/>
                </a:ext>
              </a:extLst>
            </p:cNvPr>
            <p:cNvSpPr/>
            <p:nvPr/>
          </p:nvSpPr>
          <p:spPr>
            <a:xfrm>
              <a:off x="9067798" y="1430973"/>
              <a:ext cx="2667000" cy="1790700"/>
            </a:xfrm>
            <a:custGeom>
              <a:avLst/>
              <a:gdLst/>
              <a:ahLst/>
              <a:cxnLst/>
              <a:rect l="l" t="t" r="r" b="b"/>
              <a:pathLst>
                <a:path w="2667000" h="1790700">
                  <a:moveTo>
                    <a:pt x="2595803" y="1790699"/>
                  </a:moveTo>
                  <a:lnTo>
                    <a:pt x="71196" y="1790699"/>
                  </a:lnTo>
                  <a:lnTo>
                    <a:pt x="66240" y="1790211"/>
                  </a:lnTo>
                  <a:lnTo>
                    <a:pt x="29705" y="1775077"/>
                  </a:lnTo>
                  <a:lnTo>
                    <a:pt x="3885" y="1739037"/>
                  </a:lnTo>
                  <a:lnTo>
                    <a:pt x="0" y="1719503"/>
                  </a:lnTo>
                  <a:lnTo>
                    <a:pt x="0" y="1714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95803" y="0"/>
                  </a:lnTo>
                  <a:lnTo>
                    <a:pt x="2637292" y="15621"/>
                  </a:lnTo>
                  <a:lnTo>
                    <a:pt x="2663113" y="51661"/>
                  </a:lnTo>
                  <a:lnTo>
                    <a:pt x="2667000" y="71196"/>
                  </a:lnTo>
                  <a:lnTo>
                    <a:pt x="2667000" y="1719503"/>
                  </a:lnTo>
                  <a:lnTo>
                    <a:pt x="2651376" y="1760993"/>
                  </a:lnTo>
                  <a:lnTo>
                    <a:pt x="2615337" y="1786813"/>
                  </a:lnTo>
                  <a:lnTo>
                    <a:pt x="2600759" y="1790211"/>
                  </a:lnTo>
                  <a:lnTo>
                    <a:pt x="2595803" y="1790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32B7E440-2D15-F24B-C2CB-AC1F189F24F6}"/>
                </a:ext>
              </a:extLst>
            </p:cNvPr>
            <p:cNvSpPr/>
            <p:nvPr/>
          </p:nvSpPr>
          <p:spPr>
            <a:xfrm>
              <a:off x="9220198" y="2612072"/>
              <a:ext cx="2362200" cy="457200"/>
            </a:xfrm>
            <a:custGeom>
              <a:avLst/>
              <a:gdLst/>
              <a:ahLst/>
              <a:cxnLst/>
              <a:rect l="l" t="t" r="r" b="b"/>
              <a:pathLst>
                <a:path w="2362200" h="457200">
                  <a:moveTo>
                    <a:pt x="2329152" y="457199"/>
                  </a:moveTo>
                  <a:lnTo>
                    <a:pt x="33047" y="457199"/>
                  </a:lnTo>
                  <a:lnTo>
                    <a:pt x="28187" y="456232"/>
                  </a:lnTo>
                  <a:lnTo>
                    <a:pt x="966" y="429012"/>
                  </a:lnTo>
                  <a:lnTo>
                    <a:pt x="0" y="424152"/>
                  </a:lnTo>
                  <a:lnTo>
                    <a:pt x="0" y="419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329152" y="0"/>
                  </a:lnTo>
                  <a:lnTo>
                    <a:pt x="2361231" y="28187"/>
                  </a:lnTo>
                  <a:lnTo>
                    <a:pt x="2362199" y="33047"/>
                  </a:lnTo>
                  <a:lnTo>
                    <a:pt x="2362199" y="424152"/>
                  </a:lnTo>
                  <a:lnTo>
                    <a:pt x="2334011" y="456232"/>
                  </a:lnTo>
                  <a:lnTo>
                    <a:pt x="2329152" y="4571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>
              <a:extLst>
                <a:ext uri="{FF2B5EF4-FFF2-40B4-BE49-F238E27FC236}">
                  <a16:creationId xmlns:a16="http://schemas.microsoft.com/office/drawing/2014/main" id="{675B6A04-46D7-4E78-1B6C-C9540CAA385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0199" y="1583372"/>
              <a:ext cx="228599" cy="304799"/>
            </a:xfrm>
            <a:prstGeom prst="rect">
              <a:avLst/>
            </a:prstGeom>
          </p:spPr>
        </p:pic>
      </p:grpSp>
      <p:sp>
        <p:nvSpPr>
          <p:cNvPr id="48" name="object 48">
            <a:extLst>
              <a:ext uri="{FF2B5EF4-FFF2-40B4-BE49-F238E27FC236}">
                <a16:creationId xmlns:a16="http://schemas.microsoft.com/office/drawing/2014/main" id="{20912360-5505-456C-E892-5CBFF5F55CD7}"/>
              </a:ext>
            </a:extLst>
          </p:cNvPr>
          <p:cNvSpPr txBox="1"/>
          <p:nvPr/>
        </p:nvSpPr>
        <p:spPr>
          <a:xfrm>
            <a:off x="9512306" y="2204904"/>
            <a:ext cx="1443767" cy="2316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01" b="1" dirty="0">
                <a:solidFill>
                  <a:srgbClr val="374050"/>
                </a:solidFill>
                <a:latin typeface="Arial"/>
                <a:cs typeface="Arial"/>
              </a:rPr>
              <a:t>TimescaleDB</a:t>
            </a:r>
            <a:endParaRPr sz="1401" dirty="0">
              <a:latin typeface="Arial"/>
              <a:cs typeface="Arial"/>
            </a:endParaRPr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403EB2C9-6B8D-8C04-1D49-BBA05A210384}"/>
              </a:ext>
            </a:extLst>
          </p:cNvPr>
          <p:cNvSpPr txBox="1"/>
          <p:nvPr/>
        </p:nvSpPr>
        <p:spPr>
          <a:xfrm>
            <a:off x="9207508" y="2547874"/>
            <a:ext cx="2527290" cy="566181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15"/>
              </a:spcBef>
            </a:pPr>
            <a:r>
              <a:rPr sz="1200" dirty="0">
                <a:solidFill>
                  <a:srgbClr val="4A5462"/>
                </a:solidFill>
                <a:latin typeface="Microsoft Sans Serif"/>
                <a:cs typeface="Microsoft Sans Serif"/>
              </a:rPr>
              <a:t>PostgreSQL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의 확장 기능으로 기존 </a:t>
            </a:r>
            <a:r>
              <a:rPr sz="1200" dirty="0">
                <a:solidFill>
                  <a:srgbClr val="4A5462"/>
                </a:solidFill>
                <a:latin typeface="Microsoft Sans Serif"/>
                <a:cs typeface="Microsoft Sans Serif"/>
              </a:rPr>
              <a:t>RDBMS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의 장점에 시계열 데이터 처리에 최적화된 강력한 분석 함수 결합</a:t>
            </a:r>
            <a:endParaRPr sz="1149" dirty="0">
              <a:latin typeface="Malgun Gothic"/>
              <a:cs typeface="Malgun Gothic"/>
            </a:endParaRPr>
          </a:p>
        </p:txBody>
      </p:sp>
      <p:pic>
        <p:nvPicPr>
          <p:cNvPr id="50" name="object 50">
            <a:extLst>
              <a:ext uri="{FF2B5EF4-FFF2-40B4-BE49-F238E27FC236}">
                <a16:creationId xmlns:a16="http://schemas.microsoft.com/office/drawing/2014/main" id="{A0870822-E169-3DCC-560C-6FFD9632FED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6407" y="3313452"/>
            <a:ext cx="114300" cy="114300"/>
          </a:xfrm>
          <a:prstGeom prst="rect">
            <a:avLst/>
          </a:prstGeom>
        </p:spPr>
      </p:pic>
      <p:sp>
        <p:nvSpPr>
          <p:cNvPr id="51" name="object 51">
            <a:extLst>
              <a:ext uri="{FF2B5EF4-FFF2-40B4-BE49-F238E27FC236}">
                <a16:creationId xmlns:a16="http://schemas.microsoft.com/office/drawing/2014/main" id="{56A36D10-21AA-DA79-227B-3CE74C68A23C}"/>
              </a:ext>
            </a:extLst>
          </p:cNvPr>
          <p:cNvSpPr txBox="1"/>
          <p:nvPr/>
        </p:nvSpPr>
        <p:spPr>
          <a:xfrm>
            <a:off x="9283701" y="3266843"/>
            <a:ext cx="2188210" cy="3227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indent="180959">
              <a:spcBef>
                <a:spcPts val="113"/>
              </a:spcBef>
            </a:pPr>
            <a:r>
              <a:rPr sz="1001" dirty="0">
                <a:solidFill>
                  <a:srgbClr val="C2400C"/>
                </a:solidFill>
                <a:latin typeface="Malgun Gothic"/>
                <a:cs typeface="Malgun Gothic"/>
              </a:rPr>
              <a:t>장비 가동률</a:t>
            </a:r>
            <a:r>
              <a:rPr sz="1001" dirty="0">
                <a:solidFill>
                  <a:srgbClr val="C2400C"/>
                </a:solidFill>
                <a:latin typeface="Microsoft Sans Serif"/>
                <a:cs typeface="Microsoft Sans Serif"/>
              </a:rPr>
              <a:t>, </a:t>
            </a:r>
            <a:r>
              <a:rPr sz="1001" dirty="0">
                <a:solidFill>
                  <a:srgbClr val="C2400C"/>
                </a:solidFill>
                <a:latin typeface="Malgun Gothic"/>
                <a:cs typeface="Malgun Gothic"/>
              </a:rPr>
              <a:t>품질 지표 등을 효율적으로 데 이터 관리</a:t>
            </a:r>
            <a:endParaRPr sz="1001">
              <a:latin typeface="Malgun Gothic"/>
              <a:cs typeface="Malgun Gothic"/>
            </a:endParaRPr>
          </a:p>
        </p:txBody>
      </p:sp>
      <p:grpSp>
        <p:nvGrpSpPr>
          <p:cNvPr id="52" name="object 52">
            <a:extLst>
              <a:ext uri="{FF2B5EF4-FFF2-40B4-BE49-F238E27FC236}">
                <a16:creationId xmlns:a16="http://schemas.microsoft.com/office/drawing/2014/main" id="{36C42690-53D4-6BAB-9FBF-DB95733482E5}"/>
              </a:ext>
            </a:extLst>
          </p:cNvPr>
          <p:cNvGrpSpPr/>
          <p:nvPr/>
        </p:nvGrpSpPr>
        <p:grpSpPr>
          <a:xfrm>
            <a:off x="6248399" y="4311347"/>
            <a:ext cx="2667000" cy="1790699"/>
            <a:chOff x="6248398" y="3714749"/>
            <a:chExt cx="2667000" cy="1790700"/>
          </a:xfrm>
        </p:grpSpPr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FA1F065E-D099-EF48-0BA0-C236A892811C}"/>
                </a:ext>
              </a:extLst>
            </p:cNvPr>
            <p:cNvSpPr/>
            <p:nvPr/>
          </p:nvSpPr>
          <p:spPr>
            <a:xfrm>
              <a:off x="6248398" y="3374072"/>
              <a:ext cx="2667000" cy="1790700"/>
            </a:xfrm>
            <a:custGeom>
              <a:avLst/>
              <a:gdLst/>
              <a:ahLst/>
              <a:cxnLst/>
              <a:rect l="l" t="t" r="r" b="b"/>
              <a:pathLst>
                <a:path w="2667000" h="1790700">
                  <a:moveTo>
                    <a:pt x="2595802" y="1790699"/>
                  </a:moveTo>
                  <a:lnTo>
                    <a:pt x="71196" y="1790699"/>
                  </a:lnTo>
                  <a:lnTo>
                    <a:pt x="66241" y="1790211"/>
                  </a:lnTo>
                  <a:lnTo>
                    <a:pt x="29705" y="1775077"/>
                  </a:lnTo>
                  <a:lnTo>
                    <a:pt x="3885" y="1739037"/>
                  </a:lnTo>
                  <a:lnTo>
                    <a:pt x="0" y="1719503"/>
                  </a:lnTo>
                  <a:lnTo>
                    <a:pt x="0" y="1714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95802" y="0"/>
                  </a:lnTo>
                  <a:lnTo>
                    <a:pt x="2637294" y="15621"/>
                  </a:lnTo>
                  <a:lnTo>
                    <a:pt x="2663113" y="51661"/>
                  </a:lnTo>
                  <a:lnTo>
                    <a:pt x="2666999" y="71196"/>
                  </a:lnTo>
                  <a:lnTo>
                    <a:pt x="2666999" y="1719503"/>
                  </a:lnTo>
                  <a:lnTo>
                    <a:pt x="2651377" y="1760994"/>
                  </a:lnTo>
                  <a:lnTo>
                    <a:pt x="2615337" y="1786813"/>
                  </a:lnTo>
                  <a:lnTo>
                    <a:pt x="2600757" y="1790211"/>
                  </a:lnTo>
                  <a:lnTo>
                    <a:pt x="2595802" y="1790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FC205F7E-C164-E785-926A-5044332840E8}"/>
                </a:ext>
              </a:extLst>
            </p:cNvPr>
            <p:cNvSpPr/>
            <p:nvPr/>
          </p:nvSpPr>
          <p:spPr>
            <a:xfrm>
              <a:off x="6400798" y="4364672"/>
              <a:ext cx="2362200" cy="457200"/>
            </a:xfrm>
            <a:custGeom>
              <a:avLst/>
              <a:gdLst/>
              <a:ahLst/>
              <a:cxnLst/>
              <a:rect l="l" t="t" r="r" b="b"/>
              <a:pathLst>
                <a:path w="2362200" h="457200">
                  <a:moveTo>
                    <a:pt x="2329152" y="457199"/>
                  </a:moveTo>
                  <a:lnTo>
                    <a:pt x="33047" y="457199"/>
                  </a:lnTo>
                  <a:lnTo>
                    <a:pt x="28187" y="456232"/>
                  </a:lnTo>
                  <a:lnTo>
                    <a:pt x="966" y="429011"/>
                  </a:lnTo>
                  <a:lnTo>
                    <a:pt x="0" y="424152"/>
                  </a:lnTo>
                  <a:lnTo>
                    <a:pt x="0" y="419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329152" y="0"/>
                  </a:lnTo>
                  <a:lnTo>
                    <a:pt x="2361232" y="28187"/>
                  </a:lnTo>
                  <a:lnTo>
                    <a:pt x="2362199" y="33047"/>
                  </a:lnTo>
                  <a:lnTo>
                    <a:pt x="2362199" y="424152"/>
                  </a:lnTo>
                  <a:lnTo>
                    <a:pt x="2334012" y="456232"/>
                  </a:lnTo>
                  <a:lnTo>
                    <a:pt x="2329152" y="4571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>
              <a:extLst>
                <a:ext uri="{FF2B5EF4-FFF2-40B4-BE49-F238E27FC236}">
                  <a16:creationId xmlns:a16="http://schemas.microsoft.com/office/drawing/2014/main" id="{AC4CC914-6B44-D610-7E91-42113EF4D9D8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0799" y="3526472"/>
              <a:ext cx="285749" cy="304799"/>
            </a:xfrm>
            <a:prstGeom prst="rect">
              <a:avLst/>
            </a:prstGeom>
          </p:spPr>
        </p:pic>
      </p:grpSp>
      <p:sp>
        <p:nvSpPr>
          <p:cNvPr id="56" name="object 56">
            <a:extLst>
              <a:ext uri="{FF2B5EF4-FFF2-40B4-BE49-F238E27FC236}">
                <a16:creationId xmlns:a16="http://schemas.microsoft.com/office/drawing/2014/main" id="{8CF809BB-AA0C-133D-64B8-4028D99B6173}"/>
              </a:ext>
            </a:extLst>
          </p:cNvPr>
          <p:cNvSpPr txBox="1"/>
          <p:nvPr/>
        </p:nvSpPr>
        <p:spPr>
          <a:xfrm>
            <a:off x="6750059" y="4148006"/>
            <a:ext cx="1819653" cy="2316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01" b="1" dirty="0">
                <a:solidFill>
                  <a:srgbClr val="374050"/>
                </a:solidFill>
                <a:latin typeface="Arial"/>
                <a:cs typeface="Arial"/>
              </a:rPr>
              <a:t>Scikit-learn</a:t>
            </a:r>
            <a:endParaRPr sz="1401" dirty="0">
              <a:latin typeface="Arial"/>
              <a:cs typeface="Arial"/>
            </a:endParaRPr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01AD9948-B17E-BCD3-37A8-C3FC24D0056A}"/>
              </a:ext>
            </a:extLst>
          </p:cNvPr>
          <p:cNvSpPr txBox="1"/>
          <p:nvPr/>
        </p:nvSpPr>
        <p:spPr>
          <a:xfrm>
            <a:off x="6388099" y="4483409"/>
            <a:ext cx="2320290" cy="3810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89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다양한 머신러닝 모델을 제공하여 예측 유 지보수 모델 개발에 활용</a:t>
            </a:r>
            <a:endParaRPr sz="1149" dirty="0">
              <a:latin typeface="Malgun Gothic"/>
              <a:cs typeface="Malgun Gothic"/>
            </a:endParaRPr>
          </a:p>
        </p:txBody>
      </p:sp>
      <p:pic>
        <p:nvPicPr>
          <p:cNvPr id="58" name="object 58">
            <a:extLst>
              <a:ext uri="{FF2B5EF4-FFF2-40B4-BE49-F238E27FC236}">
                <a16:creationId xmlns:a16="http://schemas.microsoft.com/office/drawing/2014/main" id="{C5CE3729-CA1A-E516-D490-CBD49EB4B8E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7008" y="5066052"/>
            <a:ext cx="114300" cy="114300"/>
          </a:xfrm>
          <a:prstGeom prst="rect">
            <a:avLst/>
          </a:prstGeom>
        </p:spPr>
      </p:pic>
      <p:sp>
        <p:nvSpPr>
          <p:cNvPr id="59" name="object 59">
            <a:extLst>
              <a:ext uri="{FF2B5EF4-FFF2-40B4-BE49-F238E27FC236}">
                <a16:creationId xmlns:a16="http://schemas.microsoft.com/office/drawing/2014/main" id="{BE71DADC-C2DE-EA34-B188-58466D9F320A}"/>
              </a:ext>
            </a:extLst>
          </p:cNvPr>
          <p:cNvSpPr txBox="1"/>
          <p:nvPr/>
        </p:nvSpPr>
        <p:spPr>
          <a:xfrm>
            <a:off x="6464300" y="5019443"/>
            <a:ext cx="2188210" cy="3227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indent="180959">
              <a:spcBef>
                <a:spcPts val="113"/>
              </a:spcBef>
            </a:pPr>
            <a:r>
              <a:rPr sz="1001" dirty="0">
                <a:solidFill>
                  <a:srgbClr val="C2400C"/>
                </a:solidFill>
                <a:latin typeface="Malgun Gothic"/>
                <a:cs typeface="Malgun Gothic"/>
              </a:rPr>
              <a:t>장비 고장 예측 및 예지보 전 시스템 개발에 필수적</a:t>
            </a:r>
            <a:endParaRPr sz="1001">
              <a:latin typeface="Malgun Gothic"/>
              <a:cs typeface="Malgun Gothic"/>
            </a:endParaRPr>
          </a:p>
        </p:txBody>
      </p:sp>
      <p:grpSp>
        <p:nvGrpSpPr>
          <p:cNvPr id="60" name="object 60">
            <a:extLst>
              <a:ext uri="{FF2B5EF4-FFF2-40B4-BE49-F238E27FC236}">
                <a16:creationId xmlns:a16="http://schemas.microsoft.com/office/drawing/2014/main" id="{9E650CF1-8987-FE9F-907A-7203B74372BA}"/>
              </a:ext>
            </a:extLst>
          </p:cNvPr>
          <p:cNvGrpSpPr/>
          <p:nvPr/>
        </p:nvGrpSpPr>
        <p:grpSpPr>
          <a:xfrm>
            <a:off x="9067798" y="4311347"/>
            <a:ext cx="2667000" cy="1790699"/>
            <a:chOff x="9067798" y="3714749"/>
            <a:chExt cx="2667000" cy="1790700"/>
          </a:xfrm>
        </p:grpSpPr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C0E1A470-53BC-5400-3A1D-8B868DC3DE2C}"/>
                </a:ext>
              </a:extLst>
            </p:cNvPr>
            <p:cNvSpPr/>
            <p:nvPr/>
          </p:nvSpPr>
          <p:spPr>
            <a:xfrm>
              <a:off x="9067798" y="3374072"/>
              <a:ext cx="2667000" cy="1790700"/>
            </a:xfrm>
            <a:custGeom>
              <a:avLst/>
              <a:gdLst/>
              <a:ahLst/>
              <a:cxnLst/>
              <a:rect l="l" t="t" r="r" b="b"/>
              <a:pathLst>
                <a:path w="2667000" h="1790700">
                  <a:moveTo>
                    <a:pt x="2595803" y="1790699"/>
                  </a:moveTo>
                  <a:lnTo>
                    <a:pt x="71196" y="1790699"/>
                  </a:lnTo>
                  <a:lnTo>
                    <a:pt x="66240" y="1790211"/>
                  </a:lnTo>
                  <a:lnTo>
                    <a:pt x="29705" y="1775077"/>
                  </a:lnTo>
                  <a:lnTo>
                    <a:pt x="3885" y="1739037"/>
                  </a:lnTo>
                  <a:lnTo>
                    <a:pt x="0" y="1719503"/>
                  </a:lnTo>
                  <a:lnTo>
                    <a:pt x="0" y="1714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95803" y="0"/>
                  </a:lnTo>
                  <a:lnTo>
                    <a:pt x="2637292" y="15621"/>
                  </a:lnTo>
                  <a:lnTo>
                    <a:pt x="2663113" y="51661"/>
                  </a:lnTo>
                  <a:lnTo>
                    <a:pt x="2667000" y="71196"/>
                  </a:lnTo>
                  <a:lnTo>
                    <a:pt x="2667000" y="1719503"/>
                  </a:lnTo>
                  <a:lnTo>
                    <a:pt x="2651376" y="1760994"/>
                  </a:lnTo>
                  <a:lnTo>
                    <a:pt x="2615337" y="1786813"/>
                  </a:lnTo>
                  <a:lnTo>
                    <a:pt x="2600759" y="1790211"/>
                  </a:lnTo>
                  <a:lnTo>
                    <a:pt x="2595803" y="1790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733F89FF-ACB7-77AA-7E7F-46E5D9F67DE1}"/>
                </a:ext>
              </a:extLst>
            </p:cNvPr>
            <p:cNvSpPr/>
            <p:nvPr/>
          </p:nvSpPr>
          <p:spPr>
            <a:xfrm>
              <a:off x="9220198" y="4555172"/>
              <a:ext cx="2362200" cy="457200"/>
            </a:xfrm>
            <a:custGeom>
              <a:avLst/>
              <a:gdLst/>
              <a:ahLst/>
              <a:cxnLst/>
              <a:rect l="l" t="t" r="r" b="b"/>
              <a:pathLst>
                <a:path w="2362200" h="457200">
                  <a:moveTo>
                    <a:pt x="2329152" y="457199"/>
                  </a:moveTo>
                  <a:lnTo>
                    <a:pt x="33047" y="457199"/>
                  </a:lnTo>
                  <a:lnTo>
                    <a:pt x="28187" y="456233"/>
                  </a:lnTo>
                  <a:lnTo>
                    <a:pt x="966" y="429012"/>
                  </a:lnTo>
                  <a:lnTo>
                    <a:pt x="0" y="424152"/>
                  </a:lnTo>
                  <a:lnTo>
                    <a:pt x="0" y="419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329152" y="0"/>
                  </a:lnTo>
                  <a:lnTo>
                    <a:pt x="2361231" y="28187"/>
                  </a:lnTo>
                  <a:lnTo>
                    <a:pt x="2362199" y="33047"/>
                  </a:lnTo>
                  <a:lnTo>
                    <a:pt x="2362199" y="424152"/>
                  </a:lnTo>
                  <a:lnTo>
                    <a:pt x="2334011" y="456233"/>
                  </a:lnTo>
                  <a:lnTo>
                    <a:pt x="2329152" y="4571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>
              <a:extLst>
                <a:ext uri="{FF2B5EF4-FFF2-40B4-BE49-F238E27FC236}">
                  <a16:creationId xmlns:a16="http://schemas.microsoft.com/office/drawing/2014/main" id="{4EF3919C-AB8E-924A-A00A-D3F938E582B7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0199" y="3526472"/>
              <a:ext cx="257174" cy="304799"/>
            </a:xfrm>
            <a:prstGeom prst="rect">
              <a:avLst/>
            </a:prstGeom>
          </p:spPr>
        </p:pic>
      </p:grpSp>
      <p:sp>
        <p:nvSpPr>
          <p:cNvPr id="64" name="object 64">
            <a:extLst>
              <a:ext uri="{FF2B5EF4-FFF2-40B4-BE49-F238E27FC236}">
                <a16:creationId xmlns:a16="http://schemas.microsoft.com/office/drawing/2014/main" id="{8779287E-40C1-4A96-3A75-F4978658DD23}"/>
              </a:ext>
            </a:extLst>
          </p:cNvPr>
          <p:cNvSpPr txBox="1"/>
          <p:nvPr/>
        </p:nvSpPr>
        <p:spPr>
          <a:xfrm>
            <a:off x="9540880" y="4148006"/>
            <a:ext cx="1314832" cy="2316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01" b="1" dirty="0">
                <a:solidFill>
                  <a:srgbClr val="374050"/>
                </a:solidFill>
                <a:latin typeface="Arial"/>
                <a:cs typeface="Arial"/>
              </a:rPr>
              <a:t>Grafana</a:t>
            </a:r>
            <a:endParaRPr sz="1401" dirty="0">
              <a:latin typeface="Arial"/>
              <a:cs typeface="Arial"/>
            </a:endParaRPr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E994039F-ECEA-B2B9-3612-55BA74B698E7}"/>
              </a:ext>
            </a:extLst>
          </p:cNvPr>
          <p:cNvSpPr txBox="1"/>
          <p:nvPr/>
        </p:nvSpPr>
        <p:spPr>
          <a:xfrm>
            <a:off x="9207499" y="4493093"/>
            <a:ext cx="2320290" cy="561693"/>
          </a:xfrm>
          <a:prstGeom prst="rect">
            <a:avLst/>
          </a:prstGeom>
        </p:spPr>
        <p:txBody>
          <a:bodyPr vert="horz" wrap="square" lIns="0" tIns="5716" rIns="0" bIns="0" rtlCol="0">
            <a:spAutoFit/>
          </a:bodyPr>
          <a:lstStyle/>
          <a:p>
            <a:pPr marL="12700" marR="5080">
              <a:lnSpc>
                <a:spcPct val="106400"/>
              </a:lnSpc>
              <a:spcBef>
                <a:spcPts val="45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모든 데이터 소스와 유연하게 연결되어 장 비 가동률</a:t>
            </a:r>
            <a:r>
              <a:rPr sz="1200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품질 지표 등을 실시간으로 시 각화</a:t>
            </a:r>
            <a:endParaRPr sz="1149">
              <a:latin typeface="Malgun Gothic"/>
              <a:cs typeface="Malgun Gothic"/>
            </a:endParaRPr>
          </a:p>
        </p:txBody>
      </p:sp>
      <p:pic>
        <p:nvPicPr>
          <p:cNvPr id="66" name="object 66">
            <a:extLst>
              <a:ext uri="{FF2B5EF4-FFF2-40B4-BE49-F238E27FC236}">
                <a16:creationId xmlns:a16="http://schemas.microsoft.com/office/drawing/2014/main" id="{70CAEC71-E397-41C6-5409-E3D6F7A4D29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6407" y="5256551"/>
            <a:ext cx="114300" cy="114300"/>
          </a:xfrm>
          <a:prstGeom prst="rect">
            <a:avLst/>
          </a:prstGeom>
        </p:spPr>
      </p:pic>
      <p:sp>
        <p:nvSpPr>
          <p:cNvPr id="67" name="object 67">
            <a:extLst>
              <a:ext uri="{FF2B5EF4-FFF2-40B4-BE49-F238E27FC236}">
                <a16:creationId xmlns:a16="http://schemas.microsoft.com/office/drawing/2014/main" id="{6E78372E-068A-97ED-83E2-2623B0D9EDF9}"/>
              </a:ext>
            </a:extLst>
          </p:cNvPr>
          <p:cNvSpPr txBox="1"/>
          <p:nvPr/>
        </p:nvSpPr>
        <p:spPr>
          <a:xfrm>
            <a:off x="9283710" y="5209942"/>
            <a:ext cx="2235834" cy="3227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indent="180959">
              <a:spcBef>
                <a:spcPts val="113"/>
              </a:spcBef>
            </a:pPr>
            <a:r>
              <a:rPr sz="1001" dirty="0">
                <a:solidFill>
                  <a:srgbClr val="C2400C"/>
                </a:solidFill>
                <a:latin typeface="Malgun Gothic"/>
                <a:cs typeface="Malgun Gothic"/>
              </a:rPr>
              <a:t>모니터링 시스템으로 생산 라인의 실시간 상 태 모니터링</a:t>
            </a:r>
            <a:endParaRPr sz="1001">
              <a:latin typeface="Malgun Gothic"/>
              <a:cs typeface="Malgun Gothic"/>
            </a:endParaRPr>
          </a:p>
        </p:txBody>
      </p:sp>
      <p:pic>
        <p:nvPicPr>
          <p:cNvPr id="68" name="object 26">
            <a:extLst>
              <a:ext uri="{FF2B5EF4-FFF2-40B4-BE49-F238E27FC236}">
                <a16:creationId xmlns:a16="http://schemas.microsoft.com/office/drawing/2014/main" id="{0FDA1AB9-41AF-1EF0-E29E-55DC6DEAD63F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13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0EF4217-06D6-AE0B-DCC3-239C7AA72D4D}"/>
              </a:ext>
            </a:extLst>
          </p:cNvPr>
          <p:cNvSpPr/>
          <p:nvPr/>
        </p:nvSpPr>
        <p:spPr>
          <a:xfrm>
            <a:off x="-1" y="3"/>
            <a:ext cx="12192001" cy="7981949"/>
          </a:xfrm>
          <a:custGeom>
            <a:avLst/>
            <a:gdLst/>
            <a:ahLst/>
            <a:cxnLst/>
            <a:rect l="l" t="t" r="r" b="b"/>
            <a:pathLst>
              <a:path w="12192000" h="7981950">
                <a:moveTo>
                  <a:pt x="12191999" y="7981949"/>
                </a:moveTo>
                <a:lnTo>
                  <a:pt x="0" y="79819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98194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F4DF3FC-24C1-02A9-1DE8-7D54956C633F}"/>
              </a:ext>
            </a:extLst>
          </p:cNvPr>
          <p:cNvGrpSpPr/>
          <p:nvPr/>
        </p:nvGrpSpPr>
        <p:grpSpPr>
          <a:xfrm>
            <a:off x="514349" y="1070983"/>
            <a:ext cx="5486400" cy="5867400"/>
            <a:chOff x="514349" y="994781"/>
            <a:chExt cx="5486400" cy="58674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584BB31-BD82-BD02-6898-D724C5AC5AA9}"/>
                </a:ext>
              </a:extLst>
            </p:cNvPr>
            <p:cNvSpPr/>
            <p:nvPr/>
          </p:nvSpPr>
          <p:spPr>
            <a:xfrm>
              <a:off x="514349" y="994781"/>
              <a:ext cx="5486400" cy="5867400"/>
            </a:xfrm>
            <a:custGeom>
              <a:avLst/>
              <a:gdLst/>
              <a:ahLst/>
              <a:cxnLst/>
              <a:rect l="l" t="t" r="r" b="b"/>
              <a:pathLst>
                <a:path w="5486400" h="5867400">
                  <a:moveTo>
                    <a:pt x="5415202" y="5867399"/>
                  </a:moveTo>
                  <a:lnTo>
                    <a:pt x="71196" y="5867399"/>
                  </a:lnTo>
                  <a:lnTo>
                    <a:pt x="66241" y="5866911"/>
                  </a:lnTo>
                  <a:lnTo>
                    <a:pt x="29705" y="5851776"/>
                  </a:lnTo>
                  <a:lnTo>
                    <a:pt x="3885" y="5815736"/>
                  </a:lnTo>
                  <a:lnTo>
                    <a:pt x="0" y="5796202"/>
                  </a:lnTo>
                  <a:lnTo>
                    <a:pt x="0" y="57911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5415202" y="0"/>
                  </a:lnTo>
                  <a:lnTo>
                    <a:pt x="5456693" y="15621"/>
                  </a:lnTo>
                  <a:lnTo>
                    <a:pt x="5482513" y="51662"/>
                  </a:lnTo>
                  <a:lnTo>
                    <a:pt x="5486398" y="71196"/>
                  </a:lnTo>
                  <a:lnTo>
                    <a:pt x="5486398" y="5796202"/>
                  </a:lnTo>
                  <a:lnTo>
                    <a:pt x="5470777" y="5837693"/>
                  </a:lnTo>
                  <a:lnTo>
                    <a:pt x="5434736" y="5863513"/>
                  </a:lnTo>
                  <a:lnTo>
                    <a:pt x="5420157" y="5866911"/>
                  </a:lnTo>
                  <a:lnTo>
                    <a:pt x="5415202" y="586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56653E3-FD40-B932-4A8E-8CD24F5A9BD9}"/>
                </a:ext>
              </a:extLst>
            </p:cNvPr>
            <p:cNvSpPr/>
            <p:nvPr/>
          </p:nvSpPr>
          <p:spPr>
            <a:xfrm>
              <a:off x="742949" y="118109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6" y="544065"/>
                  </a:lnTo>
                  <a:lnTo>
                    <a:pt x="126995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5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4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4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D8A76491-0FA3-F6A3-941C-9A60ED7DC0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4874" y="1314449"/>
              <a:ext cx="257174" cy="304799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87DE84F-08BE-FAFF-4B93-642B251E5342}"/>
                </a:ext>
              </a:extLst>
            </p:cNvPr>
            <p:cNvSpPr/>
            <p:nvPr/>
          </p:nvSpPr>
          <p:spPr>
            <a:xfrm>
              <a:off x="1466837" y="1466862"/>
              <a:ext cx="2924175" cy="304800"/>
            </a:xfrm>
            <a:custGeom>
              <a:avLst/>
              <a:gdLst/>
              <a:ahLst/>
              <a:cxnLst/>
              <a:rect l="l" t="t" r="r" b="b"/>
              <a:pathLst>
                <a:path w="2924175" h="304800">
                  <a:moveTo>
                    <a:pt x="762000" y="33045"/>
                  </a:moveTo>
                  <a:lnTo>
                    <a:pt x="733818" y="965"/>
                  </a:lnTo>
                  <a:lnTo>
                    <a:pt x="728954" y="0"/>
                  </a:lnTo>
                  <a:lnTo>
                    <a:pt x="33058" y="0"/>
                  </a:lnTo>
                  <a:lnTo>
                    <a:pt x="977" y="28181"/>
                  </a:lnTo>
                  <a:lnTo>
                    <a:pt x="0" y="33045"/>
                  </a:lnTo>
                  <a:lnTo>
                    <a:pt x="0" y="266700"/>
                  </a:lnTo>
                  <a:lnTo>
                    <a:pt x="0" y="271741"/>
                  </a:lnTo>
                  <a:lnTo>
                    <a:pt x="28194" y="303822"/>
                  </a:lnTo>
                  <a:lnTo>
                    <a:pt x="33058" y="304800"/>
                  </a:lnTo>
                  <a:lnTo>
                    <a:pt x="728954" y="304800"/>
                  </a:lnTo>
                  <a:lnTo>
                    <a:pt x="761034" y="276606"/>
                  </a:lnTo>
                  <a:lnTo>
                    <a:pt x="762000" y="271741"/>
                  </a:lnTo>
                  <a:lnTo>
                    <a:pt x="762000" y="33045"/>
                  </a:lnTo>
                  <a:close/>
                </a:path>
                <a:path w="2924175" h="304800">
                  <a:moveTo>
                    <a:pt x="2924175" y="33045"/>
                  </a:moveTo>
                  <a:lnTo>
                    <a:pt x="2895993" y="965"/>
                  </a:lnTo>
                  <a:lnTo>
                    <a:pt x="2891129" y="0"/>
                  </a:lnTo>
                  <a:lnTo>
                    <a:pt x="871258" y="0"/>
                  </a:lnTo>
                  <a:lnTo>
                    <a:pt x="839177" y="28181"/>
                  </a:lnTo>
                  <a:lnTo>
                    <a:pt x="838200" y="33045"/>
                  </a:lnTo>
                  <a:lnTo>
                    <a:pt x="838200" y="266700"/>
                  </a:lnTo>
                  <a:lnTo>
                    <a:pt x="838200" y="271741"/>
                  </a:lnTo>
                  <a:lnTo>
                    <a:pt x="866394" y="303822"/>
                  </a:lnTo>
                  <a:lnTo>
                    <a:pt x="871258" y="304800"/>
                  </a:lnTo>
                  <a:lnTo>
                    <a:pt x="2891129" y="304800"/>
                  </a:lnTo>
                  <a:lnTo>
                    <a:pt x="2923209" y="276606"/>
                  </a:lnTo>
                  <a:lnTo>
                    <a:pt x="2924175" y="271741"/>
                  </a:lnTo>
                  <a:lnTo>
                    <a:pt x="2924175" y="33045"/>
                  </a:lnTo>
                  <a:close/>
                </a:path>
              </a:pathLst>
            </a:custGeom>
            <a:solidFill>
              <a:srgbClr val="FF6E4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327709D6-5129-71EE-F028-0A8526DFC90C}"/>
              </a:ext>
            </a:extLst>
          </p:cNvPr>
          <p:cNvSpPr txBox="1">
            <a:spLocks/>
          </p:cNvSpPr>
          <p:nvPr/>
        </p:nvSpPr>
        <p:spPr>
          <a:xfrm>
            <a:off x="457199" y="265514"/>
            <a:ext cx="9559309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dirty="0"/>
              <a:t>핵심 기술 스택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 기반 지식관리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048CF2A-FEF1-E204-B6A2-85CDD7E8EF28}"/>
              </a:ext>
            </a:extLst>
          </p:cNvPr>
          <p:cNvSpPr txBox="1"/>
          <p:nvPr/>
        </p:nvSpPr>
        <p:spPr>
          <a:xfrm>
            <a:off x="1454154" y="1115865"/>
            <a:ext cx="3849368" cy="691343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spcBef>
                <a:spcPts val="910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온톨로지 및 지식그래프</a:t>
            </a:r>
            <a:endParaRPr sz="1700" dirty="0">
              <a:latin typeface="Malgun Gothic"/>
              <a:cs typeface="Malgun Gothic"/>
            </a:endParaRPr>
          </a:p>
          <a:p>
            <a:pPr marL="107303">
              <a:spcBef>
                <a:spcPts val="684"/>
              </a:spcBef>
              <a:tabLst>
                <a:tab pos="945429" algn="l"/>
              </a:tabLst>
            </a:pPr>
            <a:r>
              <a:rPr sz="1451" dirty="0">
                <a:latin typeface="Microsoft Sans Serif"/>
                <a:cs typeface="Microsoft Sans Serif"/>
              </a:rPr>
              <a:t>Protege	Neo4j Community Edition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19F6057-0ED5-4CE9-FE23-5DE3F29D815A}"/>
              </a:ext>
            </a:extLst>
          </p:cNvPr>
          <p:cNvSpPr txBox="1"/>
          <p:nvPr/>
        </p:nvSpPr>
        <p:spPr>
          <a:xfrm>
            <a:off x="730255" y="2003362"/>
            <a:ext cx="1594774" cy="2467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99" b="1" dirty="0">
                <a:solidFill>
                  <a:srgbClr val="374050"/>
                </a:solidFill>
                <a:latin typeface="Malgun Gothic"/>
                <a:cs typeface="Malgun Gothic"/>
              </a:rPr>
              <a:t>선정 사유</a:t>
            </a:r>
            <a:endParaRPr sz="1499" dirty="0">
              <a:latin typeface="Malgun Gothic"/>
              <a:cs typeface="Malgun Gothic"/>
            </a:endParaRPr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62B6BF6A-E85D-F4F7-E52B-0DB67DAD89EC}"/>
              </a:ext>
            </a:extLst>
          </p:cNvPr>
          <p:cNvGrpSpPr/>
          <p:nvPr/>
        </p:nvGrpSpPr>
        <p:grpSpPr>
          <a:xfrm>
            <a:off x="742943" y="2381249"/>
            <a:ext cx="2619375" cy="3140935"/>
            <a:chOff x="742937" y="2305049"/>
            <a:chExt cx="2619375" cy="3140935"/>
          </a:xfrm>
        </p:grpSpPr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6C97C713-7BE7-4EA1-B522-692EEA33621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949" y="2305049"/>
              <a:ext cx="152399" cy="152399"/>
            </a:xfrm>
            <a:prstGeom prst="rect">
              <a:avLst/>
            </a:prstGeom>
          </p:spPr>
        </p:pic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F7029FEA-BD59-3829-537E-83700FA20FB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949" y="2838449"/>
              <a:ext cx="152399" cy="152399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BACBBFFB-0344-D8E1-69FE-63BB59F16525}"/>
                </a:ext>
              </a:extLst>
            </p:cNvPr>
            <p:cNvSpPr/>
            <p:nvPr/>
          </p:nvSpPr>
          <p:spPr>
            <a:xfrm>
              <a:off x="742937" y="3998184"/>
              <a:ext cx="2619375" cy="1447800"/>
            </a:xfrm>
            <a:custGeom>
              <a:avLst/>
              <a:gdLst/>
              <a:ahLst/>
              <a:cxnLst/>
              <a:rect l="l" t="t" r="r" b="b"/>
              <a:pathLst>
                <a:path w="2619375" h="1447800">
                  <a:moveTo>
                    <a:pt x="28575" y="838200"/>
                  </a:moveTo>
                  <a:lnTo>
                    <a:pt x="0" y="838200"/>
                  </a:lnTo>
                  <a:lnTo>
                    <a:pt x="0" y="1447800"/>
                  </a:lnTo>
                  <a:lnTo>
                    <a:pt x="28575" y="1447800"/>
                  </a:lnTo>
                  <a:lnTo>
                    <a:pt x="28575" y="838200"/>
                  </a:lnTo>
                  <a:close/>
                </a:path>
                <a:path w="2619375" h="1447800">
                  <a:moveTo>
                    <a:pt x="28575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28575" y="609600"/>
                  </a:lnTo>
                  <a:lnTo>
                    <a:pt x="28575" y="0"/>
                  </a:lnTo>
                  <a:close/>
                </a:path>
                <a:path w="2619375" h="1447800">
                  <a:moveTo>
                    <a:pt x="2619375" y="0"/>
                  </a:moveTo>
                  <a:lnTo>
                    <a:pt x="2590800" y="0"/>
                  </a:lnTo>
                  <a:lnTo>
                    <a:pt x="2590800" y="609600"/>
                  </a:lnTo>
                  <a:lnTo>
                    <a:pt x="2619375" y="609600"/>
                  </a:lnTo>
                  <a:lnTo>
                    <a:pt x="2619375" y="0"/>
                  </a:lnTo>
                  <a:close/>
                </a:path>
              </a:pathLst>
            </a:custGeom>
            <a:solidFill>
              <a:srgbClr val="FF6E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DC3D4C1A-2B29-D021-5BCB-7846E905C1CC}"/>
              </a:ext>
            </a:extLst>
          </p:cNvPr>
          <p:cNvSpPr txBox="1"/>
          <p:nvPr/>
        </p:nvSpPr>
        <p:spPr>
          <a:xfrm>
            <a:off x="958857" y="2307115"/>
            <a:ext cx="4756784" cy="47949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온톨로지 모델링의 사실상 표준 도구인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Protege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로 설비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공정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불량 등 제조 도메인의 개념과 관계를 체계적으로 정의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E83D76D-3209-C0EB-231F-B430041CFC32}"/>
              </a:ext>
            </a:extLst>
          </p:cNvPr>
          <p:cNvSpPr txBox="1"/>
          <p:nvPr/>
        </p:nvSpPr>
        <p:spPr>
          <a:xfrm>
            <a:off x="958850" y="2840515"/>
            <a:ext cx="4747259" cy="689613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Neo4j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은 관계형 데이터베이스의 복잡한 조인 쿼리 한계를 극복하고 데이터 간의 관계를 효율적으로 탐색하는데 탁월한 성능을 발휘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C75CD64-C80A-1AB7-8F1F-41788B00CDB5}"/>
              </a:ext>
            </a:extLst>
          </p:cNvPr>
          <p:cNvSpPr txBox="1"/>
          <p:nvPr/>
        </p:nvSpPr>
        <p:spPr>
          <a:xfrm>
            <a:off x="730255" y="3734589"/>
            <a:ext cx="1494413" cy="2467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99" b="1" dirty="0">
                <a:solidFill>
                  <a:srgbClr val="374050"/>
                </a:solidFill>
                <a:latin typeface="Malgun Gothic"/>
                <a:cs typeface="Malgun Gothic"/>
              </a:rPr>
              <a:t>주요 기능</a:t>
            </a:r>
            <a:endParaRPr sz="1499" dirty="0">
              <a:latin typeface="Malgun Gothic"/>
              <a:cs typeface="Malgun Gothic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EFE7AEC9-7D42-CE24-8AED-70AB1E5E67BC}"/>
              </a:ext>
            </a:extLst>
          </p:cNvPr>
          <p:cNvSpPr txBox="1"/>
          <p:nvPr/>
        </p:nvSpPr>
        <p:spPr>
          <a:xfrm>
            <a:off x="873126" y="4053422"/>
            <a:ext cx="2320290" cy="60798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350" dirty="0">
                <a:solidFill>
                  <a:srgbClr val="374050"/>
                </a:solidFill>
                <a:latin typeface="Malgun Gothic"/>
                <a:cs typeface="Malgun Gothic"/>
              </a:rPr>
              <a:t>지식 통합</a:t>
            </a:r>
            <a:endParaRPr sz="1350" dirty="0">
              <a:latin typeface="Malgun Gothic"/>
              <a:cs typeface="Malgun Gothic"/>
            </a:endParaRPr>
          </a:p>
          <a:p>
            <a:pPr marL="12700" marR="5080">
              <a:lnSpc>
                <a:spcPct val="108700"/>
              </a:lnSpc>
              <a:spcBef>
                <a:spcPts val="35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산재된 제조 지식과 도메인 전문가의 노하 우를 통합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EB9C725-E27A-2FC1-8C48-6FC1D9441EEF}"/>
              </a:ext>
            </a:extLst>
          </p:cNvPr>
          <p:cNvSpPr txBox="1"/>
          <p:nvPr/>
        </p:nvSpPr>
        <p:spPr>
          <a:xfrm>
            <a:off x="3463925" y="4053424"/>
            <a:ext cx="2320290" cy="60798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350" dirty="0">
                <a:solidFill>
                  <a:srgbClr val="374050"/>
                </a:solidFill>
                <a:latin typeface="Malgun Gothic"/>
                <a:cs typeface="Malgun Gothic"/>
              </a:rPr>
              <a:t>복잡한 질의</a:t>
            </a:r>
            <a:endParaRPr sz="1350">
              <a:latin typeface="Malgun Gothic"/>
              <a:cs typeface="Malgun Gothic"/>
            </a:endParaRPr>
          </a:p>
          <a:p>
            <a:pPr marL="12700" marR="5080">
              <a:lnSpc>
                <a:spcPct val="108700"/>
              </a:lnSpc>
              <a:spcBef>
                <a:spcPts val="35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특정 불량의 원인 등을 종합적으로 분석하 여 정확한 답 도출</a:t>
            </a:r>
            <a:endParaRPr sz="1149">
              <a:latin typeface="Malgun Gothic"/>
              <a:cs typeface="Malgun Gothic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249B3B5-41E3-0593-9721-67D8E717A592}"/>
              </a:ext>
            </a:extLst>
          </p:cNvPr>
          <p:cNvSpPr txBox="1"/>
          <p:nvPr/>
        </p:nvSpPr>
        <p:spPr>
          <a:xfrm>
            <a:off x="873124" y="4908641"/>
            <a:ext cx="1060451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dirty="0">
                <a:solidFill>
                  <a:srgbClr val="374050"/>
                </a:solidFill>
                <a:latin typeface="Malgun Gothic"/>
                <a:cs typeface="Malgun Gothic"/>
              </a:rPr>
              <a:t>관계 탐색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EFA64942-241E-D024-2C7B-F91268CDB421}"/>
              </a:ext>
            </a:extLst>
          </p:cNvPr>
          <p:cNvSpPr txBox="1"/>
          <p:nvPr/>
        </p:nvSpPr>
        <p:spPr>
          <a:xfrm>
            <a:off x="885830" y="5176234"/>
            <a:ext cx="2285365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55"/>
              </a:lnSpc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장비 로그</a:t>
            </a:r>
            <a:r>
              <a:rPr sz="1149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재료 정보</a:t>
            </a:r>
            <a:r>
              <a:rPr sz="1149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과거 경험 데이터의</a:t>
            </a:r>
            <a:endParaRPr sz="1149" dirty="0">
              <a:latin typeface="Malgun Gothic"/>
              <a:cs typeface="Malgun Gothic"/>
            </a:endParaRPr>
          </a:p>
          <a:p>
            <a:pPr>
              <a:lnSpc>
                <a:spcPts val="1274"/>
              </a:lnSpc>
              <a:spcBef>
                <a:spcPts val="121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관계를 효과적으로 탐색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30FEA3D-7F21-045B-2A67-C4AB3BEC7706}"/>
              </a:ext>
            </a:extLst>
          </p:cNvPr>
          <p:cNvSpPr/>
          <p:nvPr/>
        </p:nvSpPr>
        <p:spPr>
          <a:xfrm>
            <a:off x="3333759" y="4912579"/>
            <a:ext cx="28575" cy="609599"/>
          </a:xfrm>
          <a:custGeom>
            <a:avLst/>
            <a:gdLst/>
            <a:ahLst/>
            <a:cxnLst/>
            <a:rect l="l" t="t" r="r" b="b"/>
            <a:pathLst>
              <a:path w="28575" h="609600">
                <a:moveTo>
                  <a:pt x="28574" y="609599"/>
                </a:moveTo>
                <a:lnTo>
                  <a:pt x="0" y="609599"/>
                </a:lnTo>
                <a:lnTo>
                  <a:pt x="0" y="0"/>
                </a:lnTo>
                <a:lnTo>
                  <a:pt x="28574" y="0"/>
                </a:lnTo>
                <a:lnTo>
                  <a:pt x="28574" y="609599"/>
                </a:lnTo>
                <a:close/>
              </a:path>
            </a:pathLst>
          </a:custGeom>
          <a:solidFill>
            <a:srgbClr val="FF6E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BC44B1B5-8688-A909-8748-AEDB613CBA0E}"/>
              </a:ext>
            </a:extLst>
          </p:cNvPr>
          <p:cNvSpPr txBox="1"/>
          <p:nvPr/>
        </p:nvSpPr>
        <p:spPr>
          <a:xfrm>
            <a:off x="3463933" y="4891617"/>
            <a:ext cx="2196465" cy="617861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350" dirty="0">
                <a:solidFill>
                  <a:srgbClr val="374050"/>
                </a:solidFill>
                <a:latin typeface="Malgun Gothic"/>
                <a:cs typeface="Malgun Gothic"/>
              </a:rPr>
              <a:t>추론 가능</a:t>
            </a:r>
            <a:endParaRPr sz="1350">
              <a:latin typeface="Malgun Gothic"/>
              <a:cs typeface="Malgun Gothic"/>
            </a:endParaRPr>
          </a:p>
          <a:p>
            <a:pPr marL="12700">
              <a:spcBef>
                <a:spcPts val="154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복잡한 질의에 대한 추론 가능성을 검증</a:t>
            </a:r>
            <a:endParaRPr sz="1149">
              <a:latin typeface="Malgun Gothic"/>
              <a:cs typeface="Malgun Gothic"/>
            </a:endParaRPr>
          </a:p>
        </p:txBody>
      </p:sp>
      <p:pic>
        <p:nvPicPr>
          <p:cNvPr id="25" name="object 25">
            <a:extLst>
              <a:ext uri="{FF2B5EF4-FFF2-40B4-BE49-F238E27FC236}">
                <a16:creationId xmlns:a16="http://schemas.microsoft.com/office/drawing/2014/main" id="{9FD0D513-E5C4-B930-55AB-9EBAB2E3F69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4972" y="5768910"/>
            <a:ext cx="3809999" cy="1142999"/>
          </a:xfrm>
          <a:prstGeom prst="rect">
            <a:avLst/>
          </a:prstGeom>
        </p:spPr>
      </p:pic>
      <p:grpSp>
        <p:nvGrpSpPr>
          <p:cNvPr id="26" name="object 26">
            <a:extLst>
              <a:ext uri="{FF2B5EF4-FFF2-40B4-BE49-F238E27FC236}">
                <a16:creationId xmlns:a16="http://schemas.microsoft.com/office/drawing/2014/main" id="{F8253F66-E2FA-5419-29A9-4CA64373F9BC}"/>
              </a:ext>
            </a:extLst>
          </p:cNvPr>
          <p:cNvGrpSpPr/>
          <p:nvPr/>
        </p:nvGrpSpPr>
        <p:grpSpPr>
          <a:xfrm>
            <a:off x="6229350" y="971551"/>
            <a:ext cx="5486399" cy="5867399"/>
            <a:chOff x="6229349" y="895349"/>
            <a:chExt cx="5486400" cy="5867400"/>
          </a:xfrm>
        </p:grpSpPr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6C8EE97C-CD52-5919-301F-3C9CE665C49D}"/>
                </a:ext>
              </a:extLst>
            </p:cNvPr>
            <p:cNvSpPr/>
            <p:nvPr/>
          </p:nvSpPr>
          <p:spPr>
            <a:xfrm>
              <a:off x="6229349" y="895349"/>
              <a:ext cx="5486400" cy="5867400"/>
            </a:xfrm>
            <a:custGeom>
              <a:avLst/>
              <a:gdLst/>
              <a:ahLst/>
              <a:cxnLst/>
              <a:rect l="l" t="t" r="r" b="b"/>
              <a:pathLst>
                <a:path w="5486400" h="5867400">
                  <a:moveTo>
                    <a:pt x="5415202" y="5867399"/>
                  </a:moveTo>
                  <a:lnTo>
                    <a:pt x="71196" y="5867399"/>
                  </a:lnTo>
                  <a:lnTo>
                    <a:pt x="66241" y="5866911"/>
                  </a:lnTo>
                  <a:lnTo>
                    <a:pt x="29705" y="5851776"/>
                  </a:lnTo>
                  <a:lnTo>
                    <a:pt x="3885" y="5815736"/>
                  </a:lnTo>
                  <a:lnTo>
                    <a:pt x="0" y="5796202"/>
                  </a:lnTo>
                  <a:lnTo>
                    <a:pt x="0" y="57911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5415202" y="0"/>
                  </a:lnTo>
                  <a:lnTo>
                    <a:pt x="5456693" y="15621"/>
                  </a:lnTo>
                  <a:lnTo>
                    <a:pt x="5482513" y="51662"/>
                  </a:lnTo>
                  <a:lnTo>
                    <a:pt x="5486398" y="71196"/>
                  </a:lnTo>
                  <a:lnTo>
                    <a:pt x="5486398" y="5796202"/>
                  </a:lnTo>
                  <a:lnTo>
                    <a:pt x="5470777" y="5837693"/>
                  </a:lnTo>
                  <a:lnTo>
                    <a:pt x="5434736" y="5863513"/>
                  </a:lnTo>
                  <a:lnTo>
                    <a:pt x="5420157" y="5866911"/>
                  </a:lnTo>
                  <a:lnTo>
                    <a:pt x="5415202" y="586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BCE78CFD-9E4A-638F-2116-2E0CD76A8FB7}"/>
                </a:ext>
              </a:extLst>
            </p:cNvPr>
            <p:cNvSpPr/>
            <p:nvPr/>
          </p:nvSpPr>
          <p:spPr>
            <a:xfrm>
              <a:off x="6457949" y="129539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6" y="544065"/>
                  </a:lnTo>
                  <a:lnTo>
                    <a:pt x="126995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4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4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>
              <a:extLst>
                <a:ext uri="{FF2B5EF4-FFF2-40B4-BE49-F238E27FC236}">
                  <a16:creationId xmlns:a16="http://schemas.microsoft.com/office/drawing/2014/main" id="{8BBF150D-EC96-60EF-3900-D64F145A6CB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9399" y="1428749"/>
              <a:ext cx="228599" cy="304799"/>
            </a:xfrm>
            <a:prstGeom prst="rect">
              <a:avLst/>
            </a:prstGeom>
          </p:spPr>
        </p:pic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0FDC520F-E69C-B295-88A7-4784AFD19FDA}"/>
                </a:ext>
              </a:extLst>
            </p:cNvPr>
            <p:cNvSpPr/>
            <p:nvPr/>
          </p:nvSpPr>
          <p:spPr>
            <a:xfrm>
              <a:off x="7181837" y="1428762"/>
              <a:ext cx="3457575" cy="609600"/>
            </a:xfrm>
            <a:custGeom>
              <a:avLst/>
              <a:gdLst/>
              <a:ahLst/>
              <a:cxnLst/>
              <a:rect l="l" t="t" r="r" b="b"/>
              <a:pathLst>
                <a:path w="3457575" h="609600">
                  <a:moveTo>
                    <a:pt x="1514475" y="33045"/>
                  </a:moveTo>
                  <a:lnTo>
                    <a:pt x="1486293" y="965"/>
                  </a:lnTo>
                  <a:lnTo>
                    <a:pt x="1481429" y="0"/>
                  </a:lnTo>
                  <a:lnTo>
                    <a:pt x="823633" y="0"/>
                  </a:lnTo>
                  <a:lnTo>
                    <a:pt x="791552" y="28181"/>
                  </a:lnTo>
                  <a:lnTo>
                    <a:pt x="790575" y="33045"/>
                  </a:lnTo>
                  <a:lnTo>
                    <a:pt x="790575" y="266700"/>
                  </a:lnTo>
                  <a:lnTo>
                    <a:pt x="790575" y="271741"/>
                  </a:lnTo>
                  <a:lnTo>
                    <a:pt x="818769" y="303822"/>
                  </a:lnTo>
                  <a:lnTo>
                    <a:pt x="823633" y="304800"/>
                  </a:lnTo>
                  <a:lnTo>
                    <a:pt x="681329" y="304800"/>
                  </a:lnTo>
                  <a:lnTo>
                    <a:pt x="713409" y="276606"/>
                  </a:lnTo>
                  <a:lnTo>
                    <a:pt x="714375" y="271741"/>
                  </a:lnTo>
                  <a:lnTo>
                    <a:pt x="714375" y="33045"/>
                  </a:lnTo>
                  <a:lnTo>
                    <a:pt x="686193" y="965"/>
                  </a:lnTo>
                  <a:lnTo>
                    <a:pt x="681329" y="0"/>
                  </a:lnTo>
                  <a:lnTo>
                    <a:pt x="33058" y="0"/>
                  </a:lnTo>
                  <a:lnTo>
                    <a:pt x="977" y="28181"/>
                  </a:lnTo>
                  <a:lnTo>
                    <a:pt x="0" y="33045"/>
                  </a:lnTo>
                  <a:lnTo>
                    <a:pt x="0" y="266700"/>
                  </a:lnTo>
                  <a:lnTo>
                    <a:pt x="0" y="271741"/>
                  </a:lnTo>
                  <a:lnTo>
                    <a:pt x="28194" y="303822"/>
                  </a:lnTo>
                  <a:lnTo>
                    <a:pt x="33058" y="304800"/>
                  </a:lnTo>
                  <a:lnTo>
                    <a:pt x="28194" y="305765"/>
                  </a:lnTo>
                  <a:lnTo>
                    <a:pt x="977" y="332981"/>
                  </a:lnTo>
                  <a:lnTo>
                    <a:pt x="0" y="337845"/>
                  </a:lnTo>
                  <a:lnTo>
                    <a:pt x="0" y="571500"/>
                  </a:lnTo>
                  <a:lnTo>
                    <a:pt x="0" y="576541"/>
                  </a:lnTo>
                  <a:lnTo>
                    <a:pt x="28194" y="608622"/>
                  </a:lnTo>
                  <a:lnTo>
                    <a:pt x="33058" y="609600"/>
                  </a:lnTo>
                  <a:lnTo>
                    <a:pt x="995654" y="609600"/>
                  </a:lnTo>
                  <a:lnTo>
                    <a:pt x="1027734" y="581406"/>
                  </a:lnTo>
                  <a:lnTo>
                    <a:pt x="1028700" y="576541"/>
                  </a:lnTo>
                  <a:lnTo>
                    <a:pt x="1028700" y="337845"/>
                  </a:lnTo>
                  <a:lnTo>
                    <a:pt x="1000518" y="305765"/>
                  </a:lnTo>
                  <a:lnTo>
                    <a:pt x="995654" y="304800"/>
                  </a:lnTo>
                  <a:lnTo>
                    <a:pt x="1481429" y="304800"/>
                  </a:lnTo>
                  <a:lnTo>
                    <a:pt x="1513509" y="276606"/>
                  </a:lnTo>
                  <a:lnTo>
                    <a:pt x="1514475" y="271741"/>
                  </a:lnTo>
                  <a:lnTo>
                    <a:pt x="1514475" y="33045"/>
                  </a:lnTo>
                  <a:close/>
                </a:path>
                <a:path w="3457575" h="609600">
                  <a:moveTo>
                    <a:pt x="3457575" y="33045"/>
                  </a:moveTo>
                  <a:lnTo>
                    <a:pt x="3429393" y="965"/>
                  </a:lnTo>
                  <a:lnTo>
                    <a:pt x="3424529" y="0"/>
                  </a:lnTo>
                  <a:lnTo>
                    <a:pt x="1623733" y="0"/>
                  </a:lnTo>
                  <a:lnTo>
                    <a:pt x="1591652" y="28181"/>
                  </a:lnTo>
                  <a:lnTo>
                    <a:pt x="1590675" y="33045"/>
                  </a:lnTo>
                  <a:lnTo>
                    <a:pt x="1590675" y="266700"/>
                  </a:lnTo>
                  <a:lnTo>
                    <a:pt x="1590675" y="271741"/>
                  </a:lnTo>
                  <a:lnTo>
                    <a:pt x="1618869" y="303822"/>
                  </a:lnTo>
                  <a:lnTo>
                    <a:pt x="1623733" y="304800"/>
                  </a:lnTo>
                  <a:lnTo>
                    <a:pt x="3424529" y="304800"/>
                  </a:lnTo>
                  <a:lnTo>
                    <a:pt x="3456609" y="276606"/>
                  </a:lnTo>
                  <a:lnTo>
                    <a:pt x="3457575" y="271741"/>
                  </a:lnTo>
                  <a:lnTo>
                    <a:pt x="3457575" y="33045"/>
                  </a:lnTo>
                  <a:close/>
                </a:path>
              </a:pathLst>
            </a:custGeom>
            <a:solidFill>
              <a:srgbClr val="FF6E4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>
            <a:extLst>
              <a:ext uri="{FF2B5EF4-FFF2-40B4-BE49-F238E27FC236}">
                <a16:creationId xmlns:a16="http://schemas.microsoft.com/office/drawing/2014/main" id="{65E5C935-7CF1-36F4-173C-7D35239CC2AF}"/>
              </a:ext>
            </a:extLst>
          </p:cNvPr>
          <p:cNvSpPr txBox="1"/>
          <p:nvPr/>
        </p:nvSpPr>
        <p:spPr>
          <a:xfrm>
            <a:off x="7169150" y="1077765"/>
            <a:ext cx="4165713" cy="958917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spcBef>
                <a:spcPts val="910"/>
              </a:spcBef>
            </a:pPr>
            <a:r>
              <a:rPr sz="1650" b="1" dirty="0">
                <a:solidFill>
                  <a:srgbClr val="374050"/>
                </a:solidFill>
                <a:latin typeface="Berlin Sans FB"/>
                <a:cs typeface="Berlin Sans FB"/>
              </a:rPr>
              <a:t>LLM </a:t>
            </a: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기반 기술문서</a:t>
            </a:r>
            <a:r>
              <a:rPr sz="1650" b="1" dirty="0">
                <a:solidFill>
                  <a:srgbClr val="374050"/>
                </a:solidFill>
                <a:latin typeface="Berlin Sans FB"/>
                <a:cs typeface="Berlin Sans FB"/>
              </a:rPr>
              <a:t>/</a:t>
            </a: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로그 분석</a:t>
            </a:r>
            <a:endParaRPr sz="1700" dirty="0">
              <a:latin typeface="Malgun Gothic"/>
              <a:cs typeface="Malgun Gothic"/>
            </a:endParaRPr>
          </a:p>
          <a:p>
            <a:pPr marL="107303" marR="5080">
              <a:lnSpc>
                <a:spcPct val="137900"/>
              </a:lnSpc>
              <a:spcBef>
                <a:spcPts val="30"/>
              </a:spcBef>
              <a:tabLst>
                <a:tab pos="897807" algn="l"/>
                <a:tab pos="1697834" algn="l"/>
              </a:tabLst>
            </a:pPr>
            <a:r>
              <a:rPr sz="1451" dirty="0">
                <a:latin typeface="Microsoft Sans Serif"/>
                <a:cs typeface="Microsoft Sans Serif"/>
              </a:rPr>
              <a:t>Ollama	Llama3	LangChain/LlamaIndex InstructLab</a:t>
            </a: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3E75A77A-6E43-3B0F-4944-6E735C6D905A}"/>
              </a:ext>
            </a:extLst>
          </p:cNvPr>
          <p:cNvSpPr txBox="1"/>
          <p:nvPr/>
        </p:nvSpPr>
        <p:spPr>
          <a:xfrm>
            <a:off x="6445258" y="2270062"/>
            <a:ext cx="1544591" cy="2467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99" b="1" dirty="0">
                <a:solidFill>
                  <a:srgbClr val="374050"/>
                </a:solidFill>
                <a:latin typeface="Malgun Gothic"/>
                <a:cs typeface="Malgun Gothic"/>
              </a:rPr>
              <a:t>선정 사유</a:t>
            </a:r>
            <a:endParaRPr sz="1499" dirty="0">
              <a:latin typeface="Malgun Gothic"/>
              <a:cs typeface="Malgun Gothic"/>
            </a:endParaRPr>
          </a:p>
        </p:txBody>
      </p:sp>
      <p:grpSp>
        <p:nvGrpSpPr>
          <p:cNvPr id="33" name="object 33">
            <a:extLst>
              <a:ext uri="{FF2B5EF4-FFF2-40B4-BE49-F238E27FC236}">
                <a16:creationId xmlns:a16="http://schemas.microsoft.com/office/drawing/2014/main" id="{4B0D3F6E-79B5-6943-0ED2-F90F82D50F49}"/>
              </a:ext>
            </a:extLst>
          </p:cNvPr>
          <p:cNvGrpSpPr/>
          <p:nvPr/>
        </p:nvGrpSpPr>
        <p:grpSpPr>
          <a:xfrm>
            <a:off x="6457958" y="2647949"/>
            <a:ext cx="2619375" cy="3619501"/>
            <a:chOff x="6457949" y="2571749"/>
            <a:chExt cx="2619375" cy="3619500"/>
          </a:xfrm>
        </p:grpSpPr>
        <p:pic>
          <p:nvPicPr>
            <p:cNvPr id="34" name="object 34">
              <a:extLst>
                <a:ext uri="{FF2B5EF4-FFF2-40B4-BE49-F238E27FC236}">
                  <a16:creationId xmlns:a16="http://schemas.microsoft.com/office/drawing/2014/main" id="{6FAB2694-63A1-F80C-5A5D-249ABAB7793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7949" y="2571749"/>
              <a:ext cx="152399" cy="152399"/>
            </a:xfrm>
            <a:prstGeom prst="rect">
              <a:avLst/>
            </a:prstGeom>
          </p:spPr>
        </p:pic>
        <p:pic>
          <p:nvPicPr>
            <p:cNvPr id="35" name="object 35">
              <a:extLst>
                <a:ext uri="{FF2B5EF4-FFF2-40B4-BE49-F238E27FC236}">
                  <a16:creationId xmlns:a16="http://schemas.microsoft.com/office/drawing/2014/main" id="{247B9667-937C-3485-13EB-069F28DFA82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7949" y="3105149"/>
              <a:ext cx="152399" cy="152399"/>
            </a:xfrm>
            <a:prstGeom prst="rect">
              <a:avLst/>
            </a:prstGeom>
          </p:spPr>
        </p:pic>
        <p:pic>
          <p:nvPicPr>
            <p:cNvPr id="36" name="object 36">
              <a:extLst>
                <a:ext uri="{FF2B5EF4-FFF2-40B4-BE49-F238E27FC236}">
                  <a16:creationId xmlns:a16="http://schemas.microsoft.com/office/drawing/2014/main" id="{2C917487-9D1E-37FC-750C-9B7C8A1E376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7949" y="3638549"/>
              <a:ext cx="152399" cy="152399"/>
            </a:xfrm>
            <a:prstGeom prst="rect">
              <a:avLst/>
            </a:prstGeom>
          </p:spPr>
        </p:pic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A0AFFE5A-FAC2-8C28-89DB-F934D8003A92}"/>
                </a:ext>
              </a:extLst>
            </p:cNvPr>
            <p:cNvSpPr/>
            <p:nvPr/>
          </p:nvSpPr>
          <p:spPr>
            <a:xfrm>
              <a:off x="6457937" y="4552949"/>
              <a:ext cx="2619375" cy="1638300"/>
            </a:xfrm>
            <a:custGeom>
              <a:avLst/>
              <a:gdLst/>
              <a:ahLst/>
              <a:cxnLst/>
              <a:rect l="l" t="t" r="r" b="b"/>
              <a:pathLst>
                <a:path w="2619375" h="1638300">
                  <a:moveTo>
                    <a:pt x="28575" y="838200"/>
                  </a:moveTo>
                  <a:lnTo>
                    <a:pt x="0" y="838200"/>
                  </a:lnTo>
                  <a:lnTo>
                    <a:pt x="0" y="1638300"/>
                  </a:lnTo>
                  <a:lnTo>
                    <a:pt x="28575" y="1638300"/>
                  </a:lnTo>
                  <a:lnTo>
                    <a:pt x="28575" y="838200"/>
                  </a:lnTo>
                  <a:close/>
                </a:path>
                <a:path w="2619375" h="1638300">
                  <a:moveTo>
                    <a:pt x="28575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28575" y="609600"/>
                  </a:lnTo>
                  <a:lnTo>
                    <a:pt x="28575" y="0"/>
                  </a:lnTo>
                  <a:close/>
                </a:path>
                <a:path w="2619375" h="1638300">
                  <a:moveTo>
                    <a:pt x="2619375" y="838200"/>
                  </a:moveTo>
                  <a:lnTo>
                    <a:pt x="2590800" y="838200"/>
                  </a:lnTo>
                  <a:lnTo>
                    <a:pt x="2590800" y="1638300"/>
                  </a:lnTo>
                  <a:lnTo>
                    <a:pt x="2619375" y="1638300"/>
                  </a:lnTo>
                  <a:lnTo>
                    <a:pt x="2619375" y="838200"/>
                  </a:lnTo>
                  <a:close/>
                </a:path>
                <a:path w="2619375" h="1638300">
                  <a:moveTo>
                    <a:pt x="2619375" y="0"/>
                  </a:moveTo>
                  <a:lnTo>
                    <a:pt x="2590800" y="0"/>
                  </a:lnTo>
                  <a:lnTo>
                    <a:pt x="2590800" y="609600"/>
                  </a:lnTo>
                  <a:lnTo>
                    <a:pt x="2619375" y="609600"/>
                  </a:lnTo>
                  <a:lnTo>
                    <a:pt x="2619375" y="0"/>
                  </a:lnTo>
                  <a:close/>
                </a:path>
              </a:pathLst>
            </a:custGeom>
            <a:solidFill>
              <a:srgbClr val="FF6E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>
            <a:extLst>
              <a:ext uri="{FF2B5EF4-FFF2-40B4-BE49-F238E27FC236}">
                <a16:creationId xmlns:a16="http://schemas.microsoft.com/office/drawing/2014/main" id="{BA5875E8-8969-73F6-8904-EEA26FE78CFD}"/>
              </a:ext>
            </a:extLst>
          </p:cNvPr>
          <p:cNvSpPr txBox="1"/>
          <p:nvPr/>
        </p:nvSpPr>
        <p:spPr>
          <a:xfrm>
            <a:off x="6673851" y="2573819"/>
            <a:ext cx="4804410" cy="46314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내부 서버에서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LLM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을 실행함으로써 민감한 데이터를 외부로 전송할 필요 없 이 데이터 주권과 보안을 확보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C4E2A16A-0AA3-5A25-E013-FDD8EF1119E7}"/>
              </a:ext>
            </a:extLst>
          </p:cNvPr>
          <p:cNvSpPr txBox="1"/>
          <p:nvPr/>
        </p:nvSpPr>
        <p:spPr>
          <a:xfrm>
            <a:off x="6673851" y="3107217"/>
            <a:ext cx="4785360" cy="46314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Ollama, Llama</a:t>
            </a:r>
            <a:r>
              <a:rPr lang="en-US"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 </a:t>
            </a:r>
            <a:r>
              <a:rPr lang="ko-KR" altLang="en-US"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등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같은 최신 오픈소스 모델은 높은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성능과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lang="en-US" sz="1350" dirty="0">
                <a:solidFill>
                  <a:srgbClr val="4A5462"/>
                </a:solidFill>
                <a:latin typeface="Malgun Gothic"/>
                <a:cs typeface="Malgun Gothic"/>
              </a:rPr>
              <a:t> 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다양한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기능을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제공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91323585-3A44-0C96-93D1-C82D7BEC2B98}"/>
              </a:ext>
            </a:extLst>
          </p:cNvPr>
          <p:cNvSpPr txBox="1"/>
          <p:nvPr/>
        </p:nvSpPr>
        <p:spPr>
          <a:xfrm>
            <a:off x="6673850" y="3640618"/>
            <a:ext cx="4766310" cy="479491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LangChain, LlamaIndex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같은 오케스트레이션 프레임워크는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LLM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과 지식 그래프 데이터베이스 등 다양한 시스템을 연동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309BB26B-C847-D739-D6B7-A8D9B47294D8}"/>
              </a:ext>
            </a:extLst>
          </p:cNvPr>
          <p:cNvSpPr txBox="1"/>
          <p:nvPr/>
        </p:nvSpPr>
        <p:spPr>
          <a:xfrm>
            <a:off x="6445258" y="4289355"/>
            <a:ext cx="1611498" cy="2467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99" b="1" dirty="0">
                <a:solidFill>
                  <a:srgbClr val="374050"/>
                </a:solidFill>
                <a:latin typeface="Malgun Gothic"/>
                <a:cs typeface="Malgun Gothic"/>
              </a:rPr>
              <a:t>주요 기능</a:t>
            </a:r>
            <a:endParaRPr sz="1499" dirty="0">
              <a:latin typeface="Malgun Gothic"/>
              <a:cs typeface="Malgun Gothic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02C7E34A-235A-3E39-5BA6-3DB8DA4CB355}"/>
              </a:ext>
            </a:extLst>
          </p:cNvPr>
          <p:cNvSpPr txBox="1"/>
          <p:nvPr/>
        </p:nvSpPr>
        <p:spPr>
          <a:xfrm>
            <a:off x="6588127" y="4675337"/>
            <a:ext cx="2282189" cy="60798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350" dirty="0">
                <a:solidFill>
                  <a:srgbClr val="374050"/>
                </a:solidFill>
                <a:latin typeface="Malgun Gothic"/>
                <a:cs typeface="Malgun Gothic"/>
              </a:rPr>
              <a:t>기술문서 검색</a:t>
            </a:r>
            <a:endParaRPr sz="1350" dirty="0">
              <a:latin typeface="Malgun Gothic"/>
              <a:cs typeface="Malgun Gothic"/>
            </a:endParaRPr>
          </a:p>
          <a:p>
            <a:pPr marL="12700" marR="5080">
              <a:lnSpc>
                <a:spcPct val="108700"/>
              </a:lnSpc>
              <a:spcBef>
                <a:spcPts val="35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내부 기술문서를 효과적으로 검색하고 필 요한 정보를 추출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C19D1A3F-70A7-2EEF-A61D-DDF3799F5FFE}"/>
              </a:ext>
            </a:extLst>
          </p:cNvPr>
          <p:cNvSpPr txBox="1"/>
          <p:nvPr/>
        </p:nvSpPr>
        <p:spPr>
          <a:xfrm>
            <a:off x="9178933" y="4618187"/>
            <a:ext cx="2234566" cy="60798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350" dirty="0">
                <a:solidFill>
                  <a:srgbClr val="374050"/>
                </a:solidFill>
                <a:latin typeface="Malgun Gothic"/>
                <a:cs typeface="Malgun Gothic"/>
              </a:rPr>
              <a:t>로그 분석</a:t>
            </a:r>
            <a:endParaRPr sz="1350" dirty="0">
              <a:latin typeface="Malgun Gothic"/>
              <a:cs typeface="Malgun Gothic"/>
            </a:endParaRPr>
          </a:p>
          <a:p>
            <a:pPr marL="12700" marR="5080">
              <a:lnSpc>
                <a:spcPct val="108700"/>
              </a:lnSpc>
              <a:spcBef>
                <a:spcPts val="35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설비 로그를 분석하여 원인 진단 및 예방 방안 제안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3E4C86E7-7297-159C-C9F9-47EA5AEB9F23}"/>
              </a:ext>
            </a:extLst>
          </p:cNvPr>
          <p:cNvSpPr txBox="1"/>
          <p:nvPr/>
        </p:nvSpPr>
        <p:spPr>
          <a:xfrm>
            <a:off x="6540237" y="5555242"/>
            <a:ext cx="2489187" cy="60798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350" dirty="0">
                <a:solidFill>
                  <a:srgbClr val="374050"/>
                </a:solidFill>
                <a:latin typeface="Malgun Gothic"/>
                <a:cs typeface="Malgun Gothic"/>
              </a:rPr>
              <a:t>질의응답</a:t>
            </a:r>
            <a:endParaRPr sz="1350" dirty="0">
              <a:latin typeface="Malgun Gothic"/>
              <a:cs typeface="Malgun Gothic"/>
            </a:endParaRPr>
          </a:p>
          <a:p>
            <a:pPr marL="12700" marR="5080">
              <a:lnSpc>
                <a:spcPct val="108700"/>
              </a:lnSpc>
              <a:spcBef>
                <a:spcPts val="35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사용자의 질문에 대답하고 필요한 정보 제 공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764EE865-D699-652B-3252-ED4522442C2D}"/>
              </a:ext>
            </a:extLst>
          </p:cNvPr>
          <p:cNvSpPr txBox="1"/>
          <p:nvPr/>
        </p:nvSpPr>
        <p:spPr>
          <a:xfrm>
            <a:off x="9178925" y="5427805"/>
            <a:ext cx="2282190" cy="80073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spcBef>
                <a:spcPts val="240"/>
              </a:spcBef>
            </a:pPr>
            <a:r>
              <a:rPr sz="1350" dirty="0">
                <a:solidFill>
                  <a:srgbClr val="374050"/>
                </a:solidFill>
                <a:latin typeface="Malgun Gothic"/>
                <a:cs typeface="Malgun Gothic"/>
              </a:rPr>
              <a:t>모델 미세조정</a:t>
            </a:r>
            <a:endParaRPr sz="1350" dirty="0">
              <a:latin typeface="Malgun Gothic"/>
              <a:cs typeface="Malgun Gothic"/>
            </a:endParaRPr>
          </a:p>
          <a:p>
            <a:pPr marL="12700" marR="5080">
              <a:lnSpc>
                <a:spcPct val="108700"/>
              </a:lnSpc>
              <a:spcBef>
                <a:spcPts val="35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대덕전자의 독점 데이터로 모델을 미세조 정하여 특정 도메인에 대한 </a:t>
            </a:r>
            <a:r>
              <a:rPr sz="1149" dirty="0">
                <a:solidFill>
                  <a:srgbClr val="4A5462"/>
                </a:solidFill>
                <a:latin typeface="Microsoft Sans Serif"/>
                <a:cs typeface="Microsoft Sans Serif"/>
              </a:rPr>
              <a:t>LLM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정확도 극대화</a:t>
            </a:r>
            <a:endParaRPr sz="1149" dirty="0">
              <a:latin typeface="Malgun Gothic"/>
              <a:cs typeface="Malgun Gothic"/>
            </a:endParaRPr>
          </a:p>
        </p:txBody>
      </p:sp>
      <p:pic>
        <p:nvPicPr>
          <p:cNvPr id="46" name="object 26">
            <a:extLst>
              <a:ext uri="{FF2B5EF4-FFF2-40B4-BE49-F238E27FC236}">
                <a16:creationId xmlns:a16="http://schemas.microsoft.com/office/drawing/2014/main" id="{A8BA5F78-5774-A8B4-E145-F0B852762F2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8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38C462-81CD-E316-20A3-563739E42DD2}"/>
              </a:ext>
            </a:extLst>
          </p:cNvPr>
          <p:cNvSpPr/>
          <p:nvPr/>
        </p:nvSpPr>
        <p:spPr>
          <a:xfrm>
            <a:off x="-1" y="1"/>
            <a:ext cx="12192001" cy="6972300"/>
          </a:xfrm>
          <a:custGeom>
            <a:avLst/>
            <a:gdLst/>
            <a:ahLst/>
            <a:cxnLst/>
            <a:rect l="l" t="t" r="r" b="b"/>
            <a:pathLst>
              <a:path w="12192000" h="6972300">
                <a:moveTo>
                  <a:pt x="12191999" y="6972299"/>
                </a:moveTo>
                <a:lnTo>
                  <a:pt x="0" y="6972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9722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F8AD47C-6D60-2479-FF64-D7CFAA0EA818}"/>
              </a:ext>
            </a:extLst>
          </p:cNvPr>
          <p:cNvSpPr txBox="1">
            <a:spLocks/>
          </p:cNvSpPr>
          <p:nvPr/>
        </p:nvSpPr>
        <p:spPr>
          <a:xfrm>
            <a:off x="464278" y="303546"/>
            <a:ext cx="7184098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dirty="0"/>
              <a:t>핵심 기술 스택 </a:t>
            </a:r>
            <a:r>
              <a:rPr lang="en-US" altLang="ko-KR" dirty="0"/>
              <a:t>-</a:t>
            </a:r>
            <a:r>
              <a:rPr lang="ko-KR" altLang="en-US" dirty="0"/>
              <a:t> 디지털 트윈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BC790AC-33E9-FF70-A2C9-34B0B1373C13}"/>
              </a:ext>
            </a:extLst>
          </p:cNvPr>
          <p:cNvSpPr txBox="1"/>
          <p:nvPr/>
        </p:nvSpPr>
        <p:spPr>
          <a:xfrm>
            <a:off x="444500" y="1317723"/>
            <a:ext cx="8208846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물리적 공장과 가상 세계가 의미적으로 연결된 정교한 시뮬레이션을 가능하게 하는 기술 스택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DBF3836-80F0-C8BB-C507-42E9FDF4E5CA}"/>
              </a:ext>
            </a:extLst>
          </p:cNvPr>
          <p:cNvSpPr/>
          <p:nvPr/>
        </p:nvSpPr>
        <p:spPr>
          <a:xfrm>
            <a:off x="457198" y="1616933"/>
            <a:ext cx="5524500" cy="4095750"/>
          </a:xfrm>
          <a:custGeom>
            <a:avLst/>
            <a:gdLst/>
            <a:ahLst/>
            <a:cxnLst/>
            <a:rect l="l" t="t" r="r" b="b"/>
            <a:pathLst>
              <a:path w="5524500" h="4095750">
                <a:moveTo>
                  <a:pt x="5453302" y="4095749"/>
                </a:moveTo>
                <a:lnTo>
                  <a:pt x="71196" y="4095749"/>
                </a:lnTo>
                <a:lnTo>
                  <a:pt x="66241" y="4095261"/>
                </a:lnTo>
                <a:lnTo>
                  <a:pt x="29705" y="4080127"/>
                </a:lnTo>
                <a:lnTo>
                  <a:pt x="3885" y="4044087"/>
                </a:lnTo>
                <a:lnTo>
                  <a:pt x="0" y="4024552"/>
                </a:lnTo>
                <a:lnTo>
                  <a:pt x="0" y="401954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5453302" y="0"/>
                </a:lnTo>
                <a:lnTo>
                  <a:pt x="5494793" y="15621"/>
                </a:lnTo>
                <a:lnTo>
                  <a:pt x="5520612" y="51661"/>
                </a:lnTo>
                <a:lnTo>
                  <a:pt x="5524499" y="71196"/>
                </a:lnTo>
                <a:lnTo>
                  <a:pt x="5524499" y="4024552"/>
                </a:lnTo>
                <a:lnTo>
                  <a:pt x="5508876" y="4066043"/>
                </a:lnTo>
                <a:lnTo>
                  <a:pt x="5472837" y="4091863"/>
                </a:lnTo>
                <a:lnTo>
                  <a:pt x="5458257" y="4095261"/>
                </a:lnTo>
                <a:lnTo>
                  <a:pt x="5453302" y="4095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986E3B2-6FEC-5B2C-36CC-A962F0F881D2}"/>
              </a:ext>
            </a:extLst>
          </p:cNvPr>
          <p:cNvSpPr/>
          <p:nvPr/>
        </p:nvSpPr>
        <p:spPr>
          <a:xfrm>
            <a:off x="685798" y="1845533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49" y="571499"/>
                </a:moveTo>
                <a:lnTo>
                  <a:pt x="243821" y="568407"/>
                </a:lnTo>
                <a:lnTo>
                  <a:pt x="202800" y="559195"/>
                </a:lnTo>
                <a:lnTo>
                  <a:pt x="163575" y="544065"/>
                </a:lnTo>
                <a:lnTo>
                  <a:pt x="126995" y="523342"/>
                </a:lnTo>
                <a:lnTo>
                  <a:pt x="93851" y="497476"/>
                </a:lnTo>
                <a:lnTo>
                  <a:pt x="64862" y="467027"/>
                </a:lnTo>
                <a:lnTo>
                  <a:pt x="40653" y="432654"/>
                </a:lnTo>
                <a:lnTo>
                  <a:pt x="21751" y="395101"/>
                </a:lnTo>
                <a:lnTo>
                  <a:pt x="8563" y="355181"/>
                </a:lnTo>
                <a:lnTo>
                  <a:pt x="1375" y="313758"/>
                </a:lnTo>
                <a:lnTo>
                  <a:pt x="0" y="285749"/>
                </a:lnTo>
                <a:lnTo>
                  <a:pt x="343" y="271728"/>
                </a:lnTo>
                <a:lnTo>
                  <a:pt x="5490" y="230002"/>
                </a:lnTo>
                <a:lnTo>
                  <a:pt x="16703" y="189483"/>
                </a:lnTo>
                <a:lnTo>
                  <a:pt x="33740" y="151048"/>
                </a:lnTo>
                <a:lnTo>
                  <a:pt x="56233" y="115528"/>
                </a:lnTo>
                <a:lnTo>
                  <a:pt x="83694" y="83694"/>
                </a:lnTo>
                <a:lnTo>
                  <a:pt x="115528" y="56233"/>
                </a:lnTo>
                <a:lnTo>
                  <a:pt x="151048" y="33740"/>
                </a:lnTo>
                <a:lnTo>
                  <a:pt x="189483" y="16703"/>
                </a:lnTo>
                <a:lnTo>
                  <a:pt x="230002" y="5490"/>
                </a:lnTo>
                <a:lnTo>
                  <a:pt x="271728" y="344"/>
                </a:lnTo>
                <a:lnTo>
                  <a:pt x="285749" y="0"/>
                </a:lnTo>
                <a:lnTo>
                  <a:pt x="299771" y="344"/>
                </a:lnTo>
                <a:lnTo>
                  <a:pt x="341496" y="5490"/>
                </a:lnTo>
                <a:lnTo>
                  <a:pt x="382016" y="16703"/>
                </a:lnTo>
                <a:lnTo>
                  <a:pt x="420451" y="33740"/>
                </a:lnTo>
                <a:lnTo>
                  <a:pt x="455971" y="56233"/>
                </a:lnTo>
                <a:lnTo>
                  <a:pt x="487805" y="83694"/>
                </a:lnTo>
                <a:lnTo>
                  <a:pt x="515266" y="115528"/>
                </a:lnTo>
                <a:lnTo>
                  <a:pt x="537758" y="151048"/>
                </a:lnTo>
                <a:lnTo>
                  <a:pt x="554796" y="189483"/>
                </a:lnTo>
                <a:lnTo>
                  <a:pt x="566009" y="230002"/>
                </a:lnTo>
                <a:lnTo>
                  <a:pt x="571156" y="271728"/>
                </a:lnTo>
                <a:lnTo>
                  <a:pt x="571499" y="285749"/>
                </a:lnTo>
                <a:lnTo>
                  <a:pt x="571156" y="299771"/>
                </a:lnTo>
                <a:lnTo>
                  <a:pt x="566009" y="341496"/>
                </a:lnTo>
                <a:lnTo>
                  <a:pt x="554796" y="382016"/>
                </a:lnTo>
                <a:lnTo>
                  <a:pt x="537758" y="420451"/>
                </a:lnTo>
                <a:lnTo>
                  <a:pt x="515266" y="455971"/>
                </a:lnTo>
                <a:lnTo>
                  <a:pt x="487805" y="487805"/>
                </a:lnTo>
                <a:lnTo>
                  <a:pt x="455971" y="515266"/>
                </a:lnTo>
                <a:lnTo>
                  <a:pt x="420451" y="537758"/>
                </a:lnTo>
                <a:lnTo>
                  <a:pt x="382016" y="554796"/>
                </a:lnTo>
                <a:lnTo>
                  <a:pt x="341496" y="566009"/>
                </a:lnTo>
                <a:lnTo>
                  <a:pt x="299771" y="571156"/>
                </a:lnTo>
                <a:lnTo>
                  <a:pt x="285749" y="571499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71392A2D-C55F-B3BE-2DCD-09425346D5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3" y="1978883"/>
            <a:ext cx="285749" cy="304799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612A81EF-C767-BAA4-0989-4E37BC912B29}"/>
              </a:ext>
            </a:extLst>
          </p:cNvPr>
          <p:cNvSpPr/>
          <p:nvPr/>
        </p:nvSpPr>
        <p:spPr>
          <a:xfrm>
            <a:off x="685798" y="256943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60" y="298239"/>
                </a:lnTo>
                <a:lnTo>
                  <a:pt x="67731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2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2"/>
                </a:lnTo>
                <a:lnTo>
                  <a:pt x="243192" y="274804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FFE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8B3A8AD8-C3D4-4BC9-99F8-8DAA16758E5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2948" y="2645633"/>
            <a:ext cx="190499" cy="152399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FD862076-F2C5-F906-2E2A-38BA520726B4}"/>
              </a:ext>
            </a:extLst>
          </p:cNvPr>
          <p:cNvSpPr/>
          <p:nvPr/>
        </p:nvSpPr>
        <p:spPr>
          <a:xfrm>
            <a:off x="685798" y="333143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60" y="298238"/>
                </a:lnTo>
                <a:lnTo>
                  <a:pt x="67731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2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FFE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>
            <a:extLst>
              <a:ext uri="{FF2B5EF4-FFF2-40B4-BE49-F238E27FC236}">
                <a16:creationId xmlns:a16="http://schemas.microsoft.com/office/drawing/2014/main" id="{A3E38FA4-A565-D234-0C72-B0FBE552F39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1998" y="3407633"/>
            <a:ext cx="152399" cy="152399"/>
          </a:xfrm>
          <a:prstGeom prst="rect">
            <a:avLst/>
          </a:prstGeom>
        </p:spPr>
      </p:pic>
      <p:sp>
        <p:nvSpPr>
          <p:cNvPr id="14" name="object 14">
            <a:extLst>
              <a:ext uri="{FF2B5EF4-FFF2-40B4-BE49-F238E27FC236}">
                <a16:creationId xmlns:a16="http://schemas.microsoft.com/office/drawing/2014/main" id="{C0EBD5D8-7A65-8EDD-BCB6-C9C41C7275A1}"/>
              </a:ext>
            </a:extLst>
          </p:cNvPr>
          <p:cNvSpPr/>
          <p:nvPr/>
        </p:nvSpPr>
        <p:spPr>
          <a:xfrm>
            <a:off x="685798" y="409343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60" y="298239"/>
                </a:lnTo>
                <a:lnTo>
                  <a:pt x="67731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2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6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2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FFE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>
            <a:extLst>
              <a:ext uri="{FF2B5EF4-FFF2-40B4-BE49-F238E27FC236}">
                <a16:creationId xmlns:a16="http://schemas.microsoft.com/office/drawing/2014/main" id="{F80B3BDA-BB56-277D-6948-2B61F965623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998" y="4169633"/>
            <a:ext cx="152399" cy="152399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C6D6A095-809F-DAFE-CBA9-740BD0ABE58F}"/>
              </a:ext>
            </a:extLst>
          </p:cNvPr>
          <p:cNvSpPr/>
          <p:nvPr/>
        </p:nvSpPr>
        <p:spPr>
          <a:xfrm>
            <a:off x="690561" y="4860196"/>
            <a:ext cx="5187320" cy="619125"/>
          </a:xfrm>
          <a:custGeom>
            <a:avLst/>
            <a:gdLst/>
            <a:ahLst/>
            <a:cxnLst/>
            <a:rect l="l" t="t" r="r" b="b"/>
            <a:pathLst>
              <a:path w="5057775" h="619125">
                <a:moveTo>
                  <a:pt x="4991027" y="619124"/>
                </a:moveTo>
                <a:lnTo>
                  <a:pt x="66746" y="619124"/>
                </a:lnTo>
                <a:lnTo>
                  <a:pt x="62101" y="618666"/>
                </a:lnTo>
                <a:lnTo>
                  <a:pt x="24240" y="601517"/>
                </a:lnTo>
                <a:lnTo>
                  <a:pt x="2287" y="566224"/>
                </a:lnTo>
                <a:lnTo>
                  <a:pt x="0" y="552377"/>
                </a:lnTo>
                <a:lnTo>
                  <a:pt x="0" y="547687"/>
                </a:lnTo>
                <a:lnTo>
                  <a:pt x="0" y="66746"/>
                </a:lnTo>
                <a:lnTo>
                  <a:pt x="14645" y="27848"/>
                </a:lnTo>
                <a:lnTo>
                  <a:pt x="48433" y="3642"/>
                </a:lnTo>
                <a:lnTo>
                  <a:pt x="66746" y="0"/>
                </a:lnTo>
                <a:lnTo>
                  <a:pt x="4991027" y="0"/>
                </a:lnTo>
                <a:lnTo>
                  <a:pt x="5029924" y="14645"/>
                </a:lnTo>
                <a:lnTo>
                  <a:pt x="5054131" y="48432"/>
                </a:lnTo>
                <a:lnTo>
                  <a:pt x="5057774" y="66746"/>
                </a:lnTo>
                <a:lnTo>
                  <a:pt x="5057774" y="552377"/>
                </a:lnTo>
                <a:lnTo>
                  <a:pt x="5043128" y="591275"/>
                </a:lnTo>
                <a:lnTo>
                  <a:pt x="5009340" y="615481"/>
                </a:lnTo>
                <a:lnTo>
                  <a:pt x="4995672" y="618666"/>
                </a:lnTo>
                <a:lnTo>
                  <a:pt x="4991027" y="619124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4FFDE5-31E5-2C89-13AB-858DC9C1967D}"/>
              </a:ext>
            </a:extLst>
          </p:cNvPr>
          <p:cNvSpPr/>
          <p:nvPr/>
        </p:nvSpPr>
        <p:spPr>
          <a:xfrm>
            <a:off x="690561" y="4860196"/>
            <a:ext cx="5187320" cy="619125"/>
          </a:xfrm>
          <a:custGeom>
            <a:avLst/>
            <a:gdLst/>
            <a:ahLst/>
            <a:cxnLst/>
            <a:rect l="l" t="t" r="r" b="b"/>
            <a:pathLst>
              <a:path w="5057775" h="619125">
                <a:moveTo>
                  <a:pt x="0" y="54768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2039" y="31748"/>
                </a:lnTo>
                <a:lnTo>
                  <a:pt x="14645" y="27848"/>
                </a:lnTo>
                <a:lnTo>
                  <a:pt x="17606" y="24239"/>
                </a:lnTo>
                <a:lnTo>
                  <a:pt x="20923" y="20923"/>
                </a:lnTo>
                <a:lnTo>
                  <a:pt x="24240" y="17606"/>
                </a:lnTo>
                <a:lnTo>
                  <a:pt x="62101" y="457"/>
                </a:lnTo>
                <a:lnTo>
                  <a:pt x="66746" y="0"/>
                </a:lnTo>
                <a:lnTo>
                  <a:pt x="71437" y="0"/>
                </a:lnTo>
                <a:lnTo>
                  <a:pt x="4986337" y="0"/>
                </a:lnTo>
                <a:lnTo>
                  <a:pt x="4991027" y="0"/>
                </a:lnTo>
                <a:lnTo>
                  <a:pt x="4995672" y="457"/>
                </a:lnTo>
                <a:lnTo>
                  <a:pt x="5026024" y="12039"/>
                </a:lnTo>
                <a:lnTo>
                  <a:pt x="5029924" y="14645"/>
                </a:lnTo>
                <a:lnTo>
                  <a:pt x="5033533" y="17606"/>
                </a:lnTo>
                <a:lnTo>
                  <a:pt x="5036850" y="20923"/>
                </a:lnTo>
                <a:lnTo>
                  <a:pt x="5040166" y="24239"/>
                </a:lnTo>
                <a:lnTo>
                  <a:pt x="5052336" y="44099"/>
                </a:lnTo>
                <a:lnTo>
                  <a:pt x="5054131" y="48432"/>
                </a:lnTo>
                <a:lnTo>
                  <a:pt x="5055486" y="52899"/>
                </a:lnTo>
                <a:lnTo>
                  <a:pt x="5056401" y="57500"/>
                </a:lnTo>
                <a:lnTo>
                  <a:pt x="5057316" y="62101"/>
                </a:lnTo>
                <a:lnTo>
                  <a:pt x="5057774" y="66746"/>
                </a:lnTo>
                <a:lnTo>
                  <a:pt x="5057774" y="71437"/>
                </a:lnTo>
                <a:lnTo>
                  <a:pt x="5057774" y="547687"/>
                </a:lnTo>
                <a:lnTo>
                  <a:pt x="5057774" y="552377"/>
                </a:lnTo>
                <a:lnTo>
                  <a:pt x="5057316" y="557023"/>
                </a:lnTo>
                <a:lnTo>
                  <a:pt x="5056401" y="561623"/>
                </a:lnTo>
                <a:lnTo>
                  <a:pt x="5055486" y="566224"/>
                </a:lnTo>
                <a:lnTo>
                  <a:pt x="5054131" y="570690"/>
                </a:lnTo>
                <a:lnTo>
                  <a:pt x="5052336" y="575024"/>
                </a:lnTo>
                <a:lnTo>
                  <a:pt x="5050541" y="579358"/>
                </a:lnTo>
                <a:lnTo>
                  <a:pt x="5048340" y="583475"/>
                </a:lnTo>
                <a:lnTo>
                  <a:pt x="5045734" y="587375"/>
                </a:lnTo>
                <a:lnTo>
                  <a:pt x="5043128" y="591275"/>
                </a:lnTo>
                <a:lnTo>
                  <a:pt x="5026024" y="607084"/>
                </a:lnTo>
                <a:lnTo>
                  <a:pt x="5022124" y="609691"/>
                </a:lnTo>
                <a:lnTo>
                  <a:pt x="5018007" y="611891"/>
                </a:lnTo>
                <a:lnTo>
                  <a:pt x="5013673" y="613686"/>
                </a:lnTo>
                <a:lnTo>
                  <a:pt x="5009340" y="615481"/>
                </a:lnTo>
                <a:lnTo>
                  <a:pt x="5004873" y="616836"/>
                </a:lnTo>
                <a:lnTo>
                  <a:pt x="5000272" y="617751"/>
                </a:lnTo>
                <a:lnTo>
                  <a:pt x="4995672" y="618666"/>
                </a:lnTo>
                <a:lnTo>
                  <a:pt x="4991027" y="619124"/>
                </a:lnTo>
                <a:lnTo>
                  <a:pt x="4986337" y="619124"/>
                </a:lnTo>
                <a:lnTo>
                  <a:pt x="71437" y="619124"/>
                </a:lnTo>
                <a:lnTo>
                  <a:pt x="66746" y="619124"/>
                </a:lnTo>
                <a:lnTo>
                  <a:pt x="62101" y="618666"/>
                </a:lnTo>
                <a:lnTo>
                  <a:pt x="57500" y="617751"/>
                </a:lnTo>
                <a:lnTo>
                  <a:pt x="52900" y="616836"/>
                </a:lnTo>
                <a:lnTo>
                  <a:pt x="48433" y="615481"/>
                </a:lnTo>
                <a:lnTo>
                  <a:pt x="44099" y="613686"/>
                </a:lnTo>
                <a:lnTo>
                  <a:pt x="39765" y="611891"/>
                </a:lnTo>
                <a:lnTo>
                  <a:pt x="35648" y="609691"/>
                </a:lnTo>
                <a:lnTo>
                  <a:pt x="31748" y="607084"/>
                </a:lnTo>
                <a:lnTo>
                  <a:pt x="27848" y="604478"/>
                </a:lnTo>
                <a:lnTo>
                  <a:pt x="24240" y="601517"/>
                </a:lnTo>
                <a:lnTo>
                  <a:pt x="20923" y="598201"/>
                </a:lnTo>
                <a:lnTo>
                  <a:pt x="17606" y="594884"/>
                </a:lnTo>
                <a:lnTo>
                  <a:pt x="14645" y="591276"/>
                </a:lnTo>
                <a:lnTo>
                  <a:pt x="12039" y="587375"/>
                </a:lnTo>
                <a:lnTo>
                  <a:pt x="9433" y="583475"/>
                </a:lnTo>
                <a:lnTo>
                  <a:pt x="0" y="552377"/>
                </a:lnTo>
                <a:lnTo>
                  <a:pt x="0" y="547687"/>
                </a:lnTo>
                <a:close/>
              </a:path>
            </a:pathLst>
          </a:custGeom>
          <a:ln w="9524">
            <a:solidFill>
              <a:srgbClr val="DAE9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>
            <a:extLst>
              <a:ext uri="{FF2B5EF4-FFF2-40B4-BE49-F238E27FC236}">
                <a16:creationId xmlns:a16="http://schemas.microsoft.com/office/drawing/2014/main" id="{73895A0F-52F3-6BF2-CD7D-262EF41E400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9623" y="4931633"/>
            <a:ext cx="97689" cy="133349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07B60016-1F5B-F328-E5C9-B23DF91ABD86}"/>
              </a:ext>
            </a:extLst>
          </p:cNvPr>
          <p:cNvSpPr txBox="1"/>
          <p:nvPr/>
        </p:nvSpPr>
        <p:spPr>
          <a:xfrm>
            <a:off x="796928" y="1979519"/>
            <a:ext cx="5299071" cy="3321167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612083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공정 시뮬레이션 및 로봇 제어</a:t>
            </a:r>
            <a:endParaRPr sz="1700" dirty="0">
              <a:latin typeface="Malgun Gothic"/>
              <a:cs typeface="Malgun Gothic"/>
            </a:endParaRPr>
          </a:p>
          <a:p>
            <a:pPr marL="307313">
              <a:spcBef>
                <a:spcPts val="2485"/>
              </a:spcBef>
            </a:pPr>
            <a:r>
              <a:rPr sz="1451" b="1" dirty="0">
                <a:solidFill>
                  <a:srgbClr val="374050"/>
                </a:solidFill>
                <a:latin typeface="Arial"/>
                <a:cs typeface="Arial"/>
              </a:rPr>
              <a:t>ROS (Robot Operating System)</a:t>
            </a:r>
            <a:endParaRPr sz="1451" dirty="0">
              <a:latin typeface="Arial"/>
              <a:cs typeface="Arial"/>
            </a:endParaRPr>
          </a:p>
          <a:p>
            <a:pPr marL="307313" marR="15239">
              <a:lnSpc>
                <a:spcPts val="1499"/>
              </a:lnSpc>
              <a:spcBef>
                <a:spcPts val="8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로봇 제어 및 시뮬레이션 분야의 표준으로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다양한 로봇 하드웨어 및 </a:t>
            </a:r>
            <a:r>
              <a:rPr lang="en-US" sz="1149" dirty="0">
                <a:solidFill>
                  <a:srgbClr val="4A5462"/>
                </a:solidFill>
                <a:latin typeface="Malgun Gothic"/>
                <a:cs typeface="Malgun Gothic"/>
              </a:rPr>
              <a:t>       </a:t>
            </a:r>
            <a:r>
              <a:rPr sz="1149" dirty="0" err="1">
                <a:solidFill>
                  <a:srgbClr val="4A5462"/>
                </a:solidFill>
                <a:latin typeface="Malgun Gothic"/>
                <a:cs typeface="Malgun Gothic"/>
              </a:rPr>
              <a:t>소프트웨어와의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 호환성을 보장</a:t>
            </a:r>
            <a:endParaRPr sz="1149" dirty="0">
              <a:latin typeface="Malgun Gothic"/>
              <a:cs typeface="Malgun Gothic"/>
            </a:endParaRPr>
          </a:p>
          <a:p>
            <a:pPr marL="307313">
              <a:spcBef>
                <a:spcPts val="1176"/>
              </a:spcBef>
            </a:pPr>
            <a:r>
              <a:rPr sz="1451" b="1" dirty="0">
                <a:solidFill>
                  <a:srgbClr val="374050"/>
                </a:solidFill>
                <a:latin typeface="Arial"/>
                <a:cs typeface="Arial"/>
              </a:rPr>
              <a:t>Gazebo</a:t>
            </a:r>
            <a:endParaRPr sz="1451" dirty="0">
              <a:latin typeface="Arial"/>
              <a:cs typeface="Arial"/>
            </a:endParaRPr>
          </a:p>
          <a:p>
            <a:pPr marL="307313" marR="5080">
              <a:lnSpc>
                <a:spcPts val="1499"/>
              </a:lnSpc>
              <a:spcBef>
                <a:spcPts val="86"/>
              </a:spcBef>
            </a:pP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ROS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와 긴밀하게 통합된 로봇 시뮬레이터로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공정라인에 </a:t>
            </a:r>
            <a:r>
              <a:rPr sz="1149" dirty="0" err="1">
                <a:solidFill>
                  <a:srgbClr val="4A5462"/>
                </a:solidFill>
                <a:latin typeface="Malgun Gothic"/>
                <a:cs typeface="Malgun Gothic"/>
              </a:rPr>
              <a:t>로봇을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lang="en-US" sz="1149" dirty="0">
                <a:solidFill>
                  <a:srgbClr val="4A5462"/>
                </a:solidFill>
                <a:latin typeface="Malgun Gothic"/>
                <a:cs typeface="Malgun Gothic"/>
              </a:rPr>
              <a:t>             </a:t>
            </a:r>
            <a:r>
              <a:rPr sz="1149" dirty="0" err="1">
                <a:solidFill>
                  <a:srgbClr val="4A5462"/>
                </a:solidFill>
                <a:latin typeface="Malgun Gothic"/>
                <a:cs typeface="Malgun Gothic"/>
              </a:rPr>
              <a:t>도입하기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 전 가상 환 경에서 동작을 시뮬레이션하고 최적화</a:t>
            </a:r>
            <a:endParaRPr sz="1149" dirty="0">
              <a:latin typeface="Malgun Gothic"/>
              <a:cs typeface="Malgun Gothic"/>
            </a:endParaRPr>
          </a:p>
          <a:p>
            <a:pPr marL="307313">
              <a:spcBef>
                <a:spcPts val="1176"/>
              </a:spcBef>
            </a:pPr>
            <a:r>
              <a:rPr sz="1451" b="1" dirty="0">
                <a:solidFill>
                  <a:srgbClr val="374050"/>
                </a:solidFill>
                <a:latin typeface="Arial"/>
                <a:cs typeface="Arial"/>
              </a:rPr>
              <a:t>MuJoCo</a:t>
            </a:r>
            <a:endParaRPr sz="1451" dirty="0">
              <a:latin typeface="Arial"/>
              <a:cs typeface="Arial"/>
            </a:endParaRPr>
          </a:p>
          <a:p>
            <a:pPr marL="307313" marR="53336">
              <a:lnSpc>
                <a:spcPts val="1499"/>
              </a:lnSpc>
              <a:spcBef>
                <a:spcPts val="8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물리적 현상을 정확하게 구현하는 고성능 물리 엔진으로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lang="en-US" sz="1200" dirty="0">
                <a:solidFill>
                  <a:srgbClr val="4A5462"/>
                </a:solidFill>
                <a:latin typeface="Arial"/>
                <a:cs typeface="Arial"/>
              </a:rPr>
              <a:t>                         </a:t>
            </a:r>
            <a:r>
              <a:rPr sz="1149" dirty="0" err="1">
                <a:solidFill>
                  <a:srgbClr val="4A5462"/>
                </a:solidFill>
                <a:latin typeface="Malgun Gothic"/>
                <a:cs typeface="Malgun Gothic"/>
              </a:rPr>
              <a:t>실제</a:t>
            </a:r>
            <a:r>
              <a:rPr lang="en-US" sz="1149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149" dirty="0" err="1">
                <a:solidFill>
                  <a:srgbClr val="4A5462"/>
                </a:solidFill>
                <a:latin typeface="Malgun Gothic"/>
                <a:cs typeface="Malgun Gothic"/>
              </a:rPr>
              <a:t>공정환경을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 교정확하 게 모사하여 시뮬레이션의 신뢰도를 높임</a:t>
            </a:r>
            <a:endParaRPr sz="1149" dirty="0">
              <a:latin typeface="Malgun Gothic"/>
              <a:cs typeface="Malgun Gothic"/>
            </a:endParaRPr>
          </a:p>
          <a:p>
            <a:pPr>
              <a:spcBef>
                <a:spcPts val="201"/>
              </a:spcBef>
            </a:pPr>
            <a:endParaRPr sz="1049" dirty="0">
              <a:latin typeface="Malgun Gothic"/>
              <a:cs typeface="Malgun Gothic"/>
            </a:endParaRPr>
          </a:p>
          <a:p>
            <a:pPr marL="12700" marR="205722" indent="180959">
              <a:lnSpc>
                <a:spcPct val="108700"/>
              </a:lnSpc>
            </a:pPr>
            <a:r>
              <a:rPr sz="1149" dirty="0">
                <a:solidFill>
                  <a:srgbClr val="1C4ED8"/>
                </a:solidFill>
                <a:latin typeface="Malgun Gothic"/>
                <a:cs typeface="Malgun Gothic"/>
              </a:rPr>
              <a:t>이 통합 솔루션은 공정변경이나 신규설비 도입 전 가상환경에서 최적화를 시도하여 대규모 투자에 대한 의사결정 정확도를 높이는 핵심 도구로 기능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486054C-7DB4-E3F7-7D4C-87A30C8C0379}"/>
              </a:ext>
            </a:extLst>
          </p:cNvPr>
          <p:cNvSpPr/>
          <p:nvPr/>
        </p:nvSpPr>
        <p:spPr>
          <a:xfrm>
            <a:off x="6210298" y="1616933"/>
            <a:ext cx="5524500" cy="4095750"/>
          </a:xfrm>
          <a:custGeom>
            <a:avLst/>
            <a:gdLst/>
            <a:ahLst/>
            <a:cxnLst/>
            <a:rect l="l" t="t" r="r" b="b"/>
            <a:pathLst>
              <a:path w="5524500" h="4095750">
                <a:moveTo>
                  <a:pt x="5453303" y="4095749"/>
                </a:moveTo>
                <a:lnTo>
                  <a:pt x="71196" y="4095749"/>
                </a:lnTo>
                <a:lnTo>
                  <a:pt x="66241" y="4095261"/>
                </a:lnTo>
                <a:lnTo>
                  <a:pt x="29705" y="4080127"/>
                </a:lnTo>
                <a:lnTo>
                  <a:pt x="3885" y="4044087"/>
                </a:lnTo>
                <a:lnTo>
                  <a:pt x="0" y="4024552"/>
                </a:lnTo>
                <a:lnTo>
                  <a:pt x="0" y="401954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5453303" y="0"/>
                </a:lnTo>
                <a:lnTo>
                  <a:pt x="5494792" y="15621"/>
                </a:lnTo>
                <a:lnTo>
                  <a:pt x="5520613" y="51661"/>
                </a:lnTo>
                <a:lnTo>
                  <a:pt x="5524500" y="71196"/>
                </a:lnTo>
                <a:lnTo>
                  <a:pt x="5524500" y="4024552"/>
                </a:lnTo>
                <a:lnTo>
                  <a:pt x="5508876" y="4066043"/>
                </a:lnTo>
                <a:lnTo>
                  <a:pt x="5472837" y="4091863"/>
                </a:lnTo>
                <a:lnTo>
                  <a:pt x="5458258" y="4095261"/>
                </a:lnTo>
                <a:lnTo>
                  <a:pt x="5453303" y="4095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4A4CB1D-6426-78E3-502E-9CFC63E5925C}"/>
              </a:ext>
            </a:extLst>
          </p:cNvPr>
          <p:cNvSpPr/>
          <p:nvPr/>
        </p:nvSpPr>
        <p:spPr>
          <a:xfrm>
            <a:off x="6438899" y="1845533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49" y="571499"/>
                </a:moveTo>
                <a:lnTo>
                  <a:pt x="243821" y="568407"/>
                </a:lnTo>
                <a:lnTo>
                  <a:pt x="202801" y="559195"/>
                </a:lnTo>
                <a:lnTo>
                  <a:pt x="163575" y="544065"/>
                </a:lnTo>
                <a:lnTo>
                  <a:pt x="126995" y="523342"/>
                </a:lnTo>
                <a:lnTo>
                  <a:pt x="93851" y="497476"/>
                </a:lnTo>
                <a:lnTo>
                  <a:pt x="64861" y="467027"/>
                </a:lnTo>
                <a:lnTo>
                  <a:pt x="40653" y="432654"/>
                </a:lnTo>
                <a:lnTo>
                  <a:pt x="21750" y="395101"/>
                </a:lnTo>
                <a:lnTo>
                  <a:pt x="8562" y="355181"/>
                </a:lnTo>
                <a:lnTo>
                  <a:pt x="1375" y="313758"/>
                </a:lnTo>
                <a:lnTo>
                  <a:pt x="0" y="285749"/>
                </a:lnTo>
                <a:lnTo>
                  <a:pt x="344" y="271728"/>
                </a:lnTo>
                <a:lnTo>
                  <a:pt x="5489" y="230002"/>
                </a:lnTo>
                <a:lnTo>
                  <a:pt x="16702" y="189483"/>
                </a:lnTo>
                <a:lnTo>
                  <a:pt x="33740" y="151048"/>
                </a:lnTo>
                <a:lnTo>
                  <a:pt x="56232" y="115528"/>
                </a:lnTo>
                <a:lnTo>
                  <a:pt x="83693" y="83694"/>
                </a:lnTo>
                <a:lnTo>
                  <a:pt x="115528" y="56233"/>
                </a:lnTo>
                <a:lnTo>
                  <a:pt x="151048" y="33740"/>
                </a:lnTo>
                <a:lnTo>
                  <a:pt x="189483" y="16703"/>
                </a:lnTo>
                <a:lnTo>
                  <a:pt x="230002" y="5490"/>
                </a:lnTo>
                <a:lnTo>
                  <a:pt x="271729" y="344"/>
                </a:lnTo>
                <a:lnTo>
                  <a:pt x="285749" y="0"/>
                </a:lnTo>
                <a:lnTo>
                  <a:pt x="299771" y="344"/>
                </a:lnTo>
                <a:lnTo>
                  <a:pt x="341496" y="5490"/>
                </a:lnTo>
                <a:lnTo>
                  <a:pt x="382016" y="16703"/>
                </a:lnTo>
                <a:lnTo>
                  <a:pt x="420452" y="33740"/>
                </a:lnTo>
                <a:lnTo>
                  <a:pt x="455971" y="56233"/>
                </a:lnTo>
                <a:lnTo>
                  <a:pt x="487805" y="83694"/>
                </a:lnTo>
                <a:lnTo>
                  <a:pt x="515266" y="115528"/>
                </a:lnTo>
                <a:lnTo>
                  <a:pt x="537758" y="151048"/>
                </a:lnTo>
                <a:lnTo>
                  <a:pt x="554796" y="189483"/>
                </a:lnTo>
                <a:lnTo>
                  <a:pt x="566008" y="230002"/>
                </a:lnTo>
                <a:lnTo>
                  <a:pt x="571155" y="271728"/>
                </a:lnTo>
                <a:lnTo>
                  <a:pt x="571499" y="285749"/>
                </a:lnTo>
                <a:lnTo>
                  <a:pt x="571155" y="299771"/>
                </a:lnTo>
                <a:lnTo>
                  <a:pt x="566008" y="341496"/>
                </a:lnTo>
                <a:lnTo>
                  <a:pt x="554796" y="382016"/>
                </a:lnTo>
                <a:lnTo>
                  <a:pt x="537758" y="420451"/>
                </a:lnTo>
                <a:lnTo>
                  <a:pt x="515266" y="455971"/>
                </a:lnTo>
                <a:lnTo>
                  <a:pt x="487805" y="487805"/>
                </a:lnTo>
                <a:lnTo>
                  <a:pt x="455971" y="515266"/>
                </a:lnTo>
                <a:lnTo>
                  <a:pt x="420452" y="537758"/>
                </a:lnTo>
                <a:lnTo>
                  <a:pt x="382016" y="554796"/>
                </a:lnTo>
                <a:lnTo>
                  <a:pt x="341496" y="566009"/>
                </a:lnTo>
                <a:lnTo>
                  <a:pt x="299771" y="571156"/>
                </a:lnTo>
                <a:lnTo>
                  <a:pt x="285749" y="571499"/>
                </a:lnTo>
                <a:close/>
              </a:path>
            </a:pathLst>
          </a:custGeom>
          <a:solidFill>
            <a:srgbClr val="DBFB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>
            <a:extLst>
              <a:ext uri="{FF2B5EF4-FFF2-40B4-BE49-F238E27FC236}">
                <a16:creationId xmlns:a16="http://schemas.microsoft.com/office/drawing/2014/main" id="{335A630F-8687-D57D-AE33-7C5820744FD6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10349" y="1978883"/>
            <a:ext cx="228599" cy="304799"/>
          </a:xfrm>
          <a:prstGeom prst="rect">
            <a:avLst/>
          </a:prstGeom>
        </p:spPr>
      </p:pic>
      <p:sp>
        <p:nvSpPr>
          <p:cNvPr id="24" name="object 24">
            <a:extLst>
              <a:ext uri="{FF2B5EF4-FFF2-40B4-BE49-F238E27FC236}">
                <a16:creationId xmlns:a16="http://schemas.microsoft.com/office/drawing/2014/main" id="{37E08F81-71BE-37C0-2A0A-9573E39DB9C9}"/>
              </a:ext>
            </a:extLst>
          </p:cNvPr>
          <p:cNvSpPr/>
          <p:nvPr/>
        </p:nvSpPr>
        <p:spPr>
          <a:xfrm>
            <a:off x="6438899" y="256943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9"/>
                </a:lnTo>
                <a:lnTo>
                  <a:pt x="67730" y="279115"/>
                </a:lnTo>
                <a:lnTo>
                  <a:pt x="34590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5"/>
                </a:lnTo>
                <a:lnTo>
                  <a:pt x="29994" y="61607"/>
                </a:lnTo>
                <a:lnTo>
                  <a:pt x="61606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2" y="8904"/>
                </a:lnTo>
                <a:lnTo>
                  <a:pt x="243191" y="29995"/>
                </a:lnTo>
                <a:lnTo>
                  <a:pt x="274803" y="61607"/>
                </a:lnTo>
                <a:lnTo>
                  <a:pt x="295894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1" y="274804"/>
                </a:lnTo>
                <a:lnTo>
                  <a:pt x="203732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FFE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>
            <a:extLst>
              <a:ext uri="{FF2B5EF4-FFF2-40B4-BE49-F238E27FC236}">
                <a16:creationId xmlns:a16="http://schemas.microsoft.com/office/drawing/2014/main" id="{372399AD-CA32-A9CB-300A-B41F2687252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96049" y="2645633"/>
            <a:ext cx="190499" cy="152399"/>
          </a:xfrm>
          <a:prstGeom prst="rect">
            <a:avLst/>
          </a:prstGeom>
        </p:spPr>
      </p:pic>
      <p:sp>
        <p:nvSpPr>
          <p:cNvPr id="26" name="object 26">
            <a:extLst>
              <a:ext uri="{FF2B5EF4-FFF2-40B4-BE49-F238E27FC236}">
                <a16:creationId xmlns:a16="http://schemas.microsoft.com/office/drawing/2014/main" id="{04A8D675-B0DC-7491-4BDD-F5A7C5CAA176}"/>
              </a:ext>
            </a:extLst>
          </p:cNvPr>
          <p:cNvSpPr/>
          <p:nvPr/>
        </p:nvSpPr>
        <p:spPr>
          <a:xfrm>
            <a:off x="6438899" y="333143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5"/>
                </a:lnTo>
                <a:lnTo>
                  <a:pt x="34590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5"/>
                </a:lnTo>
                <a:lnTo>
                  <a:pt x="29994" y="61607"/>
                </a:lnTo>
                <a:lnTo>
                  <a:pt x="61606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2" y="8904"/>
                </a:lnTo>
                <a:lnTo>
                  <a:pt x="243191" y="29995"/>
                </a:lnTo>
                <a:lnTo>
                  <a:pt x="274803" y="61607"/>
                </a:lnTo>
                <a:lnTo>
                  <a:pt x="295894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1"/>
                </a:lnTo>
                <a:lnTo>
                  <a:pt x="243191" y="274803"/>
                </a:lnTo>
                <a:lnTo>
                  <a:pt x="203732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FFE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>
            <a:extLst>
              <a:ext uri="{FF2B5EF4-FFF2-40B4-BE49-F238E27FC236}">
                <a16:creationId xmlns:a16="http://schemas.microsoft.com/office/drawing/2014/main" id="{3D77741F-FF85-A480-C41F-BA472FC18C6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15099" y="3407633"/>
            <a:ext cx="152399" cy="152399"/>
          </a:xfrm>
          <a:prstGeom prst="rect">
            <a:avLst/>
          </a:prstGeom>
        </p:spPr>
      </p:pic>
      <p:sp>
        <p:nvSpPr>
          <p:cNvPr id="28" name="object 28">
            <a:extLst>
              <a:ext uri="{FF2B5EF4-FFF2-40B4-BE49-F238E27FC236}">
                <a16:creationId xmlns:a16="http://schemas.microsoft.com/office/drawing/2014/main" id="{19AC6A4E-51D7-69A4-2A5E-9EC4A4D3104B}"/>
              </a:ext>
            </a:extLst>
          </p:cNvPr>
          <p:cNvSpPr/>
          <p:nvPr/>
        </p:nvSpPr>
        <p:spPr>
          <a:xfrm>
            <a:off x="6438899" y="428393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9"/>
                </a:lnTo>
                <a:lnTo>
                  <a:pt x="67730" y="279115"/>
                </a:lnTo>
                <a:lnTo>
                  <a:pt x="34590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6"/>
                </a:lnTo>
                <a:lnTo>
                  <a:pt x="29994" y="61607"/>
                </a:lnTo>
                <a:lnTo>
                  <a:pt x="61606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2" y="8904"/>
                </a:lnTo>
                <a:lnTo>
                  <a:pt x="243191" y="29995"/>
                </a:lnTo>
                <a:lnTo>
                  <a:pt x="274803" y="61607"/>
                </a:lnTo>
                <a:lnTo>
                  <a:pt x="295894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1" y="274803"/>
                </a:lnTo>
                <a:lnTo>
                  <a:pt x="203732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FFE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>
            <a:extLst>
              <a:ext uri="{FF2B5EF4-FFF2-40B4-BE49-F238E27FC236}">
                <a16:creationId xmlns:a16="http://schemas.microsoft.com/office/drawing/2014/main" id="{20B19071-583A-5870-EAB0-AF8E02EFCC47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24624" y="4341083"/>
            <a:ext cx="133349" cy="152399"/>
          </a:xfrm>
          <a:prstGeom prst="rect">
            <a:avLst/>
          </a:prstGeom>
        </p:spPr>
      </p:pic>
      <p:sp>
        <p:nvSpPr>
          <p:cNvPr id="30" name="object 30">
            <a:extLst>
              <a:ext uri="{FF2B5EF4-FFF2-40B4-BE49-F238E27FC236}">
                <a16:creationId xmlns:a16="http://schemas.microsoft.com/office/drawing/2014/main" id="{51F27EC7-EC61-0BCE-9025-AE5FF9911056}"/>
              </a:ext>
            </a:extLst>
          </p:cNvPr>
          <p:cNvSpPr/>
          <p:nvPr/>
        </p:nvSpPr>
        <p:spPr>
          <a:xfrm>
            <a:off x="6443661" y="4860196"/>
            <a:ext cx="5057775" cy="619125"/>
          </a:xfrm>
          <a:custGeom>
            <a:avLst/>
            <a:gdLst/>
            <a:ahLst/>
            <a:cxnLst/>
            <a:rect l="l" t="t" r="r" b="b"/>
            <a:pathLst>
              <a:path w="5057775" h="619125">
                <a:moveTo>
                  <a:pt x="4991026" y="619124"/>
                </a:moveTo>
                <a:lnTo>
                  <a:pt x="66746" y="619124"/>
                </a:lnTo>
                <a:lnTo>
                  <a:pt x="62100" y="618666"/>
                </a:lnTo>
                <a:lnTo>
                  <a:pt x="24239" y="601517"/>
                </a:lnTo>
                <a:lnTo>
                  <a:pt x="2287" y="566224"/>
                </a:lnTo>
                <a:lnTo>
                  <a:pt x="0" y="552377"/>
                </a:lnTo>
                <a:lnTo>
                  <a:pt x="0" y="547687"/>
                </a:lnTo>
                <a:lnTo>
                  <a:pt x="0" y="66746"/>
                </a:lnTo>
                <a:lnTo>
                  <a:pt x="14644" y="27848"/>
                </a:lnTo>
                <a:lnTo>
                  <a:pt x="48432" y="3642"/>
                </a:lnTo>
                <a:lnTo>
                  <a:pt x="66746" y="0"/>
                </a:lnTo>
                <a:lnTo>
                  <a:pt x="4991026" y="0"/>
                </a:lnTo>
                <a:lnTo>
                  <a:pt x="5029925" y="14645"/>
                </a:lnTo>
                <a:lnTo>
                  <a:pt x="5054130" y="48432"/>
                </a:lnTo>
                <a:lnTo>
                  <a:pt x="5057773" y="66746"/>
                </a:lnTo>
                <a:lnTo>
                  <a:pt x="5057773" y="552377"/>
                </a:lnTo>
                <a:lnTo>
                  <a:pt x="5043128" y="591275"/>
                </a:lnTo>
                <a:lnTo>
                  <a:pt x="5009340" y="615481"/>
                </a:lnTo>
                <a:lnTo>
                  <a:pt x="4995671" y="618666"/>
                </a:lnTo>
                <a:lnTo>
                  <a:pt x="4991026" y="619124"/>
                </a:lnTo>
                <a:close/>
              </a:path>
            </a:pathLst>
          </a:custGeom>
          <a:solidFill>
            <a:srgbClr val="F0F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F7C36A00-F8A6-8666-6969-828561118A34}"/>
              </a:ext>
            </a:extLst>
          </p:cNvPr>
          <p:cNvSpPr/>
          <p:nvPr/>
        </p:nvSpPr>
        <p:spPr>
          <a:xfrm>
            <a:off x="6443661" y="4860196"/>
            <a:ext cx="5057775" cy="619125"/>
          </a:xfrm>
          <a:custGeom>
            <a:avLst/>
            <a:gdLst/>
            <a:ahLst/>
            <a:cxnLst/>
            <a:rect l="l" t="t" r="r" b="b"/>
            <a:pathLst>
              <a:path w="5057775" h="619125">
                <a:moveTo>
                  <a:pt x="0" y="54768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7605" y="24239"/>
                </a:lnTo>
                <a:lnTo>
                  <a:pt x="20922" y="20923"/>
                </a:lnTo>
                <a:lnTo>
                  <a:pt x="24239" y="17606"/>
                </a:lnTo>
                <a:lnTo>
                  <a:pt x="27847" y="14645"/>
                </a:lnTo>
                <a:lnTo>
                  <a:pt x="31748" y="12039"/>
                </a:lnTo>
                <a:lnTo>
                  <a:pt x="35648" y="9433"/>
                </a:lnTo>
                <a:lnTo>
                  <a:pt x="66746" y="0"/>
                </a:lnTo>
                <a:lnTo>
                  <a:pt x="71437" y="0"/>
                </a:lnTo>
                <a:lnTo>
                  <a:pt x="4986337" y="0"/>
                </a:lnTo>
                <a:lnTo>
                  <a:pt x="4991026" y="0"/>
                </a:lnTo>
                <a:lnTo>
                  <a:pt x="4995671" y="457"/>
                </a:lnTo>
                <a:lnTo>
                  <a:pt x="5026024" y="12039"/>
                </a:lnTo>
                <a:lnTo>
                  <a:pt x="5029925" y="14645"/>
                </a:lnTo>
                <a:lnTo>
                  <a:pt x="5054130" y="48432"/>
                </a:lnTo>
                <a:lnTo>
                  <a:pt x="5056401" y="57500"/>
                </a:lnTo>
                <a:lnTo>
                  <a:pt x="5057316" y="62101"/>
                </a:lnTo>
                <a:lnTo>
                  <a:pt x="5057773" y="66746"/>
                </a:lnTo>
                <a:lnTo>
                  <a:pt x="5057774" y="71437"/>
                </a:lnTo>
                <a:lnTo>
                  <a:pt x="5057774" y="547687"/>
                </a:lnTo>
                <a:lnTo>
                  <a:pt x="5057773" y="552377"/>
                </a:lnTo>
                <a:lnTo>
                  <a:pt x="5057316" y="557023"/>
                </a:lnTo>
                <a:lnTo>
                  <a:pt x="5056401" y="561623"/>
                </a:lnTo>
                <a:lnTo>
                  <a:pt x="5055486" y="566224"/>
                </a:lnTo>
                <a:lnTo>
                  <a:pt x="5045734" y="587375"/>
                </a:lnTo>
                <a:lnTo>
                  <a:pt x="5043128" y="591275"/>
                </a:lnTo>
                <a:lnTo>
                  <a:pt x="5013673" y="613686"/>
                </a:lnTo>
                <a:lnTo>
                  <a:pt x="5009340" y="615481"/>
                </a:lnTo>
                <a:lnTo>
                  <a:pt x="5004873" y="616836"/>
                </a:lnTo>
                <a:lnTo>
                  <a:pt x="5000272" y="617751"/>
                </a:lnTo>
                <a:lnTo>
                  <a:pt x="4995671" y="618666"/>
                </a:lnTo>
                <a:lnTo>
                  <a:pt x="4991026" y="619124"/>
                </a:lnTo>
                <a:lnTo>
                  <a:pt x="4986337" y="619124"/>
                </a:lnTo>
                <a:lnTo>
                  <a:pt x="71437" y="619124"/>
                </a:lnTo>
                <a:lnTo>
                  <a:pt x="44098" y="613686"/>
                </a:lnTo>
                <a:lnTo>
                  <a:pt x="39764" y="611891"/>
                </a:lnTo>
                <a:lnTo>
                  <a:pt x="20922" y="598201"/>
                </a:lnTo>
                <a:lnTo>
                  <a:pt x="17605" y="594884"/>
                </a:lnTo>
                <a:lnTo>
                  <a:pt x="457" y="557023"/>
                </a:lnTo>
                <a:lnTo>
                  <a:pt x="0" y="552377"/>
                </a:lnTo>
                <a:lnTo>
                  <a:pt x="0" y="547687"/>
                </a:lnTo>
                <a:close/>
              </a:path>
            </a:pathLst>
          </a:custGeom>
          <a:ln w="9524">
            <a:solidFill>
              <a:srgbClr val="DBFB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>
            <a:extLst>
              <a:ext uri="{FF2B5EF4-FFF2-40B4-BE49-F238E27FC236}">
                <a16:creationId xmlns:a16="http://schemas.microsoft.com/office/drawing/2014/main" id="{8AF64DCB-0757-7175-F023-8A794F02E7D7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62724" y="5084033"/>
            <a:ext cx="95249" cy="133349"/>
          </a:xfrm>
          <a:prstGeom prst="rect">
            <a:avLst/>
          </a:prstGeom>
        </p:spPr>
      </p:pic>
      <p:sp>
        <p:nvSpPr>
          <p:cNvPr id="33" name="object 33">
            <a:extLst>
              <a:ext uri="{FF2B5EF4-FFF2-40B4-BE49-F238E27FC236}">
                <a16:creationId xmlns:a16="http://schemas.microsoft.com/office/drawing/2014/main" id="{E45CC782-9848-3B90-F7CC-77C53766C5B7}"/>
              </a:ext>
            </a:extLst>
          </p:cNvPr>
          <p:cNvSpPr txBox="1"/>
          <p:nvPr/>
        </p:nvSpPr>
        <p:spPr>
          <a:xfrm>
            <a:off x="6550034" y="2007401"/>
            <a:ext cx="5180002" cy="3320525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612083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실시간 데이터 파이프라인 구축</a:t>
            </a:r>
            <a:endParaRPr sz="1700" dirty="0">
              <a:latin typeface="Malgun Gothic"/>
              <a:cs typeface="Malgun Gothic"/>
            </a:endParaRPr>
          </a:p>
          <a:p>
            <a:pPr marL="307313">
              <a:spcBef>
                <a:spcPts val="2485"/>
              </a:spcBef>
            </a:pPr>
            <a:r>
              <a:rPr sz="1451" b="1" dirty="0">
                <a:solidFill>
                  <a:srgbClr val="374050"/>
                </a:solidFill>
                <a:latin typeface="Arial"/>
                <a:cs typeface="Arial"/>
              </a:rPr>
              <a:t>MQTT Broker</a:t>
            </a:r>
            <a:endParaRPr sz="1451" dirty="0">
              <a:latin typeface="Arial"/>
              <a:cs typeface="Arial"/>
            </a:endParaRPr>
          </a:p>
          <a:p>
            <a:pPr marL="307313" marR="139052">
              <a:lnSpc>
                <a:spcPts val="1499"/>
              </a:lnSpc>
              <a:spcBef>
                <a:spcPts val="8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디지털 트윈의 핵심 인프라로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물리적 공장과 가상 모델간의 양방향 데이터 흐름을 가능하게 함</a:t>
            </a:r>
            <a:endParaRPr sz="1149" dirty="0">
              <a:latin typeface="Malgun Gothic"/>
              <a:cs typeface="Malgun Gothic"/>
            </a:endParaRPr>
          </a:p>
          <a:p>
            <a:pPr marL="307313">
              <a:spcBef>
                <a:spcPts val="1176"/>
              </a:spcBef>
            </a:pPr>
            <a:r>
              <a:rPr sz="1451" b="1" dirty="0">
                <a:solidFill>
                  <a:srgbClr val="374050"/>
                </a:solidFill>
                <a:latin typeface="Arial"/>
                <a:cs typeface="Arial"/>
              </a:rPr>
              <a:t>Apache Kafka</a:t>
            </a:r>
            <a:endParaRPr sz="1451" dirty="0">
              <a:latin typeface="Arial"/>
              <a:cs typeface="Arial"/>
            </a:endParaRPr>
          </a:p>
          <a:p>
            <a:pPr marL="307313" marR="139052">
              <a:lnSpc>
                <a:spcPts val="1499"/>
              </a:lnSpc>
              <a:spcBef>
                <a:spcPts val="8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공정 설비의 실시간 상태 데이터를 가상 모델에 반영하고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시뮬레이션 결과를 다시 물리적 세계로 전달하는 양방향 데이터 흐름의 핵심 인프라</a:t>
            </a:r>
            <a:endParaRPr sz="1149" dirty="0">
              <a:latin typeface="Malgun Gothic"/>
              <a:cs typeface="Malgun Gothic"/>
            </a:endParaRPr>
          </a:p>
          <a:p>
            <a:pPr marL="307313">
              <a:spcBef>
                <a:spcPts val="1176"/>
              </a:spcBef>
            </a:pPr>
            <a:r>
              <a:rPr sz="1451" b="1" dirty="0">
                <a:solidFill>
                  <a:srgbClr val="374050"/>
                </a:solidFill>
                <a:latin typeface="Arial"/>
                <a:cs typeface="Arial"/>
              </a:rPr>
              <a:t>InfluxDB / TimescaleDB</a:t>
            </a:r>
            <a:endParaRPr sz="1451" dirty="0">
              <a:latin typeface="Arial"/>
              <a:cs typeface="Arial"/>
            </a:endParaRPr>
          </a:p>
          <a:p>
            <a:pPr marL="307313" marR="5080">
              <a:lnSpc>
                <a:spcPct val="104200"/>
              </a:lnSpc>
              <a:spcBef>
                <a:spcPts val="24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대규모 시계열 데이터 저장소로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, IoT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센서 데이터의 안정적인 처리 및 분산 확장을 위 해 </a:t>
            </a:r>
            <a:r>
              <a:rPr sz="1200" dirty="0">
                <a:solidFill>
                  <a:srgbClr val="4A5462"/>
                </a:solidFill>
                <a:latin typeface="Arial"/>
                <a:cs typeface="Arial"/>
              </a:rPr>
              <a:t>Apache Kafka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기반 데이터 파이프라인과 함께 사용</a:t>
            </a:r>
            <a:endParaRPr sz="1149" dirty="0">
              <a:latin typeface="Malgun Gothic"/>
              <a:cs typeface="Malgun Gothic"/>
            </a:endParaRPr>
          </a:p>
          <a:p>
            <a:pPr>
              <a:spcBef>
                <a:spcPts val="260"/>
              </a:spcBef>
            </a:pPr>
            <a:endParaRPr sz="1049" dirty="0">
              <a:latin typeface="Malgun Gothic"/>
              <a:cs typeface="Malgun Gothic"/>
            </a:endParaRPr>
          </a:p>
          <a:p>
            <a:pPr marL="12700" marR="205722" indent="180959">
              <a:lnSpc>
                <a:spcPct val="108700"/>
              </a:lnSpc>
            </a:pPr>
            <a:r>
              <a:rPr sz="1149" dirty="0">
                <a:solidFill>
                  <a:srgbClr val="15803C"/>
                </a:solidFill>
                <a:latin typeface="Malgun Gothic"/>
                <a:cs typeface="Malgun Gothic"/>
              </a:rPr>
              <a:t>디지털 트윈은 물리적 공장과 실시간으로 데이터를 주고받아야만 그 가치를 발휘할 수 있음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42" name="object 42">
            <a:extLst>
              <a:ext uri="{FF2B5EF4-FFF2-40B4-BE49-F238E27FC236}">
                <a16:creationId xmlns:a16="http://schemas.microsoft.com/office/drawing/2014/main" id="{24518439-D1D2-031E-04C8-BB487B8883E2}"/>
              </a:ext>
            </a:extLst>
          </p:cNvPr>
          <p:cNvGrpSpPr/>
          <p:nvPr/>
        </p:nvGrpSpPr>
        <p:grpSpPr>
          <a:xfrm>
            <a:off x="457200" y="6084885"/>
            <a:ext cx="11309350" cy="215900"/>
            <a:chOff x="457200" y="5454836"/>
            <a:chExt cx="11309350" cy="215900"/>
          </a:xfrm>
        </p:grpSpPr>
        <p:pic>
          <p:nvPicPr>
            <p:cNvPr id="43" name="object 43">
              <a:extLst>
                <a:ext uri="{FF2B5EF4-FFF2-40B4-BE49-F238E27FC236}">
                  <a16:creationId xmlns:a16="http://schemas.microsoft.com/office/drawing/2014/main" id="{7EFF9605-14C5-D120-C10E-4E54C599664D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7200" y="5543549"/>
              <a:ext cx="11277599" cy="38099"/>
            </a:xfrm>
            <a:prstGeom prst="rect">
              <a:avLst/>
            </a:prstGeom>
          </p:spPr>
        </p:pic>
        <p:pic>
          <p:nvPicPr>
            <p:cNvPr id="44" name="object 44">
              <a:extLst>
                <a:ext uri="{FF2B5EF4-FFF2-40B4-BE49-F238E27FC236}">
                  <a16:creationId xmlns:a16="http://schemas.microsoft.com/office/drawing/2014/main" id="{AB075133-DE1D-D71C-D16F-3FA04E0088C8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31659" y="5454836"/>
              <a:ext cx="134703" cy="215526"/>
            </a:xfrm>
            <a:prstGeom prst="rect">
              <a:avLst/>
            </a:prstGeom>
          </p:spPr>
        </p:pic>
      </p:grpSp>
      <p:pic>
        <p:nvPicPr>
          <p:cNvPr id="45" name="object 26">
            <a:extLst>
              <a:ext uri="{FF2B5EF4-FFF2-40B4-BE49-F238E27FC236}">
                <a16:creationId xmlns:a16="http://schemas.microsoft.com/office/drawing/2014/main" id="{680F6BA2-C3DA-F405-4CD2-2FE7F472F5A4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0857" y="815539"/>
            <a:ext cx="11429999" cy="38099"/>
          </a:xfrm>
          <a:prstGeom prst="rect">
            <a:avLst/>
          </a:prstGeom>
        </p:spPr>
      </p:pic>
      <p:pic>
        <p:nvPicPr>
          <p:cNvPr id="34" name="object 34">
            <a:extLst>
              <a:ext uri="{FF2B5EF4-FFF2-40B4-BE49-F238E27FC236}">
                <a16:creationId xmlns:a16="http://schemas.microsoft.com/office/drawing/2014/main" id="{8AAA04B2-F165-36DB-8796-3968F27EC824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61999" y="6019799"/>
            <a:ext cx="257174" cy="304799"/>
          </a:xfrm>
          <a:prstGeom prst="rect">
            <a:avLst/>
          </a:prstGeom>
        </p:spPr>
      </p:pic>
      <p:sp>
        <p:nvSpPr>
          <p:cNvPr id="35" name="object 35">
            <a:extLst>
              <a:ext uri="{FF2B5EF4-FFF2-40B4-BE49-F238E27FC236}">
                <a16:creationId xmlns:a16="http://schemas.microsoft.com/office/drawing/2014/main" id="{64D2FFB1-8F38-570F-AF5C-124B6FC4F651}"/>
              </a:ext>
            </a:extLst>
          </p:cNvPr>
          <p:cNvSpPr txBox="1"/>
          <p:nvPr/>
        </p:nvSpPr>
        <p:spPr>
          <a:xfrm>
            <a:off x="596899" y="6344666"/>
            <a:ext cx="1042330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물리적 공장</a:t>
            </a:r>
            <a:endParaRPr sz="1001" dirty="0">
              <a:latin typeface="Malgun Gothic"/>
              <a:cs typeface="Malgun Gothic"/>
            </a:endParaRPr>
          </a:p>
        </p:txBody>
      </p:sp>
      <p:pic>
        <p:nvPicPr>
          <p:cNvPr id="36" name="object 36">
            <a:extLst>
              <a:ext uri="{FF2B5EF4-FFF2-40B4-BE49-F238E27FC236}">
                <a16:creationId xmlns:a16="http://schemas.microsoft.com/office/drawing/2014/main" id="{90D71C3A-5286-7E8E-C68D-C5048A7995FC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95775" y="6019799"/>
            <a:ext cx="228599" cy="304799"/>
          </a:xfrm>
          <a:prstGeom prst="rect">
            <a:avLst/>
          </a:prstGeom>
        </p:spPr>
      </p:pic>
      <p:sp>
        <p:nvSpPr>
          <p:cNvPr id="37" name="object 37">
            <a:extLst>
              <a:ext uri="{FF2B5EF4-FFF2-40B4-BE49-F238E27FC236}">
                <a16:creationId xmlns:a16="http://schemas.microsoft.com/office/drawing/2014/main" id="{35EC0BA0-7FF1-329F-BF93-D22AF403296D}"/>
              </a:ext>
            </a:extLst>
          </p:cNvPr>
          <p:cNvSpPr txBox="1"/>
          <p:nvPr/>
        </p:nvSpPr>
        <p:spPr>
          <a:xfrm>
            <a:off x="4175025" y="6344666"/>
            <a:ext cx="1227741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가상 모델</a:t>
            </a:r>
            <a:endParaRPr sz="1001" dirty="0">
              <a:latin typeface="Malgun Gothic"/>
              <a:cs typeface="Malgun Gothic"/>
            </a:endParaRPr>
          </a:p>
        </p:txBody>
      </p:sp>
      <p:pic>
        <p:nvPicPr>
          <p:cNvPr id="38" name="object 38">
            <a:extLst>
              <a:ext uri="{FF2B5EF4-FFF2-40B4-BE49-F238E27FC236}">
                <a16:creationId xmlns:a16="http://schemas.microsoft.com/office/drawing/2014/main" id="{2686ECFC-94C8-60BC-B35D-CD3A8B4DEFEC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772400" y="6019799"/>
            <a:ext cx="228599" cy="304799"/>
          </a:xfrm>
          <a:prstGeom prst="rect">
            <a:avLst/>
          </a:prstGeom>
        </p:spPr>
      </p:pic>
      <p:sp>
        <p:nvSpPr>
          <p:cNvPr id="39" name="object 39">
            <a:extLst>
              <a:ext uri="{FF2B5EF4-FFF2-40B4-BE49-F238E27FC236}">
                <a16:creationId xmlns:a16="http://schemas.microsoft.com/office/drawing/2014/main" id="{F891322D-922E-1F46-C052-777D50FFF8FA}"/>
              </a:ext>
            </a:extLst>
          </p:cNvPr>
          <p:cNvSpPr txBox="1"/>
          <p:nvPr/>
        </p:nvSpPr>
        <p:spPr>
          <a:xfrm>
            <a:off x="7648376" y="6344666"/>
            <a:ext cx="887883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분석 결과</a:t>
            </a:r>
            <a:endParaRPr sz="1001" dirty="0">
              <a:latin typeface="Malgun Gothic"/>
              <a:cs typeface="Malgun Gothic"/>
            </a:endParaRPr>
          </a:p>
        </p:txBody>
      </p:sp>
      <p:pic>
        <p:nvPicPr>
          <p:cNvPr id="40" name="object 40">
            <a:extLst>
              <a:ext uri="{FF2B5EF4-FFF2-40B4-BE49-F238E27FC236}">
                <a16:creationId xmlns:a16="http://schemas.microsoft.com/office/drawing/2014/main" id="{D92C98E0-9AE6-D905-24DE-0E0776DB31A5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239499" y="6019799"/>
            <a:ext cx="228599" cy="304799"/>
          </a:xfrm>
          <a:prstGeom prst="rect">
            <a:avLst/>
          </a:prstGeom>
        </p:spPr>
      </p:pic>
      <p:sp>
        <p:nvSpPr>
          <p:cNvPr id="41" name="object 41">
            <a:extLst>
              <a:ext uri="{FF2B5EF4-FFF2-40B4-BE49-F238E27FC236}">
                <a16:creationId xmlns:a16="http://schemas.microsoft.com/office/drawing/2014/main" id="{BFA572AD-86CA-B47D-4BB8-925EABC0528F}"/>
              </a:ext>
            </a:extLst>
          </p:cNvPr>
          <p:cNvSpPr txBox="1"/>
          <p:nvPr/>
        </p:nvSpPr>
        <p:spPr>
          <a:xfrm>
            <a:off x="11121726" y="6344665"/>
            <a:ext cx="843533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자동 조정</a:t>
            </a:r>
            <a:endParaRPr sz="1001" dirty="0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45773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929EEB-EA41-8D49-C3FC-A44725466013}"/>
              </a:ext>
            </a:extLst>
          </p:cNvPr>
          <p:cNvSpPr/>
          <p:nvPr/>
        </p:nvSpPr>
        <p:spPr>
          <a:xfrm>
            <a:off x="-1" y="0"/>
            <a:ext cx="12192001" cy="7353300"/>
          </a:xfrm>
          <a:custGeom>
            <a:avLst/>
            <a:gdLst/>
            <a:ahLst/>
            <a:cxnLst/>
            <a:rect l="l" t="t" r="r" b="b"/>
            <a:pathLst>
              <a:path w="12192000" h="7353300">
                <a:moveTo>
                  <a:pt x="12191999" y="7353299"/>
                </a:moveTo>
                <a:lnTo>
                  <a:pt x="0" y="7353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3532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3F3B99E-2BEF-51AC-A51B-004C0EAE055D}"/>
              </a:ext>
            </a:extLst>
          </p:cNvPr>
          <p:cNvSpPr txBox="1">
            <a:spLocks/>
          </p:cNvSpPr>
          <p:nvPr/>
        </p:nvSpPr>
        <p:spPr>
          <a:xfrm>
            <a:off x="380999" y="369746"/>
            <a:ext cx="5974191" cy="44242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dirty="0"/>
              <a:t>인력 구성 및 투입 계획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2D0FA38-509A-6D0C-F592-D61A9574FB2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076328"/>
            <a:ext cx="219074" cy="190499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08D4C381-686E-5BDB-DD1D-023AE2253AB4}"/>
              </a:ext>
            </a:extLst>
          </p:cNvPr>
          <p:cNvSpPr txBox="1"/>
          <p:nvPr/>
        </p:nvSpPr>
        <p:spPr>
          <a:xfrm>
            <a:off x="720724" y="1010290"/>
            <a:ext cx="2758455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프로젝트 조직 구성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81D3988D-DBD8-67FF-0CAF-556AC7399C7E}"/>
              </a:ext>
            </a:extLst>
          </p:cNvPr>
          <p:cNvGrpSpPr/>
          <p:nvPr/>
        </p:nvGrpSpPr>
        <p:grpSpPr>
          <a:xfrm>
            <a:off x="381004" y="1409701"/>
            <a:ext cx="1381126" cy="1447800"/>
            <a:chOff x="380999" y="1409699"/>
            <a:chExt cx="1381125" cy="144780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1C2F24BE-1030-E38B-8216-5E2B4CF59D6C}"/>
                </a:ext>
              </a:extLst>
            </p:cNvPr>
            <p:cNvSpPr/>
            <p:nvPr/>
          </p:nvSpPr>
          <p:spPr>
            <a:xfrm>
              <a:off x="380999" y="1409699"/>
              <a:ext cx="1381125" cy="1447800"/>
            </a:xfrm>
            <a:custGeom>
              <a:avLst/>
              <a:gdLst/>
              <a:ahLst/>
              <a:cxnLst/>
              <a:rect l="l" t="t" r="r" b="b"/>
              <a:pathLst>
                <a:path w="1381125" h="1447800">
                  <a:moveTo>
                    <a:pt x="1309928" y="1447799"/>
                  </a:moveTo>
                  <a:lnTo>
                    <a:pt x="71196" y="1447799"/>
                  </a:lnTo>
                  <a:lnTo>
                    <a:pt x="66241" y="1447311"/>
                  </a:lnTo>
                  <a:lnTo>
                    <a:pt x="29705" y="1432177"/>
                  </a:lnTo>
                  <a:lnTo>
                    <a:pt x="3885" y="1396137"/>
                  </a:lnTo>
                  <a:lnTo>
                    <a:pt x="0" y="1376603"/>
                  </a:lnTo>
                  <a:lnTo>
                    <a:pt x="0" y="1371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309928" y="0"/>
                  </a:lnTo>
                  <a:lnTo>
                    <a:pt x="1351419" y="15621"/>
                  </a:lnTo>
                  <a:lnTo>
                    <a:pt x="1377239" y="51661"/>
                  </a:lnTo>
                  <a:lnTo>
                    <a:pt x="1381124" y="71196"/>
                  </a:lnTo>
                  <a:lnTo>
                    <a:pt x="1381124" y="1376603"/>
                  </a:lnTo>
                  <a:lnTo>
                    <a:pt x="1365503" y="1418094"/>
                  </a:lnTo>
                  <a:lnTo>
                    <a:pt x="1329462" y="1443913"/>
                  </a:lnTo>
                  <a:lnTo>
                    <a:pt x="1314883" y="1447311"/>
                  </a:lnTo>
                  <a:lnTo>
                    <a:pt x="1309928" y="1447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6E672C4D-88E4-E52E-CC2D-FC879B960FEB}"/>
                </a:ext>
              </a:extLst>
            </p:cNvPr>
            <p:cNvSpPr/>
            <p:nvPr/>
          </p:nvSpPr>
          <p:spPr>
            <a:xfrm>
              <a:off x="847725" y="1523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6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1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2" y="176659"/>
                  </a:lnTo>
                  <a:lnTo>
                    <a:pt x="20266" y="134201"/>
                  </a:lnTo>
                  <a:lnTo>
                    <a:pt x="42685" y="95371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2"/>
                  </a:lnTo>
                  <a:lnTo>
                    <a:pt x="322998" y="20265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7" y="191345"/>
                  </a:lnTo>
                  <a:lnTo>
                    <a:pt x="457199" y="228599"/>
                  </a:lnTo>
                  <a:lnTo>
                    <a:pt x="457199" y="236086"/>
                  </a:lnTo>
                  <a:lnTo>
                    <a:pt x="451346" y="280540"/>
                  </a:lnTo>
                  <a:lnTo>
                    <a:pt x="436933" y="322998"/>
                  </a:lnTo>
                  <a:lnTo>
                    <a:pt x="414514" y="361828"/>
                  </a:lnTo>
                  <a:lnTo>
                    <a:pt x="384950" y="395538"/>
                  </a:lnTo>
                  <a:lnTo>
                    <a:pt x="349377" y="422833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6353C822-6CA8-3B2E-7ED3-A8BF7F1EE48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9649" y="1676399"/>
              <a:ext cx="133349" cy="152399"/>
            </a:xfrm>
            <a:prstGeom prst="rect">
              <a:avLst/>
            </a:prstGeom>
          </p:spPr>
        </p:pic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666FAD25-C4E1-DBAE-F6A8-BD01DA4CB514}"/>
              </a:ext>
            </a:extLst>
          </p:cNvPr>
          <p:cNvSpPr txBox="1"/>
          <p:nvPr/>
        </p:nvSpPr>
        <p:spPr>
          <a:xfrm>
            <a:off x="803477" y="2039435"/>
            <a:ext cx="805813" cy="402161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algn="ctr">
              <a:spcBef>
                <a:spcPts val="216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총괄</a:t>
            </a:r>
            <a:endParaRPr sz="1350" dirty="0">
              <a:latin typeface="Malgun Gothic"/>
              <a:cs typeface="Malgun Gothic"/>
            </a:endParaRPr>
          </a:p>
          <a:p>
            <a:pPr algn="ctr">
              <a:spcBef>
                <a:spcPts val="80"/>
              </a:spcBef>
            </a:pPr>
            <a:r>
              <a:rPr sz="1001" dirty="0">
                <a:solidFill>
                  <a:srgbClr val="6A7280"/>
                </a:solidFill>
                <a:latin typeface="Tahoma"/>
                <a:cs typeface="Tahoma"/>
              </a:rPr>
              <a:t>CTO/CDO</a:t>
            </a:r>
            <a:endParaRPr sz="1001" dirty="0">
              <a:latin typeface="Tahoma"/>
              <a:cs typeface="Tahoma"/>
            </a:endParaRPr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F3BDC0D5-1D3F-39B8-CAF7-95F6D432C82C}"/>
              </a:ext>
            </a:extLst>
          </p:cNvPr>
          <p:cNvGrpSpPr/>
          <p:nvPr/>
        </p:nvGrpSpPr>
        <p:grpSpPr>
          <a:xfrm>
            <a:off x="1914524" y="1409699"/>
            <a:ext cx="1371601" cy="685800"/>
            <a:chOff x="1914524" y="1409699"/>
            <a:chExt cx="1371600" cy="685800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99388C8-E4C6-422B-3DF5-BE6A939AEDB6}"/>
                </a:ext>
              </a:extLst>
            </p:cNvPr>
            <p:cNvSpPr/>
            <p:nvPr/>
          </p:nvSpPr>
          <p:spPr>
            <a:xfrm>
              <a:off x="1914524" y="1409699"/>
              <a:ext cx="1371600" cy="685800"/>
            </a:xfrm>
            <a:custGeom>
              <a:avLst/>
              <a:gdLst/>
              <a:ahLst/>
              <a:cxnLst/>
              <a:rect l="l" t="t" r="r" b="b"/>
              <a:pathLst>
                <a:path w="1371600" h="685800">
                  <a:moveTo>
                    <a:pt x="1300403" y="685799"/>
                  </a:moveTo>
                  <a:lnTo>
                    <a:pt x="71196" y="685799"/>
                  </a:lnTo>
                  <a:lnTo>
                    <a:pt x="66241" y="685311"/>
                  </a:lnTo>
                  <a:lnTo>
                    <a:pt x="29705" y="670177"/>
                  </a:lnTo>
                  <a:lnTo>
                    <a:pt x="3885" y="634137"/>
                  </a:lnTo>
                  <a:lnTo>
                    <a:pt x="0" y="614603"/>
                  </a:lnTo>
                  <a:lnTo>
                    <a:pt x="0" y="609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300403" y="0"/>
                  </a:lnTo>
                  <a:lnTo>
                    <a:pt x="1341894" y="15621"/>
                  </a:lnTo>
                  <a:lnTo>
                    <a:pt x="1367713" y="51661"/>
                  </a:lnTo>
                  <a:lnTo>
                    <a:pt x="1371599" y="71196"/>
                  </a:lnTo>
                  <a:lnTo>
                    <a:pt x="1371599" y="614603"/>
                  </a:lnTo>
                  <a:lnTo>
                    <a:pt x="1355977" y="656094"/>
                  </a:lnTo>
                  <a:lnTo>
                    <a:pt x="1319937" y="681914"/>
                  </a:lnTo>
                  <a:lnTo>
                    <a:pt x="1305358" y="685311"/>
                  </a:lnTo>
                  <a:lnTo>
                    <a:pt x="1300403" y="6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433E7E9-CD54-24D8-EC48-DC9ED82DA6CA}"/>
                </a:ext>
              </a:extLst>
            </p:cNvPr>
            <p:cNvSpPr/>
            <p:nvPr/>
          </p:nvSpPr>
          <p:spPr>
            <a:xfrm>
              <a:off x="2447924" y="14858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9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4" y="203733"/>
                  </a:lnTo>
                  <a:lnTo>
                    <a:pt x="274803" y="243192"/>
                  </a:lnTo>
                  <a:lnTo>
                    <a:pt x="243191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E8308F28-CFBB-E1DF-2E13-12B5A9FFD59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3174" y="1543049"/>
              <a:ext cx="114299" cy="190499"/>
            </a:xfrm>
            <a:prstGeom prst="rect">
              <a:avLst/>
            </a:prstGeom>
          </p:spPr>
        </p:pic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35F2C675-67A1-66A8-3DEC-F3F05ADA0C2D}"/>
              </a:ext>
            </a:extLst>
          </p:cNvPr>
          <p:cNvSpPr txBox="1"/>
          <p:nvPr/>
        </p:nvSpPr>
        <p:spPr>
          <a:xfrm>
            <a:off x="2119709" y="1817814"/>
            <a:ext cx="1252140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데이터 인프라 팀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17" name="object 17">
            <a:extLst>
              <a:ext uri="{FF2B5EF4-FFF2-40B4-BE49-F238E27FC236}">
                <a16:creationId xmlns:a16="http://schemas.microsoft.com/office/drawing/2014/main" id="{991BED50-5476-436A-57AA-F7B0ACA29F64}"/>
              </a:ext>
            </a:extLst>
          </p:cNvPr>
          <p:cNvGrpSpPr/>
          <p:nvPr/>
        </p:nvGrpSpPr>
        <p:grpSpPr>
          <a:xfrm>
            <a:off x="3438523" y="1409699"/>
            <a:ext cx="1371601" cy="685800"/>
            <a:chOff x="3438524" y="1409699"/>
            <a:chExt cx="1371600" cy="685800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224300EA-6C4E-BADD-4340-68A173FD95CB}"/>
                </a:ext>
              </a:extLst>
            </p:cNvPr>
            <p:cNvSpPr/>
            <p:nvPr/>
          </p:nvSpPr>
          <p:spPr>
            <a:xfrm>
              <a:off x="3438524" y="1409699"/>
              <a:ext cx="1371600" cy="685800"/>
            </a:xfrm>
            <a:custGeom>
              <a:avLst/>
              <a:gdLst/>
              <a:ahLst/>
              <a:cxnLst/>
              <a:rect l="l" t="t" r="r" b="b"/>
              <a:pathLst>
                <a:path w="1371600" h="685800">
                  <a:moveTo>
                    <a:pt x="1300403" y="685799"/>
                  </a:moveTo>
                  <a:lnTo>
                    <a:pt x="71196" y="685799"/>
                  </a:lnTo>
                  <a:lnTo>
                    <a:pt x="66241" y="685311"/>
                  </a:lnTo>
                  <a:lnTo>
                    <a:pt x="29705" y="670177"/>
                  </a:lnTo>
                  <a:lnTo>
                    <a:pt x="3885" y="634137"/>
                  </a:lnTo>
                  <a:lnTo>
                    <a:pt x="0" y="614603"/>
                  </a:lnTo>
                  <a:lnTo>
                    <a:pt x="0" y="609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300403" y="0"/>
                  </a:lnTo>
                  <a:lnTo>
                    <a:pt x="1341894" y="15621"/>
                  </a:lnTo>
                  <a:lnTo>
                    <a:pt x="1367713" y="51661"/>
                  </a:lnTo>
                  <a:lnTo>
                    <a:pt x="1371599" y="71196"/>
                  </a:lnTo>
                  <a:lnTo>
                    <a:pt x="1371599" y="614603"/>
                  </a:lnTo>
                  <a:lnTo>
                    <a:pt x="1355977" y="656094"/>
                  </a:lnTo>
                  <a:lnTo>
                    <a:pt x="1319937" y="681914"/>
                  </a:lnTo>
                  <a:lnTo>
                    <a:pt x="1305358" y="685311"/>
                  </a:lnTo>
                  <a:lnTo>
                    <a:pt x="1300403" y="6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923260A-EA46-DEF4-49CA-361B8EAC1AA7}"/>
                </a:ext>
              </a:extLst>
            </p:cNvPr>
            <p:cNvSpPr/>
            <p:nvPr/>
          </p:nvSpPr>
          <p:spPr>
            <a:xfrm>
              <a:off x="3971924" y="14858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9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3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5" y="203733"/>
                  </a:lnTo>
                  <a:lnTo>
                    <a:pt x="274803" y="243192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7EF74857-505F-80B1-929C-B02357DC59B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8599" y="1543049"/>
              <a:ext cx="171449" cy="190499"/>
            </a:xfrm>
            <a:prstGeom prst="rect">
              <a:avLst/>
            </a:prstGeom>
          </p:spPr>
        </p:pic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C98ADA60-34FA-C2F4-5A66-CFC2B2B9E923}"/>
              </a:ext>
            </a:extLst>
          </p:cNvPr>
          <p:cNvSpPr txBox="1"/>
          <p:nvPr/>
        </p:nvSpPr>
        <p:spPr>
          <a:xfrm>
            <a:off x="3705628" y="1817816"/>
            <a:ext cx="1043567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응용 솔루션 팀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7638EEE7-EB4F-59E4-5141-2EC959FAD39C}"/>
              </a:ext>
            </a:extLst>
          </p:cNvPr>
          <p:cNvGrpSpPr/>
          <p:nvPr/>
        </p:nvGrpSpPr>
        <p:grpSpPr>
          <a:xfrm>
            <a:off x="4962531" y="1409699"/>
            <a:ext cx="2238375" cy="685800"/>
            <a:chOff x="4962524" y="1409699"/>
            <a:chExt cx="2238375" cy="68580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E7398E5B-7FE7-4182-89A7-C53290BD4626}"/>
                </a:ext>
              </a:extLst>
            </p:cNvPr>
            <p:cNvSpPr/>
            <p:nvPr/>
          </p:nvSpPr>
          <p:spPr>
            <a:xfrm>
              <a:off x="4962524" y="1409699"/>
              <a:ext cx="2238375" cy="685800"/>
            </a:xfrm>
            <a:custGeom>
              <a:avLst/>
              <a:gdLst/>
              <a:ahLst/>
              <a:cxnLst/>
              <a:rect l="l" t="t" r="r" b="b"/>
              <a:pathLst>
                <a:path w="2238375" h="685800">
                  <a:moveTo>
                    <a:pt x="2167178" y="685799"/>
                  </a:moveTo>
                  <a:lnTo>
                    <a:pt x="71196" y="685799"/>
                  </a:lnTo>
                  <a:lnTo>
                    <a:pt x="66241" y="685311"/>
                  </a:lnTo>
                  <a:lnTo>
                    <a:pt x="29705" y="670177"/>
                  </a:lnTo>
                  <a:lnTo>
                    <a:pt x="3885" y="634137"/>
                  </a:lnTo>
                  <a:lnTo>
                    <a:pt x="0" y="614603"/>
                  </a:lnTo>
                  <a:lnTo>
                    <a:pt x="0" y="609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67178" y="0"/>
                  </a:lnTo>
                  <a:lnTo>
                    <a:pt x="2208669" y="15621"/>
                  </a:lnTo>
                  <a:lnTo>
                    <a:pt x="2234489" y="51661"/>
                  </a:lnTo>
                  <a:lnTo>
                    <a:pt x="2238374" y="71196"/>
                  </a:lnTo>
                  <a:lnTo>
                    <a:pt x="2238374" y="614603"/>
                  </a:lnTo>
                  <a:lnTo>
                    <a:pt x="2222752" y="656094"/>
                  </a:lnTo>
                  <a:lnTo>
                    <a:pt x="2186712" y="681914"/>
                  </a:lnTo>
                  <a:lnTo>
                    <a:pt x="2172133" y="685311"/>
                  </a:lnTo>
                  <a:lnTo>
                    <a:pt x="2167178" y="6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1D6401D0-9104-19F5-5A1F-2C7D6C5B5E32}"/>
                </a:ext>
              </a:extLst>
            </p:cNvPr>
            <p:cNvSpPr/>
            <p:nvPr/>
          </p:nvSpPr>
          <p:spPr>
            <a:xfrm>
              <a:off x="5924549" y="14858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9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4" y="203733"/>
                  </a:lnTo>
                  <a:lnTo>
                    <a:pt x="274803" y="243192"/>
                  </a:lnTo>
                  <a:lnTo>
                    <a:pt x="243191" y="274803"/>
                  </a:lnTo>
                  <a:lnTo>
                    <a:pt x="203732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41D6051A-C49F-4DE9-DE0C-9129F98A50E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1224" y="1543049"/>
              <a:ext cx="171449" cy="190499"/>
            </a:xfrm>
            <a:prstGeom prst="rect">
              <a:avLst/>
            </a:prstGeom>
          </p:spPr>
        </p:pic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F90A1CC8-97E2-881F-5506-48C8C53407D2}"/>
              </a:ext>
            </a:extLst>
          </p:cNvPr>
          <p:cNvSpPr txBox="1"/>
          <p:nvPr/>
        </p:nvSpPr>
        <p:spPr>
          <a:xfrm>
            <a:off x="5616277" y="1817817"/>
            <a:ext cx="1336508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데이터 엔지니어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28" name="object 28">
            <a:extLst>
              <a:ext uri="{FF2B5EF4-FFF2-40B4-BE49-F238E27FC236}">
                <a16:creationId xmlns:a16="http://schemas.microsoft.com/office/drawing/2014/main" id="{BDBD9586-AAEA-5832-095E-2691217814CD}"/>
              </a:ext>
            </a:extLst>
          </p:cNvPr>
          <p:cNvGrpSpPr/>
          <p:nvPr/>
        </p:nvGrpSpPr>
        <p:grpSpPr>
          <a:xfrm>
            <a:off x="7277101" y="1409699"/>
            <a:ext cx="2228850" cy="685800"/>
            <a:chOff x="7277099" y="1409699"/>
            <a:chExt cx="2228850" cy="685800"/>
          </a:xfrm>
        </p:grpSpPr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D882A6A6-B185-B2DC-3E73-706621FC591D}"/>
                </a:ext>
              </a:extLst>
            </p:cNvPr>
            <p:cNvSpPr/>
            <p:nvPr/>
          </p:nvSpPr>
          <p:spPr>
            <a:xfrm>
              <a:off x="7277099" y="1409699"/>
              <a:ext cx="2228850" cy="685800"/>
            </a:xfrm>
            <a:custGeom>
              <a:avLst/>
              <a:gdLst/>
              <a:ahLst/>
              <a:cxnLst/>
              <a:rect l="l" t="t" r="r" b="b"/>
              <a:pathLst>
                <a:path w="2228850" h="685800">
                  <a:moveTo>
                    <a:pt x="2157653" y="685799"/>
                  </a:moveTo>
                  <a:lnTo>
                    <a:pt x="71196" y="685799"/>
                  </a:lnTo>
                  <a:lnTo>
                    <a:pt x="66241" y="685311"/>
                  </a:lnTo>
                  <a:lnTo>
                    <a:pt x="29704" y="670177"/>
                  </a:lnTo>
                  <a:lnTo>
                    <a:pt x="3885" y="634137"/>
                  </a:lnTo>
                  <a:lnTo>
                    <a:pt x="0" y="614603"/>
                  </a:lnTo>
                  <a:lnTo>
                    <a:pt x="0" y="609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57653" y="0"/>
                  </a:lnTo>
                  <a:lnTo>
                    <a:pt x="2199143" y="15621"/>
                  </a:lnTo>
                  <a:lnTo>
                    <a:pt x="2224964" y="51661"/>
                  </a:lnTo>
                  <a:lnTo>
                    <a:pt x="2228849" y="71196"/>
                  </a:lnTo>
                  <a:lnTo>
                    <a:pt x="2228849" y="614603"/>
                  </a:lnTo>
                  <a:lnTo>
                    <a:pt x="2213228" y="656094"/>
                  </a:lnTo>
                  <a:lnTo>
                    <a:pt x="2177187" y="681914"/>
                  </a:lnTo>
                  <a:lnTo>
                    <a:pt x="2162608" y="685311"/>
                  </a:lnTo>
                  <a:lnTo>
                    <a:pt x="2157653" y="6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B2840DC1-4F78-1F95-4D8B-94FBB1BC1F45}"/>
                </a:ext>
              </a:extLst>
            </p:cNvPr>
            <p:cNvSpPr/>
            <p:nvPr/>
          </p:nvSpPr>
          <p:spPr>
            <a:xfrm>
              <a:off x="8239124" y="14858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9"/>
                  </a:lnTo>
                  <a:lnTo>
                    <a:pt x="67730" y="279115"/>
                  </a:lnTo>
                  <a:lnTo>
                    <a:pt x="34590" y="249082"/>
                  </a:lnTo>
                  <a:lnTo>
                    <a:pt x="11599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6"/>
                  </a:lnTo>
                  <a:lnTo>
                    <a:pt x="29995" y="61607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3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4" y="203733"/>
                  </a:lnTo>
                  <a:lnTo>
                    <a:pt x="274803" y="243192"/>
                  </a:lnTo>
                  <a:lnTo>
                    <a:pt x="243191" y="274803"/>
                  </a:lnTo>
                  <a:lnTo>
                    <a:pt x="203732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>
              <a:extLst>
                <a:ext uri="{FF2B5EF4-FFF2-40B4-BE49-F238E27FC236}">
                  <a16:creationId xmlns:a16="http://schemas.microsoft.com/office/drawing/2014/main" id="{19AF61FE-D11C-F3F5-1ADE-D6F75D13036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05800" y="1543049"/>
              <a:ext cx="171449" cy="190499"/>
            </a:xfrm>
            <a:prstGeom prst="rect">
              <a:avLst/>
            </a:prstGeom>
          </p:spPr>
        </p:pic>
      </p:grpSp>
      <p:sp>
        <p:nvSpPr>
          <p:cNvPr id="32" name="object 32">
            <a:extLst>
              <a:ext uri="{FF2B5EF4-FFF2-40B4-BE49-F238E27FC236}">
                <a16:creationId xmlns:a16="http://schemas.microsoft.com/office/drawing/2014/main" id="{63A18B88-DE60-53AB-8C8A-6FA20F5F7C01}"/>
              </a:ext>
            </a:extLst>
          </p:cNvPr>
          <p:cNvSpPr txBox="1"/>
          <p:nvPr/>
        </p:nvSpPr>
        <p:spPr>
          <a:xfrm>
            <a:off x="7923264" y="1817817"/>
            <a:ext cx="1162050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b="1" dirty="0">
                <a:solidFill>
                  <a:srgbClr val="374050"/>
                </a:solidFill>
                <a:latin typeface="Trebuchet MS"/>
                <a:cs typeface="Trebuchet MS"/>
              </a:rPr>
              <a:t>AI/ML </a:t>
            </a: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엔지니어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33" name="object 33">
            <a:extLst>
              <a:ext uri="{FF2B5EF4-FFF2-40B4-BE49-F238E27FC236}">
                <a16:creationId xmlns:a16="http://schemas.microsoft.com/office/drawing/2014/main" id="{16DC951F-D90F-D8DE-7370-46B52E5A3C2A}"/>
              </a:ext>
            </a:extLst>
          </p:cNvPr>
          <p:cNvGrpSpPr/>
          <p:nvPr/>
        </p:nvGrpSpPr>
        <p:grpSpPr>
          <a:xfrm>
            <a:off x="9582150" y="1409699"/>
            <a:ext cx="2228850" cy="685800"/>
            <a:chOff x="9582148" y="1409699"/>
            <a:chExt cx="2228850" cy="685800"/>
          </a:xfrm>
        </p:grpSpPr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B5B7B13C-45AB-1652-8381-43D3FD7897D8}"/>
                </a:ext>
              </a:extLst>
            </p:cNvPr>
            <p:cNvSpPr/>
            <p:nvPr/>
          </p:nvSpPr>
          <p:spPr>
            <a:xfrm>
              <a:off x="9582148" y="1409699"/>
              <a:ext cx="2228850" cy="685800"/>
            </a:xfrm>
            <a:custGeom>
              <a:avLst/>
              <a:gdLst/>
              <a:ahLst/>
              <a:cxnLst/>
              <a:rect l="l" t="t" r="r" b="b"/>
              <a:pathLst>
                <a:path w="2228850" h="685800">
                  <a:moveTo>
                    <a:pt x="2157653" y="685799"/>
                  </a:moveTo>
                  <a:lnTo>
                    <a:pt x="71196" y="685799"/>
                  </a:lnTo>
                  <a:lnTo>
                    <a:pt x="66240" y="685311"/>
                  </a:lnTo>
                  <a:lnTo>
                    <a:pt x="29705" y="670177"/>
                  </a:lnTo>
                  <a:lnTo>
                    <a:pt x="3885" y="634137"/>
                  </a:lnTo>
                  <a:lnTo>
                    <a:pt x="0" y="614603"/>
                  </a:lnTo>
                  <a:lnTo>
                    <a:pt x="0" y="609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2157653" y="0"/>
                  </a:lnTo>
                  <a:lnTo>
                    <a:pt x="2199145" y="15621"/>
                  </a:lnTo>
                  <a:lnTo>
                    <a:pt x="2224964" y="51661"/>
                  </a:lnTo>
                  <a:lnTo>
                    <a:pt x="2228850" y="71196"/>
                  </a:lnTo>
                  <a:lnTo>
                    <a:pt x="2228850" y="614603"/>
                  </a:lnTo>
                  <a:lnTo>
                    <a:pt x="2213228" y="656094"/>
                  </a:lnTo>
                  <a:lnTo>
                    <a:pt x="2177188" y="681914"/>
                  </a:lnTo>
                  <a:lnTo>
                    <a:pt x="2162609" y="685311"/>
                  </a:lnTo>
                  <a:lnTo>
                    <a:pt x="2157653" y="6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B29C58E2-84AD-82D6-610E-57FE485E1E39}"/>
                </a:ext>
              </a:extLst>
            </p:cNvPr>
            <p:cNvSpPr/>
            <p:nvPr/>
          </p:nvSpPr>
          <p:spPr>
            <a:xfrm>
              <a:off x="10544173" y="14858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8" y="298239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599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4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2" y="61607"/>
                  </a:lnTo>
                  <a:lnTo>
                    <a:pt x="295894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4" y="203733"/>
                  </a:lnTo>
                  <a:lnTo>
                    <a:pt x="274802" y="243192"/>
                  </a:lnTo>
                  <a:lnTo>
                    <a:pt x="243191" y="274803"/>
                  </a:lnTo>
                  <a:lnTo>
                    <a:pt x="203732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FEF9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>
              <a:extLst>
                <a:ext uri="{FF2B5EF4-FFF2-40B4-BE49-F238E27FC236}">
                  <a16:creationId xmlns:a16="http://schemas.microsoft.com/office/drawing/2014/main" id="{A121E8C0-1272-108F-E0FE-931ED906C71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29899" y="1543049"/>
              <a:ext cx="133349" cy="190499"/>
            </a:xfrm>
            <a:prstGeom prst="rect">
              <a:avLst/>
            </a:prstGeom>
          </p:spPr>
        </p:pic>
      </p:grpSp>
      <p:sp>
        <p:nvSpPr>
          <p:cNvPr id="37" name="object 37">
            <a:extLst>
              <a:ext uri="{FF2B5EF4-FFF2-40B4-BE49-F238E27FC236}">
                <a16:creationId xmlns:a16="http://schemas.microsoft.com/office/drawing/2014/main" id="{33E62940-A6DE-8F92-7689-401EA13FE3CB}"/>
              </a:ext>
            </a:extLst>
          </p:cNvPr>
          <p:cNvSpPr txBox="1"/>
          <p:nvPr/>
        </p:nvSpPr>
        <p:spPr>
          <a:xfrm>
            <a:off x="10292163" y="1840120"/>
            <a:ext cx="1162050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지식 엔지니어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C00AA14C-A4B9-3480-3A1B-E7697739D796}"/>
              </a:ext>
            </a:extLst>
          </p:cNvPr>
          <p:cNvSpPr/>
          <p:nvPr/>
        </p:nvSpPr>
        <p:spPr>
          <a:xfrm>
            <a:off x="4962534" y="2171701"/>
            <a:ext cx="2238375" cy="685800"/>
          </a:xfrm>
          <a:custGeom>
            <a:avLst/>
            <a:gdLst/>
            <a:ahLst/>
            <a:cxnLst/>
            <a:rect l="l" t="t" r="r" b="b"/>
            <a:pathLst>
              <a:path w="2238375" h="685800">
                <a:moveTo>
                  <a:pt x="2167178" y="685799"/>
                </a:moveTo>
                <a:lnTo>
                  <a:pt x="71196" y="685799"/>
                </a:lnTo>
                <a:lnTo>
                  <a:pt x="66241" y="685311"/>
                </a:lnTo>
                <a:lnTo>
                  <a:pt x="29705" y="670177"/>
                </a:lnTo>
                <a:lnTo>
                  <a:pt x="3885" y="634137"/>
                </a:lnTo>
                <a:lnTo>
                  <a:pt x="0" y="614603"/>
                </a:lnTo>
                <a:lnTo>
                  <a:pt x="0" y="6095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167178" y="0"/>
                </a:lnTo>
                <a:lnTo>
                  <a:pt x="2208669" y="15621"/>
                </a:lnTo>
                <a:lnTo>
                  <a:pt x="2234489" y="51661"/>
                </a:lnTo>
                <a:lnTo>
                  <a:pt x="2238374" y="71196"/>
                </a:lnTo>
                <a:lnTo>
                  <a:pt x="2238374" y="614603"/>
                </a:lnTo>
                <a:lnTo>
                  <a:pt x="2222752" y="656094"/>
                </a:lnTo>
                <a:lnTo>
                  <a:pt x="2186712" y="681913"/>
                </a:lnTo>
                <a:lnTo>
                  <a:pt x="2172133" y="685311"/>
                </a:lnTo>
                <a:lnTo>
                  <a:pt x="2167178" y="685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408F1045-2FE9-1526-81EC-EEA97D90135B}"/>
              </a:ext>
            </a:extLst>
          </p:cNvPr>
          <p:cNvSpPr/>
          <p:nvPr/>
        </p:nvSpPr>
        <p:spPr>
          <a:xfrm>
            <a:off x="5924559" y="224790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2" y="8904"/>
                </a:lnTo>
                <a:lnTo>
                  <a:pt x="243191" y="29995"/>
                </a:lnTo>
                <a:lnTo>
                  <a:pt x="274803" y="61607"/>
                </a:lnTo>
                <a:lnTo>
                  <a:pt x="295894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1" y="274804"/>
                </a:lnTo>
                <a:lnTo>
                  <a:pt x="203732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DFE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>
            <a:extLst>
              <a:ext uri="{FF2B5EF4-FFF2-40B4-BE49-F238E27FC236}">
                <a16:creationId xmlns:a16="http://schemas.microsoft.com/office/drawing/2014/main" id="{F0097EBD-7018-1ED5-A09F-98C2B0424C69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10284" y="2305051"/>
            <a:ext cx="133349" cy="190499"/>
          </a:xfrm>
          <a:prstGeom prst="rect">
            <a:avLst/>
          </a:prstGeom>
        </p:spPr>
      </p:pic>
      <p:sp>
        <p:nvSpPr>
          <p:cNvPr id="42" name="object 42">
            <a:extLst>
              <a:ext uri="{FF2B5EF4-FFF2-40B4-BE49-F238E27FC236}">
                <a16:creationId xmlns:a16="http://schemas.microsoft.com/office/drawing/2014/main" id="{37FAB241-0360-EF06-4C11-1A3662E5EF38}"/>
              </a:ext>
            </a:extLst>
          </p:cNvPr>
          <p:cNvSpPr/>
          <p:nvPr/>
        </p:nvSpPr>
        <p:spPr>
          <a:xfrm>
            <a:off x="7277109" y="2171701"/>
            <a:ext cx="2228850" cy="685800"/>
          </a:xfrm>
          <a:custGeom>
            <a:avLst/>
            <a:gdLst/>
            <a:ahLst/>
            <a:cxnLst/>
            <a:rect l="l" t="t" r="r" b="b"/>
            <a:pathLst>
              <a:path w="2228850" h="685800">
                <a:moveTo>
                  <a:pt x="2157653" y="685799"/>
                </a:moveTo>
                <a:lnTo>
                  <a:pt x="71196" y="685799"/>
                </a:lnTo>
                <a:lnTo>
                  <a:pt x="66241" y="685311"/>
                </a:lnTo>
                <a:lnTo>
                  <a:pt x="29704" y="670177"/>
                </a:lnTo>
                <a:lnTo>
                  <a:pt x="3885" y="634137"/>
                </a:lnTo>
                <a:lnTo>
                  <a:pt x="0" y="614603"/>
                </a:lnTo>
                <a:lnTo>
                  <a:pt x="0" y="6095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157653" y="0"/>
                </a:lnTo>
                <a:lnTo>
                  <a:pt x="2199143" y="15621"/>
                </a:lnTo>
                <a:lnTo>
                  <a:pt x="2224964" y="51661"/>
                </a:lnTo>
                <a:lnTo>
                  <a:pt x="2228849" y="71196"/>
                </a:lnTo>
                <a:lnTo>
                  <a:pt x="2228849" y="614603"/>
                </a:lnTo>
                <a:lnTo>
                  <a:pt x="2213228" y="656094"/>
                </a:lnTo>
                <a:lnTo>
                  <a:pt x="2177187" y="681913"/>
                </a:lnTo>
                <a:lnTo>
                  <a:pt x="2162608" y="685311"/>
                </a:lnTo>
                <a:lnTo>
                  <a:pt x="2157653" y="685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1562E02A-F45F-12D3-8EF0-CF30E7B96F6F}"/>
              </a:ext>
            </a:extLst>
          </p:cNvPr>
          <p:cNvSpPr/>
          <p:nvPr/>
        </p:nvSpPr>
        <p:spPr>
          <a:xfrm>
            <a:off x="8239134" y="224790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9"/>
                </a:lnTo>
                <a:lnTo>
                  <a:pt x="67730" y="279115"/>
                </a:lnTo>
                <a:lnTo>
                  <a:pt x="34590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5"/>
                </a:lnTo>
                <a:lnTo>
                  <a:pt x="29995" y="61607"/>
                </a:lnTo>
                <a:lnTo>
                  <a:pt x="61606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2" y="8904"/>
                </a:lnTo>
                <a:lnTo>
                  <a:pt x="243191" y="29995"/>
                </a:lnTo>
                <a:lnTo>
                  <a:pt x="274803" y="61607"/>
                </a:lnTo>
                <a:lnTo>
                  <a:pt x="295893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1" y="274804"/>
                </a:lnTo>
                <a:lnTo>
                  <a:pt x="203732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CCFA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>
            <a:extLst>
              <a:ext uri="{FF2B5EF4-FFF2-40B4-BE49-F238E27FC236}">
                <a16:creationId xmlns:a16="http://schemas.microsoft.com/office/drawing/2014/main" id="{A8F602EF-B3B7-006D-7A80-C5A55E237A37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24860" y="2305051"/>
            <a:ext cx="133349" cy="190499"/>
          </a:xfrm>
          <a:prstGeom prst="rect">
            <a:avLst/>
          </a:prstGeom>
        </p:spPr>
      </p:pic>
      <p:sp>
        <p:nvSpPr>
          <p:cNvPr id="45" name="object 45">
            <a:extLst>
              <a:ext uri="{FF2B5EF4-FFF2-40B4-BE49-F238E27FC236}">
                <a16:creationId xmlns:a16="http://schemas.microsoft.com/office/drawing/2014/main" id="{DB787EDB-5411-79CA-915B-CB269FD3556F}"/>
              </a:ext>
            </a:extLst>
          </p:cNvPr>
          <p:cNvSpPr/>
          <p:nvPr/>
        </p:nvSpPr>
        <p:spPr>
          <a:xfrm>
            <a:off x="9582158" y="2171701"/>
            <a:ext cx="2228850" cy="685800"/>
          </a:xfrm>
          <a:custGeom>
            <a:avLst/>
            <a:gdLst/>
            <a:ahLst/>
            <a:cxnLst/>
            <a:rect l="l" t="t" r="r" b="b"/>
            <a:pathLst>
              <a:path w="2228850" h="685800">
                <a:moveTo>
                  <a:pt x="2157653" y="685799"/>
                </a:moveTo>
                <a:lnTo>
                  <a:pt x="71196" y="685799"/>
                </a:lnTo>
                <a:lnTo>
                  <a:pt x="66240" y="685311"/>
                </a:lnTo>
                <a:lnTo>
                  <a:pt x="29705" y="670177"/>
                </a:lnTo>
                <a:lnTo>
                  <a:pt x="3885" y="634137"/>
                </a:lnTo>
                <a:lnTo>
                  <a:pt x="0" y="614603"/>
                </a:lnTo>
                <a:lnTo>
                  <a:pt x="0" y="609599"/>
                </a:lnTo>
                <a:lnTo>
                  <a:pt x="0" y="71196"/>
                </a:lnTo>
                <a:lnTo>
                  <a:pt x="15621" y="29705"/>
                </a:lnTo>
                <a:lnTo>
                  <a:pt x="51660" y="3885"/>
                </a:lnTo>
                <a:lnTo>
                  <a:pt x="71196" y="0"/>
                </a:lnTo>
                <a:lnTo>
                  <a:pt x="2157653" y="0"/>
                </a:lnTo>
                <a:lnTo>
                  <a:pt x="2199145" y="15621"/>
                </a:lnTo>
                <a:lnTo>
                  <a:pt x="2224964" y="51661"/>
                </a:lnTo>
                <a:lnTo>
                  <a:pt x="2228850" y="71196"/>
                </a:lnTo>
                <a:lnTo>
                  <a:pt x="2228850" y="614603"/>
                </a:lnTo>
                <a:lnTo>
                  <a:pt x="2213228" y="656094"/>
                </a:lnTo>
                <a:lnTo>
                  <a:pt x="2177188" y="681913"/>
                </a:lnTo>
                <a:lnTo>
                  <a:pt x="2162609" y="685311"/>
                </a:lnTo>
                <a:lnTo>
                  <a:pt x="2157653" y="685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2A18EF2F-F937-F8F4-BA0A-30D52879C895}"/>
              </a:ext>
            </a:extLst>
          </p:cNvPr>
          <p:cNvSpPr/>
          <p:nvPr/>
        </p:nvSpPr>
        <p:spPr>
          <a:xfrm>
            <a:off x="10544184" y="224790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8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4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2" y="8904"/>
                </a:lnTo>
                <a:lnTo>
                  <a:pt x="243191" y="29995"/>
                </a:lnTo>
                <a:lnTo>
                  <a:pt x="274802" y="61607"/>
                </a:lnTo>
                <a:lnTo>
                  <a:pt x="295894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2" y="243192"/>
                </a:lnTo>
                <a:lnTo>
                  <a:pt x="243191" y="274804"/>
                </a:lnTo>
                <a:lnTo>
                  <a:pt x="203732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FBE7F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>
            <a:extLst>
              <a:ext uri="{FF2B5EF4-FFF2-40B4-BE49-F238E27FC236}">
                <a16:creationId xmlns:a16="http://schemas.microsoft.com/office/drawing/2014/main" id="{B209AB6A-AFC0-A51C-24DD-92B769D02ABB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610859" y="2355235"/>
            <a:ext cx="171449" cy="190499"/>
          </a:xfrm>
          <a:prstGeom prst="rect">
            <a:avLst/>
          </a:prstGeom>
        </p:spPr>
      </p:pic>
      <p:sp>
        <p:nvSpPr>
          <p:cNvPr id="48" name="object 48">
            <a:extLst>
              <a:ext uri="{FF2B5EF4-FFF2-40B4-BE49-F238E27FC236}">
                <a16:creationId xmlns:a16="http://schemas.microsoft.com/office/drawing/2014/main" id="{81F6590E-563D-3E79-0841-D124611AC668}"/>
              </a:ext>
            </a:extLst>
          </p:cNvPr>
          <p:cNvSpPr txBox="1"/>
          <p:nvPr/>
        </p:nvSpPr>
        <p:spPr>
          <a:xfrm>
            <a:off x="10292162" y="2680183"/>
            <a:ext cx="1109959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도메인 전문가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49" name="object 49">
            <a:extLst>
              <a:ext uri="{FF2B5EF4-FFF2-40B4-BE49-F238E27FC236}">
                <a16:creationId xmlns:a16="http://schemas.microsoft.com/office/drawing/2014/main" id="{5858EBF5-E2A2-3895-E68E-4565ED5546D2}"/>
              </a:ext>
            </a:extLst>
          </p:cNvPr>
          <p:cNvGrpSpPr/>
          <p:nvPr/>
        </p:nvGrpSpPr>
        <p:grpSpPr>
          <a:xfrm>
            <a:off x="409575" y="2876549"/>
            <a:ext cx="5600701" cy="3886201"/>
            <a:chOff x="409575" y="2876549"/>
            <a:chExt cx="5600700" cy="3886200"/>
          </a:xfrm>
        </p:grpSpPr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D2D6704D-3FE0-A763-3597-D09A2E3356E9}"/>
                </a:ext>
              </a:extLst>
            </p:cNvPr>
            <p:cNvSpPr/>
            <p:nvPr/>
          </p:nvSpPr>
          <p:spPr>
            <a:xfrm>
              <a:off x="409575" y="2876549"/>
              <a:ext cx="5600700" cy="3886200"/>
            </a:xfrm>
            <a:custGeom>
              <a:avLst/>
              <a:gdLst/>
              <a:ahLst/>
              <a:cxnLst/>
              <a:rect l="l" t="t" r="r" b="b"/>
              <a:pathLst>
                <a:path w="5600700" h="3886200">
                  <a:moveTo>
                    <a:pt x="5529502" y="3886199"/>
                  </a:moveTo>
                  <a:lnTo>
                    <a:pt x="71196" y="3886199"/>
                  </a:lnTo>
                  <a:lnTo>
                    <a:pt x="66241" y="3885711"/>
                  </a:lnTo>
                  <a:lnTo>
                    <a:pt x="29705" y="3870577"/>
                  </a:lnTo>
                  <a:lnTo>
                    <a:pt x="3885" y="3834537"/>
                  </a:lnTo>
                  <a:lnTo>
                    <a:pt x="0" y="3815002"/>
                  </a:lnTo>
                  <a:lnTo>
                    <a:pt x="0" y="3809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5529502" y="0"/>
                  </a:lnTo>
                  <a:lnTo>
                    <a:pt x="5570993" y="15621"/>
                  </a:lnTo>
                  <a:lnTo>
                    <a:pt x="5596813" y="51662"/>
                  </a:lnTo>
                  <a:lnTo>
                    <a:pt x="5600699" y="71196"/>
                  </a:lnTo>
                  <a:lnTo>
                    <a:pt x="5600699" y="3815002"/>
                  </a:lnTo>
                  <a:lnTo>
                    <a:pt x="5585077" y="3856494"/>
                  </a:lnTo>
                  <a:lnTo>
                    <a:pt x="5549037" y="3882313"/>
                  </a:lnTo>
                  <a:lnTo>
                    <a:pt x="5534457" y="3885711"/>
                  </a:lnTo>
                  <a:lnTo>
                    <a:pt x="5529502" y="3886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>
              <a:extLst>
                <a:ext uri="{FF2B5EF4-FFF2-40B4-BE49-F238E27FC236}">
                  <a16:creationId xmlns:a16="http://schemas.microsoft.com/office/drawing/2014/main" id="{9BB530A6-578F-FDEC-B4E4-33C02DA643E4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1974" y="3076574"/>
              <a:ext cx="238124" cy="190499"/>
            </a:xfrm>
            <a:prstGeom prst="rect">
              <a:avLst/>
            </a:prstGeom>
          </p:spPr>
        </p:pic>
      </p:grpSp>
      <p:sp>
        <p:nvSpPr>
          <p:cNvPr id="52" name="object 52">
            <a:extLst>
              <a:ext uri="{FF2B5EF4-FFF2-40B4-BE49-F238E27FC236}">
                <a16:creationId xmlns:a16="http://schemas.microsoft.com/office/drawing/2014/main" id="{EAA8A2A6-FA77-F420-8F81-5CF36DE0EF5C}"/>
              </a:ext>
            </a:extLst>
          </p:cNvPr>
          <p:cNvSpPr txBox="1"/>
          <p:nvPr/>
        </p:nvSpPr>
        <p:spPr>
          <a:xfrm>
            <a:off x="920750" y="3010539"/>
            <a:ext cx="1605001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역할 정의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53" name="object 53">
            <a:extLst>
              <a:ext uri="{FF2B5EF4-FFF2-40B4-BE49-F238E27FC236}">
                <a16:creationId xmlns:a16="http://schemas.microsoft.com/office/drawing/2014/main" id="{0E90C21D-B888-C48B-3753-9852DC1E6255}"/>
              </a:ext>
            </a:extLst>
          </p:cNvPr>
          <p:cNvGrpSpPr/>
          <p:nvPr/>
        </p:nvGrpSpPr>
        <p:grpSpPr>
          <a:xfrm>
            <a:off x="561979" y="2876549"/>
            <a:ext cx="11249026" cy="3886201"/>
            <a:chOff x="561974" y="2876549"/>
            <a:chExt cx="11249025" cy="3886200"/>
          </a:xfrm>
        </p:grpSpPr>
        <p:pic>
          <p:nvPicPr>
            <p:cNvPr id="54" name="object 54">
              <a:extLst>
                <a:ext uri="{FF2B5EF4-FFF2-40B4-BE49-F238E27FC236}">
                  <a16:creationId xmlns:a16="http://schemas.microsoft.com/office/drawing/2014/main" id="{0F4F1EF8-93D4-8ED8-65C0-FFA018171D27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1974" y="3409949"/>
              <a:ext cx="228599" cy="228599"/>
            </a:xfrm>
            <a:prstGeom prst="rect">
              <a:avLst/>
            </a:prstGeom>
          </p:spPr>
        </p:pic>
        <p:pic>
          <p:nvPicPr>
            <p:cNvPr id="55" name="object 55">
              <a:extLst>
                <a:ext uri="{FF2B5EF4-FFF2-40B4-BE49-F238E27FC236}">
                  <a16:creationId xmlns:a16="http://schemas.microsoft.com/office/drawing/2014/main" id="{3F60095F-A136-E63D-F325-E8B24D6457D7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8649" y="3448049"/>
              <a:ext cx="104774" cy="152399"/>
            </a:xfrm>
            <a:prstGeom prst="rect">
              <a:avLst/>
            </a:prstGeom>
          </p:spPr>
        </p:pic>
        <p:pic>
          <p:nvPicPr>
            <p:cNvPr id="56" name="object 56">
              <a:extLst>
                <a:ext uri="{FF2B5EF4-FFF2-40B4-BE49-F238E27FC236}">
                  <a16:creationId xmlns:a16="http://schemas.microsoft.com/office/drawing/2014/main" id="{305C689F-BEB9-EA2F-73F9-7F97FD1157BC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1974" y="3714749"/>
              <a:ext cx="228599" cy="228599"/>
            </a:xfrm>
            <a:prstGeom prst="rect">
              <a:avLst/>
            </a:prstGeom>
          </p:spPr>
        </p:pic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10CD13F3-F35F-A345-A5B6-166D08D1CF42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8174" y="3752849"/>
              <a:ext cx="85724" cy="152399"/>
            </a:xfrm>
            <a:prstGeom prst="rect">
              <a:avLst/>
            </a:prstGeom>
          </p:spPr>
        </p:pic>
        <p:pic>
          <p:nvPicPr>
            <p:cNvPr id="58" name="object 58">
              <a:extLst>
                <a:ext uri="{FF2B5EF4-FFF2-40B4-BE49-F238E27FC236}">
                  <a16:creationId xmlns:a16="http://schemas.microsoft.com/office/drawing/2014/main" id="{BA4AD2C2-E303-EF11-63F5-251451D1BDB0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1974" y="4171949"/>
              <a:ext cx="228599" cy="228599"/>
            </a:xfrm>
            <a:prstGeom prst="rect">
              <a:avLst/>
            </a:prstGeom>
          </p:spPr>
        </p:pic>
        <p:pic>
          <p:nvPicPr>
            <p:cNvPr id="59" name="object 59">
              <a:extLst>
                <a:ext uri="{FF2B5EF4-FFF2-40B4-BE49-F238E27FC236}">
                  <a16:creationId xmlns:a16="http://schemas.microsoft.com/office/drawing/2014/main" id="{2E163489-0658-5AD1-457A-49230A312D8E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9599" y="4210049"/>
              <a:ext cx="142874" cy="152399"/>
            </a:xfrm>
            <a:prstGeom prst="rect">
              <a:avLst/>
            </a:prstGeom>
          </p:spPr>
        </p:pic>
        <p:pic>
          <p:nvPicPr>
            <p:cNvPr id="60" name="object 60">
              <a:extLst>
                <a:ext uri="{FF2B5EF4-FFF2-40B4-BE49-F238E27FC236}">
                  <a16:creationId xmlns:a16="http://schemas.microsoft.com/office/drawing/2014/main" id="{B6A0A94A-F4D5-2095-55ED-6C956B8FE568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1974" y="4629149"/>
              <a:ext cx="228599" cy="228599"/>
            </a:xfrm>
            <a:prstGeom prst="rect">
              <a:avLst/>
            </a:prstGeom>
          </p:spPr>
        </p:pic>
        <p:pic>
          <p:nvPicPr>
            <p:cNvPr id="61" name="object 61">
              <a:extLst>
                <a:ext uri="{FF2B5EF4-FFF2-40B4-BE49-F238E27FC236}">
                  <a16:creationId xmlns:a16="http://schemas.microsoft.com/office/drawing/2014/main" id="{97254916-AC2E-30E4-1B48-B5B0EDE1A774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9599" y="4667249"/>
              <a:ext cx="142874" cy="152399"/>
            </a:xfrm>
            <a:prstGeom prst="rect">
              <a:avLst/>
            </a:prstGeom>
          </p:spPr>
        </p:pic>
        <p:pic>
          <p:nvPicPr>
            <p:cNvPr id="62" name="object 62">
              <a:extLst>
                <a:ext uri="{FF2B5EF4-FFF2-40B4-BE49-F238E27FC236}">
                  <a16:creationId xmlns:a16="http://schemas.microsoft.com/office/drawing/2014/main" id="{6FB0ACCE-7FB9-377C-B29A-A833F4CA640F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1974" y="4933949"/>
              <a:ext cx="228599" cy="228599"/>
            </a:xfrm>
            <a:prstGeom prst="rect">
              <a:avLst/>
            </a:prstGeom>
          </p:spPr>
        </p:pic>
        <p:pic>
          <p:nvPicPr>
            <p:cNvPr id="63" name="object 63">
              <a:extLst>
                <a:ext uri="{FF2B5EF4-FFF2-40B4-BE49-F238E27FC236}">
                  <a16:creationId xmlns:a16="http://schemas.microsoft.com/office/drawing/2014/main" id="{42492CCA-6F07-BF51-A0FC-ABC21C4D36F6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19124" y="4972049"/>
              <a:ext cx="114299" cy="152399"/>
            </a:xfrm>
            <a:prstGeom prst="rect">
              <a:avLst/>
            </a:prstGeom>
          </p:spPr>
        </p:pic>
        <p:pic>
          <p:nvPicPr>
            <p:cNvPr id="64" name="object 64">
              <a:extLst>
                <a:ext uri="{FF2B5EF4-FFF2-40B4-BE49-F238E27FC236}">
                  <a16:creationId xmlns:a16="http://schemas.microsoft.com/office/drawing/2014/main" id="{82875EA3-DC5B-5277-FEFD-BD4C4EE93307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1974" y="5238749"/>
              <a:ext cx="228599" cy="228599"/>
            </a:xfrm>
            <a:prstGeom prst="rect">
              <a:avLst/>
            </a:prstGeom>
          </p:spPr>
        </p:pic>
        <p:pic>
          <p:nvPicPr>
            <p:cNvPr id="65" name="object 65">
              <a:extLst>
                <a:ext uri="{FF2B5EF4-FFF2-40B4-BE49-F238E27FC236}">
                  <a16:creationId xmlns:a16="http://schemas.microsoft.com/office/drawing/2014/main" id="{EBC0A80A-F7E6-D879-4574-CFE6E0DAE718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19124" y="5276849"/>
              <a:ext cx="114299" cy="152399"/>
            </a:xfrm>
            <a:prstGeom prst="rect">
              <a:avLst/>
            </a:prstGeom>
          </p:spPr>
        </p:pic>
        <p:pic>
          <p:nvPicPr>
            <p:cNvPr id="66" name="object 66">
              <a:extLst>
                <a:ext uri="{FF2B5EF4-FFF2-40B4-BE49-F238E27FC236}">
                  <a16:creationId xmlns:a16="http://schemas.microsoft.com/office/drawing/2014/main" id="{11A1E167-D48D-2535-033E-210978DAFBB9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61974" y="5695949"/>
              <a:ext cx="228599" cy="228599"/>
            </a:xfrm>
            <a:prstGeom prst="rect">
              <a:avLst/>
            </a:prstGeom>
          </p:spPr>
        </p:pic>
        <p:pic>
          <p:nvPicPr>
            <p:cNvPr id="67" name="object 67">
              <a:extLst>
                <a:ext uri="{FF2B5EF4-FFF2-40B4-BE49-F238E27FC236}">
                  <a16:creationId xmlns:a16="http://schemas.microsoft.com/office/drawing/2014/main" id="{26C74FED-3C47-444D-9B2B-2EDBA0B82367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19124" y="5734049"/>
              <a:ext cx="114299" cy="152399"/>
            </a:xfrm>
            <a:prstGeom prst="rect">
              <a:avLst/>
            </a:prstGeom>
          </p:spPr>
        </p:pic>
        <p:pic>
          <p:nvPicPr>
            <p:cNvPr id="68" name="object 68">
              <a:extLst>
                <a:ext uri="{FF2B5EF4-FFF2-40B4-BE49-F238E27FC236}">
                  <a16:creationId xmlns:a16="http://schemas.microsoft.com/office/drawing/2014/main" id="{51606612-DEB8-CD34-C655-4336B8E94E96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61974" y="6153149"/>
              <a:ext cx="228599" cy="228599"/>
            </a:xfrm>
            <a:prstGeom prst="rect">
              <a:avLst/>
            </a:prstGeom>
          </p:spPr>
        </p:pic>
        <p:pic>
          <p:nvPicPr>
            <p:cNvPr id="69" name="object 69">
              <a:extLst>
                <a:ext uri="{FF2B5EF4-FFF2-40B4-BE49-F238E27FC236}">
                  <a16:creationId xmlns:a16="http://schemas.microsoft.com/office/drawing/2014/main" id="{8DFF596D-5272-919C-E2D3-2ED58C78F3AF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09599" y="6191249"/>
              <a:ext cx="142874" cy="152399"/>
            </a:xfrm>
            <a:prstGeom prst="rect">
              <a:avLst/>
            </a:prstGeom>
          </p:spPr>
        </p:pic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A942FD65-51E0-82B0-4F60-D7B348FDE609}"/>
                </a:ext>
              </a:extLst>
            </p:cNvPr>
            <p:cNvSpPr/>
            <p:nvPr/>
          </p:nvSpPr>
          <p:spPr>
            <a:xfrm>
              <a:off x="6210299" y="2876549"/>
              <a:ext cx="5600700" cy="3886200"/>
            </a:xfrm>
            <a:custGeom>
              <a:avLst/>
              <a:gdLst/>
              <a:ahLst/>
              <a:cxnLst/>
              <a:rect l="l" t="t" r="r" b="b"/>
              <a:pathLst>
                <a:path w="5600700" h="3886200">
                  <a:moveTo>
                    <a:pt x="5529502" y="3886199"/>
                  </a:moveTo>
                  <a:lnTo>
                    <a:pt x="71196" y="3886199"/>
                  </a:lnTo>
                  <a:lnTo>
                    <a:pt x="66241" y="3885711"/>
                  </a:lnTo>
                  <a:lnTo>
                    <a:pt x="29705" y="3870577"/>
                  </a:lnTo>
                  <a:lnTo>
                    <a:pt x="3885" y="3834537"/>
                  </a:lnTo>
                  <a:lnTo>
                    <a:pt x="0" y="3815002"/>
                  </a:lnTo>
                  <a:lnTo>
                    <a:pt x="0" y="3809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5529502" y="0"/>
                  </a:lnTo>
                  <a:lnTo>
                    <a:pt x="5570993" y="15621"/>
                  </a:lnTo>
                  <a:lnTo>
                    <a:pt x="5596813" y="51662"/>
                  </a:lnTo>
                  <a:lnTo>
                    <a:pt x="5600699" y="71196"/>
                  </a:lnTo>
                  <a:lnTo>
                    <a:pt x="5600699" y="3815002"/>
                  </a:lnTo>
                  <a:lnTo>
                    <a:pt x="5585077" y="3856494"/>
                  </a:lnTo>
                  <a:lnTo>
                    <a:pt x="5549037" y="3882313"/>
                  </a:lnTo>
                  <a:lnTo>
                    <a:pt x="5534457" y="3885711"/>
                  </a:lnTo>
                  <a:lnTo>
                    <a:pt x="5529502" y="3886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66AEEF8A-9C3A-4A67-028C-11D266123091}"/>
                </a:ext>
              </a:extLst>
            </p:cNvPr>
            <p:cNvSpPr/>
            <p:nvPr/>
          </p:nvSpPr>
          <p:spPr>
            <a:xfrm>
              <a:off x="6362699" y="5924549"/>
              <a:ext cx="5295900" cy="685800"/>
            </a:xfrm>
            <a:custGeom>
              <a:avLst/>
              <a:gdLst/>
              <a:ahLst/>
              <a:cxnLst/>
              <a:rect l="l" t="t" r="r" b="b"/>
              <a:pathLst>
                <a:path w="5295900" h="685800">
                  <a:moveTo>
                    <a:pt x="5224702" y="685799"/>
                  </a:moveTo>
                  <a:lnTo>
                    <a:pt x="71196" y="685799"/>
                  </a:lnTo>
                  <a:lnTo>
                    <a:pt x="66241" y="685311"/>
                  </a:lnTo>
                  <a:lnTo>
                    <a:pt x="29705" y="670177"/>
                  </a:lnTo>
                  <a:lnTo>
                    <a:pt x="3885" y="634137"/>
                  </a:lnTo>
                  <a:lnTo>
                    <a:pt x="0" y="614603"/>
                  </a:lnTo>
                  <a:lnTo>
                    <a:pt x="0" y="609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5224702" y="0"/>
                  </a:lnTo>
                  <a:lnTo>
                    <a:pt x="5266193" y="15621"/>
                  </a:lnTo>
                  <a:lnTo>
                    <a:pt x="5292013" y="51661"/>
                  </a:lnTo>
                  <a:lnTo>
                    <a:pt x="5295899" y="71196"/>
                  </a:lnTo>
                  <a:lnTo>
                    <a:pt x="5295899" y="614603"/>
                  </a:lnTo>
                  <a:lnTo>
                    <a:pt x="5280277" y="656094"/>
                  </a:lnTo>
                  <a:lnTo>
                    <a:pt x="5244237" y="681913"/>
                  </a:lnTo>
                  <a:lnTo>
                    <a:pt x="5229657" y="685311"/>
                  </a:lnTo>
                  <a:lnTo>
                    <a:pt x="5224702" y="6857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>
              <a:extLst>
                <a:ext uri="{FF2B5EF4-FFF2-40B4-BE49-F238E27FC236}">
                  <a16:creationId xmlns:a16="http://schemas.microsoft.com/office/drawing/2014/main" id="{C6B21B18-B97F-0D3D-EDF5-4D50FCA25BD8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62699" y="3076574"/>
              <a:ext cx="190499" cy="190499"/>
            </a:xfrm>
            <a:prstGeom prst="rect">
              <a:avLst/>
            </a:prstGeom>
          </p:spPr>
        </p:pic>
      </p:grpSp>
      <p:sp>
        <p:nvSpPr>
          <p:cNvPr id="73" name="object 73">
            <a:extLst>
              <a:ext uri="{FF2B5EF4-FFF2-40B4-BE49-F238E27FC236}">
                <a16:creationId xmlns:a16="http://schemas.microsoft.com/office/drawing/2014/main" id="{11ACD342-8BD5-9AAD-2B81-139440E8D079}"/>
              </a:ext>
            </a:extLst>
          </p:cNvPr>
          <p:cNvSpPr txBox="1"/>
          <p:nvPr/>
        </p:nvSpPr>
        <p:spPr>
          <a:xfrm>
            <a:off x="854079" y="3398966"/>
            <a:ext cx="4621170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총괄 </a:t>
            </a:r>
            <a:r>
              <a:rPr sz="1149" dirty="0">
                <a:solidFill>
                  <a:srgbClr val="374050"/>
                </a:solidFill>
                <a:latin typeface="Arial"/>
                <a:cs typeface="Arial"/>
              </a:rPr>
              <a:t>(CTO/CDO):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프로젝트 전체를 총괄하고 방향성을 명확히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74" name="object 74">
            <a:extLst>
              <a:ext uri="{FF2B5EF4-FFF2-40B4-BE49-F238E27FC236}">
                <a16:creationId xmlns:a16="http://schemas.microsoft.com/office/drawing/2014/main" id="{043DF6E8-A0A1-23C4-EBF9-33A7A3121EA8}"/>
              </a:ext>
            </a:extLst>
          </p:cNvPr>
          <p:cNvSpPr txBox="1"/>
          <p:nvPr/>
        </p:nvSpPr>
        <p:spPr>
          <a:xfrm>
            <a:off x="854080" y="3694086"/>
            <a:ext cx="4901564" cy="3810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89"/>
              </a:spcBef>
            </a:pPr>
            <a:r>
              <a:rPr sz="1149" dirty="0">
                <a:solidFill>
                  <a:srgbClr val="374050"/>
                </a:solidFill>
                <a:latin typeface="Arial"/>
                <a:cs typeface="Arial"/>
              </a:rPr>
              <a:t>AI </a:t>
            </a: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컨설턴트</a:t>
            </a:r>
            <a:r>
              <a:rPr sz="1149" dirty="0">
                <a:solidFill>
                  <a:srgbClr val="374050"/>
                </a:solidFill>
                <a:latin typeface="Arial"/>
                <a:cs typeface="Arial"/>
              </a:rPr>
              <a:t>: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기술적 조직적 기반을 마련하고 </a:t>
            </a:r>
            <a:r>
              <a:rPr sz="1149" dirty="0">
                <a:solidFill>
                  <a:srgbClr val="4A5462"/>
                </a:solidFill>
                <a:latin typeface="Franklin Gothic Heavy"/>
                <a:cs typeface="Franklin Gothic Heavy"/>
              </a:rPr>
              <a:t>PoC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를 완료하여 전체 프로젝트의 성공확률 을 제고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75" name="object 75">
            <a:extLst>
              <a:ext uri="{FF2B5EF4-FFF2-40B4-BE49-F238E27FC236}">
                <a16:creationId xmlns:a16="http://schemas.microsoft.com/office/drawing/2014/main" id="{7CC527CE-2D5B-55F4-DAF6-F0D83C735D9A}"/>
              </a:ext>
            </a:extLst>
          </p:cNvPr>
          <p:cNvSpPr txBox="1"/>
          <p:nvPr/>
        </p:nvSpPr>
        <p:spPr>
          <a:xfrm>
            <a:off x="854080" y="4151287"/>
            <a:ext cx="5015866" cy="3810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89"/>
              </a:spcBef>
            </a:pP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데이터 엔지니어</a:t>
            </a:r>
            <a:r>
              <a:rPr sz="1149" dirty="0">
                <a:solidFill>
                  <a:srgbClr val="374050"/>
                </a:solidFill>
                <a:latin typeface="Arial"/>
                <a:cs typeface="Arial"/>
              </a:rPr>
              <a:t>: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센서 데이터의 실시간 수집 및 처리를 위한 아키텍처 설계 및 데이터 파이 프라인 및 저장소 구축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76" name="object 76">
            <a:extLst>
              <a:ext uri="{FF2B5EF4-FFF2-40B4-BE49-F238E27FC236}">
                <a16:creationId xmlns:a16="http://schemas.microsoft.com/office/drawing/2014/main" id="{97044F82-3964-4F6D-F120-916D9994BF66}"/>
              </a:ext>
            </a:extLst>
          </p:cNvPr>
          <p:cNvSpPr txBox="1"/>
          <p:nvPr/>
        </p:nvSpPr>
        <p:spPr>
          <a:xfrm>
            <a:off x="854076" y="4556830"/>
            <a:ext cx="4796790" cy="371000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rgbClr val="374050"/>
                </a:solidFill>
                <a:latin typeface="Arial"/>
                <a:cs typeface="Arial"/>
              </a:rPr>
              <a:t>AI/ML </a:t>
            </a: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엔지니어</a:t>
            </a:r>
            <a:r>
              <a:rPr sz="1149" dirty="0">
                <a:solidFill>
                  <a:srgbClr val="374050"/>
                </a:solidFill>
                <a:latin typeface="Arial"/>
                <a:cs typeface="Arial"/>
              </a:rPr>
              <a:t>: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비전 검사 및 예측 유지보수 시스템 개발</a:t>
            </a:r>
            <a:r>
              <a:rPr sz="1149" dirty="0">
                <a:solidFill>
                  <a:srgbClr val="4A5462"/>
                </a:solidFill>
                <a:latin typeface="Franklin Gothic Heavy"/>
                <a:cs typeface="Franklin Gothic Heavy"/>
              </a:rPr>
              <a:t>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훈련 데이터 라벨링 및 검증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77" name="object 77">
            <a:extLst>
              <a:ext uri="{FF2B5EF4-FFF2-40B4-BE49-F238E27FC236}">
                <a16:creationId xmlns:a16="http://schemas.microsoft.com/office/drawing/2014/main" id="{312F42D9-8AB6-418D-E6E3-9C600F0B28FA}"/>
              </a:ext>
            </a:extLst>
          </p:cNvPr>
          <p:cNvSpPr txBox="1"/>
          <p:nvPr/>
        </p:nvSpPr>
        <p:spPr>
          <a:xfrm>
            <a:off x="854075" y="4922964"/>
            <a:ext cx="4768215" cy="371000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지식 엔지니어</a:t>
            </a:r>
            <a:r>
              <a:rPr sz="1149" dirty="0">
                <a:solidFill>
                  <a:srgbClr val="374050"/>
                </a:solidFill>
                <a:latin typeface="Arial"/>
                <a:cs typeface="Arial"/>
              </a:rPr>
              <a:t>: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온톨로지 및 지식 그래프 구축</a:t>
            </a:r>
            <a:r>
              <a:rPr sz="1149" dirty="0">
                <a:solidFill>
                  <a:srgbClr val="4A5462"/>
                </a:solidFill>
                <a:latin typeface="Franklin Gothic Heavy"/>
                <a:cs typeface="Franklin Gothic Heavy"/>
              </a:rPr>
              <a:t>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복잡한 질의에 대한 추론 가능성을 검증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78" name="object 78">
            <a:extLst>
              <a:ext uri="{FF2B5EF4-FFF2-40B4-BE49-F238E27FC236}">
                <a16:creationId xmlns:a16="http://schemas.microsoft.com/office/drawing/2014/main" id="{D2A20467-81C6-F15C-A2E4-37CADC2CCDBA}"/>
              </a:ext>
            </a:extLst>
          </p:cNvPr>
          <p:cNvSpPr txBox="1"/>
          <p:nvPr/>
        </p:nvSpPr>
        <p:spPr>
          <a:xfrm>
            <a:off x="854075" y="5284996"/>
            <a:ext cx="4863465" cy="3810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89"/>
              </a:spcBef>
            </a:pP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로보틱스</a:t>
            </a:r>
            <a:r>
              <a:rPr sz="1149" dirty="0">
                <a:solidFill>
                  <a:srgbClr val="374050"/>
                </a:solidFill>
                <a:latin typeface="Arial"/>
                <a:cs typeface="Arial"/>
              </a:rPr>
              <a:t>/</a:t>
            </a: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시뮬레이션 엔지니어</a:t>
            </a:r>
            <a:r>
              <a:rPr sz="1149" dirty="0">
                <a:solidFill>
                  <a:srgbClr val="374050"/>
                </a:solidFill>
                <a:latin typeface="Arial"/>
                <a:cs typeface="Arial"/>
              </a:rPr>
              <a:t>: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디지털 트윈 및 로봇 제어 시스템 구축</a:t>
            </a:r>
            <a:r>
              <a:rPr sz="1149" dirty="0">
                <a:solidFill>
                  <a:srgbClr val="4A5462"/>
                </a:solidFill>
                <a:latin typeface="Franklin Gothic Heavy"/>
                <a:cs typeface="Franklin Gothic Heavy"/>
              </a:rPr>
              <a:t>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공정 시뮬레이션 기반 최적화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79" name="object 79">
            <a:extLst>
              <a:ext uri="{FF2B5EF4-FFF2-40B4-BE49-F238E27FC236}">
                <a16:creationId xmlns:a16="http://schemas.microsoft.com/office/drawing/2014/main" id="{5114AD8B-4532-5448-F0D8-AEAF15BE089C}"/>
              </a:ext>
            </a:extLst>
          </p:cNvPr>
          <p:cNvSpPr txBox="1"/>
          <p:nvPr/>
        </p:nvSpPr>
        <p:spPr>
          <a:xfrm>
            <a:off x="854075" y="5675286"/>
            <a:ext cx="4977765" cy="3810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89"/>
              </a:spcBef>
            </a:pP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도메인 전문가</a:t>
            </a:r>
            <a:r>
              <a:rPr sz="1149" dirty="0">
                <a:solidFill>
                  <a:srgbClr val="374050"/>
                </a:solidFill>
                <a:latin typeface="Arial"/>
                <a:cs typeface="Arial"/>
              </a:rPr>
              <a:t>: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지식그래프 구축을 위한 도메인 전문지식 제공</a:t>
            </a:r>
            <a:r>
              <a:rPr sz="1149" dirty="0">
                <a:solidFill>
                  <a:srgbClr val="4A5462"/>
                </a:solidFill>
                <a:latin typeface="Franklin Gothic Heavy"/>
                <a:cs typeface="Franklin Gothic Heavy"/>
              </a:rPr>
              <a:t>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모델의 학습 데이터 라벨링 및 검증</a:t>
            </a:r>
            <a:endParaRPr sz="1149">
              <a:latin typeface="Malgun Gothic"/>
              <a:cs typeface="Malgun Gothic"/>
            </a:endParaRPr>
          </a:p>
        </p:txBody>
      </p:sp>
      <p:sp>
        <p:nvSpPr>
          <p:cNvPr id="80" name="object 80">
            <a:extLst>
              <a:ext uri="{FF2B5EF4-FFF2-40B4-BE49-F238E27FC236}">
                <a16:creationId xmlns:a16="http://schemas.microsoft.com/office/drawing/2014/main" id="{9C943E9A-33B9-283A-44A6-DCC79A90432B}"/>
              </a:ext>
            </a:extLst>
          </p:cNvPr>
          <p:cNvSpPr txBox="1"/>
          <p:nvPr/>
        </p:nvSpPr>
        <p:spPr>
          <a:xfrm>
            <a:off x="854075" y="6132486"/>
            <a:ext cx="4930140" cy="3810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89"/>
              </a:spcBef>
            </a:pP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현업 전문가</a:t>
            </a:r>
            <a:r>
              <a:rPr sz="1149" dirty="0">
                <a:solidFill>
                  <a:srgbClr val="374050"/>
                </a:solidFill>
                <a:latin typeface="Arial"/>
                <a:cs typeface="Arial"/>
              </a:rPr>
              <a:t>: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최종 시스템의 현장적용 및 피드백 제공</a:t>
            </a:r>
            <a:r>
              <a:rPr sz="1149" dirty="0">
                <a:solidFill>
                  <a:srgbClr val="4A5462"/>
                </a:solidFill>
                <a:latin typeface="Franklin Gothic Heavy"/>
                <a:cs typeface="Franklin Gothic Heavy"/>
              </a:rPr>
              <a:t>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실제 운영 중인 설비의 상태 모니터 링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81" name="object 81">
            <a:extLst>
              <a:ext uri="{FF2B5EF4-FFF2-40B4-BE49-F238E27FC236}">
                <a16:creationId xmlns:a16="http://schemas.microsoft.com/office/drawing/2014/main" id="{CB904081-5CCA-300F-06F4-68259F04922F}"/>
              </a:ext>
            </a:extLst>
          </p:cNvPr>
          <p:cNvSpPr txBox="1"/>
          <p:nvPr/>
        </p:nvSpPr>
        <p:spPr>
          <a:xfrm>
            <a:off x="5220991" y="2657887"/>
            <a:ext cx="3752916" cy="630045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  <a:tabLst>
                <a:tab pos="2838191" algn="l"/>
              </a:tabLst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로보틱스</a:t>
            </a:r>
            <a:r>
              <a:rPr sz="1149" b="1" dirty="0">
                <a:solidFill>
                  <a:srgbClr val="374050"/>
                </a:solidFill>
                <a:latin typeface="Trebuchet MS"/>
                <a:cs typeface="Trebuchet MS"/>
              </a:rPr>
              <a:t>/</a:t>
            </a: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시뮬레이션 엔지니어	현업 전문가</a:t>
            </a:r>
            <a:endParaRPr sz="1149" dirty="0">
              <a:latin typeface="Malgun Gothic"/>
              <a:cs typeface="Malgun Gothic"/>
            </a:endParaRPr>
          </a:p>
          <a:p>
            <a:pPr>
              <a:spcBef>
                <a:spcPts val="65"/>
              </a:spcBef>
            </a:pPr>
            <a:endParaRPr sz="1049" dirty="0">
              <a:latin typeface="Malgun Gothic"/>
              <a:cs typeface="Malgun Gothic"/>
            </a:endParaRPr>
          </a:p>
          <a:p>
            <a:pPr marL="1464810"/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단계별 인력 투입 계획</a:t>
            </a:r>
            <a:endParaRPr sz="1700" dirty="0">
              <a:latin typeface="Malgun Gothic"/>
              <a:cs typeface="Malgun Gothic"/>
            </a:endParaRPr>
          </a:p>
        </p:txBody>
      </p:sp>
      <p:sp>
        <p:nvSpPr>
          <p:cNvPr id="82" name="object 82">
            <a:extLst>
              <a:ext uri="{FF2B5EF4-FFF2-40B4-BE49-F238E27FC236}">
                <a16:creationId xmlns:a16="http://schemas.microsoft.com/office/drawing/2014/main" id="{70D8D21D-E2D6-9718-B549-BD7757C9D02A}"/>
              </a:ext>
            </a:extLst>
          </p:cNvPr>
          <p:cNvSpPr txBox="1"/>
          <p:nvPr/>
        </p:nvSpPr>
        <p:spPr>
          <a:xfrm>
            <a:off x="6349998" y="5723064"/>
            <a:ext cx="1573265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인력 관리 핵심 포인트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83" name="object 83">
            <a:extLst>
              <a:ext uri="{FF2B5EF4-FFF2-40B4-BE49-F238E27FC236}">
                <a16:creationId xmlns:a16="http://schemas.microsoft.com/office/drawing/2014/main" id="{229A6E56-9037-2707-9E8C-73263C53A3E5}"/>
              </a:ext>
            </a:extLst>
          </p:cNvPr>
          <p:cNvGrpSpPr/>
          <p:nvPr/>
        </p:nvGrpSpPr>
        <p:grpSpPr>
          <a:xfrm>
            <a:off x="6362698" y="3581399"/>
            <a:ext cx="5295900" cy="2933700"/>
            <a:chOff x="6362699" y="3581399"/>
            <a:chExt cx="5295900" cy="2933700"/>
          </a:xfrm>
        </p:grpSpPr>
        <p:pic>
          <p:nvPicPr>
            <p:cNvPr id="84" name="object 84">
              <a:extLst>
                <a:ext uri="{FF2B5EF4-FFF2-40B4-BE49-F238E27FC236}">
                  <a16:creationId xmlns:a16="http://schemas.microsoft.com/office/drawing/2014/main" id="{C8BEBB87-C1B9-A617-3D6D-D63F538DEB12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38899" y="6019799"/>
              <a:ext cx="114299" cy="114299"/>
            </a:xfrm>
            <a:prstGeom prst="rect">
              <a:avLst/>
            </a:prstGeom>
          </p:spPr>
        </p:pic>
        <p:pic>
          <p:nvPicPr>
            <p:cNvPr id="85" name="object 85">
              <a:extLst>
                <a:ext uri="{FF2B5EF4-FFF2-40B4-BE49-F238E27FC236}">
                  <a16:creationId xmlns:a16="http://schemas.microsoft.com/office/drawing/2014/main" id="{2B1B17CD-F6A4-D8B5-2D25-91BD1C93D8DF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38899" y="6210299"/>
              <a:ext cx="114299" cy="114299"/>
            </a:xfrm>
            <a:prstGeom prst="rect">
              <a:avLst/>
            </a:prstGeom>
          </p:spPr>
        </p:pic>
        <p:pic>
          <p:nvPicPr>
            <p:cNvPr id="86" name="object 86">
              <a:extLst>
                <a:ext uri="{FF2B5EF4-FFF2-40B4-BE49-F238E27FC236}">
                  <a16:creationId xmlns:a16="http://schemas.microsoft.com/office/drawing/2014/main" id="{57ACE8CD-5D82-AE96-15DE-41F8DFC69B60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38899" y="6400799"/>
              <a:ext cx="114299" cy="114299"/>
            </a:xfrm>
            <a:prstGeom prst="rect">
              <a:avLst/>
            </a:prstGeom>
          </p:spPr>
        </p:pic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8A299872-3191-A657-9759-84853EBD68A8}"/>
                </a:ext>
              </a:extLst>
            </p:cNvPr>
            <p:cNvSpPr/>
            <p:nvPr/>
          </p:nvSpPr>
          <p:spPr>
            <a:xfrm>
              <a:off x="6362699" y="3600449"/>
              <a:ext cx="5295900" cy="76200"/>
            </a:xfrm>
            <a:custGeom>
              <a:avLst/>
              <a:gdLst/>
              <a:ahLst/>
              <a:cxnLst/>
              <a:rect l="l" t="t" r="r" b="b"/>
              <a:pathLst>
                <a:path w="5295900" h="76200">
                  <a:moveTo>
                    <a:pt x="5262850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262850" y="0"/>
                  </a:lnTo>
                  <a:lnTo>
                    <a:pt x="5294932" y="28187"/>
                  </a:lnTo>
                  <a:lnTo>
                    <a:pt x="5295899" y="33047"/>
                  </a:lnTo>
                  <a:lnTo>
                    <a:pt x="5295899" y="43152"/>
                  </a:lnTo>
                  <a:lnTo>
                    <a:pt x="5267711" y="75233"/>
                  </a:lnTo>
                  <a:lnTo>
                    <a:pt x="5262850" y="76199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>
              <a:extLst>
                <a:ext uri="{FF2B5EF4-FFF2-40B4-BE49-F238E27FC236}">
                  <a16:creationId xmlns:a16="http://schemas.microsoft.com/office/drawing/2014/main" id="{58BFBECC-0D2A-C91D-37FC-950A14AFFB37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896099" y="3581399"/>
              <a:ext cx="114299" cy="114299"/>
            </a:xfrm>
            <a:prstGeom prst="rect">
              <a:avLst/>
            </a:prstGeom>
          </p:spPr>
        </p:pic>
      </p:grpSp>
      <p:sp>
        <p:nvSpPr>
          <p:cNvPr id="89" name="object 89">
            <a:extLst>
              <a:ext uri="{FF2B5EF4-FFF2-40B4-BE49-F238E27FC236}">
                <a16:creationId xmlns:a16="http://schemas.microsoft.com/office/drawing/2014/main" id="{5182EAA4-299D-B18E-D93C-B9F35CBE32EF}"/>
              </a:ext>
            </a:extLst>
          </p:cNvPr>
          <p:cNvSpPr txBox="1"/>
          <p:nvPr/>
        </p:nvSpPr>
        <p:spPr>
          <a:xfrm>
            <a:off x="6616699" y="5947206"/>
            <a:ext cx="4785421" cy="597216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653355">
              <a:lnSpc>
                <a:spcPct val="125000"/>
              </a:lnSpc>
              <a:spcBef>
                <a:spcPts val="95"/>
              </a:spcBef>
            </a:pPr>
            <a:r>
              <a:rPr sz="1001" dirty="0">
                <a:latin typeface="Malgun Gothic"/>
                <a:cs typeface="Malgun Gothic"/>
              </a:rPr>
              <a:t>기술 인력과 현업 전문가간의 지속적인 소통 채널 </a:t>
            </a:r>
            <a:r>
              <a:rPr sz="1001" dirty="0" err="1">
                <a:latin typeface="Malgun Gothic"/>
                <a:cs typeface="Malgun Gothic"/>
              </a:rPr>
              <a:t>구축</a:t>
            </a:r>
            <a:r>
              <a:rPr sz="1001" dirty="0">
                <a:latin typeface="Malgun Gothic"/>
                <a:cs typeface="Malgun Gothic"/>
              </a:rPr>
              <a:t> </a:t>
            </a:r>
            <a:endParaRPr lang="en-US" sz="1001" dirty="0">
              <a:latin typeface="Malgun Gothic"/>
              <a:cs typeface="Malgun Gothic"/>
            </a:endParaRPr>
          </a:p>
          <a:p>
            <a:pPr marL="12700" marR="653355">
              <a:lnSpc>
                <a:spcPct val="125000"/>
              </a:lnSpc>
              <a:spcBef>
                <a:spcPts val="95"/>
              </a:spcBef>
            </a:pPr>
            <a:r>
              <a:rPr sz="1001" dirty="0" err="1">
                <a:latin typeface="Malgun Gothic"/>
                <a:cs typeface="Malgun Gothic"/>
              </a:rPr>
              <a:t>모델의</a:t>
            </a:r>
            <a:r>
              <a:rPr sz="1001" dirty="0">
                <a:latin typeface="Malgun Gothic"/>
                <a:cs typeface="Malgun Gothic"/>
              </a:rPr>
              <a:t> 성능을 현장 조건에 최적화하는 작업 병행</a:t>
            </a:r>
          </a:p>
          <a:p>
            <a:pPr marL="12700">
              <a:spcBef>
                <a:spcPts val="249"/>
              </a:spcBef>
            </a:pPr>
            <a:r>
              <a:rPr sz="1001" dirty="0">
                <a:latin typeface="Malgun Gothic"/>
                <a:cs typeface="Malgun Gothic"/>
              </a:rPr>
              <a:t>기술 역량 재배치 및 강화 </a:t>
            </a:r>
            <a:r>
              <a:rPr sz="1049" dirty="0">
                <a:latin typeface="Microsoft Sans Serif"/>
                <a:cs typeface="Microsoft Sans Serif"/>
              </a:rPr>
              <a:t>(Reskilling, Upskilling)</a:t>
            </a:r>
            <a:r>
              <a:rPr sz="1001" dirty="0">
                <a:latin typeface="Malgun Gothic"/>
                <a:cs typeface="Malgun Gothic"/>
              </a:rPr>
              <a:t>에 초점을 맞추기</a:t>
            </a:r>
          </a:p>
        </p:txBody>
      </p:sp>
      <p:sp>
        <p:nvSpPr>
          <p:cNvPr id="90" name="object 90">
            <a:extLst>
              <a:ext uri="{FF2B5EF4-FFF2-40B4-BE49-F238E27FC236}">
                <a16:creationId xmlns:a16="http://schemas.microsoft.com/office/drawing/2014/main" id="{74D050C3-A6B5-C318-42B8-824448A3B977}"/>
              </a:ext>
            </a:extLst>
          </p:cNvPr>
          <p:cNvSpPr txBox="1"/>
          <p:nvPr/>
        </p:nvSpPr>
        <p:spPr>
          <a:xfrm>
            <a:off x="6374713" y="3363346"/>
            <a:ext cx="1340537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사전컨설팅 </a:t>
            </a: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(1-6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)</a:t>
            </a:r>
            <a:endParaRPr sz="1001" dirty="0">
              <a:latin typeface="Arial"/>
              <a:cs typeface="Arial"/>
            </a:endParaRPr>
          </a:p>
        </p:txBody>
      </p:sp>
      <p:pic>
        <p:nvPicPr>
          <p:cNvPr id="91" name="object 91">
            <a:extLst>
              <a:ext uri="{FF2B5EF4-FFF2-40B4-BE49-F238E27FC236}">
                <a16:creationId xmlns:a16="http://schemas.microsoft.com/office/drawing/2014/main" id="{51111D26-16C4-7A8A-CBAE-62EE4C0046E2}"/>
              </a:ext>
            </a:extLst>
          </p:cNvPr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477257" y="3581405"/>
            <a:ext cx="114300" cy="114300"/>
          </a:xfrm>
          <a:prstGeom prst="rect">
            <a:avLst/>
          </a:prstGeom>
        </p:spPr>
      </p:pic>
      <p:sp>
        <p:nvSpPr>
          <p:cNvPr id="92" name="object 92">
            <a:extLst>
              <a:ext uri="{FF2B5EF4-FFF2-40B4-BE49-F238E27FC236}">
                <a16:creationId xmlns:a16="http://schemas.microsoft.com/office/drawing/2014/main" id="{11EB8F84-9EEF-7DE9-8308-AEDDD2D9634C}"/>
              </a:ext>
            </a:extLst>
          </p:cNvPr>
          <p:cNvSpPr txBox="1"/>
          <p:nvPr/>
        </p:nvSpPr>
        <p:spPr>
          <a:xfrm>
            <a:off x="7901533" y="3372871"/>
            <a:ext cx="1522063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구축 및 확산 </a:t>
            </a: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(7-24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)</a:t>
            </a:r>
            <a:endParaRPr sz="1001" dirty="0">
              <a:latin typeface="Arial"/>
              <a:cs typeface="Arial"/>
            </a:endParaRPr>
          </a:p>
        </p:txBody>
      </p:sp>
      <p:pic>
        <p:nvPicPr>
          <p:cNvPr id="93" name="object 93">
            <a:extLst>
              <a:ext uri="{FF2B5EF4-FFF2-40B4-BE49-F238E27FC236}">
                <a16:creationId xmlns:a16="http://schemas.microsoft.com/office/drawing/2014/main" id="{6995BA91-0CEB-D430-33D7-AE7BBBBCC53F}"/>
              </a:ext>
            </a:extLst>
          </p:cNvPr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0287005" y="3581403"/>
            <a:ext cx="114300" cy="114300"/>
          </a:xfrm>
          <a:prstGeom prst="rect">
            <a:avLst/>
          </a:prstGeom>
        </p:spPr>
      </p:pic>
      <p:sp>
        <p:nvSpPr>
          <p:cNvPr id="94" name="object 94">
            <a:extLst>
              <a:ext uri="{FF2B5EF4-FFF2-40B4-BE49-F238E27FC236}">
                <a16:creationId xmlns:a16="http://schemas.microsoft.com/office/drawing/2014/main" id="{0881A0B4-8654-F418-614F-60A4FF5E926A}"/>
              </a:ext>
            </a:extLst>
          </p:cNvPr>
          <p:cNvSpPr txBox="1"/>
          <p:nvPr/>
        </p:nvSpPr>
        <p:spPr>
          <a:xfrm>
            <a:off x="9499796" y="3372869"/>
            <a:ext cx="1739703" cy="1687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3"/>
              </a:spcBef>
            </a:pP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운영 및 확장 </a:t>
            </a: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(24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개월 이후</a:t>
            </a:r>
            <a:r>
              <a:rPr sz="1001" dirty="0">
                <a:solidFill>
                  <a:srgbClr val="4A5462"/>
                </a:solidFill>
                <a:latin typeface="Arial"/>
                <a:cs typeface="Arial"/>
              </a:rPr>
              <a:t>)</a:t>
            </a:r>
            <a:endParaRPr sz="1001" dirty="0">
              <a:latin typeface="Arial"/>
              <a:cs typeface="Arial"/>
            </a:endParaRPr>
          </a:p>
        </p:txBody>
      </p:sp>
      <p:grpSp>
        <p:nvGrpSpPr>
          <p:cNvPr id="95" name="object 95">
            <a:extLst>
              <a:ext uri="{FF2B5EF4-FFF2-40B4-BE49-F238E27FC236}">
                <a16:creationId xmlns:a16="http://schemas.microsoft.com/office/drawing/2014/main" id="{F3E2CC18-95CF-4B8F-E239-E5324D4BFE27}"/>
              </a:ext>
            </a:extLst>
          </p:cNvPr>
          <p:cNvGrpSpPr/>
          <p:nvPr/>
        </p:nvGrpSpPr>
        <p:grpSpPr>
          <a:xfrm>
            <a:off x="6362700" y="4095750"/>
            <a:ext cx="2571749" cy="1409699"/>
            <a:chOff x="6362699" y="4095749"/>
            <a:chExt cx="2571750" cy="1409700"/>
          </a:xfrm>
        </p:grpSpPr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450FA648-FD31-F830-FF94-BC00E924D835}"/>
                </a:ext>
              </a:extLst>
            </p:cNvPr>
            <p:cNvSpPr/>
            <p:nvPr/>
          </p:nvSpPr>
          <p:spPr>
            <a:xfrm>
              <a:off x="6362699" y="4095749"/>
              <a:ext cx="2571750" cy="1409700"/>
            </a:xfrm>
            <a:custGeom>
              <a:avLst/>
              <a:gdLst/>
              <a:ahLst/>
              <a:cxnLst/>
              <a:rect l="l" t="t" r="r" b="b"/>
              <a:pathLst>
                <a:path w="2571750" h="1409700">
                  <a:moveTo>
                    <a:pt x="2500553" y="1409699"/>
                  </a:moveTo>
                  <a:lnTo>
                    <a:pt x="71196" y="1409699"/>
                  </a:lnTo>
                  <a:lnTo>
                    <a:pt x="66241" y="1409211"/>
                  </a:lnTo>
                  <a:lnTo>
                    <a:pt x="29705" y="1394077"/>
                  </a:lnTo>
                  <a:lnTo>
                    <a:pt x="3885" y="1358037"/>
                  </a:lnTo>
                  <a:lnTo>
                    <a:pt x="0" y="1338503"/>
                  </a:lnTo>
                  <a:lnTo>
                    <a:pt x="0" y="1333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2500553" y="0"/>
                  </a:lnTo>
                  <a:lnTo>
                    <a:pt x="2542044" y="15621"/>
                  </a:lnTo>
                  <a:lnTo>
                    <a:pt x="2567863" y="51661"/>
                  </a:lnTo>
                  <a:lnTo>
                    <a:pt x="2571749" y="71196"/>
                  </a:lnTo>
                  <a:lnTo>
                    <a:pt x="2571749" y="1338503"/>
                  </a:lnTo>
                  <a:lnTo>
                    <a:pt x="2556127" y="1379993"/>
                  </a:lnTo>
                  <a:lnTo>
                    <a:pt x="2520087" y="1405813"/>
                  </a:lnTo>
                  <a:lnTo>
                    <a:pt x="2505508" y="1409211"/>
                  </a:lnTo>
                  <a:lnTo>
                    <a:pt x="2500553" y="14096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>
              <a:extLst>
                <a:ext uri="{FF2B5EF4-FFF2-40B4-BE49-F238E27FC236}">
                  <a16:creationId xmlns:a16="http://schemas.microsoft.com/office/drawing/2014/main" id="{97680A26-850C-1678-DB94-47E85C144DF1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476999" y="4495799"/>
              <a:ext cx="104774" cy="114299"/>
            </a:xfrm>
            <a:prstGeom prst="rect">
              <a:avLst/>
            </a:prstGeom>
          </p:spPr>
        </p:pic>
        <p:pic>
          <p:nvPicPr>
            <p:cNvPr id="98" name="object 98">
              <a:extLst>
                <a:ext uri="{FF2B5EF4-FFF2-40B4-BE49-F238E27FC236}">
                  <a16:creationId xmlns:a16="http://schemas.microsoft.com/office/drawing/2014/main" id="{7F628319-8313-33C9-DC9C-12C70CA80625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476999" y="4686299"/>
              <a:ext cx="85724" cy="114299"/>
            </a:xfrm>
            <a:prstGeom prst="rect">
              <a:avLst/>
            </a:prstGeom>
          </p:spPr>
        </p:pic>
        <p:pic>
          <p:nvPicPr>
            <p:cNvPr id="99" name="object 99">
              <a:extLst>
                <a:ext uri="{FF2B5EF4-FFF2-40B4-BE49-F238E27FC236}">
                  <a16:creationId xmlns:a16="http://schemas.microsoft.com/office/drawing/2014/main" id="{E02BFA66-BD00-EC1F-EEEA-DE3C6EB717BB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476999" y="4876799"/>
              <a:ext cx="142874" cy="114299"/>
            </a:xfrm>
            <a:prstGeom prst="rect">
              <a:avLst/>
            </a:prstGeom>
          </p:spPr>
        </p:pic>
        <p:pic>
          <p:nvPicPr>
            <p:cNvPr id="100" name="object 100">
              <a:extLst>
                <a:ext uri="{FF2B5EF4-FFF2-40B4-BE49-F238E27FC236}">
                  <a16:creationId xmlns:a16="http://schemas.microsoft.com/office/drawing/2014/main" id="{D46F9EA5-0A78-3C25-353B-3CEB95B50D4F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476999" y="5067299"/>
              <a:ext cx="142874" cy="114299"/>
            </a:xfrm>
            <a:prstGeom prst="rect">
              <a:avLst/>
            </a:prstGeom>
          </p:spPr>
        </p:pic>
      </p:grpSp>
      <p:sp>
        <p:nvSpPr>
          <p:cNvPr id="101" name="object 101">
            <a:extLst>
              <a:ext uri="{FF2B5EF4-FFF2-40B4-BE49-F238E27FC236}">
                <a16:creationId xmlns:a16="http://schemas.microsoft.com/office/drawing/2014/main" id="{0CAD5EE1-EED7-F47F-1C55-6D48951064F7}"/>
              </a:ext>
            </a:extLst>
          </p:cNvPr>
          <p:cNvSpPr txBox="1"/>
          <p:nvPr/>
        </p:nvSpPr>
        <p:spPr>
          <a:xfrm>
            <a:off x="6464307" y="4110639"/>
            <a:ext cx="2505070" cy="1110304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spcBef>
                <a:spcPts val="746"/>
              </a:spcBef>
            </a:pPr>
            <a:r>
              <a:rPr sz="1149" b="1" dirty="0">
                <a:solidFill>
                  <a:srgbClr val="1C4ED8"/>
                </a:solidFill>
                <a:latin typeface="Malgun Gothic"/>
                <a:cs typeface="Malgun Gothic"/>
              </a:rPr>
              <a:t>사전컨설팅 단계 </a:t>
            </a:r>
            <a:r>
              <a:rPr sz="1149" b="1" dirty="0">
                <a:solidFill>
                  <a:srgbClr val="1C4ED8"/>
                </a:solidFill>
                <a:latin typeface="Trebuchet MS"/>
                <a:cs typeface="Trebuchet MS"/>
              </a:rPr>
              <a:t>(1-6</a:t>
            </a:r>
            <a:r>
              <a:rPr sz="1149" b="1" dirty="0">
                <a:solidFill>
                  <a:srgbClr val="1C4ED8"/>
                </a:solidFill>
                <a:latin typeface="Malgun Gothic"/>
                <a:cs typeface="Malgun Gothic"/>
              </a:rPr>
              <a:t>개월</a:t>
            </a:r>
            <a:r>
              <a:rPr sz="1149" b="1" dirty="0">
                <a:solidFill>
                  <a:srgbClr val="1C4ED8"/>
                </a:solidFill>
                <a:latin typeface="Trebuchet MS"/>
                <a:cs typeface="Trebuchet MS"/>
              </a:rPr>
              <a:t>)</a:t>
            </a:r>
            <a:endParaRPr lang="en-US" sz="1149" b="1" dirty="0">
              <a:solidFill>
                <a:srgbClr val="1C4ED8"/>
              </a:solidFill>
              <a:latin typeface="Trebuchet MS"/>
              <a:cs typeface="Trebuchet MS"/>
            </a:endParaRPr>
          </a:p>
          <a:p>
            <a:pPr marL="12700">
              <a:spcBef>
                <a:spcPts val="746"/>
              </a:spcBef>
            </a:pPr>
            <a:r>
              <a:rPr lang="en-US" sz="1149" b="1" dirty="0">
                <a:solidFill>
                  <a:srgbClr val="1C4ED8"/>
                </a:solidFill>
                <a:latin typeface="Trebuchet MS"/>
                <a:cs typeface="Malgun Gothic"/>
              </a:rPr>
              <a:t>    </a:t>
            </a:r>
            <a:r>
              <a:rPr sz="1001" dirty="0" err="1">
                <a:latin typeface="Malgun Gothic"/>
                <a:cs typeface="Malgun Gothic"/>
              </a:rPr>
              <a:t>총괄</a:t>
            </a:r>
            <a:r>
              <a:rPr sz="1049" dirty="0">
                <a:latin typeface="Microsoft Sans Serif"/>
                <a:cs typeface="Microsoft Sans Serif"/>
              </a:rPr>
              <a:t>: 1</a:t>
            </a:r>
            <a:r>
              <a:rPr sz="1001" dirty="0">
                <a:latin typeface="Malgun Gothic"/>
                <a:cs typeface="Malgun Gothic"/>
              </a:rPr>
              <a:t>명</a:t>
            </a:r>
          </a:p>
          <a:p>
            <a:pPr marL="231120" marR="549861" indent="-57145">
              <a:lnSpc>
                <a:spcPct val="119000"/>
              </a:lnSpc>
            </a:pPr>
            <a:r>
              <a:rPr lang="en-US" sz="1049" dirty="0">
                <a:latin typeface="Microsoft Sans Serif"/>
                <a:cs typeface="Microsoft Sans Serif"/>
              </a:rPr>
              <a:t> </a:t>
            </a:r>
            <a:r>
              <a:rPr sz="1049" dirty="0">
                <a:latin typeface="Microsoft Sans Serif"/>
                <a:cs typeface="Microsoft Sans Serif"/>
              </a:rPr>
              <a:t>AI </a:t>
            </a:r>
            <a:r>
              <a:rPr sz="1001" dirty="0">
                <a:latin typeface="Malgun Gothic"/>
                <a:cs typeface="Malgun Gothic"/>
              </a:rPr>
              <a:t>컨설턴트</a:t>
            </a:r>
            <a:r>
              <a:rPr sz="1049" dirty="0">
                <a:latin typeface="Microsoft Sans Serif"/>
                <a:cs typeface="Microsoft Sans Serif"/>
              </a:rPr>
              <a:t>: 2</a:t>
            </a:r>
            <a:r>
              <a:rPr sz="1001" dirty="0">
                <a:latin typeface="Malgun Gothic"/>
                <a:cs typeface="Malgun Gothic"/>
              </a:rPr>
              <a:t>명 </a:t>
            </a:r>
            <a:endParaRPr lang="en-US" sz="1001" dirty="0">
              <a:latin typeface="Malgun Gothic"/>
              <a:cs typeface="Malgun Gothic"/>
            </a:endParaRPr>
          </a:p>
          <a:p>
            <a:pPr marL="231120" marR="549861" indent="-57145">
              <a:lnSpc>
                <a:spcPct val="119000"/>
              </a:lnSpc>
            </a:pPr>
            <a:r>
              <a:rPr lang="en-US" sz="1001" dirty="0">
                <a:latin typeface="Malgun Gothic"/>
                <a:cs typeface="Malgun Gothic"/>
              </a:rPr>
              <a:t> </a:t>
            </a:r>
            <a:r>
              <a:rPr sz="1001" dirty="0">
                <a:latin typeface="Malgun Gothic"/>
                <a:cs typeface="Malgun Gothic"/>
              </a:rPr>
              <a:t>팀 리드</a:t>
            </a:r>
            <a:r>
              <a:rPr sz="1049" dirty="0">
                <a:latin typeface="Microsoft Sans Serif"/>
                <a:cs typeface="Microsoft Sans Serif"/>
              </a:rPr>
              <a:t>: 2</a:t>
            </a:r>
            <a:r>
              <a:rPr sz="1001" dirty="0">
                <a:latin typeface="Malgun Gothic"/>
                <a:cs typeface="Malgun Gothic"/>
              </a:rPr>
              <a:t>명</a:t>
            </a:r>
          </a:p>
          <a:p>
            <a:pPr marL="231120">
              <a:spcBef>
                <a:spcPts val="240"/>
              </a:spcBef>
            </a:pPr>
            <a:r>
              <a:rPr sz="1001" dirty="0">
                <a:latin typeface="Malgun Gothic"/>
                <a:cs typeface="Malgun Gothic"/>
              </a:rPr>
              <a:t>데이터 엔지니어</a:t>
            </a:r>
            <a:r>
              <a:rPr sz="1049" dirty="0">
                <a:latin typeface="Microsoft Sans Serif"/>
                <a:cs typeface="Microsoft Sans Serif"/>
              </a:rPr>
              <a:t>: 1-2</a:t>
            </a:r>
            <a:r>
              <a:rPr sz="1001" dirty="0">
                <a:latin typeface="Malgun Gothic"/>
                <a:cs typeface="Malgun Gothic"/>
              </a:rPr>
              <a:t>명</a:t>
            </a:r>
          </a:p>
        </p:txBody>
      </p:sp>
      <p:sp>
        <p:nvSpPr>
          <p:cNvPr id="103" name="object 103">
            <a:extLst>
              <a:ext uri="{FF2B5EF4-FFF2-40B4-BE49-F238E27FC236}">
                <a16:creationId xmlns:a16="http://schemas.microsoft.com/office/drawing/2014/main" id="{D8E8BF7D-72E0-5192-E1A9-BCF2607381BF}"/>
              </a:ext>
            </a:extLst>
          </p:cNvPr>
          <p:cNvSpPr/>
          <p:nvPr/>
        </p:nvSpPr>
        <p:spPr>
          <a:xfrm>
            <a:off x="8839200" y="4791075"/>
            <a:ext cx="190500" cy="19050"/>
          </a:xfrm>
          <a:custGeom>
            <a:avLst/>
            <a:gdLst/>
            <a:ahLst/>
            <a:cxnLst/>
            <a:rect l="l" t="t" r="r" b="b"/>
            <a:pathLst>
              <a:path w="190500" h="19050">
                <a:moveTo>
                  <a:pt x="190499" y="19049"/>
                </a:moveTo>
                <a:lnTo>
                  <a:pt x="0" y="19049"/>
                </a:lnTo>
                <a:lnTo>
                  <a:pt x="0" y="0"/>
                </a:lnTo>
                <a:lnTo>
                  <a:pt x="190499" y="0"/>
                </a:lnTo>
                <a:lnTo>
                  <a:pt x="190499" y="19049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>
            <a:extLst>
              <a:ext uri="{FF2B5EF4-FFF2-40B4-BE49-F238E27FC236}">
                <a16:creationId xmlns:a16="http://schemas.microsoft.com/office/drawing/2014/main" id="{EC4CDA67-BBD2-F51A-535A-418EE4F946B1}"/>
              </a:ext>
            </a:extLst>
          </p:cNvPr>
          <p:cNvSpPr/>
          <p:nvPr/>
        </p:nvSpPr>
        <p:spPr>
          <a:xfrm>
            <a:off x="9086849" y="4095750"/>
            <a:ext cx="2571751" cy="1409699"/>
          </a:xfrm>
          <a:custGeom>
            <a:avLst/>
            <a:gdLst/>
            <a:ahLst/>
            <a:cxnLst/>
            <a:rect l="l" t="t" r="r" b="b"/>
            <a:pathLst>
              <a:path w="2571750" h="1409700">
                <a:moveTo>
                  <a:pt x="2500552" y="1409699"/>
                </a:moveTo>
                <a:lnTo>
                  <a:pt x="71196" y="1409699"/>
                </a:lnTo>
                <a:lnTo>
                  <a:pt x="66241" y="1409211"/>
                </a:lnTo>
                <a:lnTo>
                  <a:pt x="29705" y="1394077"/>
                </a:lnTo>
                <a:lnTo>
                  <a:pt x="3885" y="1358037"/>
                </a:lnTo>
                <a:lnTo>
                  <a:pt x="0" y="1338503"/>
                </a:lnTo>
                <a:lnTo>
                  <a:pt x="0" y="13334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500552" y="0"/>
                </a:lnTo>
                <a:lnTo>
                  <a:pt x="2542044" y="15621"/>
                </a:lnTo>
                <a:lnTo>
                  <a:pt x="2567863" y="51661"/>
                </a:lnTo>
                <a:lnTo>
                  <a:pt x="2571749" y="71196"/>
                </a:lnTo>
                <a:lnTo>
                  <a:pt x="2571749" y="1338503"/>
                </a:lnTo>
                <a:lnTo>
                  <a:pt x="2556127" y="1379993"/>
                </a:lnTo>
                <a:lnTo>
                  <a:pt x="2520087" y="1405813"/>
                </a:lnTo>
                <a:lnTo>
                  <a:pt x="2505507" y="1409211"/>
                </a:lnTo>
                <a:lnTo>
                  <a:pt x="2500552" y="1409699"/>
                </a:lnTo>
                <a:close/>
              </a:path>
            </a:pathLst>
          </a:custGeom>
          <a:solidFill>
            <a:srgbClr val="F0F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5" name="object 105">
            <a:extLst>
              <a:ext uri="{FF2B5EF4-FFF2-40B4-BE49-F238E27FC236}">
                <a16:creationId xmlns:a16="http://schemas.microsoft.com/office/drawing/2014/main" id="{7098EC9E-B1AC-6943-08FC-B51C02C3EBB2}"/>
              </a:ext>
            </a:extLst>
          </p:cNvPr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9201149" y="4417736"/>
            <a:ext cx="142874" cy="114299"/>
          </a:xfrm>
          <a:prstGeom prst="rect">
            <a:avLst/>
          </a:prstGeom>
        </p:spPr>
      </p:pic>
      <p:pic>
        <p:nvPicPr>
          <p:cNvPr id="106" name="object 106">
            <a:extLst>
              <a:ext uri="{FF2B5EF4-FFF2-40B4-BE49-F238E27FC236}">
                <a16:creationId xmlns:a16="http://schemas.microsoft.com/office/drawing/2014/main" id="{513579E9-7583-58C7-3890-B6A04E983BFC}"/>
              </a:ext>
            </a:extLst>
          </p:cNvPr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9201149" y="4641692"/>
            <a:ext cx="142874" cy="114299"/>
          </a:xfrm>
          <a:prstGeom prst="rect">
            <a:avLst/>
          </a:prstGeom>
        </p:spPr>
      </p:pic>
      <p:pic>
        <p:nvPicPr>
          <p:cNvPr id="107" name="object 107">
            <a:extLst>
              <a:ext uri="{FF2B5EF4-FFF2-40B4-BE49-F238E27FC236}">
                <a16:creationId xmlns:a16="http://schemas.microsoft.com/office/drawing/2014/main" id="{2E3884DB-1EC1-1191-5028-3AEF86D2A346}"/>
              </a:ext>
            </a:extLst>
          </p:cNvPr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9201149" y="4876799"/>
            <a:ext cx="114299" cy="114299"/>
          </a:xfrm>
          <a:prstGeom prst="rect">
            <a:avLst/>
          </a:prstGeom>
        </p:spPr>
      </p:pic>
      <p:pic>
        <p:nvPicPr>
          <p:cNvPr id="108" name="object 108">
            <a:extLst>
              <a:ext uri="{FF2B5EF4-FFF2-40B4-BE49-F238E27FC236}">
                <a16:creationId xmlns:a16="http://schemas.microsoft.com/office/drawing/2014/main" id="{B0325344-6454-000A-4FC3-D4592CA13C5E}"/>
              </a:ext>
            </a:extLst>
          </p:cNvPr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9201149" y="5134211"/>
            <a:ext cx="114299" cy="114299"/>
          </a:xfrm>
          <a:prstGeom prst="rect">
            <a:avLst/>
          </a:prstGeom>
        </p:spPr>
      </p:pic>
      <p:pic>
        <p:nvPicPr>
          <p:cNvPr id="109" name="object 109">
            <a:extLst>
              <a:ext uri="{FF2B5EF4-FFF2-40B4-BE49-F238E27FC236}">
                <a16:creationId xmlns:a16="http://schemas.microsoft.com/office/drawing/2014/main" id="{1FC8B3B5-B50B-D37A-A3DC-3C55F3831148}"/>
              </a:ext>
            </a:extLst>
          </p:cNvPr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9201149" y="5380471"/>
            <a:ext cx="142874" cy="114299"/>
          </a:xfrm>
          <a:prstGeom prst="rect">
            <a:avLst/>
          </a:prstGeom>
        </p:spPr>
      </p:pic>
      <p:sp>
        <p:nvSpPr>
          <p:cNvPr id="110" name="object 110">
            <a:extLst>
              <a:ext uri="{FF2B5EF4-FFF2-40B4-BE49-F238E27FC236}">
                <a16:creationId xmlns:a16="http://schemas.microsoft.com/office/drawing/2014/main" id="{6B4A751B-737E-2462-997A-E378993145B4}"/>
              </a:ext>
            </a:extLst>
          </p:cNvPr>
          <p:cNvSpPr txBox="1"/>
          <p:nvPr/>
        </p:nvSpPr>
        <p:spPr>
          <a:xfrm>
            <a:off x="9207105" y="4047544"/>
            <a:ext cx="2622399" cy="147130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spcBef>
                <a:spcPts val="746"/>
              </a:spcBef>
            </a:pPr>
            <a:r>
              <a:rPr sz="1149" b="1" dirty="0">
                <a:solidFill>
                  <a:srgbClr val="15803C"/>
                </a:solidFill>
                <a:latin typeface="Malgun Gothic"/>
                <a:cs typeface="Malgun Gothic"/>
              </a:rPr>
              <a:t>구축 및 확산 단계 </a:t>
            </a:r>
            <a:r>
              <a:rPr sz="1149" b="1" dirty="0">
                <a:solidFill>
                  <a:srgbClr val="15803C"/>
                </a:solidFill>
                <a:latin typeface="Trebuchet MS"/>
                <a:cs typeface="Trebuchet MS"/>
              </a:rPr>
              <a:t>(7-24</a:t>
            </a:r>
            <a:r>
              <a:rPr sz="1149" b="1" dirty="0">
                <a:solidFill>
                  <a:srgbClr val="15803C"/>
                </a:solidFill>
                <a:latin typeface="Malgun Gothic"/>
                <a:cs typeface="Malgun Gothic"/>
              </a:rPr>
              <a:t>개월</a:t>
            </a:r>
            <a:r>
              <a:rPr sz="1149" b="1" dirty="0">
                <a:solidFill>
                  <a:srgbClr val="15803C"/>
                </a:solidFill>
                <a:latin typeface="Trebuchet MS"/>
                <a:cs typeface="Trebuchet MS"/>
              </a:rPr>
              <a:t>)</a:t>
            </a:r>
            <a:endParaRPr sz="1149" dirty="0">
              <a:latin typeface="Trebuchet MS"/>
              <a:cs typeface="Trebuchet MS"/>
            </a:endParaRPr>
          </a:p>
          <a:p>
            <a:pPr marL="202547" marR="130797" indent="28571">
              <a:lnSpc>
                <a:spcPct val="119000"/>
              </a:lnSpc>
              <a:spcBef>
                <a:spcPts val="355"/>
              </a:spcBef>
            </a:pPr>
            <a:r>
              <a:rPr sz="1001" dirty="0">
                <a:latin typeface="Malgun Gothic"/>
                <a:cs typeface="Malgun Gothic"/>
              </a:rPr>
              <a:t>데이터 엔지니어</a:t>
            </a:r>
            <a:r>
              <a:rPr sz="1049" dirty="0">
                <a:latin typeface="Microsoft Sans Serif"/>
                <a:cs typeface="Microsoft Sans Serif"/>
              </a:rPr>
              <a:t>: 2-3</a:t>
            </a:r>
            <a:r>
              <a:rPr sz="1001" dirty="0">
                <a:latin typeface="Malgun Gothic"/>
                <a:cs typeface="Malgun Gothic"/>
              </a:rPr>
              <a:t>명 </a:t>
            </a:r>
            <a:endParaRPr lang="en-US" sz="1001" dirty="0">
              <a:latin typeface="Malgun Gothic"/>
              <a:cs typeface="Malgun Gothic"/>
            </a:endParaRPr>
          </a:p>
          <a:p>
            <a:pPr marL="202547" marR="130797" indent="28571">
              <a:lnSpc>
                <a:spcPct val="119000"/>
              </a:lnSpc>
              <a:spcBef>
                <a:spcPts val="355"/>
              </a:spcBef>
            </a:pPr>
            <a:r>
              <a:rPr sz="1049" dirty="0">
                <a:latin typeface="Microsoft Sans Serif"/>
                <a:cs typeface="Microsoft Sans Serif"/>
              </a:rPr>
              <a:t>AI/ML </a:t>
            </a:r>
            <a:r>
              <a:rPr sz="1001" dirty="0">
                <a:latin typeface="Malgun Gothic"/>
                <a:cs typeface="Malgun Gothic"/>
              </a:rPr>
              <a:t>엔지니어</a:t>
            </a:r>
            <a:r>
              <a:rPr sz="1049" dirty="0">
                <a:latin typeface="Microsoft Sans Serif"/>
                <a:cs typeface="Microsoft Sans Serif"/>
              </a:rPr>
              <a:t>: 3-5</a:t>
            </a:r>
            <a:r>
              <a:rPr sz="1001" dirty="0">
                <a:latin typeface="Malgun Gothic"/>
                <a:cs typeface="Malgun Gothic"/>
              </a:rPr>
              <a:t>명 </a:t>
            </a:r>
            <a:endParaRPr lang="en-US" sz="1001" dirty="0">
              <a:latin typeface="Malgun Gothic"/>
              <a:cs typeface="Malgun Gothic"/>
            </a:endParaRPr>
          </a:p>
          <a:p>
            <a:pPr marL="202547" marR="130797" indent="28571">
              <a:lnSpc>
                <a:spcPct val="119000"/>
              </a:lnSpc>
              <a:spcBef>
                <a:spcPts val="355"/>
              </a:spcBef>
            </a:pPr>
            <a:r>
              <a:rPr sz="1001" dirty="0" err="1">
                <a:latin typeface="Malgun Gothic"/>
                <a:cs typeface="Malgun Gothic"/>
              </a:rPr>
              <a:t>지식</a:t>
            </a:r>
            <a:r>
              <a:rPr sz="1001" dirty="0">
                <a:latin typeface="Malgun Gothic"/>
                <a:cs typeface="Malgun Gothic"/>
              </a:rPr>
              <a:t> 엔지니어</a:t>
            </a:r>
            <a:r>
              <a:rPr sz="1049" dirty="0">
                <a:latin typeface="Microsoft Sans Serif"/>
                <a:cs typeface="Microsoft Sans Serif"/>
              </a:rPr>
              <a:t>: 2-3</a:t>
            </a:r>
            <a:r>
              <a:rPr sz="1001" dirty="0">
                <a:latin typeface="Malgun Gothic"/>
                <a:cs typeface="Malgun Gothic"/>
              </a:rPr>
              <a:t>명 </a:t>
            </a:r>
            <a:endParaRPr lang="en-US" sz="1001" dirty="0">
              <a:latin typeface="Malgun Gothic"/>
              <a:cs typeface="Malgun Gothic"/>
            </a:endParaRPr>
          </a:p>
          <a:p>
            <a:pPr marL="202547" marR="130797" indent="28571">
              <a:lnSpc>
                <a:spcPct val="119000"/>
              </a:lnSpc>
              <a:spcBef>
                <a:spcPts val="355"/>
              </a:spcBef>
            </a:pPr>
            <a:r>
              <a:rPr sz="1001" dirty="0" err="1">
                <a:latin typeface="Malgun Gothic"/>
                <a:cs typeface="Malgun Gothic"/>
              </a:rPr>
              <a:t>로보틱스</a:t>
            </a:r>
            <a:r>
              <a:rPr sz="1049" dirty="0">
                <a:latin typeface="Microsoft Sans Serif"/>
                <a:cs typeface="Microsoft Sans Serif"/>
              </a:rPr>
              <a:t>/</a:t>
            </a:r>
            <a:r>
              <a:rPr sz="1001" dirty="0">
                <a:latin typeface="Malgun Gothic"/>
                <a:cs typeface="Malgun Gothic"/>
              </a:rPr>
              <a:t>시뮬레이션</a:t>
            </a:r>
            <a:r>
              <a:rPr sz="1049" dirty="0">
                <a:latin typeface="Microsoft Sans Serif"/>
                <a:cs typeface="Microsoft Sans Serif"/>
              </a:rPr>
              <a:t>: 2-3</a:t>
            </a:r>
            <a:r>
              <a:rPr sz="1001" dirty="0">
                <a:latin typeface="Malgun Gothic"/>
                <a:cs typeface="Malgun Gothic"/>
              </a:rPr>
              <a:t>명 </a:t>
            </a:r>
            <a:endParaRPr lang="en-US" sz="1001" dirty="0">
              <a:latin typeface="Malgun Gothic"/>
              <a:cs typeface="Malgun Gothic"/>
            </a:endParaRPr>
          </a:p>
          <a:p>
            <a:pPr marL="202547" marR="130797" indent="28571">
              <a:lnSpc>
                <a:spcPct val="119000"/>
              </a:lnSpc>
              <a:spcBef>
                <a:spcPts val="355"/>
              </a:spcBef>
            </a:pPr>
            <a:r>
              <a:rPr sz="1001" dirty="0" err="1">
                <a:latin typeface="Malgun Gothic"/>
                <a:cs typeface="Malgun Gothic"/>
              </a:rPr>
              <a:t>현업</a:t>
            </a:r>
            <a:r>
              <a:rPr sz="1001" dirty="0">
                <a:latin typeface="Malgun Gothic"/>
                <a:cs typeface="Malgun Gothic"/>
              </a:rPr>
              <a:t> 전문가</a:t>
            </a:r>
            <a:r>
              <a:rPr sz="1049" dirty="0">
                <a:latin typeface="Microsoft Sans Serif"/>
                <a:cs typeface="Microsoft Sans Serif"/>
              </a:rPr>
              <a:t>: 5-10</a:t>
            </a:r>
            <a:r>
              <a:rPr sz="1001" dirty="0">
                <a:latin typeface="Malgun Gothic"/>
                <a:cs typeface="Malgun Gothic"/>
              </a:rPr>
              <a:t>명</a:t>
            </a:r>
          </a:p>
        </p:txBody>
      </p:sp>
      <p:pic>
        <p:nvPicPr>
          <p:cNvPr id="111" name="object 26">
            <a:extLst>
              <a:ext uri="{FF2B5EF4-FFF2-40B4-BE49-F238E27FC236}">
                <a16:creationId xmlns:a16="http://schemas.microsoft.com/office/drawing/2014/main" id="{DB14F4EB-D1B7-CCF6-02D6-C64008A92038}"/>
              </a:ext>
            </a:extLst>
          </p:cNvPr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86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B08DBAD-56FB-CEA6-2FDB-3A42347D78A7}"/>
              </a:ext>
            </a:extLst>
          </p:cNvPr>
          <p:cNvSpPr/>
          <p:nvPr/>
        </p:nvSpPr>
        <p:spPr>
          <a:xfrm>
            <a:off x="-1" y="2"/>
            <a:ext cx="12192001" cy="7277100"/>
          </a:xfrm>
          <a:custGeom>
            <a:avLst/>
            <a:gdLst/>
            <a:ahLst/>
            <a:cxnLst/>
            <a:rect l="l" t="t" r="r" b="b"/>
            <a:pathLst>
              <a:path w="12192000" h="7277100">
                <a:moveTo>
                  <a:pt x="12191999" y="7277099"/>
                </a:moveTo>
                <a:lnTo>
                  <a:pt x="0" y="7277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2770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9A06CAC-5F4C-EDA2-9756-D54256E61836}"/>
              </a:ext>
            </a:extLst>
          </p:cNvPr>
          <p:cNvSpPr txBox="1">
            <a:spLocks/>
          </p:cNvSpPr>
          <p:nvPr/>
        </p:nvSpPr>
        <p:spPr>
          <a:xfrm>
            <a:off x="403888" y="368729"/>
            <a:ext cx="7529786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dirty="0"/>
              <a:t>예상 성과 및 투자 대비 효과</a:t>
            </a: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34DAE2B5-3D4C-E91A-5B50-F84254B2CD00}"/>
              </a:ext>
            </a:extLst>
          </p:cNvPr>
          <p:cNvGrpSpPr/>
          <p:nvPr/>
        </p:nvGrpSpPr>
        <p:grpSpPr>
          <a:xfrm>
            <a:off x="457198" y="1143000"/>
            <a:ext cx="5524500" cy="3695700"/>
            <a:chOff x="457199" y="1142999"/>
            <a:chExt cx="5524500" cy="369570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F9735CD-4AE7-EA83-ACBC-594E2A376A61}"/>
                </a:ext>
              </a:extLst>
            </p:cNvPr>
            <p:cNvSpPr/>
            <p:nvPr/>
          </p:nvSpPr>
          <p:spPr>
            <a:xfrm>
              <a:off x="457199" y="1142999"/>
              <a:ext cx="5524500" cy="3695700"/>
            </a:xfrm>
            <a:custGeom>
              <a:avLst/>
              <a:gdLst/>
              <a:ahLst/>
              <a:cxnLst/>
              <a:rect l="l" t="t" r="r" b="b"/>
              <a:pathLst>
                <a:path w="5524500" h="3695700">
                  <a:moveTo>
                    <a:pt x="5453302" y="3695699"/>
                  </a:moveTo>
                  <a:lnTo>
                    <a:pt x="71196" y="3695699"/>
                  </a:lnTo>
                  <a:lnTo>
                    <a:pt x="66241" y="3695211"/>
                  </a:lnTo>
                  <a:lnTo>
                    <a:pt x="29705" y="3680077"/>
                  </a:lnTo>
                  <a:lnTo>
                    <a:pt x="3885" y="3644037"/>
                  </a:lnTo>
                  <a:lnTo>
                    <a:pt x="0" y="3624503"/>
                  </a:lnTo>
                  <a:lnTo>
                    <a:pt x="0" y="3619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53302" y="0"/>
                  </a:lnTo>
                  <a:lnTo>
                    <a:pt x="5494793" y="15621"/>
                  </a:lnTo>
                  <a:lnTo>
                    <a:pt x="5520612" y="51661"/>
                  </a:lnTo>
                  <a:lnTo>
                    <a:pt x="5524499" y="71196"/>
                  </a:lnTo>
                  <a:lnTo>
                    <a:pt x="5524499" y="3624503"/>
                  </a:lnTo>
                  <a:lnTo>
                    <a:pt x="5508876" y="3665993"/>
                  </a:lnTo>
                  <a:lnTo>
                    <a:pt x="5472837" y="3691813"/>
                  </a:lnTo>
                  <a:lnTo>
                    <a:pt x="5458257" y="3695211"/>
                  </a:lnTo>
                  <a:lnTo>
                    <a:pt x="5453302" y="3695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97EF7BF-3194-AF8D-0593-E30623DC9D2A}"/>
                </a:ext>
              </a:extLst>
            </p:cNvPr>
            <p:cNvSpPr/>
            <p:nvPr/>
          </p:nvSpPr>
          <p:spPr>
            <a:xfrm>
              <a:off x="685799" y="13715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6"/>
                  </a:lnTo>
                  <a:lnTo>
                    <a:pt x="11130" y="254667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4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F5B4CD89-FAA8-FAAC-BB10-235242CEFAA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099" y="1485899"/>
              <a:ext cx="152399" cy="152399"/>
            </a:xfrm>
            <a:prstGeom prst="rect">
              <a:avLst/>
            </a:prstGeom>
          </p:spPr>
        </p:pic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41B4C3F1-DB94-EFD6-E8B8-AC22F8457353}"/>
              </a:ext>
            </a:extLst>
          </p:cNvPr>
          <p:cNvSpPr txBox="1"/>
          <p:nvPr/>
        </p:nvSpPr>
        <p:spPr>
          <a:xfrm>
            <a:off x="1168400" y="1410341"/>
            <a:ext cx="2172860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정량적 성과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8C6AB612-3B04-F0B4-11A2-33A0A52B0AE0}"/>
              </a:ext>
            </a:extLst>
          </p:cNvPr>
          <p:cNvGrpSpPr/>
          <p:nvPr/>
        </p:nvGrpSpPr>
        <p:grpSpPr>
          <a:xfrm>
            <a:off x="685801" y="1905000"/>
            <a:ext cx="2457449" cy="1333500"/>
            <a:chOff x="685799" y="1904999"/>
            <a:chExt cx="2457450" cy="133350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9A62656C-8A48-73D5-F67F-729A016576FD}"/>
                </a:ext>
              </a:extLst>
            </p:cNvPr>
            <p:cNvSpPr/>
            <p:nvPr/>
          </p:nvSpPr>
          <p:spPr>
            <a:xfrm>
              <a:off x="685799" y="1904999"/>
              <a:ext cx="2457450" cy="1333500"/>
            </a:xfrm>
            <a:custGeom>
              <a:avLst/>
              <a:gdLst/>
              <a:ahLst/>
              <a:cxnLst/>
              <a:rect l="l" t="t" r="r" b="b"/>
              <a:pathLst>
                <a:path w="2457450" h="1333500">
                  <a:moveTo>
                    <a:pt x="2386253" y="1333499"/>
                  </a:moveTo>
                  <a:lnTo>
                    <a:pt x="71196" y="1333499"/>
                  </a:lnTo>
                  <a:lnTo>
                    <a:pt x="66241" y="1333011"/>
                  </a:lnTo>
                  <a:lnTo>
                    <a:pt x="29705" y="1317877"/>
                  </a:lnTo>
                  <a:lnTo>
                    <a:pt x="3885" y="1281837"/>
                  </a:lnTo>
                  <a:lnTo>
                    <a:pt x="0" y="1262303"/>
                  </a:lnTo>
                  <a:lnTo>
                    <a:pt x="0" y="1257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86253" y="0"/>
                  </a:lnTo>
                  <a:lnTo>
                    <a:pt x="2427744" y="15621"/>
                  </a:lnTo>
                  <a:lnTo>
                    <a:pt x="2453563" y="51661"/>
                  </a:lnTo>
                  <a:lnTo>
                    <a:pt x="2457449" y="71196"/>
                  </a:lnTo>
                  <a:lnTo>
                    <a:pt x="2457449" y="1262303"/>
                  </a:lnTo>
                  <a:lnTo>
                    <a:pt x="2441827" y="1303793"/>
                  </a:lnTo>
                  <a:lnTo>
                    <a:pt x="2405787" y="1329613"/>
                  </a:lnTo>
                  <a:lnTo>
                    <a:pt x="2391208" y="1333011"/>
                  </a:lnTo>
                  <a:lnTo>
                    <a:pt x="2386253" y="13334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3D452F59-C0CC-F84D-E379-73721B907A3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199" y="2095499"/>
              <a:ext cx="171449" cy="152399"/>
            </a:xfrm>
            <a:prstGeom prst="rect">
              <a:avLst/>
            </a:prstGeom>
          </p:spPr>
        </p:pic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ACFFC626-258F-4E4D-7F8B-311A88C3EC74}"/>
              </a:ext>
            </a:extLst>
          </p:cNvPr>
          <p:cNvSpPr txBox="1"/>
          <p:nvPr/>
        </p:nvSpPr>
        <p:spPr>
          <a:xfrm>
            <a:off x="1073153" y="2053463"/>
            <a:ext cx="1286506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생산성 향상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26E9317E-5392-1883-BB82-11AA26116C63}"/>
              </a:ext>
            </a:extLst>
          </p:cNvPr>
          <p:cNvSpPr txBox="1"/>
          <p:nvPr/>
        </p:nvSpPr>
        <p:spPr>
          <a:xfrm>
            <a:off x="825504" y="2341541"/>
            <a:ext cx="2034540" cy="57438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89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대덕전자와 같은 도입 기업의 생산성 증대효과가 예상됩니다</a:t>
            </a:r>
            <a:r>
              <a:rPr sz="1149" dirty="0">
                <a:solidFill>
                  <a:srgbClr val="4A5462"/>
                </a:solidFill>
                <a:latin typeface="Microsoft Sans Serif"/>
                <a:cs typeface="Microsoft Sans Serif"/>
              </a:rPr>
              <a:t>.</a:t>
            </a:r>
            <a:endParaRPr sz="1149" dirty="0">
              <a:latin typeface="Microsoft Sans Serif"/>
              <a:cs typeface="Microsoft Sans Serif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5546EB6-A158-A21C-0199-62898DA21B2C}"/>
              </a:ext>
            </a:extLst>
          </p:cNvPr>
          <p:cNvSpPr txBox="1"/>
          <p:nvPr/>
        </p:nvSpPr>
        <p:spPr>
          <a:xfrm>
            <a:off x="1406530" y="2824759"/>
            <a:ext cx="828676" cy="244168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499" b="1" dirty="0">
                <a:solidFill>
                  <a:srgbClr val="16A24A"/>
                </a:solidFill>
                <a:latin typeface="Arial"/>
                <a:cs typeface="Arial"/>
              </a:rPr>
              <a:t>0.8~1.4%</a:t>
            </a:r>
            <a:endParaRPr sz="1499" dirty="0">
              <a:latin typeface="Arial"/>
              <a:cs typeface="Arial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7BAF32BF-CFF0-48EE-59D4-80DCBBF32DC6}"/>
              </a:ext>
            </a:extLst>
          </p:cNvPr>
          <p:cNvGrpSpPr/>
          <p:nvPr/>
        </p:nvGrpSpPr>
        <p:grpSpPr>
          <a:xfrm>
            <a:off x="3295651" y="1905000"/>
            <a:ext cx="2457449" cy="1333500"/>
            <a:chOff x="3295649" y="1904999"/>
            <a:chExt cx="2457450" cy="133350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B150C2F9-DD74-F368-4D76-65EA04A29833}"/>
                </a:ext>
              </a:extLst>
            </p:cNvPr>
            <p:cNvSpPr/>
            <p:nvPr/>
          </p:nvSpPr>
          <p:spPr>
            <a:xfrm>
              <a:off x="3295649" y="1904999"/>
              <a:ext cx="2457450" cy="1333500"/>
            </a:xfrm>
            <a:custGeom>
              <a:avLst/>
              <a:gdLst/>
              <a:ahLst/>
              <a:cxnLst/>
              <a:rect l="l" t="t" r="r" b="b"/>
              <a:pathLst>
                <a:path w="2457450" h="1333500">
                  <a:moveTo>
                    <a:pt x="2386252" y="1333499"/>
                  </a:moveTo>
                  <a:lnTo>
                    <a:pt x="71196" y="1333499"/>
                  </a:lnTo>
                  <a:lnTo>
                    <a:pt x="66241" y="1333011"/>
                  </a:lnTo>
                  <a:lnTo>
                    <a:pt x="29704" y="1317877"/>
                  </a:lnTo>
                  <a:lnTo>
                    <a:pt x="3885" y="1281837"/>
                  </a:lnTo>
                  <a:lnTo>
                    <a:pt x="0" y="1262303"/>
                  </a:lnTo>
                  <a:lnTo>
                    <a:pt x="0" y="1257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86252" y="0"/>
                  </a:lnTo>
                  <a:lnTo>
                    <a:pt x="2427744" y="15621"/>
                  </a:lnTo>
                  <a:lnTo>
                    <a:pt x="2453563" y="51661"/>
                  </a:lnTo>
                  <a:lnTo>
                    <a:pt x="2457450" y="71196"/>
                  </a:lnTo>
                  <a:lnTo>
                    <a:pt x="2457450" y="1262303"/>
                  </a:lnTo>
                  <a:lnTo>
                    <a:pt x="2441828" y="1303793"/>
                  </a:lnTo>
                  <a:lnTo>
                    <a:pt x="2405788" y="1329613"/>
                  </a:lnTo>
                  <a:lnTo>
                    <a:pt x="2391208" y="1333011"/>
                  </a:lnTo>
                  <a:lnTo>
                    <a:pt x="2386252" y="13334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82A83CC9-C0F3-367E-26F7-4F30D10E1F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48050" y="2095499"/>
              <a:ext cx="152399" cy="152399"/>
            </a:xfrm>
            <a:prstGeom prst="rect">
              <a:avLst/>
            </a:prstGeom>
          </p:spPr>
        </p:pic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DD081DCB-9819-C85E-0685-C111B3610374}"/>
              </a:ext>
            </a:extLst>
          </p:cNvPr>
          <p:cNvSpPr txBox="1"/>
          <p:nvPr/>
        </p:nvSpPr>
        <p:spPr>
          <a:xfrm>
            <a:off x="3663949" y="2053465"/>
            <a:ext cx="1219208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비용 절감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6F22E5CB-553E-7071-C455-BC6C5A857473}"/>
              </a:ext>
            </a:extLst>
          </p:cNvPr>
          <p:cNvSpPr txBox="1"/>
          <p:nvPr/>
        </p:nvSpPr>
        <p:spPr>
          <a:xfrm>
            <a:off x="3435350" y="2341537"/>
            <a:ext cx="2110741" cy="3810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89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불량률 제로화</a:t>
            </a:r>
            <a:r>
              <a:rPr sz="1149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재작업 및 반송비용 절 감 효과</a:t>
            </a:r>
            <a:endParaRPr sz="1149">
              <a:latin typeface="Malgun Gothic"/>
              <a:cs typeface="Malgun Gothic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6BFD458F-0086-9209-88B7-F27E02E9E0CE}"/>
              </a:ext>
            </a:extLst>
          </p:cNvPr>
          <p:cNvSpPr txBox="1"/>
          <p:nvPr/>
        </p:nvSpPr>
        <p:spPr>
          <a:xfrm>
            <a:off x="3978281" y="2824758"/>
            <a:ext cx="1222834" cy="244168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499" b="1" dirty="0">
                <a:solidFill>
                  <a:srgbClr val="E9580C"/>
                </a:solidFill>
                <a:latin typeface="Cambria"/>
                <a:cs typeface="Cambria"/>
              </a:rPr>
              <a:t>20~30%</a:t>
            </a:r>
            <a:endParaRPr sz="1499" dirty="0">
              <a:latin typeface="Cambria"/>
              <a:cs typeface="Cambria"/>
            </a:endParaRPr>
          </a:p>
        </p:txBody>
      </p:sp>
      <p:pic>
        <p:nvPicPr>
          <p:cNvPr id="22" name="object 22">
            <a:extLst>
              <a:ext uri="{FF2B5EF4-FFF2-40B4-BE49-F238E27FC236}">
                <a16:creationId xmlns:a16="http://schemas.microsoft.com/office/drawing/2014/main" id="{F6F33AC0-FFAA-B356-6C66-F0CA2CF88EA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805" y="3390903"/>
            <a:ext cx="5067299" cy="1500176"/>
          </a:xfrm>
          <a:prstGeom prst="rect">
            <a:avLst/>
          </a:prstGeom>
        </p:spPr>
      </p:pic>
      <p:grpSp>
        <p:nvGrpSpPr>
          <p:cNvPr id="23" name="object 23">
            <a:extLst>
              <a:ext uri="{FF2B5EF4-FFF2-40B4-BE49-F238E27FC236}">
                <a16:creationId xmlns:a16="http://schemas.microsoft.com/office/drawing/2014/main" id="{973195B4-895E-EFD3-B91F-31A9B3111139}"/>
              </a:ext>
            </a:extLst>
          </p:cNvPr>
          <p:cNvGrpSpPr/>
          <p:nvPr/>
        </p:nvGrpSpPr>
        <p:grpSpPr>
          <a:xfrm>
            <a:off x="6210298" y="1143000"/>
            <a:ext cx="5524500" cy="3695700"/>
            <a:chOff x="6210298" y="1142999"/>
            <a:chExt cx="5524500" cy="369570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594CE13E-9754-CF54-FA8C-7A276B97AA78}"/>
                </a:ext>
              </a:extLst>
            </p:cNvPr>
            <p:cNvSpPr/>
            <p:nvPr/>
          </p:nvSpPr>
          <p:spPr>
            <a:xfrm>
              <a:off x="6210298" y="1142999"/>
              <a:ext cx="5524500" cy="3695700"/>
            </a:xfrm>
            <a:custGeom>
              <a:avLst/>
              <a:gdLst/>
              <a:ahLst/>
              <a:cxnLst/>
              <a:rect l="l" t="t" r="r" b="b"/>
              <a:pathLst>
                <a:path w="5524500" h="3695700">
                  <a:moveTo>
                    <a:pt x="5453303" y="3695699"/>
                  </a:moveTo>
                  <a:lnTo>
                    <a:pt x="71196" y="3695699"/>
                  </a:lnTo>
                  <a:lnTo>
                    <a:pt x="66241" y="3695211"/>
                  </a:lnTo>
                  <a:lnTo>
                    <a:pt x="29705" y="3680077"/>
                  </a:lnTo>
                  <a:lnTo>
                    <a:pt x="3885" y="3644037"/>
                  </a:lnTo>
                  <a:lnTo>
                    <a:pt x="0" y="3624503"/>
                  </a:lnTo>
                  <a:lnTo>
                    <a:pt x="0" y="3619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53303" y="0"/>
                  </a:lnTo>
                  <a:lnTo>
                    <a:pt x="5494792" y="15621"/>
                  </a:lnTo>
                  <a:lnTo>
                    <a:pt x="5520613" y="51661"/>
                  </a:lnTo>
                  <a:lnTo>
                    <a:pt x="5524500" y="71196"/>
                  </a:lnTo>
                  <a:lnTo>
                    <a:pt x="5524500" y="3624503"/>
                  </a:lnTo>
                  <a:lnTo>
                    <a:pt x="5508876" y="3665993"/>
                  </a:lnTo>
                  <a:lnTo>
                    <a:pt x="5472837" y="3691813"/>
                  </a:lnTo>
                  <a:lnTo>
                    <a:pt x="5458258" y="3695211"/>
                  </a:lnTo>
                  <a:lnTo>
                    <a:pt x="5453303" y="3695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8DDECD17-9693-4B96-5DDD-DD64900584C0}"/>
                </a:ext>
              </a:extLst>
            </p:cNvPr>
            <p:cNvSpPr/>
            <p:nvPr/>
          </p:nvSpPr>
          <p:spPr>
            <a:xfrm>
              <a:off x="6438887" y="1904999"/>
              <a:ext cx="5067300" cy="2362200"/>
            </a:xfrm>
            <a:custGeom>
              <a:avLst/>
              <a:gdLst/>
              <a:ahLst/>
              <a:cxnLst/>
              <a:rect l="l" t="t" r="r" b="b"/>
              <a:pathLst>
                <a:path w="5067300" h="2362200">
                  <a:moveTo>
                    <a:pt x="5067300" y="1747608"/>
                  </a:moveTo>
                  <a:lnTo>
                    <a:pt x="5051679" y="1706105"/>
                  </a:lnTo>
                  <a:lnTo>
                    <a:pt x="5015649" y="1680286"/>
                  </a:lnTo>
                  <a:lnTo>
                    <a:pt x="4996104" y="1676400"/>
                  </a:lnTo>
                  <a:lnTo>
                    <a:pt x="71196" y="1676400"/>
                  </a:lnTo>
                  <a:lnTo>
                    <a:pt x="29705" y="1692033"/>
                  </a:lnTo>
                  <a:lnTo>
                    <a:pt x="3886" y="1728063"/>
                  </a:lnTo>
                  <a:lnTo>
                    <a:pt x="0" y="1747608"/>
                  </a:lnTo>
                  <a:lnTo>
                    <a:pt x="0" y="2286000"/>
                  </a:lnTo>
                  <a:lnTo>
                    <a:pt x="0" y="2291003"/>
                  </a:lnTo>
                  <a:lnTo>
                    <a:pt x="15621" y="2332494"/>
                  </a:lnTo>
                  <a:lnTo>
                    <a:pt x="51663" y="2358313"/>
                  </a:lnTo>
                  <a:lnTo>
                    <a:pt x="71196" y="2362200"/>
                  </a:lnTo>
                  <a:lnTo>
                    <a:pt x="4996104" y="2362200"/>
                  </a:lnTo>
                  <a:lnTo>
                    <a:pt x="5037594" y="2346579"/>
                  </a:lnTo>
                  <a:lnTo>
                    <a:pt x="5063414" y="2310549"/>
                  </a:lnTo>
                  <a:lnTo>
                    <a:pt x="5067300" y="2291003"/>
                  </a:lnTo>
                  <a:lnTo>
                    <a:pt x="5067300" y="1747608"/>
                  </a:lnTo>
                  <a:close/>
                </a:path>
                <a:path w="5067300" h="2362200">
                  <a:moveTo>
                    <a:pt x="5067300" y="909408"/>
                  </a:moveTo>
                  <a:lnTo>
                    <a:pt x="5051679" y="867905"/>
                  </a:lnTo>
                  <a:lnTo>
                    <a:pt x="5015649" y="842086"/>
                  </a:lnTo>
                  <a:lnTo>
                    <a:pt x="4996104" y="838200"/>
                  </a:lnTo>
                  <a:lnTo>
                    <a:pt x="71196" y="838200"/>
                  </a:lnTo>
                  <a:lnTo>
                    <a:pt x="29705" y="853833"/>
                  </a:lnTo>
                  <a:lnTo>
                    <a:pt x="3886" y="889863"/>
                  </a:lnTo>
                  <a:lnTo>
                    <a:pt x="0" y="909408"/>
                  </a:lnTo>
                  <a:lnTo>
                    <a:pt x="0" y="1447800"/>
                  </a:lnTo>
                  <a:lnTo>
                    <a:pt x="0" y="1452803"/>
                  </a:lnTo>
                  <a:lnTo>
                    <a:pt x="15621" y="1494294"/>
                  </a:lnTo>
                  <a:lnTo>
                    <a:pt x="51663" y="1520126"/>
                  </a:lnTo>
                  <a:lnTo>
                    <a:pt x="71196" y="1524000"/>
                  </a:lnTo>
                  <a:lnTo>
                    <a:pt x="4996104" y="1524000"/>
                  </a:lnTo>
                  <a:lnTo>
                    <a:pt x="5037594" y="1508379"/>
                  </a:lnTo>
                  <a:lnTo>
                    <a:pt x="5063414" y="1472349"/>
                  </a:lnTo>
                  <a:lnTo>
                    <a:pt x="5067300" y="1452803"/>
                  </a:lnTo>
                  <a:lnTo>
                    <a:pt x="5067300" y="909408"/>
                  </a:lnTo>
                  <a:close/>
                </a:path>
                <a:path w="5067300" h="2362200">
                  <a:moveTo>
                    <a:pt x="5067300" y="71208"/>
                  </a:moveTo>
                  <a:lnTo>
                    <a:pt x="5051679" y="29705"/>
                  </a:lnTo>
                  <a:lnTo>
                    <a:pt x="5015649" y="3886"/>
                  </a:lnTo>
                  <a:lnTo>
                    <a:pt x="4996104" y="0"/>
                  </a:lnTo>
                  <a:lnTo>
                    <a:pt x="71196" y="0"/>
                  </a:lnTo>
                  <a:lnTo>
                    <a:pt x="29705" y="15633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0" y="609600"/>
                  </a:lnTo>
                  <a:lnTo>
                    <a:pt x="0" y="614603"/>
                  </a:lnTo>
                  <a:lnTo>
                    <a:pt x="15621" y="656094"/>
                  </a:lnTo>
                  <a:lnTo>
                    <a:pt x="51663" y="681913"/>
                  </a:lnTo>
                  <a:lnTo>
                    <a:pt x="71196" y="685800"/>
                  </a:lnTo>
                  <a:lnTo>
                    <a:pt x="4996104" y="685800"/>
                  </a:lnTo>
                  <a:lnTo>
                    <a:pt x="5037594" y="670179"/>
                  </a:lnTo>
                  <a:lnTo>
                    <a:pt x="5063414" y="634149"/>
                  </a:lnTo>
                  <a:lnTo>
                    <a:pt x="5067300" y="614603"/>
                  </a:lnTo>
                  <a:lnTo>
                    <a:pt x="5067300" y="71208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81003E2F-18A9-DC9D-67D2-E620BB558FB9}"/>
                </a:ext>
              </a:extLst>
            </p:cNvPr>
            <p:cNvSpPr/>
            <p:nvPr/>
          </p:nvSpPr>
          <p:spPr>
            <a:xfrm>
              <a:off x="6438899" y="13715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9"/>
                  </a:lnTo>
                  <a:lnTo>
                    <a:pt x="100696" y="358507"/>
                  </a:lnTo>
                  <a:lnTo>
                    <a:pt x="62574" y="331659"/>
                  </a:lnTo>
                  <a:lnTo>
                    <a:pt x="32104" y="296336"/>
                  </a:lnTo>
                  <a:lnTo>
                    <a:pt x="11130" y="254667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5" y="92572"/>
                  </a:lnTo>
                  <a:lnTo>
                    <a:pt x="55795" y="55796"/>
                  </a:lnTo>
                  <a:lnTo>
                    <a:pt x="92570" y="27095"/>
                  </a:lnTo>
                  <a:lnTo>
                    <a:pt x="135198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4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5D62C71E-F1D5-1E5B-70AC-BD61D6D9E53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43674" y="1485899"/>
              <a:ext cx="171449" cy="152399"/>
            </a:xfrm>
            <a:prstGeom prst="rect">
              <a:avLst/>
            </a:prstGeom>
          </p:spPr>
        </p:pic>
      </p:grpSp>
      <p:sp>
        <p:nvSpPr>
          <p:cNvPr id="28" name="object 28">
            <a:extLst>
              <a:ext uri="{FF2B5EF4-FFF2-40B4-BE49-F238E27FC236}">
                <a16:creationId xmlns:a16="http://schemas.microsoft.com/office/drawing/2014/main" id="{26B53DBC-B802-0B7D-AD82-625099CE59B9}"/>
              </a:ext>
            </a:extLst>
          </p:cNvPr>
          <p:cNvSpPr txBox="1"/>
          <p:nvPr/>
        </p:nvSpPr>
        <p:spPr>
          <a:xfrm>
            <a:off x="6921500" y="1410343"/>
            <a:ext cx="1598031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정성적 성과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29" name="object 29">
            <a:extLst>
              <a:ext uri="{FF2B5EF4-FFF2-40B4-BE49-F238E27FC236}">
                <a16:creationId xmlns:a16="http://schemas.microsoft.com/office/drawing/2014/main" id="{24B618C8-5535-7D59-0291-F59CBDEEF1F1}"/>
              </a:ext>
            </a:extLst>
          </p:cNvPr>
          <p:cNvGrpSpPr/>
          <p:nvPr/>
        </p:nvGrpSpPr>
        <p:grpSpPr>
          <a:xfrm>
            <a:off x="6553200" y="2019301"/>
            <a:ext cx="381000" cy="2057399"/>
            <a:chOff x="6553199" y="2019299"/>
            <a:chExt cx="381000" cy="2057400"/>
          </a:xfrm>
        </p:grpSpPr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3E22339D-CE79-157A-99F0-1C1DB5719874}"/>
                </a:ext>
              </a:extLst>
            </p:cNvPr>
            <p:cNvSpPr/>
            <p:nvPr/>
          </p:nvSpPr>
          <p:spPr>
            <a:xfrm>
              <a:off x="6553199" y="20192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5"/>
                  </a:lnTo>
                  <a:lnTo>
                    <a:pt x="353902" y="92571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2" y="288427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8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>
              <a:extLst>
                <a:ext uri="{FF2B5EF4-FFF2-40B4-BE49-F238E27FC236}">
                  <a16:creationId xmlns:a16="http://schemas.microsoft.com/office/drawing/2014/main" id="{B1594147-D96D-5F5D-B182-07B7BB85C3A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57974" y="2133599"/>
              <a:ext cx="171449" cy="152399"/>
            </a:xfrm>
            <a:prstGeom prst="rect">
              <a:avLst/>
            </a:prstGeom>
          </p:spPr>
        </p:pic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01D0623D-60B4-569E-4D80-9C9C468ADE29}"/>
                </a:ext>
              </a:extLst>
            </p:cNvPr>
            <p:cNvSpPr/>
            <p:nvPr/>
          </p:nvSpPr>
          <p:spPr>
            <a:xfrm>
              <a:off x="6553199" y="28574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7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2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2" y="288427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8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>
              <a:extLst>
                <a:ext uri="{FF2B5EF4-FFF2-40B4-BE49-F238E27FC236}">
                  <a16:creationId xmlns:a16="http://schemas.microsoft.com/office/drawing/2014/main" id="{EECC8037-FAEE-0330-CE19-18DF6DEE395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77024" y="2971799"/>
              <a:ext cx="133349" cy="152399"/>
            </a:xfrm>
            <a:prstGeom prst="rect">
              <a:avLst/>
            </a:prstGeom>
          </p:spPr>
        </p:pic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E2236C47-05E6-53BF-F471-FF1BE0C7D81D}"/>
                </a:ext>
              </a:extLst>
            </p:cNvPr>
            <p:cNvSpPr/>
            <p:nvPr/>
          </p:nvSpPr>
          <p:spPr>
            <a:xfrm>
              <a:off x="6553199" y="36956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2" y="92571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2" y="288427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>
              <a:extLst>
                <a:ext uri="{FF2B5EF4-FFF2-40B4-BE49-F238E27FC236}">
                  <a16:creationId xmlns:a16="http://schemas.microsoft.com/office/drawing/2014/main" id="{3E46094D-B0E0-116C-8BBF-3168444AE0A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67499" y="3809999"/>
              <a:ext cx="152399" cy="152399"/>
            </a:xfrm>
            <a:prstGeom prst="rect">
              <a:avLst/>
            </a:prstGeom>
          </p:spPr>
        </p:pic>
      </p:grpSp>
      <p:sp>
        <p:nvSpPr>
          <p:cNvPr id="36" name="object 36">
            <a:extLst>
              <a:ext uri="{FF2B5EF4-FFF2-40B4-BE49-F238E27FC236}">
                <a16:creationId xmlns:a16="http://schemas.microsoft.com/office/drawing/2014/main" id="{95ADE76A-C8E3-1DF3-0D74-A5878A388FA0}"/>
              </a:ext>
            </a:extLst>
          </p:cNvPr>
          <p:cNvSpPr txBox="1"/>
          <p:nvPr/>
        </p:nvSpPr>
        <p:spPr>
          <a:xfrm>
            <a:off x="7035807" y="1954797"/>
            <a:ext cx="4470379" cy="52309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spcBef>
                <a:spcPts val="580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경쟁우위</a:t>
            </a:r>
            <a:endParaRPr sz="1350" dirty="0">
              <a:latin typeface="Malgun Gothic"/>
              <a:cs typeface="Malgun Gothic"/>
            </a:endParaRPr>
          </a:p>
          <a:p>
            <a:pPr marL="12700">
              <a:spcBef>
                <a:spcPts val="45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기반 제조혁신기업이라는 이미지를 구축하여 시장에 선도권을 확보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16C7883C-0A5B-EB47-DC3C-162F44F24123}"/>
              </a:ext>
            </a:extLst>
          </p:cNvPr>
          <p:cNvSpPr txBox="1"/>
          <p:nvPr/>
        </p:nvSpPr>
        <p:spPr>
          <a:xfrm>
            <a:off x="7035801" y="2792998"/>
            <a:ext cx="3898899" cy="52309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spcBef>
                <a:spcPts val="580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조직문화</a:t>
            </a:r>
            <a:endParaRPr sz="1350" dirty="0">
              <a:latin typeface="Malgun Gothic"/>
              <a:cs typeface="Malgun Gothic"/>
            </a:endParaRPr>
          </a:p>
          <a:p>
            <a:pPr marL="12700">
              <a:spcBef>
                <a:spcPts val="45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데이터기반의 합리적 의사결정문화가 전사적으로 확산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42144E38-F71A-3054-F48A-06A362C4ECF5}"/>
              </a:ext>
            </a:extLst>
          </p:cNvPr>
          <p:cNvSpPr txBox="1"/>
          <p:nvPr/>
        </p:nvSpPr>
        <p:spPr>
          <a:xfrm>
            <a:off x="7035800" y="3631196"/>
            <a:ext cx="4168140" cy="6999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spcBef>
                <a:spcPts val="580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직원만족도</a:t>
            </a:r>
            <a:endParaRPr sz="1350" dirty="0">
              <a:latin typeface="Malgun Gothic"/>
              <a:cs typeface="Malgun Gothic"/>
            </a:endParaRPr>
          </a:p>
          <a:p>
            <a:pPr marL="12700">
              <a:spcBef>
                <a:spcPts val="45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단순반복작업 감소하고 고부가가치업무에 집중할 수 있어 직원 만족도 향상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39" name="object 39">
            <a:extLst>
              <a:ext uri="{FF2B5EF4-FFF2-40B4-BE49-F238E27FC236}">
                <a16:creationId xmlns:a16="http://schemas.microsoft.com/office/drawing/2014/main" id="{894B030F-987D-9D2A-3ADA-9588EE9D5F53}"/>
              </a:ext>
            </a:extLst>
          </p:cNvPr>
          <p:cNvGrpSpPr/>
          <p:nvPr/>
        </p:nvGrpSpPr>
        <p:grpSpPr>
          <a:xfrm>
            <a:off x="476250" y="4933949"/>
            <a:ext cx="11277600" cy="1752600"/>
            <a:chOff x="476250" y="4933949"/>
            <a:chExt cx="11277600" cy="1752600"/>
          </a:xfrm>
        </p:grpSpPr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B6FD3A75-8059-4DCE-16D7-ACE586FD64F3}"/>
                </a:ext>
              </a:extLst>
            </p:cNvPr>
            <p:cNvSpPr/>
            <p:nvPr/>
          </p:nvSpPr>
          <p:spPr>
            <a:xfrm>
              <a:off x="476250" y="4933949"/>
              <a:ext cx="11277600" cy="1752600"/>
            </a:xfrm>
            <a:custGeom>
              <a:avLst/>
              <a:gdLst/>
              <a:ahLst/>
              <a:cxnLst/>
              <a:rect l="l" t="t" r="r" b="b"/>
              <a:pathLst>
                <a:path w="11277600" h="1752600">
                  <a:moveTo>
                    <a:pt x="11206402" y="1752599"/>
                  </a:moveTo>
                  <a:lnTo>
                    <a:pt x="71196" y="1752599"/>
                  </a:lnTo>
                  <a:lnTo>
                    <a:pt x="66241" y="1752111"/>
                  </a:lnTo>
                  <a:lnTo>
                    <a:pt x="29705" y="1736978"/>
                  </a:lnTo>
                  <a:lnTo>
                    <a:pt x="3885" y="1700937"/>
                  </a:lnTo>
                  <a:lnTo>
                    <a:pt x="0" y="1681403"/>
                  </a:lnTo>
                  <a:lnTo>
                    <a:pt x="0" y="16763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206402" y="0"/>
                  </a:lnTo>
                  <a:lnTo>
                    <a:pt x="11247890" y="15621"/>
                  </a:lnTo>
                  <a:lnTo>
                    <a:pt x="11273712" y="51662"/>
                  </a:lnTo>
                  <a:lnTo>
                    <a:pt x="11277597" y="71196"/>
                  </a:lnTo>
                  <a:lnTo>
                    <a:pt x="11277597" y="1681403"/>
                  </a:lnTo>
                  <a:lnTo>
                    <a:pt x="11261975" y="1722894"/>
                  </a:lnTo>
                  <a:lnTo>
                    <a:pt x="11225935" y="1748714"/>
                  </a:lnTo>
                  <a:lnTo>
                    <a:pt x="11211356" y="1752111"/>
                  </a:lnTo>
                  <a:lnTo>
                    <a:pt x="11206402" y="1752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9A11ABC8-1E79-45FE-701E-EEB72513AB40}"/>
                </a:ext>
              </a:extLst>
            </p:cNvPr>
            <p:cNvSpPr/>
            <p:nvPr/>
          </p:nvSpPr>
          <p:spPr>
            <a:xfrm>
              <a:off x="704849" y="51625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6"/>
                  </a:lnTo>
                  <a:lnTo>
                    <a:pt x="11130" y="254667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200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200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4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>
              <a:extLst>
                <a:ext uri="{FF2B5EF4-FFF2-40B4-BE49-F238E27FC236}">
                  <a16:creationId xmlns:a16="http://schemas.microsoft.com/office/drawing/2014/main" id="{6EDF4DE5-4F01-D581-2932-E3D51AF075D0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9624" y="5276849"/>
              <a:ext cx="171449" cy="152399"/>
            </a:xfrm>
            <a:prstGeom prst="rect">
              <a:avLst/>
            </a:prstGeom>
          </p:spPr>
        </p:pic>
      </p:grpSp>
      <p:sp>
        <p:nvSpPr>
          <p:cNvPr id="43" name="object 43">
            <a:extLst>
              <a:ext uri="{FF2B5EF4-FFF2-40B4-BE49-F238E27FC236}">
                <a16:creationId xmlns:a16="http://schemas.microsoft.com/office/drawing/2014/main" id="{D10A654C-80AE-9248-65B9-C280AAA42F7F}"/>
              </a:ext>
            </a:extLst>
          </p:cNvPr>
          <p:cNvSpPr txBox="1"/>
          <p:nvPr/>
        </p:nvSpPr>
        <p:spPr>
          <a:xfrm>
            <a:off x="1187449" y="5201284"/>
            <a:ext cx="2369790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투자 대비 효과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44" name="object 44">
            <a:extLst>
              <a:ext uri="{FF2B5EF4-FFF2-40B4-BE49-F238E27FC236}">
                <a16:creationId xmlns:a16="http://schemas.microsoft.com/office/drawing/2014/main" id="{068FF716-FB93-30CF-3B47-F2F0EE3AA04B}"/>
              </a:ext>
            </a:extLst>
          </p:cNvPr>
          <p:cNvGrpSpPr/>
          <p:nvPr/>
        </p:nvGrpSpPr>
        <p:grpSpPr>
          <a:xfrm>
            <a:off x="704849" y="5695949"/>
            <a:ext cx="3505200" cy="762000"/>
            <a:chOff x="704849" y="5695949"/>
            <a:chExt cx="3505200" cy="762000"/>
          </a:xfrm>
        </p:grpSpPr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B8A5F939-8C44-E47E-3240-83FDBFDDD9B5}"/>
                </a:ext>
              </a:extLst>
            </p:cNvPr>
            <p:cNvSpPr/>
            <p:nvPr/>
          </p:nvSpPr>
          <p:spPr>
            <a:xfrm>
              <a:off x="704849" y="5695949"/>
              <a:ext cx="3505200" cy="762000"/>
            </a:xfrm>
            <a:custGeom>
              <a:avLst/>
              <a:gdLst/>
              <a:ahLst/>
              <a:cxnLst/>
              <a:rect l="l" t="t" r="r" b="b"/>
              <a:pathLst>
                <a:path w="3505200" h="762000">
                  <a:moveTo>
                    <a:pt x="3434002" y="761999"/>
                  </a:moveTo>
                  <a:lnTo>
                    <a:pt x="71196" y="761999"/>
                  </a:lnTo>
                  <a:lnTo>
                    <a:pt x="66241" y="761511"/>
                  </a:lnTo>
                  <a:lnTo>
                    <a:pt x="29705" y="746378"/>
                  </a:lnTo>
                  <a:lnTo>
                    <a:pt x="3885" y="710337"/>
                  </a:lnTo>
                  <a:lnTo>
                    <a:pt x="0" y="690803"/>
                  </a:lnTo>
                  <a:lnTo>
                    <a:pt x="0" y="685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34002" y="0"/>
                  </a:lnTo>
                  <a:lnTo>
                    <a:pt x="3475494" y="15621"/>
                  </a:lnTo>
                  <a:lnTo>
                    <a:pt x="3501313" y="51661"/>
                  </a:lnTo>
                  <a:lnTo>
                    <a:pt x="3505199" y="71196"/>
                  </a:lnTo>
                  <a:lnTo>
                    <a:pt x="3505199" y="690803"/>
                  </a:lnTo>
                  <a:lnTo>
                    <a:pt x="3489577" y="732294"/>
                  </a:lnTo>
                  <a:lnTo>
                    <a:pt x="3453537" y="758114"/>
                  </a:lnTo>
                  <a:lnTo>
                    <a:pt x="3438958" y="761511"/>
                  </a:lnTo>
                  <a:lnTo>
                    <a:pt x="3434002" y="761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>
              <a:extLst>
                <a:ext uri="{FF2B5EF4-FFF2-40B4-BE49-F238E27FC236}">
                  <a16:creationId xmlns:a16="http://schemas.microsoft.com/office/drawing/2014/main" id="{6B3EA899-4A07-716A-2F1A-92520DBC2CA1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9149" y="5829299"/>
              <a:ext cx="171449" cy="152399"/>
            </a:xfrm>
            <a:prstGeom prst="rect">
              <a:avLst/>
            </a:prstGeom>
          </p:spPr>
        </p:pic>
      </p:grpSp>
      <p:sp>
        <p:nvSpPr>
          <p:cNvPr id="47" name="object 47">
            <a:extLst>
              <a:ext uri="{FF2B5EF4-FFF2-40B4-BE49-F238E27FC236}">
                <a16:creationId xmlns:a16="http://schemas.microsoft.com/office/drawing/2014/main" id="{50361273-9B21-BB54-D852-591BE46A2E35}"/>
              </a:ext>
            </a:extLst>
          </p:cNvPr>
          <p:cNvSpPr txBox="1"/>
          <p:nvPr/>
        </p:nvSpPr>
        <p:spPr>
          <a:xfrm>
            <a:off x="806449" y="5751746"/>
            <a:ext cx="3219451" cy="434733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59691">
              <a:spcBef>
                <a:spcPts val="510"/>
              </a:spcBef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초기 투자</a:t>
            </a:r>
            <a:endParaRPr sz="1149" dirty="0">
              <a:latin typeface="Malgun Gothic"/>
              <a:cs typeface="Malgun Gothic"/>
            </a:endParaRPr>
          </a:p>
          <a:p>
            <a:pPr marL="12700">
              <a:spcBef>
                <a:spcPts val="344"/>
              </a:spcBef>
            </a:pPr>
            <a:r>
              <a:rPr sz="950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도입에 따른 초기 투자 비용은 수반되지만</a:t>
            </a:r>
            <a:endParaRPr sz="1001" dirty="0">
              <a:latin typeface="Malgun Gothic"/>
              <a:cs typeface="Malgun Gothic"/>
            </a:endParaRPr>
          </a:p>
        </p:txBody>
      </p:sp>
      <p:grpSp>
        <p:nvGrpSpPr>
          <p:cNvPr id="48" name="object 48">
            <a:extLst>
              <a:ext uri="{FF2B5EF4-FFF2-40B4-BE49-F238E27FC236}">
                <a16:creationId xmlns:a16="http://schemas.microsoft.com/office/drawing/2014/main" id="{22820E52-6461-985E-3597-58B9C7E9971F}"/>
              </a:ext>
            </a:extLst>
          </p:cNvPr>
          <p:cNvGrpSpPr/>
          <p:nvPr/>
        </p:nvGrpSpPr>
        <p:grpSpPr>
          <a:xfrm>
            <a:off x="4362449" y="5695949"/>
            <a:ext cx="3505200" cy="762000"/>
            <a:chOff x="4362449" y="5695949"/>
            <a:chExt cx="3505200" cy="762000"/>
          </a:xfrm>
        </p:grpSpPr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0344F9F4-3D16-A77C-4004-BA0F51952972}"/>
                </a:ext>
              </a:extLst>
            </p:cNvPr>
            <p:cNvSpPr/>
            <p:nvPr/>
          </p:nvSpPr>
          <p:spPr>
            <a:xfrm>
              <a:off x="4362449" y="5695949"/>
              <a:ext cx="3505200" cy="762000"/>
            </a:xfrm>
            <a:custGeom>
              <a:avLst/>
              <a:gdLst/>
              <a:ahLst/>
              <a:cxnLst/>
              <a:rect l="l" t="t" r="r" b="b"/>
              <a:pathLst>
                <a:path w="3505200" h="762000">
                  <a:moveTo>
                    <a:pt x="3434002" y="761999"/>
                  </a:moveTo>
                  <a:lnTo>
                    <a:pt x="71196" y="761999"/>
                  </a:lnTo>
                  <a:lnTo>
                    <a:pt x="66241" y="761511"/>
                  </a:lnTo>
                  <a:lnTo>
                    <a:pt x="29705" y="746378"/>
                  </a:lnTo>
                  <a:lnTo>
                    <a:pt x="3885" y="710337"/>
                  </a:lnTo>
                  <a:lnTo>
                    <a:pt x="0" y="690803"/>
                  </a:lnTo>
                  <a:lnTo>
                    <a:pt x="0" y="685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34002" y="0"/>
                  </a:lnTo>
                  <a:lnTo>
                    <a:pt x="3475494" y="15621"/>
                  </a:lnTo>
                  <a:lnTo>
                    <a:pt x="3501312" y="51661"/>
                  </a:lnTo>
                  <a:lnTo>
                    <a:pt x="3505199" y="71196"/>
                  </a:lnTo>
                  <a:lnTo>
                    <a:pt x="3505199" y="690803"/>
                  </a:lnTo>
                  <a:lnTo>
                    <a:pt x="3489576" y="732294"/>
                  </a:lnTo>
                  <a:lnTo>
                    <a:pt x="3453537" y="758114"/>
                  </a:lnTo>
                  <a:lnTo>
                    <a:pt x="3438957" y="761511"/>
                  </a:lnTo>
                  <a:lnTo>
                    <a:pt x="3434002" y="761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>
              <a:extLst>
                <a:ext uri="{FF2B5EF4-FFF2-40B4-BE49-F238E27FC236}">
                  <a16:creationId xmlns:a16="http://schemas.microsoft.com/office/drawing/2014/main" id="{8AE08633-1BB8-542B-E785-EFFBC541EC90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6749" y="5829299"/>
              <a:ext cx="152399" cy="152399"/>
            </a:xfrm>
            <a:prstGeom prst="rect">
              <a:avLst/>
            </a:prstGeom>
          </p:spPr>
        </p:pic>
      </p:grpSp>
      <p:sp>
        <p:nvSpPr>
          <p:cNvPr id="51" name="object 51">
            <a:extLst>
              <a:ext uri="{FF2B5EF4-FFF2-40B4-BE49-F238E27FC236}">
                <a16:creationId xmlns:a16="http://schemas.microsoft.com/office/drawing/2014/main" id="{4DE50201-3E58-84F2-C583-52B76EEE8E84}"/>
              </a:ext>
            </a:extLst>
          </p:cNvPr>
          <p:cNvSpPr txBox="1"/>
          <p:nvPr/>
        </p:nvSpPr>
        <p:spPr>
          <a:xfrm>
            <a:off x="4464050" y="5751746"/>
            <a:ext cx="3216910" cy="5887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40643">
              <a:spcBef>
                <a:spcPts val="510"/>
              </a:spcBef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빠른 투자 회수</a:t>
            </a:r>
            <a:endParaRPr sz="1149" dirty="0">
              <a:latin typeface="Malgun Gothic"/>
              <a:cs typeface="Malgun Gothic"/>
            </a:endParaRPr>
          </a:p>
          <a:p>
            <a:pPr marL="12700" marR="5080">
              <a:spcBef>
                <a:spcPts val="344"/>
              </a:spcBef>
            </a:pP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생산효율화</a:t>
            </a:r>
            <a:r>
              <a:rPr sz="950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품질개선</a:t>
            </a:r>
            <a:r>
              <a:rPr sz="950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비용절감 등 다양한 경로로 투자비용이 빠르게 회수</a:t>
            </a:r>
            <a:endParaRPr sz="1001" dirty="0">
              <a:latin typeface="Malgun Gothic"/>
              <a:cs typeface="Malgun Gothic"/>
            </a:endParaRPr>
          </a:p>
        </p:txBody>
      </p:sp>
      <p:grpSp>
        <p:nvGrpSpPr>
          <p:cNvPr id="52" name="object 52">
            <a:extLst>
              <a:ext uri="{FF2B5EF4-FFF2-40B4-BE49-F238E27FC236}">
                <a16:creationId xmlns:a16="http://schemas.microsoft.com/office/drawing/2014/main" id="{A21F47CB-3F01-5D67-E8C6-1DD3D3323E8D}"/>
              </a:ext>
            </a:extLst>
          </p:cNvPr>
          <p:cNvGrpSpPr/>
          <p:nvPr/>
        </p:nvGrpSpPr>
        <p:grpSpPr>
          <a:xfrm>
            <a:off x="8020049" y="5695949"/>
            <a:ext cx="3505200" cy="762000"/>
            <a:chOff x="8020049" y="5695949"/>
            <a:chExt cx="3505200" cy="762000"/>
          </a:xfrm>
        </p:grpSpPr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00607B43-14FC-E4B4-3087-78F376EB549B}"/>
                </a:ext>
              </a:extLst>
            </p:cNvPr>
            <p:cNvSpPr/>
            <p:nvPr/>
          </p:nvSpPr>
          <p:spPr>
            <a:xfrm>
              <a:off x="8020049" y="5695949"/>
              <a:ext cx="3505200" cy="762000"/>
            </a:xfrm>
            <a:custGeom>
              <a:avLst/>
              <a:gdLst/>
              <a:ahLst/>
              <a:cxnLst/>
              <a:rect l="l" t="t" r="r" b="b"/>
              <a:pathLst>
                <a:path w="3505200" h="762000">
                  <a:moveTo>
                    <a:pt x="3434002" y="761999"/>
                  </a:moveTo>
                  <a:lnTo>
                    <a:pt x="71196" y="761999"/>
                  </a:lnTo>
                  <a:lnTo>
                    <a:pt x="66240" y="761511"/>
                  </a:lnTo>
                  <a:lnTo>
                    <a:pt x="29704" y="746378"/>
                  </a:lnTo>
                  <a:lnTo>
                    <a:pt x="3885" y="710337"/>
                  </a:lnTo>
                  <a:lnTo>
                    <a:pt x="0" y="690803"/>
                  </a:lnTo>
                  <a:lnTo>
                    <a:pt x="0" y="685799"/>
                  </a:lnTo>
                  <a:lnTo>
                    <a:pt x="0" y="71196"/>
                  </a:lnTo>
                  <a:lnTo>
                    <a:pt x="15620" y="29705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3434002" y="0"/>
                  </a:lnTo>
                  <a:lnTo>
                    <a:pt x="3475493" y="15621"/>
                  </a:lnTo>
                  <a:lnTo>
                    <a:pt x="3501313" y="51661"/>
                  </a:lnTo>
                  <a:lnTo>
                    <a:pt x="3505199" y="71196"/>
                  </a:lnTo>
                  <a:lnTo>
                    <a:pt x="3505199" y="690803"/>
                  </a:lnTo>
                  <a:lnTo>
                    <a:pt x="3489577" y="732294"/>
                  </a:lnTo>
                  <a:lnTo>
                    <a:pt x="3453536" y="758114"/>
                  </a:lnTo>
                  <a:lnTo>
                    <a:pt x="3438957" y="761511"/>
                  </a:lnTo>
                  <a:lnTo>
                    <a:pt x="3434002" y="761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>
              <a:extLst>
                <a:ext uri="{FF2B5EF4-FFF2-40B4-BE49-F238E27FC236}">
                  <a16:creationId xmlns:a16="http://schemas.microsoft.com/office/drawing/2014/main" id="{09BC0461-FF16-6574-8328-F8DD68FFE1EA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34349" y="5829299"/>
              <a:ext cx="152399" cy="152399"/>
            </a:xfrm>
            <a:prstGeom prst="rect">
              <a:avLst/>
            </a:prstGeom>
          </p:spPr>
        </p:pic>
      </p:grpSp>
      <p:sp>
        <p:nvSpPr>
          <p:cNvPr id="55" name="object 55">
            <a:extLst>
              <a:ext uri="{FF2B5EF4-FFF2-40B4-BE49-F238E27FC236}">
                <a16:creationId xmlns:a16="http://schemas.microsoft.com/office/drawing/2014/main" id="{7798B834-837F-032E-4506-AD44FC25313C}"/>
              </a:ext>
            </a:extLst>
          </p:cNvPr>
          <p:cNvSpPr txBox="1"/>
          <p:nvPr/>
        </p:nvSpPr>
        <p:spPr>
          <a:xfrm>
            <a:off x="8121650" y="5751746"/>
            <a:ext cx="3293110" cy="5887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40643">
              <a:spcBef>
                <a:spcPts val="510"/>
              </a:spcBef>
            </a:pPr>
            <a:r>
              <a:rPr sz="1149" b="1" dirty="0">
                <a:solidFill>
                  <a:srgbClr val="374050"/>
                </a:solidFill>
                <a:latin typeface="Malgun Gothic"/>
                <a:cs typeface="Malgun Gothic"/>
              </a:rPr>
              <a:t>지속적인 가치 창출</a:t>
            </a:r>
            <a:endParaRPr sz="1149">
              <a:latin typeface="Malgun Gothic"/>
              <a:cs typeface="Malgun Gothic"/>
            </a:endParaRPr>
          </a:p>
          <a:p>
            <a:pPr marL="12700" marR="5080">
              <a:spcBef>
                <a:spcPts val="344"/>
              </a:spcBef>
            </a:pPr>
            <a:r>
              <a:rPr sz="1001" dirty="0">
                <a:solidFill>
                  <a:srgbClr val="4A5462"/>
                </a:solidFill>
                <a:latin typeface="Malgun Gothic"/>
                <a:cs typeface="Malgun Gothic"/>
              </a:rPr>
              <a:t>지식그래프나 디지털트윈과 같은 확장성 높은 인프라는 구축 이후 지속 적으로 새로운 가치를 창출</a:t>
            </a:r>
            <a:endParaRPr sz="1001">
              <a:latin typeface="Malgun Gothic"/>
              <a:cs typeface="Malgun Gothic"/>
            </a:endParaRPr>
          </a:p>
        </p:txBody>
      </p:sp>
      <p:pic>
        <p:nvPicPr>
          <p:cNvPr id="56" name="object 26">
            <a:extLst>
              <a:ext uri="{FF2B5EF4-FFF2-40B4-BE49-F238E27FC236}">
                <a16:creationId xmlns:a16="http://schemas.microsoft.com/office/drawing/2014/main" id="{631D5B22-343D-AA1B-3DD2-51287D8B763A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15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6812BF-EA4C-A53E-5ADE-9941AD44BED7}"/>
              </a:ext>
            </a:extLst>
          </p:cNvPr>
          <p:cNvSpPr/>
          <p:nvPr/>
        </p:nvSpPr>
        <p:spPr>
          <a:xfrm>
            <a:off x="-1" y="1"/>
            <a:ext cx="12192001" cy="7315201"/>
          </a:xfrm>
          <a:custGeom>
            <a:avLst/>
            <a:gdLst/>
            <a:ahLst/>
            <a:cxnLst/>
            <a:rect l="l" t="t" r="r" b="b"/>
            <a:pathLst>
              <a:path w="12192000" h="7315200">
                <a:moveTo>
                  <a:pt x="12191999" y="7315199"/>
                </a:moveTo>
                <a:lnTo>
                  <a:pt x="0" y="7315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3151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86DFF4D-E5AF-530A-2BFC-6BD1AD19188C}"/>
              </a:ext>
            </a:extLst>
          </p:cNvPr>
          <p:cNvSpPr txBox="1">
            <a:spLocks/>
          </p:cNvSpPr>
          <p:nvPr/>
        </p:nvSpPr>
        <p:spPr>
          <a:xfrm>
            <a:off x="495302" y="312537"/>
            <a:ext cx="7171654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en-US" altLang="ko-KR" dirty="0"/>
              <a:t>AI</a:t>
            </a:r>
            <a:r>
              <a:rPr lang="ko-KR" altLang="en-US" dirty="0"/>
              <a:t> 트랜스폼 성공을 위한 제언</a:t>
            </a: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3FCB52BB-7EA2-813F-4D64-3D7A8B76EDE2}"/>
              </a:ext>
            </a:extLst>
          </p:cNvPr>
          <p:cNvGrpSpPr/>
          <p:nvPr/>
        </p:nvGrpSpPr>
        <p:grpSpPr>
          <a:xfrm>
            <a:off x="457204" y="1219200"/>
            <a:ext cx="3552825" cy="4571999"/>
            <a:chOff x="457199" y="1219199"/>
            <a:chExt cx="3552825" cy="457200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60614B7-6E47-0714-8C01-70A9AF85CA1D}"/>
                </a:ext>
              </a:extLst>
            </p:cNvPr>
            <p:cNvSpPr/>
            <p:nvPr/>
          </p:nvSpPr>
          <p:spPr>
            <a:xfrm>
              <a:off x="457199" y="1219199"/>
              <a:ext cx="3552825" cy="4572000"/>
            </a:xfrm>
            <a:custGeom>
              <a:avLst/>
              <a:gdLst/>
              <a:ahLst/>
              <a:cxnLst/>
              <a:rect l="l" t="t" r="r" b="b"/>
              <a:pathLst>
                <a:path w="3552825" h="4572000">
                  <a:moveTo>
                    <a:pt x="3481627" y="4571999"/>
                  </a:moveTo>
                  <a:lnTo>
                    <a:pt x="71196" y="4571999"/>
                  </a:lnTo>
                  <a:lnTo>
                    <a:pt x="66241" y="4571510"/>
                  </a:lnTo>
                  <a:lnTo>
                    <a:pt x="29705" y="4556377"/>
                  </a:lnTo>
                  <a:lnTo>
                    <a:pt x="3885" y="4520337"/>
                  </a:lnTo>
                  <a:lnTo>
                    <a:pt x="0" y="4500802"/>
                  </a:lnTo>
                  <a:lnTo>
                    <a:pt x="0" y="4495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81627" y="0"/>
                  </a:lnTo>
                  <a:lnTo>
                    <a:pt x="3523118" y="15621"/>
                  </a:lnTo>
                  <a:lnTo>
                    <a:pt x="3548938" y="51661"/>
                  </a:lnTo>
                  <a:lnTo>
                    <a:pt x="3552824" y="71196"/>
                  </a:lnTo>
                  <a:lnTo>
                    <a:pt x="3552824" y="4500802"/>
                  </a:lnTo>
                  <a:lnTo>
                    <a:pt x="3537202" y="4542293"/>
                  </a:lnTo>
                  <a:lnTo>
                    <a:pt x="3501162" y="4568112"/>
                  </a:lnTo>
                  <a:lnTo>
                    <a:pt x="3486583" y="4571510"/>
                  </a:lnTo>
                  <a:lnTo>
                    <a:pt x="3481627" y="457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2325374-4C91-9F1D-1CBE-E56AE75286E7}"/>
                </a:ext>
              </a:extLst>
            </p:cNvPr>
            <p:cNvSpPr/>
            <p:nvPr/>
          </p:nvSpPr>
          <p:spPr>
            <a:xfrm>
              <a:off x="1698701" y="1447799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6" y="644412"/>
                  </a:lnTo>
                  <a:lnTo>
                    <a:pt x="176223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1" y="551128"/>
                  </a:lnTo>
                  <a:lnTo>
                    <a:pt x="56183" y="518588"/>
                  </a:lnTo>
                  <a:lnTo>
                    <a:pt x="35594" y="483262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7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1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3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6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3"/>
                  </a:lnTo>
                  <a:lnTo>
                    <a:pt x="615029" y="155021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3" y="268336"/>
                  </a:lnTo>
                  <a:lnTo>
                    <a:pt x="665846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2" y="460951"/>
                  </a:lnTo>
                  <a:lnTo>
                    <a:pt x="623438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0" y="634742"/>
                  </a:lnTo>
                  <a:lnTo>
                    <a:pt x="437950" y="649923"/>
                  </a:lnTo>
                  <a:lnTo>
                    <a:pt x="398413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66466C20-6556-05A5-70D5-8BF285A5BD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9401" y="1609724"/>
              <a:ext cx="247649" cy="342899"/>
            </a:xfrm>
            <a:prstGeom prst="rect">
              <a:avLst/>
            </a:prstGeom>
          </p:spPr>
        </p:pic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AD4DDA3D-E8BF-A7DB-886A-3AF464942C49}"/>
              </a:ext>
            </a:extLst>
          </p:cNvPr>
          <p:cNvSpPr txBox="1"/>
          <p:nvPr/>
        </p:nvSpPr>
        <p:spPr>
          <a:xfrm>
            <a:off x="976947" y="2248540"/>
            <a:ext cx="2635947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데이터중심 조직문화 구축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7BFE8847-4661-B957-E886-48B5F93EDA04}"/>
              </a:ext>
            </a:extLst>
          </p:cNvPr>
          <p:cNvGrpSpPr/>
          <p:nvPr/>
        </p:nvGrpSpPr>
        <p:grpSpPr>
          <a:xfrm>
            <a:off x="685804" y="4400550"/>
            <a:ext cx="3095626" cy="609599"/>
            <a:chOff x="685799" y="4400549"/>
            <a:chExt cx="3095625" cy="60960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7D9750C-5199-8379-D2A4-79B549DCAF78}"/>
                </a:ext>
              </a:extLst>
            </p:cNvPr>
            <p:cNvSpPr/>
            <p:nvPr/>
          </p:nvSpPr>
          <p:spPr>
            <a:xfrm>
              <a:off x="685799" y="4400549"/>
              <a:ext cx="3095625" cy="609600"/>
            </a:xfrm>
            <a:custGeom>
              <a:avLst/>
              <a:gdLst/>
              <a:ahLst/>
              <a:cxnLst/>
              <a:rect l="l" t="t" r="r" b="b"/>
              <a:pathLst>
                <a:path w="3095625" h="609600">
                  <a:moveTo>
                    <a:pt x="3024428" y="609599"/>
                  </a:moveTo>
                  <a:lnTo>
                    <a:pt x="71196" y="609599"/>
                  </a:lnTo>
                  <a:lnTo>
                    <a:pt x="66241" y="609112"/>
                  </a:lnTo>
                  <a:lnTo>
                    <a:pt x="29705" y="593977"/>
                  </a:lnTo>
                  <a:lnTo>
                    <a:pt x="3885" y="557937"/>
                  </a:lnTo>
                  <a:lnTo>
                    <a:pt x="0" y="538403"/>
                  </a:lnTo>
                  <a:lnTo>
                    <a:pt x="0" y="5333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24428" y="0"/>
                  </a:lnTo>
                  <a:lnTo>
                    <a:pt x="3065919" y="15621"/>
                  </a:lnTo>
                  <a:lnTo>
                    <a:pt x="3091738" y="51661"/>
                  </a:lnTo>
                  <a:lnTo>
                    <a:pt x="3095624" y="71196"/>
                  </a:lnTo>
                  <a:lnTo>
                    <a:pt x="3095624" y="538403"/>
                  </a:lnTo>
                  <a:lnTo>
                    <a:pt x="3080002" y="579893"/>
                  </a:lnTo>
                  <a:lnTo>
                    <a:pt x="3043962" y="605714"/>
                  </a:lnTo>
                  <a:lnTo>
                    <a:pt x="3029383" y="609112"/>
                  </a:lnTo>
                  <a:lnTo>
                    <a:pt x="3024428" y="6095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E67F6A7B-CB06-03A8-C4A6-164B1E93758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099" y="4629149"/>
              <a:ext cx="104774" cy="152399"/>
            </a:xfrm>
            <a:prstGeom prst="rect">
              <a:avLst/>
            </a:prstGeom>
          </p:spPr>
        </p:pic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A476D4C4-7949-8999-2809-61E776EF8885}"/>
              </a:ext>
            </a:extLst>
          </p:cNvPr>
          <p:cNvSpPr txBox="1"/>
          <p:nvPr/>
        </p:nvSpPr>
        <p:spPr>
          <a:xfrm>
            <a:off x="977900" y="4494186"/>
            <a:ext cx="2606040" cy="3810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89"/>
              </a:spcBef>
            </a:pP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데이터 중심 문화는 </a:t>
            </a:r>
            <a:r>
              <a:rPr sz="1149" dirty="0">
                <a:solidFill>
                  <a:srgbClr val="374050"/>
                </a:solidFill>
                <a:latin typeface="Centaur"/>
                <a:cs typeface="Centaur"/>
              </a:rPr>
              <a:t>AI </a:t>
            </a: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트랜스폼의 성공을 위한 필수적 기반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14" name="object 14">
            <a:extLst>
              <a:ext uri="{FF2B5EF4-FFF2-40B4-BE49-F238E27FC236}">
                <a16:creationId xmlns:a16="http://schemas.microsoft.com/office/drawing/2014/main" id="{D7E2E13B-2F77-89F5-1235-2222E755FA57}"/>
              </a:ext>
            </a:extLst>
          </p:cNvPr>
          <p:cNvGrpSpPr/>
          <p:nvPr/>
        </p:nvGrpSpPr>
        <p:grpSpPr>
          <a:xfrm>
            <a:off x="4314825" y="1219200"/>
            <a:ext cx="3562350" cy="4571999"/>
            <a:chOff x="4314824" y="1219199"/>
            <a:chExt cx="3562350" cy="4572000"/>
          </a:xfrm>
        </p:grpSpPr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8FAC2DE7-FEDC-F2EC-C0B9-BAFBFC034BAD}"/>
                </a:ext>
              </a:extLst>
            </p:cNvPr>
            <p:cNvSpPr/>
            <p:nvPr/>
          </p:nvSpPr>
          <p:spPr>
            <a:xfrm>
              <a:off x="4314824" y="1219199"/>
              <a:ext cx="3562350" cy="4572000"/>
            </a:xfrm>
            <a:custGeom>
              <a:avLst/>
              <a:gdLst/>
              <a:ahLst/>
              <a:cxnLst/>
              <a:rect l="l" t="t" r="r" b="b"/>
              <a:pathLst>
                <a:path w="3562350" h="4572000">
                  <a:moveTo>
                    <a:pt x="3491152" y="4571999"/>
                  </a:moveTo>
                  <a:lnTo>
                    <a:pt x="71196" y="4571999"/>
                  </a:lnTo>
                  <a:lnTo>
                    <a:pt x="66241" y="4571510"/>
                  </a:lnTo>
                  <a:lnTo>
                    <a:pt x="29705" y="4556377"/>
                  </a:lnTo>
                  <a:lnTo>
                    <a:pt x="3885" y="4520337"/>
                  </a:lnTo>
                  <a:lnTo>
                    <a:pt x="0" y="4500802"/>
                  </a:lnTo>
                  <a:lnTo>
                    <a:pt x="0" y="4495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91152" y="0"/>
                  </a:lnTo>
                  <a:lnTo>
                    <a:pt x="3532644" y="15621"/>
                  </a:lnTo>
                  <a:lnTo>
                    <a:pt x="3558463" y="51661"/>
                  </a:lnTo>
                  <a:lnTo>
                    <a:pt x="3562349" y="71196"/>
                  </a:lnTo>
                  <a:lnTo>
                    <a:pt x="3562349" y="4500802"/>
                  </a:lnTo>
                  <a:lnTo>
                    <a:pt x="3546727" y="4542293"/>
                  </a:lnTo>
                  <a:lnTo>
                    <a:pt x="3510687" y="4568112"/>
                  </a:lnTo>
                  <a:lnTo>
                    <a:pt x="3496108" y="4571510"/>
                  </a:lnTo>
                  <a:lnTo>
                    <a:pt x="3491152" y="457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7D47E854-2287-27AC-F61E-D644AE4D2745}"/>
                </a:ext>
              </a:extLst>
            </p:cNvPr>
            <p:cNvSpPr/>
            <p:nvPr/>
          </p:nvSpPr>
          <p:spPr>
            <a:xfrm>
              <a:off x="5762624" y="1447799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0" y="656759"/>
                  </a:lnTo>
                  <a:lnTo>
                    <a:pt x="213396" y="644412"/>
                  </a:lnTo>
                  <a:lnTo>
                    <a:pt x="176222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1" y="551128"/>
                  </a:lnTo>
                  <a:lnTo>
                    <a:pt x="56182" y="518588"/>
                  </a:lnTo>
                  <a:lnTo>
                    <a:pt x="35594" y="483262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7" y="284458"/>
                  </a:lnTo>
                  <a:lnTo>
                    <a:pt x="12074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4" y="134783"/>
                  </a:lnTo>
                  <a:lnTo>
                    <a:pt x="91926" y="103501"/>
                  </a:lnTo>
                  <a:lnTo>
                    <a:pt x="121883" y="75672"/>
                  </a:lnTo>
                  <a:lnTo>
                    <a:pt x="155021" y="51720"/>
                  </a:lnTo>
                  <a:lnTo>
                    <a:pt x="190838" y="32007"/>
                  </a:lnTo>
                  <a:lnTo>
                    <a:pt x="228797" y="16826"/>
                  </a:lnTo>
                  <a:lnTo>
                    <a:pt x="268335" y="6405"/>
                  </a:lnTo>
                  <a:lnTo>
                    <a:pt x="308852" y="903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6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3"/>
                  </a:lnTo>
                  <a:lnTo>
                    <a:pt x="615028" y="155021"/>
                  </a:lnTo>
                  <a:lnTo>
                    <a:pt x="634741" y="190838"/>
                  </a:lnTo>
                  <a:lnTo>
                    <a:pt x="649923" y="228798"/>
                  </a:lnTo>
                  <a:lnTo>
                    <a:pt x="660343" y="268336"/>
                  </a:lnTo>
                  <a:lnTo>
                    <a:pt x="665847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2" y="382291"/>
                  </a:lnTo>
                  <a:lnTo>
                    <a:pt x="654674" y="422287"/>
                  </a:lnTo>
                  <a:lnTo>
                    <a:pt x="641372" y="460951"/>
                  </a:lnTo>
                  <a:lnTo>
                    <a:pt x="623438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0" y="634742"/>
                  </a:lnTo>
                  <a:lnTo>
                    <a:pt x="437950" y="649923"/>
                  </a:lnTo>
                  <a:lnTo>
                    <a:pt x="398412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80F1DCBB-17E4-73F6-F478-497A34A3452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5024" y="1609724"/>
              <a:ext cx="361949" cy="342899"/>
            </a:xfrm>
            <a:prstGeom prst="rect">
              <a:avLst/>
            </a:prstGeom>
          </p:spPr>
        </p:pic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C2B0FEC0-DB9D-BF90-A64D-7FFAF5231C5E}"/>
              </a:ext>
            </a:extLst>
          </p:cNvPr>
          <p:cNvSpPr txBox="1"/>
          <p:nvPr/>
        </p:nvSpPr>
        <p:spPr>
          <a:xfrm>
            <a:off x="4457860" y="2248543"/>
            <a:ext cx="3257795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전문인력 양성 및 외부 협력 강화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19" name="object 19">
            <a:extLst>
              <a:ext uri="{FF2B5EF4-FFF2-40B4-BE49-F238E27FC236}">
                <a16:creationId xmlns:a16="http://schemas.microsoft.com/office/drawing/2014/main" id="{486E3540-D3A8-BAAE-9E18-46ADE7BD6F6F}"/>
              </a:ext>
            </a:extLst>
          </p:cNvPr>
          <p:cNvGrpSpPr/>
          <p:nvPr/>
        </p:nvGrpSpPr>
        <p:grpSpPr>
          <a:xfrm>
            <a:off x="4543424" y="4952999"/>
            <a:ext cx="3105150" cy="609600"/>
            <a:chOff x="4543424" y="4952999"/>
            <a:chExt cx="3105150" cy="609600"/>
          </a:xfrm>
        </p:grpSpPr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7A138E66-6664-2395-6022-0260F815F6B9}"/>
                </a:ext>
              </a:extLst>
            </p:cNvPr>
            <p:cNvSpPr/>
            <p:nvPr/>
          </p:nvSpPr>
          <p:spPr>
            <a:xfrm>
              <a:off x="4543424" y="4952999"/>
              <a:ext cx="3105150" cy="609600"/>
            </a:xfrm>
            <a:custGeom>
              <a:avLst/>
              <a:gdLst/>
              <a:ahLst/>
              <a:cxnLst/>
              <a:rect l="l" t="t" r="r" b="b"/>
              <a:pathLst>
                <a:path w="3105150" h="609600">
                  <a:moveTo>
                    <a:pt x="3033952" y="609599"/>
                  </a:moveTo>
                  <a:lnTo>
                    <a:pt x="71196" y="609599"/>
                  </a:lnTo>
                  <a:lnTo>
                    <a:pt x="66241" y="609111"/>
                  </a:lnTo>
                  <a:lnTo>
                    <a:pt x="29704" y="593977"/>
                  </a:lnTo>
                  <a:lnTo>
                    <a:pt x="3885" y="557937"/>
                  </a:lnTo>
                  <a:lnTo>
                    <a:pt x="0" y="538402"/>
                  </a:lnTo>
                  <a:lnTo>
                    <a:pt x="0" y="5333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33952" y="0"/>
                  </a:lnTo>
                  <a:lnTo>
                    <a:pt x="3075443" y="15621"/>
                  </a:lnTo>
                  <a:lnTo>
                    <a:pt x="3101262" y="51661"/>
                  </a:lnTo>
                  <a:lnTo>
                    <a:pt x="3105149" y="71196"/>
                  </a:lnTo>
                  <a:lnTo>
                    <a:pt x="3105149" y="538402"/>
                  </a:lnTo>
                  <a:lnTo>
                    <a:pt x="3089526" y="579893"/>
                  </a:lnTo>
                  <a:lnTo>
                    <a:pt x="3053486" y="605712"/>
                  </a:lnTo>
                  <a:lnTo>
                    <a:pt x="3038907" y="609111"/>
                  </a:lnTo>
                  <a:lnTo>
                    <a:pt x="3033952" y="6095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F15D599C-3940-B092-B042-11FECF5626F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57724" y="5181599"/>
              <a:ext cx="104774" cy="152399"/>
            </a:xfrm>
            <a:prstGeom prst="rect">
              <a:avLst/>
            </a:prstGeom>
          </p:spPr>
        </p:pic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7998AF72-0FBB-3B2F-297D-6D236A1397C1}"/>
              </a:ext>
            </a:extLst>
          </p:cNvPr>
          <p:cNvSpPr txBox="1"/>
          <p:nvPr/>
        </p:nvSpPr>
        <p:spPr>
          <a:xfrm>
            <a:off x="4838650" y="5046636"/>
            <a:ext cx="2606040" cy="3810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89"/>
              </a:spcBef>
            </a:pP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국내 전문인력 부족 현상을 극복하기 </a:t>
            </a:r>
            <a:r>
              <a:rPr sz="1149" dirty="0" err="1">
                <a:solidFill>
                  <a:srgbClr val="374050"/>
                </a:solidFill>
                <a:latin typeface="Malgun Gothic"/>
                <a:cs typeface="Malgun Gothic"/>
              </a:rPr>
              <a:t>위한</a:t>
            </a: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149" dirty="0" err="1">
                <a:solidFill>
                  <a:srgbClr val="374050"/>
                </a:solidFill>
                <a:latin typeface="Malgun Gothic"/>
                <a:cs typeface="Malgun Gothic"/>
              </a:rPr>
              <a:t>필수적</a:t>
            </a: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 접근법</a:t>
            </a:r>
            <a:endParaRPr sz="1149" dirty="0">
              <a:latin typeface="Malgun Gothic"/>
              <a:cs typeface="Malgun Gothic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41D84409-3635-E74B-EE84-4EDDBA455313}"/>
              </a:ext>
            </a:extLst>
          </p:cNvPr>
          <p:cNvGrpSpPr/>
          <p:nvPr/>
        </p:nvGrpSpPr>
        <p:grpSpPr>
          <a:xfrm>
            <a:off x="8181982" y="1219200"/>
            <a:ext cx="3552825" cy="4571999"/>
            <a:chOff x="8181973" y="1219199"/>
            <a:chExt cx="3552825" cy="457200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90BC0E2D-4205-81E8-A3F0-47A38E18C2C6}"/>
                </a:ext>
              </a:extLst>
            </p:cNvPr>
            <p:cNvSpPr/>
            <p:nvPr/>
          </p:nvSpPr>
          <p:spPr>
            <a:xfrm>
              <a:off x="8181973" y="1219199"/>
              <a:ext cx="3552825" cy="4572000"/>
            </a:xfrm>
            <a:custGeom>
              <a:avLst/>
              <a:gdLst/>
              <a:ahLst/>
              <a:cxnLst/>
              <a:rect l="l" t="t" r="r" b="b"/>
              <a:pathLst>
                <a:path w="3552825" h="4572000">
                  <a:moveTo>
                    <a:pt x="3481628" y="4571999"/>
                  </a:moveTo>
                  <a:lnTo>
                    <a:pt x="71196" y="4571999"/>
                  </a:lnTo>
                  <a:lnTo>
                    <a:pt x="66241" y="4571510"/>
                  </a:lnTo>
                  <a:lnTo>
                    <a:pt x="29705" y="4556377"/>
                  </a:lnTo>
                  <a:lnTo>
                    <a:pt x="3886" y="4520337"/>
                  </a:lnTo>
                  <a:lnTo>
                    <a:pt x="0" y="4500802"/>
                  </a:lnTo>
                  <a:lnTo>
                    <a:pt x="0" y="4495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81628" y="0"/>
                  </a:lnTo>
                  <a:lnTo>
                    <a:pt x="3523117" y="15621"/>
                  </a:lnTo>
                  <a:lnTo>
                    <a:pt x="3548938" y="51661"/>
                  </a:lnTo>
                  <a:lnTo>
                    <a:pt x="3552825" y="71196"/>
                  </a:lnTo>
                  <a:lnTo>
                    <a:pt x="3552825" y="4500802"/>
                  </a:lnTo>
                  <a:lnTo>
                    <a:pt x="3537201" y="4542293"/>
                  </a:lnTo>
                  <a:lnTo>
                    <a:pt x="3501162" y="4568112"/>
                  </a:lnTo>
                  <a:lnTo>
                    <a:pt x="3486583" y="4571510"/>
                  </a:lnTo>
                  <a:lnTo>
                    <a:pt x="3481628" y="457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0EF0FB19-5281-00BA-4663-FE64B4193BCB}"/>
                </a:ext>
              </a:extLst>
            </p:cNvPr>
            <p:cNvSpPr/>
            <p:nvPr/>
          </p:nvSpPr>
          <p:spPr>
            <a:xfrm>
              <a:off x="9620248" y="1447799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4" y="664242"/>
                  </a:lnTo>
                  <a:lnTo>
                    <a:pt x="252371" y="656759"/>
                  </a:lnTo>
                  <a:lnTo>
                    <a:pt x="213396" y="644412"/>
                  </a:lnTo>
                  <a:lnTo>
                    <a:pt x="176221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2" y="551128"/>
                  </a:lnTo>
                  <a:lnTo>
                    <a:pt x="56182" y="518588"/>
                  </a:lnTo>
                  <a:lnTo>
                    <a:pt x="35594" y="483262"/>
                  </a:lnTo>
                  <a:lnTo>
                    <a:pt x="19486" y="445685"/>
                  </a:lnTo>
                  <a:lnTo>
                    <a:pt x="8099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7" y="284458"/>
                  </a:lnTo>
                  <a:lnTo>
                    <a:pt x="12074" y="244461"/>
                  </a:lnTo>
                  <a:lnTo>
                    <a:pt x="25375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3" y="75672"/>
                  </a:lnTo>
                  <a:lnTo>
                    <a:pt x="155021" y="51720"/>
                  </a:lnTo>
                  <a:lnTo>
                    <a:pt x="190837" y="32007"/>
                  </a:lnTo>
                  <a:lnTo>
                    <a:pt x="228798" y="16826"/>
                  </a:lnTo>
                  <a:lnTo>
                    <a:pt x="268337" y="6405"/>
                  </a:lnTo>
                  <a:lnTo>
                    <a:pt x="308853" y="903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0" y="3608"/>
                  </a:lnTo>
                  <a:lnTo>
                    <a:pt x="422286" y="12075"/>
                  </a:lnTo>
                  <a:lnTo>
                    <a:pt x="460950" y="25376"/>
                  </a:lnTo>
                  <a:lnTo>
                    <a:pt x="497696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6" y="121883"/>
                  </a:lnTo>
                  <a:lnTo>
                    <a:pt x="615027" y="155021"/>
                  </a:lnTo>
                  <a:lnTo>
                    <a:pt x="634741" y="190838"/>
                  </a:lnTo>
                  <a:lnTo>
                    <a:pt x="649922" y="228798"/>
                  </a:lnTo>
                  <a:lnTo>
                    <a:pt x="660343" y="268336"/>
                  </a:lnTo>
                  <a:lnTo>
                    <a:pt x="665846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3" y="422287"/>
                  </a:lnTo>
                  <a:lnTo>
                    <a:pt x="641371" y="460951"/>
                  </a:lnTo>
                  <a:lnTo>
                    <a:pt x="623437" y="497697"/>
                  </a:lnTo>
                  <a:lnTo>
                    <a:pt x="601143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6" y="615029"/>
                  </a:lnTo>
                  <a:lnTo>
                    <a:pt x="475910" y="634742"/>
                  </a:lnTo>
                  <a:lnTo>
                    <a:pt x="437949" y="649923"/>
                  </a:lnTo>
                  <a:lnTo>
                    <a:pt x="398411" y="660344"/>
                  </a:lnTo>
                  <a:lnTo>
                    <a:pt x="357896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E56AF27D-4D6D-8D4F-4CF4-7FB6534A94C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10749" y="1609724"/>
              <a:ext cx="285749" cy="342899"/>
            </a:xfrm>
            <a:prstGeom prst="rect">
              <a:avLst/>
            </a:prstGeom>
          </p:spPr>
        </p:pic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445DAED0-ECCF-D926-F0C6-B45611C44142}"/>
              </a:ext>
            </a:extLst>
          </p:cNvPr>
          <p:cNvSpPr txBox="1"/>
          <p:nvPr/>
        </p:nvSpPr>
        <p:spPr>
          <a:xfrm>
            <a:off x="8688838" y="2248543"/>
            <a:ext cx="2832067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정부 지원사업 활용 방안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28" name="object 28">
            <a:extLst>
              <a:ext uri="{FF2B5EF4-FFF2-40B4-BE49-F238E27FC236}">
                <a16:creationId xmlns:a16="http://schemas.microsoft.com/office/drawing/2014/main" id="{DA583B3D-FF5C-5F0B-81DC-C32A4D6447A9}"/>
              </a:ext>
            </a:extLst>
          </p:cNvPr>
          <p:cNvGrpSpPr/>
          <p:nvPr/>
        </p:nvGrpSpPr>
        <p:grpSpPr>
          <a:xfrm>
            <a:off x="8410582" y="4724401"/>
            <a:ext cx="3095626" cy="609599"/>
            <a:chOff x="8410574" y="4724399"/>
            <a:chExt cx="3095625" cy="609600"/>
          </a:xfrm>
        </p:grpSpPr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392878FE-3540-DE23-A49C-9795553E0CF9}"/>
                </a:ext>
              </a:extLst>
            </p:cNvPr>
            <p:cNvSpPr/>
            <p:nvPr/>
          </p:nvSpPr>
          <p:spPr>
            <a:xfrm>
              <a:off x="8410574" y="4724399"/>
              <a:ext cx="3095625" cy="609600"/>
            </a:xfrm>
            <a:custGeom>
              <a:avLst/>
              <a:gdLst/>
              <a:ahLst/>
              <a:cxnLst/>
              <a:rect l="l" t="t" r="r" b="b"/>
              <a:pathLst>
                <a:path w="3095625" h="609600">
                  <a:moveTo>
                    <a:pt x="3024427" y="609599"/>
                  </a:moveTo>
                  <a:lnTo>
                    <a:pt x="71196" y="609599"/>
                  </a:lnTo>
                  <a:lnTo>
                    <a:pt x="66240" y="609111"/>
                  </a:lnTo>
                  <a:lnTo>
                    <a:pt x="29704" y="593977"/>
                  </a:lnTo>
                  <a:lnTo>
                    <a:pt x="3885" y="557937"/>
                  </a:lnTo>
                  <a:lnTo>
                    <a:pt x="0" y="538402"/>
                  </a:lnTo>
                  <a:lnTo>
                    <a:pt x="0" y="533399"/>
                  </a:lnTo>
                  <a:lnTo>
                    <a:pt x="0" y="71196"/>
                  </a:lnTo>
                  <a:lnTo>
                    <a:pt x="15619" y="29704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3024427" y="0"/>
                  </a:lnTo>
                  <a:lnTo>
                    <a:pt x="3065918" y="15621"/>
                  </a:lnTo>
                  <a:lnTo>
                    <a:pt x="3091738" y="51661"/>
                  </a:lnTo>
                  <a:lnTo>
                    <a:pt x="3095624" y="71196"/>
                  </a:lnTo>
                  <a:lnTo>
                    <a:pt x="3095624" y="538402"/>
                  </a:lnTo>
                  <a:lnTo>
                    <a:pt x="3080002" y="579893"/>
                  </a:lnTo>
                  <a:lnTo>
                    <a:pt x="3043962" y="605713"/>
                  </a:lnTo>
                  <a:lnTo>
                    <a:pt x="3029382" y="609111"/>
                  </a:lnTo>
                  <a:lnTo>
                    <a:pt x="3024427" y="609599"/>
                  </a:lnTo>
                  <a:close/>
                </a:path>
              </a:pathLst>
            </a:custGeom>
            <a:solidFill>
              <a:srgbClr val="FA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>
              <a:extLst>
                <a:ext uri="{FF2B5EF4-FFF2-40B4-BE49-F238E27FC236}">
                  <a16:creationId xmlns:a16="http://schemas.microsoft.com/office/drawing/2014/main" id="{38BF67B0-BBF9-BD6A-9C1A-0A961986273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4399" y="4952999"/>
              <a:ext cx="104774" cy="152399"/>
            </a:xfrm>
            <a:prstGeom prst="rect">
              <a:avLst/>
            </a:prstGeom>
          </p:spPr>
        </p:pic>
      </p:grpSp>
      <p:sp>
        <p:nvSpPr>
          <p:cNvPr id="31" name="object 31">
            <a:extLst>
              <a:ext uri="{FF2B5EF4-FFF2-40B4-BE49-F238E27FC236}">
                <a16:creationId xmlns:a16="http://schemas.microsoft.com/office/drawing/2014/main" id="{2A3CCC4B-FBF1-3DF4-06C8-EEEE692B6205}"/>
              </a:ext>
            </a:extLst>
          </p:cNvPr>
          <p:cNvSpPr txBox="1"/>
          <p:nvPr/>
        </p:nvSpPr>
        <p:spPr>
          <a:xfrm>
            <a:off x="8699401" y="4818037"/>
            <a:ext cx="2567940" cy="3810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89"/>
              </a:spcBef>
            </a:pP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정부의 자율제조 로드맵은 </a:t>
            </a:r>
            <a:r>
              <a:rPr sz="1149" dirty="0">
                <a:solidFill>
                  <a:srgbClr val="374050"/>
                </a:solidFill>
                <a:latin typeface="Centaur"/>
                <a:cs typeface="Centaur"/>
              </a:rPr>
              <a:t>AI </a:t>
            </a:r>
            <a:r>
              <a:rPr sz="1149" dirty="0">
                <a:solidFill>
                  <a:srgbClr val="374050"/>
                </a:solidFill>
                <a:latin typeface="Malgun Gothic"/>
                <a:cs typeface="Malgun Gothic"/>
              </a:rPr>
              <a:t>조혁신의 핵심을 지원하는 방안</a:t>
            </a:r>
            <a:endParaRPr sz="1149">
              <a:latin typeface="Malgun Gothic"/>
              <a:cs typeface="Malgun Gothic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673FF7EC-37CC-0E30-DA0E-F373F143589D}"/>
              </a:ext>
            </a:extLst>
          </p:cNvPr>
          <p:cNvSpPr txBox="1"/>
          <p:nvPr/>
        </p:nvSpPr>
        <p:spPr>
          <a:xfrm>
            <a:off x="863605" y="2660172"/>
            <a:ext cx="3194680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최고경영진의 강력한 의지를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바탕으로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lang="en-US"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데이터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기반 의사결정시스템 전사적 확립</a:t>
            </a:r>
            <a:endParaRPr sz="1350" dirty="0">
              <a:latin typeface="Malgun Gothic"/>
              <a:cs typeface="Malgun Gothic"/>
            </a:endParaRPr>
          </a:p>
        </p:txBody>
      </p:sp>
      <p:grpSp>
        <p:nvGrpSpPr>
          <p:cNvPr id="33" name="object 33">
            <a:extLst>
              <a:ext uri="{FF2B5EF4-FFF2-40B4-BE49-F238E27FC236}">
                <a16:creationId xmlns:a16="http://schemas.microsoft.com/office/drawing/2014/main" id="{6411607F-1D49-3D06-EB02-DA5B2643E7BE}"/>
              </a:ext>
            </a:extLst>
          </p:cNvPr>
          <p:cNvGrpSpPr/>
          <p:nvPr/>
        </p:nvGrpSpPr>
        <p:grpSpPr>
          <a:xfrm>
            <a:off x="685801" y="2781300"/>
            <a:ext cx="76199" cy="1181100"/>
            <a:chOff x="685799" y="2781299"/>
            <a:chExt cx="76200" cy="1181100"/>
          </a:xfrm>
        </p:grpSpPr>
        <p:pic>
          <p:nvPicPr>
            <p:cNvPr id="34" name="object 34">
              <a:extLst>
                <a:ext uri="{FF2B5EF4-FFF2-40B4-BE49-F238E27FC236}">
                  <a16:creationId xmlns:a16="http://schemas.microsoft.com/office/drawing/2014/main" id="{3373A50A-5A71-697E-2CE4-27C0D413091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799" y="2781299"/>
              <a:ext cx="76200" cy="76199"/>
            </a:xfrm>
            <a:prstGeom prst="rect">
              <a:avLst/>
            </a:prstGeom>
          </p:spPr>
        </p:pic>
        <p:pic>
          <p:nvPicPr>
            <p:cNvPr id="35" name="object 35">
              <a:extLst>
                <a:ext uri="{FF2B5EF4-FFF2-40B4-BE49-F238E27FC236}">
                  <a16:creationId xmlns:a16="http://schemas.microsoft.com/office/drawing/2014/main" id="{294771A0-DFF4-D5DF-8629-A6984EC6D27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799" y="3333749"/>
              <a:ext cx="76200" cy="76199"/>
            </a:xfrm>
            <a:prstGeom prst="rect">
              <a:avLst/>
            </a:prstGeom>
          </p:spPr>
        </p:pic>
        <p:pic>
          <p:nvPicPr>
            <p:cNvPr id="36" name="object 36">
              <a:extLst>
                <a:ext uri="{FF2B5EF4-FFF2-40B4-BE49-F238E27FC236}">
                  <a16:creationId xmlns:a16="http://schemas.microsoft.com/office/drawing/2014/main" id="{CF59AEF2-0350-990D-D22F-D5118D5EC3D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799" y="3886199"/>
              <a:ext cx="76200" cy="76199"/>
            </a:xfrm>
            <a:prstGeom prst="rect">
              <a:avLst/>
            </a:prstGeom>
          </p:spPr>
        </p:pic>
      </p:grpSp>
      <p:sp>
        <p:nvSpPr>
          <p:cNvPr id="37" name="object 37">
            <a:extLst>
              <a:ext uri="{FF2B5EF4-FFF2-40B4-BE49-F238E27FC236}">
                <a16:creationId xmlns:a16="http://schemas.microsoft.com/office/drawing/2014/main" id="{7DA93A68-A052-971E-E9A2-12948F7A3578}"/>
              </a:ext>
            </a:extLst>
          </p:cNvPr>
          <p:cNvSpPr txBox="1"/>
          <p:nvPr/>
        </p:nvSpPr>
        <p:spPr>
          <a:xfrm>
            <a:off x="863604" y="3212622"/>
            <a:ext cx="3095625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데이터의 품질과 활용성을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지속적으로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관리하는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노력을 기울이기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2EFD4A90-2F54-12BC-C664-2B70AAEB780C}"/>
              </a:ext>
            </a:extLst>
          </p:cNvPr>
          <p:cNvSpPr txBox="1"/>
          <p:nvPr/>
        </p:nvSpPr>
        <p:spPr>
          <a:xfrm>
            <a:off x="863605" y="3765073"/>
            <a:ext cx="3146413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이러한 문화적 변화 없이는 기술 도입만으로는 기대하는 성과를 얻기 어려움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DAF39904-9A18-D5A6-7146-1D76A4D3DE53}"/>
              </a:ext>
            </a:extLst>
          </p:cNvPr>
          <p:cNvSpPr txBox="1"/>
          <p:nvPr/>
        </p:nvSpPr>
        <p:spPr>
          <a:xfrm>
            <a:off x="4724359" y="2660175"/>
            <a:ext cx="2851785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내부 인력의 </a:t>
            </a:r>
            <a:r>
              <a:rPr sz="1300" dirty="0">
                <a:solidFill>
                  <a:srgbClr val="4A5462"/>
                </a:solidFill>
                <a:latin typeface="Tahoma"/>
                <a:cs typeface="Tahoma"/>
              </a:rPr>
              <a:t>AI/LLM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리터러십을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강화하기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위한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교육 프로그램 진행</a:t>
            </a:r>
            <a:endParaRPr sz="1350" dirty="0">
              <a:latin typeface="Malgun Gothic"/>
              <a:cs typeface="Malgun Gothic"/>
            </a:endParaRPr>
          </a:p>
        </p:txBody>
      </p:sp>
      <p:grpSp>
        <p:nvGrpSpPr>
          <p:cNvPr id="40" name="object 40">
            <a:extLst>
              <a:ext uri="{FF2B5EF4-FFF2-40B4-BE49-F238E27FC236}">
                <a16:creationId xmlns:a16="http://schemas.microsoft.com/office/drawing/2014/main" id="{0A714878-E4CB-709A-EE60-534A0EF3091A}"/>
              </a:ext>
            </a:extLst>
          </p:cNvPr>
          <p:cNvGrpSpPr/>
          <p:nvPr/>
        </p:nvGrpSpPr>
        <p:grpSpPr>
          <a:xfrm>
            <a:off x="4543426" y="2781300"/>
            <a:ext cx="76199" cy="1733550"/>
            <a:chOff x="4543424" y="2781299"/>
            <a:chExt cx="76200" cy="1733550"/>
          </a:xfrm>
        </p:grpSpPr>
        <p:pic>
          <p:nvPicPr>
            <p:cNvPr id="41" name="object 41">
              <a:extLst>
                <a:ext uri="{FF2B5EF4-FFF2-40B4-BE49-F238E27FC236}">
                  <a16:creationId xmlns:a16="http://schemas.microsoft.com/office/drawing/2014/main" id="{5FC6C0B0-6EFA-E0A4-A936-08B2CA32138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3424" y="2781299"/>
              <a:ext cx="76200" cy="76199"/>
            </a:xfrm>
            <a:prstGeom prst="rect">
              <a:avLst/>
            </a:prstGeom>
          </p:spPr>
        </p:pic>
        <p:pic>
          <p:nvPicPr>
            <p:cNvPr id="42" name="object 42">
              <a:extLst>
                <a:ext uri="{FF2B5EF4-FFF2-40B4-BE49-F238E27FC236}">
                  <a16:creationId xmlns:a16="http://schemas.microsoft.com/office/drawing/2014/main" id="{0E65271A-4F87-E214-6800-DC7BA6F84F8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3424" y="3333749"/>
              <a:ext cx="76200" cy="76199"/>
            </a:xfrm>
            <a:prstGeom prst="rect">
              <a:avLst/>
            </a:prstGeom>
          </p:spPr>
        </p:pic>
        <p:pic>
          <p:nvPicPr>
            <p:cNvPr id="43" name="object 43">
              <a:extLst>
                <a:ext uri="{FF2B5EF4-FFF2-40B4-BE49-F238E27FC236}">
                  <a16:creationId xmlns:a16="http://schemas.microsoft.com/office/drawing/2014/main" id="{88658889-10B2-B54A-9D78-C1035B8DFB9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3424" y="3886199"/>
              <a:ext cx="76200" cy="76199"/>
            </a:xfrm>
            <a:prstGeom prst="rect">
              <a:avLst/>
            </a:prstGeom>
          </p:spPr>
        </p:pic>
        <p:pic>
          <p:nvPicPr>
            <p:cNvPr id="44" name="object 44">
              <a:extLst>
                <a:ext uri="{FF2B5EF4-FFF2-40B4-BE49-F238E27FC236}">
                  <a16:creationId xmlns:a16="http://schemas.microsoft.com/office/drawing/2014/main" id="{A943A031-985D-F081-060A-03DD9D405EC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3424" y="4438649"/>
              <a:ext cx="76200" cy="76199"/>
            </a:xfrm>
            <a:prstGeom prst="rect">
              <a:avLst/>
            </a:prstGeom>
          </p:spPr>
        </p:pic>
      </p:grpSp>
      <p:sp>
        <p:nvSpPr>
          <p:cNvPr id="45" name="object 45">
            <a:extLst>
              <a:ext uri="{FF2B5EF4-FFF2-40B4-BE49-F238E27FC236}">
                <a16:creationId xmlns:a16="http://schemas.microsoft.com/office/drawing/2014/main" id="{511EB976-855B-F382-FD03-AEE65F28F498}"/>
              </a:ext>
            </a:extLst>
          </p:cNvPr>
          <p:cNvSpPr txBox="1"/>
          <p:nvPr/>
        </p:nvSpPr>
        <p:spPr>
          <a:xfrm>
            <a:off x="4724359" y="3212626"/>
            <a:ext cx="2851785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외부 컨설팅 및 솔루션 </a:t>
            </a:r>
            <a:r>
              <a:rPr sz="1300" dirty="0">
                <a:solidFill>
                  <a:srgbClr val="4A5462"/>
                </a:solidFill>
                <a:latin typeface="Tahoma"/>
                <a:cs typeface="Tahoma"/>
              </a:rPr>
              <a:t>AI/LLM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전문기업과의 전략적 협력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75E5CC2F-6B46-8F5B-314D-6544C06D8F00}"/>
              </a:ext>
            </a:extLst>
          </p:cNvPr>
          <p:cNvSpPr txBox="1"/>
          <p:nvPr/>
        </p:nvSpPr>
        <p:spPr>
          <a:xfrm>
            <a:off x="4724359" y="3765074"/>
            <a:ext cx="2927985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검증된 솔루션과 노하우를 활용하여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투자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리스크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줄이기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1C466ACD-587E-AD54-90BE-CAF11627261F}"/>
              </a:ext>
            </a:extLst>
          </p:cNvPr>
          <p:cNvSpPr txBox="1"/>
          <p:nvPr/>
        </p:nvSpPr>
        <p:spPr>
          <a:xfrm>
            <a:off x="4724352" y="4317525"/>
            <a:ext cx="2785109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이로 인한 투자리스크 감소와 함께 트랜스폼 가속화 기회 제공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72796741-1E8B-AB30-E17A-D761F76E0E81}"/>
              </a:ext>
            </a:extLst>
          </p:cNvPr>
          <p:cNvSpPr txBox="1"/>
          <p:nvPr/>
        </p:nvSpPr>
        <p:spPr>
          <a:xfrm>
            <a:off x="8585109" y="2660176"/>
            <a:ext cx="3149687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정부가 추진하는 자율제조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로드맵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고도화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지원사업 활발히 검토</a:t>
            </a:r>
            <a:endParaRPr sz="1350" dirty="0">
              <a:latin typeface="Malgun Gothic"/>
              <a:cs typeface="Malgun Gothic"/>
            </a:endParaRPr>
          </a:p>
        </p:txBody>
      </p:sp>
      <p:grpSp>
        <p:nvGrpSpPr>
          <p:cNvPr id="49" name="object 49">
            <a:extLst>
              <a:ext uri="{FF2B5EF4-FFF2-40B4-BE49-F238E27FC236}">
                <a16:creationId xmlns:a16="http://schemas.microsoft.com/office/drawing/2014/main" id="{DC0559F1-EA6D-9668-92F0-2321F0733A42}"/>
              </a:ext>
            </a:extLst>
          </p:cNvPr>
          <p:cNvGrpSpPr/>
          <p:nvPr/>
        </p:nvGrpSpPr>
        <p:grpSpPr>
          <a:xfrm>
            <a:off x="8410575" y="2781300"/>
            <a:ext cx="76199" cy="1504951"/>
            <a:chOff x="8410573" y="2781299"/>
            <a:chExt cx="76200" cy="1504950"/>
          </a:xfrm>
        </p:grpSpPr>
        <p:pic>
          <p:nvPicPr>
            <p:cNvPr id="50" name="object 50">
              <a:extLst>
                <a:ext uri="{FF2B5EF4-FFF2-40B4-BE49-F238E27FC236}">
                  <a16:creationId xmlns:a16="http://schemas.microsoft.com/office/drawing/2014/main" id="{B7352C83-CD2D-D034-0D65-81C2111EE3B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10573" y="2781299"/>
              <a:ext cx="76200" cy="76199"/>
            </a:xfrm>
            <a:prstGeom prst="rect">
              <a:avLst/>
            </a:prstGeom>
          </p:spPr>
        </p:pic>
        <p:pic>
          <p:nvPicPr>
            <p:cNvPr id="51" name="object 51">
              <a:extLst>
                <a:ext uri="{FF2B5EF4-FFF2-40B4-BE49-F238E27FC236}">
                  <a16:creationId xmlns:a16="http://schemas.microsoft.com/office/drawing/2014/main" id="{66CCBC72-50F9-7136-8237-CA8C396A93E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10573" y="3333749"/>
              <a:ext cx="76200" cy="76199"/>
            </a:xfrm>
            <a:prstGeom prst="rect">
              <a:avLst/>
            </a:prstGeom>
          </p:spPr>
        </p:pic>
        <p:pic>
          <p:nvPicPr>
            <p:cNvPr id="52" name="object 52">
              <a:extLst>
                <a:ext uri="{FF2B5EF4-FFF2-40B4-BE49-F238E27FC236}">
                  <a16:creationId xmlns:a16="http://schemas.microsoft.com/office/drawing/2014/main" id="{8FEDFD47-795F-0628-8B62-FA300447C74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10573" y="3657599"/>
              <a:ext cx="76200" cy="76199"/>
            </a:xfrm>
            <a:prstGeom prst="rect">
              <a:avLst/>
            </a:prstGeom>
          </p:spPr>
        </p:pic>
        <p:pic>
          <p:nvPicPr>
            <p:cNvPr id="53" name="object 53">
              <a:extLst>
                <a:ext uri="{FF2B5EF4-FFF2-40B4-BE49-F238E27FC236}">
                  <a16:creationId xmlns:a16="http://schemas.microsoft.com/office/drawing/2014/main" id="{42A555E2-9EF5-CCED-4D90-E1B6A04FFA8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10573" y="4210049"/>
              <a:ext cx="76200" cy="76199"/>
            </a:xfrm>
            <a:prstGeom prst="rect">
              <a:avLst/>
            </a:prstGeom>
          </p:spPr>
        </p:pic>
      </p:grpSp>
      <p:sp>
        <p:nvSpPr>
          <p:cNvPr id="54" name="object 54">
            <a:extLst>
              <a:ext uri="{FF2B5EF4-FFF2-40B4-BE49-F238E27FC236}">
                <a16:creationId xmlns:a16="http://schemas.microsoft.com/office/drawing/2014/main" id="{75ED7646-88ED-E8A6-089A-B5FCBC516D21}"/>
              </a:ext>
            </a:extLst>
          </p:cNvPr>
          <p:cNvSpPr txBox="1"/>
          <p:nvPr/>
        </p:nvSpPr>
        <p:spPr>
          <a:xfrm>
            <a:off x="8585099" y="3234563"/>
            <a:ext cx="2081041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참여하는 것 중요함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A7D2636C-8E63-2D8F-E5BB-867AA16AE8BE}"/>
              </a:ext>
            </a:extLst>
          </p:cNvPr>
          <p:cNvSpPr txBox="1"/>
          <p:nvPr/>
        </p:nvSpPr>
        <p:spPr>
          <a:xfrm>
            <a:off x="8585109" y="3536475"/>
            <a:ext cx="3307667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지원사업은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초기 투자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부담을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경감하고</a:t>
            </a:r>
            <a:r>
              <a:rPr lang="en-US" sz="1350" dirty="0">
                <a:solidFill>
                  <a:srgbClr val="4A5462"/>
                </a:solidFill>
                <a:latin typeface="Malgun Gothic"/>
                <a:cs typeface="Malgun Gothic"/>
              </a:rPr>
              <a:t>  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성공적인 전환을 위한 도구 역할 가능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1B0BB7D7-D6A9-749F-C6EE-95529F0EECD5}"/>
              </a:ext>
            </a:extLst>
          </p:cNvPr>
          <p:cNvSpPr txBox="1"/>
          <p:nvPr/>
        </p:nvSpPr>
        <p:spPr>
          <a:xfrm>
            <a:off x="8585109" y="4088925"/>
            <a:ext cx="2927985" cy="453458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00" dirty="0">
                <a:solidFill>
                  <a:srgbClr val="4A5462"/>
                </a:solidFill>
                <a:latin typeface="Tahoma"/>
                <a:cs typeface="Tahoma"/>
              </a:rPr>
              <a:t>AI/LLM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공공 사업 참여로 인한 초기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투자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감소와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성공 확률 증가</a:t>
            </a:r>
            <a:endParaRPr sz="1350" dirty="0">
              <a:latin typeface="Malgun Gothic"/>
              <a:cs typeface="Malgun Gothic"/>
            </a:endParaRPr>
          </a:p>
        </p:txBody>
      </p:sp>
      <p:grpSp>
        <p:nvGrpSpPr>
          <p:cNvPr id="57" name="object 57">
            <a:extLst>
              <a:ext uri="{FF2B5EF4-FFF2-40B4-BE49-F238E27FC236}">
                <a16:creationId xmlns:a16="http://schemas.microsoft.com/office/drawing/2014/main" id="{FC5CD1A3-A09E-46F0-E21D-101997897525}"/>
              </a:ext>
            </a:extLst>
          </p:cNvPr>
          <p:cNvGrpSpPr/>
          <p:nvPr/>
        </p:nvGrpSpPr>
        <p:grpSpPr>
          <a:xfrm>
            <a:off x="447675" y="5886449"/>
            <a:ext cx="11277600" cy="762000"/>
            <a:chOff x="447675" y="5886449"/>
            <a:chExt cx="11277600" cy="762000"/>
          </a:xfrm>
        </p:grpSpPr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4D4C9AF5-5B36-6E42-A0F9-4983711D9D9B}"/>
                </a:ext>
              </a:extLst>
            </p:cNvPr>
            <p:cNvSpPr/>
            <p:nvPr/>
          </p:nvSpPr>
          <p:spPr>
            <a:xfrm>
              <a:off x="447675" y="5886449"/>
              <a:ext cx="11277600" cy="762000"/>
            </a:xfrm>
            <a:custGeom>
              <a:avLst/>
              <a:gdLst/>
              <a:ahLst/>
              <a:cxnLst/>
              <a:rect l="l" t="t" r="r" b="b"/>
              <a:pathLst>
                <a:path w="11277600" h="762000">
                  <a:moveTo>
                    <a:pt x="11206402" y="761999"/>
                  </a:moveTo>
                  <a:lnTo>
                    <a:pt x="71196" y="761999"/>
                  </a:lnTo>
                  <a:lnTo>
                    <a:pt x="66241" y="761511"/>
                  </a:lnTo>
                  <a:lnTo>
                    <a:pt x="29705" y="746378"/>
                  </a:lnTo>
                  <a:lnTo>
                    <a:pt x="3885" y="710337"/>
                  </a:lnTo>
                  <a:lnTo>
                    <a:pt x="0" y="690803"/>
                  </a:lnTo>
                  <a:lnTo>
                    <a:pt x="0" y="685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206402" y="0"/>
                  </a:lnTo>
                  <a:lnTo>
                    <a:pt x="11247890" y="15621"/>
                  </a:lnTo>
                  <a:lnTo>
                    <a:pt x="11273712" y="51662"/>
                  </a:lnTo>
                  <a:lnTo>
                    <a:pt x="11277597" y="71196"/>
                  </a:lnTo>
                  <a:lnTo>
                    <a:pt x="11277597" y="690803"/>
                  </a:lnTo>
                  <a:lnTo>
                    <a:pt x="11261975" y="732294"/>
                  </a:lnTo>
                  <a:lnTo>
                    <a:pt x="11225935" y="758114"/>
                  </a:lnTo>
                  <a:lnTo>
                    <a:pt x="11211356" y="761511"/>
                  </a:lnTo>
                  <a:lnTo>
                    <a:pt x="11206402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>
              <a:extLst>
                <a:ext uri="{FF2B5EF4-FFF2-40B4-BE49-F238E27FC236}">
                  <a16:creationId xmlns:a16="http://schemas.microsoft.com/office/drawing/2014/main" id="{A4359509-90EB-A325-AAF8-BE24BF056E71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074" y="5981699"/>
              <a:ext cx="228599" cy="304799"/>
            </a:xfrm>
            <a:prstGeom prst="rect">
              <a:avLst/>
            </a:prstGeom>
          </p:spPr>
        </p:pic>
      </p:grpSp>
      <p:sp>
        <p:nvSpPr>
          <p:cNvPr id="60" name="object 60">
            <a:extLst>
              <a:ext uri="{FF2B5EF4-FFF2-40B4-BE49-F238E27FC236}">
                <a16:creationId xmlns:a16="http://schemas.microsoft.com/office/drawing/2014/main" id="{5052E194-BC28-E06D-0F9C-4509C912DB92}"/>
              </a:ext>
            </a:extLst>
          </p:cNvPr>
          <p:cNvSpPr txBox="1"/>
          <p:nvPr/>
        </p:nvSpPr>
        <p:spPr>
          <a:xfrm>
            <a:off x="930275" y="6012967"/>
            <a:ext cx="10547985" cy="454100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374050"/>
                </a:solidFill>
                <a:latin typeface="Malgun Gothic"/>
                <a:cs typeface="Malgun Gothic"/>
              </a:rPr>
              <a:t>트랜스폼의 성공은 기술 도입뿐만 아니라 조직 문화의 변화와 적절한 인력 배치</a:t>
            </a:r>
            <a:r>
              <a:rPr sz="1350" dirty="0">
                <a:solidFill>
                  <a:srgbClr val="374050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374050"/>
                </a:solidFill>
                <a:latin typeface="Malgun Gothic"/>
                <a:cs typeface="Malgun Gothic"/>
              </a:rPr>
              <a:t>그리고 정부 지원 프로그램의 활용로 인한 초기 투자 감소 등 다양한 요소의 결합에 의존 합니다</a:t>
            </a:r>
            <a:r>
              <a:rPr sz="1350" dirty="0">
                <a:solidFill>
                  <a:srgbClr val="374050"/>
                </a:solidFill>
                <a:latin typeface="Microsoft Sans Serif"/>
                <a:cs typeface="Microsoft Sans Serif"/>
              </a:rPr>
              <a:t>.</a:t>
            </a:r>
            <a:endParaRPr sz="1350">
              <a:latin typeface="Microsoft Sans Serif"/>
              <a:cs typeface="Microsoft Sans Serif"/>
            </a:endParaRPr>
          </a:p>
        </p:txBody>
      </p:sp>
      <p:pic>
        <p:nvPicPr>
          <p:cNvPr id="61" name="object 26">
            <a:extLst>
              <a:ext uri="{FF2B5EF4-FFF2-40B4-BE49-F238E27FC236}">
                <a16:creationId xmlns:a16="http://schemas.microsoft.com/office/drawing/2014/main" id="{3F9190C1-2CB2-6406-72C2-C5CB9D29944B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06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1C1A874-15F3-E77B-2757-336B6FF5B4B3}"/>
              </a:ext>
            </a:extLst>
          </p:cNvPr>
          <p:cNvSpPr txBox="1">
            <a:spLocks/>
          </p:cNvSpPr>
          <p:nvPr/>
        </p:nvSpPr>
        <p:spPr>
          <a:xfrm>
            <a:off x="375563" y="387754"/>
            <a:ext cx="12413693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00000"/>
              </a:lnSpc>
              <a:spcBef>
                <a:spcPts val="110"/>
              </a:spcBef>
              <a:defRPr sz="2800" b="0" i="0">
                <a:solidFill>
                  <a:srgbClr val="1F2937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dirty="0"/>
              <a:t>결론 </a:t>
            </a:r>
            <a:r>
              <a:rPr lang="en-US" altLang="ko-KR" dirty="0"/>
              <a:t>-</a:t>
            </a:r>
            <a:r>
              <a:rPr lang="ko-KR" altLang="en-US" dirty="0"/>
              <a:t> 미래 제조 경쟁력의 시작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5E65792-9FA1-A22C-9818-4B7EB25687C4}"/>
              </a:ext>
            </a:extLst>
          </p:cNvPr>
          <p:cNvSpPr/>
          <p:nvPr/>
        </p:nvSpPr>
        <p:spPr>
          <a:xfrm>
            <a:off x="457204" y="1094568"/>
            <a:ext cx="6486525" cy="3009900"/>
          </a:xfrm>
          <a:custGeom>
            <a:avLst/>
            <a:gdLst/>
            <a:ahLst/>
            <a:cxnLst/>
            <a:rect l="l" t="t" r="r" b="b"/>
            <a:pathLst>
              <a:path w="6486525" h="3009900">
                <a:moveTo>
                  <a:pt x="6415327" y="3009899"/>
                </a:moveTo>
                <a:lnTo>
                  <a:pt x="71196" y="3009899"/>
                </a:lnTo>
                <a:lnTo>
                  <a:pt x="66241" y="3009411"/>
                </a:lnTo>
                <a:lnTo>
                  <a:pt x="29705" y="2994277"/>
                </a:lnTo>
                <a:lnTo>
                  <a:pt x="3885" y="2958237"/>
                </a:lnTo>
                <a:lnTo>
                  <a:pt x="0" y="2938702"/>
                </a:lnTo>
                <a:lnTo>
                  <a:pt x="0" y="29336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6415327" y="0"/>
                </a:lnTo>
                <a:lnTo>
                  <a:pt x="6456818" y="15621"/>
                </a:lnTo>
                <a:lnTo>
                  <a:pt x="6482637" y="51661"/>
                </a:lnTo>
                <a:lnTo>
                  <a:pt x="6486523" y="71196"/>
                </a:lnTo>
                <a:lnTo>
                  <a:pt x="6486523" y="2938702"/>
                </a:lnTo>
                <a:lnTo>
                  <a:pt x="6470901" y="2980194"/>
                </a:lnTo>
                <a:lnTo>
                  <a:pt x="6434861" y="3006013"/>
                </a:lnTo>
                <a:lnTo>
                  <a:pt x="6420282" y="3009411"/>
                </a:lnTo>
                <a:lnTo>
                  <a:pt x="6415327" y="3009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E1AD381A-DDA5-D3A6-A807-B7CC3220015C}"/>
              </a:ext>
            </a:extLst>
          </p:cNvPr>
          <p:cNvGrpSpPr/>
          <p:nvPr/>
        </p:nvGrpSpPr>
        <p:grpSpPr>
          <a:xfrm>
            <a:off x="457204" y="4883295"/>
            <a:ext cx="6486525" cy="838201"/>
            <a:chOff x="457199" y="4381499"/>
            <a:chExt cx="6486525" cy="83820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DB42832-36DE-26D0-0784-BC137F709E2B}"/>
                </a:ext>
              </a:extLst>
            </p:cNvPr>
            <p:cNvSpPr/>
            <p:nvPr/>
          </p:nvSpPr>
          <p:spPr>
            <a:xfrm>
              <a:off x="485774" y="4040822"/>
              <a:ext cx="6457950" cy="838200"/>
            </a:xfrm>
            <a:custGeom>
              <a:avLst/>
              <a:gdLst/>
              <a:ahLst/>
              <a:cxnLst/>
              <a:rect l="l" t="t" r="r" b="b"/>
              <a:pathLst>
                <a:path w="6457950" h="838200">
                  <a:moveTo>
                    <a:pt x="0" y="838199"/>
                  </a:moveTo>
                  <a:lnTo>
                    <a:pt x="6457949" y="838199"/>
                  </a:lnTo>
                  <a:lnTo>
                    <a:pt x="6457949" y="0"/>
                  </a:lnTo>
                  <a:lnTo>
                    <a:pt x="0" y="0"/>
                  </a:lnTo>
                  <a:lnTo>
                    <a:pt x="0" y="838199"/>
                  </a:lnTo>
                  <a:close/>
                </a:path>
              </a:pathLst>
            </a:custGeom>
            <a:solidFill>
              <a:srgbClr val="FF6E4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E63237D-AF9F-9BEB-C584-55033B1720CF}"/>
                </a:ext>
              </a:extLst>
            </p:cNvPr>
            <p:cNvSpPr/>
            <p:nvPr/>
          </p:nvSpPr>
          <p:spPr>
            <a:xfrm>
              <a:off x="457199" y="4040822"/>
              <a:ext cx="28575" cy="838200"/>
            </a:xfrm>
            <a:custGeom>
              <a:avLst/>
              <a:gdLst/>
              <a:ahLst/>
              <a:cxnLst/>
              <a:rect l="l" t="t" r="r" b="b"/>
              <a:pathLst>
                <a:path w="28575" h="838200">
                  <a:moveTo>
                    <a:pt x="28574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838199"/>
                  </a:lnTo>
                  <a:close/>
                </a:path>
              </a:pathLst>
            </a:custGeom>
            <a:solidFill>
              <a:srgbClr val="FF6E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CB18D825-458C-9F72-075D-ACFB2C3AA51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4" y="4307522"/>
              <a:ext cx="228599" cy="304799"/>
            </a:xfrm>
            <a:prstGeom prst="rect">
              <a:avLst/>
            </a:prstGeom>
          </p:spPr>
        </p:pic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DDEB4D5E-3505-4D5F-9B71-FBB0C6F211F0}"/>
              </a:ext>
            </a:extLst>
          </p:cNvPr>
          <p:cNvSpPr txBox="1"/>
          <p:nvPr/>
        </p:nvSpPr>
        <p:spPr>
          <a:xfrm>
            <a:off x="673103" y="1304759"/>
            <a:ext cx="4965065" cy="273794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50" b="1" dirty="0">
                <a:solidFill>
                  <a:srgbClr val="374050"/>
                </a:solidFill>
                <a:latin typeface="Calibri"/>
                <a:cs typeface="Calibri"/>
              </a:rPr>
              <a:t>AI </a:t>
            </a: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트랜스폼</a:t>
            </a:r>
            <a:r>
              <a:rPr sz="1650" b="1" dirty="0">
                <a:solidFill>
                  <a:srgbClr val="374050"/>
                </a:solidFill>
                <a:latin typeface="Calibri"/>
                <a:cs typeface="Calibri"/>
              </a:rPr>
              <a:t>: </a:t>
            </a:r>
            <a:r>
              <a:rPr sz="1700" b="1" dirty="0">
                <a:solidFill>
                  <a:srgbClr val="374050"/>
                </a:solidFill>
                <a:latin typeface="Malgun Gothic"/>
                <a:cs typeface="Malgun Gothic"/>
              </a:rPr>
              <a:t>전략적 투자而非 단순 기술 도입</a:t>
            </a:r>
            <a:endParaRPr sz="1700" dirty="0">
              <a:latin typeface="Malgun Gothic"/>
              <a:cs typeface="Malgun Gothic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BAE592B1-F2C6-8B79-38E2-1BAAD4365CB7}"/>
              </a:ext>
            </a:extLst>
          </p:cNvPr>
          <p:cNvGrpSpPr/>
          <p:nvPr/>
        </p:nvGrpSpPr>
        <p:grpSpPr>
          <a:xfrm>
            <a:off x="685798" y="2082946"/>
            <a:ext cx="571501" cy="2133600"/>
            <a:chOff x="685799" y="1790699"/>
            <a:chExt cx="571500" cy="213360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C777CF65-55F8-8017-D243-82ED4D337978}"/>
                </a:ext>
              </a:extLst>
            </p:cNvPr>
            <p:cNvSpPr/>
            <p:nvPr/>
          </p:nvSpPr>
          <p:spPr>
            <a:xfrm>
              <a:off x="685799" y="1450022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5"/>
                  </a:lnTo>
                  <a:lnTo>
                    <a:pt x="126995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1"/>
                  </a:lnTo>
                  <a:lnTo>
                    <a:pt x="455971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0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F6E4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55A6FA8F-D7FA-FA35-7032-2104DFF0C20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5824" y="1583372"/>
              <a:ext cx="171449" cy="304799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5723FE25-124E-714E-05BD-39659E6410A1}"/>
                </a:ext>
              </a:extLst>
            </p:cNvPr>
            <p:cNvSpPr/>
            <p:nvPr/>
          </p:nvSpPr>
          <p:spPr>
            <a:xfrm>
              <a:off x="685799" y="2288222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2"/>
                  </a:lnTo>
                  <a:lnTo>
                    <a:pt x="93851" y="497477"/>
                  </a:lnTo>
                  <a:lnTo>
                    <a:pt x="64862" y="467028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F6E4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308CA80B-65AE-BF82-852C-416A7E94621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674" y="2421572"/>
              <a:ext cx="285749" cy="304799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6587DBA-42DE-5A06-D7BA-2A2CE4D8BC16}"/>
                </a:ext>
              </a:extLst>
            </p:cNvPr>
            <p:cNvSpPr/>
            <p:nvPr/>
          </p:nvSpPr>
          <p:spPr>
            <a:xfrm>
              <a:off x="685799" y="3012122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2"/>
                  </a:lnTo>
                  <a:lnTo>
                    <a:pt x="93851" y="497477"/>
                  </a:lnTo>
                  <a:lnTo>
                    <a:pt x="64862" y="467028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4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1"/>
                  </a:lnTo>
                  <a:lnTo>
                    <a:pt x="455971" y="56233"/>
                  </a:lnTo>
                  <a:lnTo>
                    <a:pt x="487805" y="83694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F6E4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7E42E424-F2BF-CA21-81C5-461D5E2BE6C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7249" y="3145472"/>
              <a:ext cx="228599" cy="304799"/>
            </a:xfrm>
            <a:prstGeom prst="rect">
              <a:avLst/>
            </a:prstGeom>
          </p:spPr>
        </p:pic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6ADC2C18-B3FC-4D0D-A820-564C98FF4EE4}"/>
              </a:ext>
            </a:extLst>
          </p:cNvPr>
          <p:cNvSpPr txBox="1"/>
          <p:nvPr/>
        </p:nvSpPr>
        <p:spPr>
          <a:xfrm>
            <a:off x="1397000" y="1706237"/>
            <a:ext cx="5185410" cy="69916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 marR="5080" algn="just">
              <a:lnSpc>
                <a:spcPct val="107100"/>
              </a:lnSpc>
              <a:spcBef>
                <a:spcPts val="136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본 보고서가 제시하는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2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년 로드맵은 대덕전자가 직면한 도전과제를 극복하고 미래 제조 산업에서의 초격차 경쟁력을 확보하기 위한 현실적이고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구체적인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 </a:t>
            </a:r>
            <a:r>
              <a:rPr sz="1350" dirty="0" err="1">
                <a:solidFill>
                  <a:srgbClr val="4A5462"/>
                </a:solidFill>
                <a:latin typeface="Malgun Gothic"/>
                <a:cs typeface="Malgun Gothic"/>
              </a:rPr>
              <a:t>청사진입니다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.</a:t>
            </a:r>
            <a:endParaRPr sz="1451" dirty="0">
              <a:latin typeface="Microsoft Sans Serif"/>
              <a:cs typeface="Microsoft Sans Serif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B6825B8-9F87-362C-D16E-E12F99067949}"/>
              </a:ext>
            </a:extLst>
          </p:cNvPr>
          <p:cNvSpPr txBox="1"/>
          <p:nvPr/>
        </p:nvSpPr>
        <p:spPr>
          <a:xfrm>
            <a:off x="1397004" y="2565437"/>
            <a:ext cx="4965065" cy="678263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3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이것은 단순한 기술 도입을 넘어 데이터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지식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인력이 유기적으로 연동되는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AI- Augmented Manufacturing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미래 비전을 실현하기 위한 전략적 투자입니다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.</a:t>
            </a:r>
            <a:endParaRPr sz="1451">
              <a:latin typeface="Microsoft Sans Serif"/>
              <a:cs typeface="Microsoft Sans Serif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398F5C3-CDA7-212F-E1A9-0E0F544E57DA}"/>
              </a:ext>
            </a:extLst>
          </p:cNvPr>
          <p:cNvSpPr txBox="1"/>
          <p:nvPr/>
        </p:nvSpPr>
        <p:spPr>
          <a:xfrm>
            <a:off x="1397005" y="3289338"/>
            <a:ext cx="5271134" cy="66229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35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지능형 품질관리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기반 지식관리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,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디지털 트윈 세 가지 핵심 영역의 오픈소스 기술 을 통해 기존 제조 패러다임을 혁신하고 새로운 비즈니스 가치를 창출합니다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.</a:t>
            </a:r>
            <a:endParaRPr sz="1451">
              <a:latin typeface="Microsoft Sans Serif"/>
              <a:cs typeface="Microsoft Sans Serif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23015A1-4B2B-3796-A687-C3FDE0CEC271}"/>
              </a:ext>
            </a:extLst>
          </p:cNvPr>
          <p:cNvSpPr txBox="1"/>
          <p:nvPr/>
        </p:nvSpPr>
        <p:spPr>
          <a:xfrm>
            <a:off x="485775" y="4707236"/>
            <a:ext cx="6457950" cy="453587"/>
          </a:xfrm>
          <a:prstGeom prst="rect">
            <a:avLst/>
          </a:prstGeom>
        </p:spPr>
        <p:txBody>
          <a:bodyPr vert="horz" wrap="square" lIns="0" tIns="12066" rIns="0" bIns="0" rtlCol="0">
            <a:spAutoFit/>
          </a:bodyPr>
          <a:lstStyle/>
          <a:p>
            <a:pPr marL="532715" marR="290169">
              <a:lnSpc>
                <a:spcPct val="111100"/>
              </a:lnSpc>
              <a:spcBef>
                <a:spcPts val="95"/>
              </a:spcBef>
            </a:pP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대덕전자는 이 로드맵을 체계적으로 실행함으로써 제조 패러다임의 선두 주자로도약할 수 있습니다</a:t>
            </a:r>
            <a:r>
              <a:rPr sz="1300" b="1" dirty="0">
                <a:solidFill>
                  <a:srgbClr val="374050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7A0B348C-0EFB-2D86-4584-A84692CF2AC6}"/>
              </a:ext>
            </a:extLst>
          </p:cNvPr>
          <p:cNvSpPr/>
          <p:nvPr/>
        </p:nvSpPr>
        <p:spPr>
          <a:xfrm>
            <a:off x="7172333" y="1304120"/>
            <a:ext cx="4562474" cy="4076700"/>
          </a:xfrm>
          <a:custGeom>
            <a:avLst/>
            <a:gdLst/>
            <a:ahLst/>
            <a:cxnLst/>
            <a:rect l="l" t="t" r="r" b="b"/>
            <a:pathLst>
              <a:path w="4562475" h="4076700">
                <a:moveTo>
                  <a:pt x="4491278" y="4076699"/>
                </a:moveTo>
                <a:lnTo>
                  <a:pt x="71196" y="4076699"/>
                </a:lnTo>
                <a:lnTo>
                  <a:pt x="66241" y="4076211"/>
                </a:lnTo>
                <a:lnTo>
                  <a:pt x="29705" y="4061077"/>
                </a:lnTo>
                <a:lnTo>
                  <a:pt x="3885" y="4025037"/>
                </a:lnTo>
                <a:lnTo>
                  <a:pt x="0" y="4005503"/>
                </a:lnTo>
                <a:lnTo>
                  <a:pt x="0" y="40004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4491278" y="0"/>
                </a:lnTo>
                <a:lnTo>
                  <a:pt x="4532767" y="15621"/>
                </a:lnTo>
                <a:lnTo>
                  <a:pt x="4558588" y="51661"/>
                </a:lnTo>
                <a:lnTo>
                  <a:pt x="4562475" y="71196"/>
                </a:lnTo>
                <a:lnTo>
                  <a:pt x="4562475" y="4005503"/>
                </a:lnTo>
                <a:lnTo>
                  <a:pt x="4546851" y="4046993"/>
                </a:lnTo>
                <a:lnTo>
                  <a:pt x="4510812" y="4072813"/>
                </a:lnTo>
                <a:lnTo>
                  <a:pt x="4496233" y="4076211"/>
                </a:lnTo>
                <a:lnTo>
                  <a:pt x="4491278" y="40766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9092A452-536C-E171-97E9-6E8087F684E8}"/>
              </a:ext>
            </a:extLst>
          </p:cNvPr>
          <p:cNvSpPr txBox="1"/>
          <p:nvPr/>
        </p:nvSpPr>
        <p:spPr>
          <a:xfrm>
            <a:off x="7384952" y="1535832"/>
            <a:ext cx="3030287" cy="2467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99" b="1" dirty="0">
                <a:solidFill>
                  <a:srgbClr val="374050"/>
                </a:solidFill>
                <a:latin typeface="Malgun Gothic"/>
                <a:cs typeface="Malgun Gothic"/>
              </a:rPr>
              <a:t>미래 제조 경쟁력의 시작</a:t>
            </a:r>
            <a:endParaRPr sz="1499" dirty="0">
              <a:latin typeface="Malgun Gothic"/>
              <a:cs typeface="Malgun Gothic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CED51DC5-1ADD-F95C-8F21-450C4B6E8518}"/>
              </a:ext>
            </a:extLst>
          </p:cNvPr>
          <p:cNvGrpSpPr/>
          <p:nvPr/>
        </p:nvGrpSpPr>
        <p:grpSpPr>
          <a:xfrm>
            <a:off x="7400926" y="2292504"/>
            <a:ext cx="381000" cy="2390775"/>
            <a:chOff x="7400924" y="1790699"/>
            <a:chExt cx="381000" cy="2390775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1C87ED98-79F1-2A03-23F1-1F644A8966E4}"/>
                </a:ext>
              </a:extLst>
            </p:cNvPr>
            <p:cNvSpPr/>
            <p:nvPr/>
          </p:nvSpPr>
          <p:spPr>
            <a:xfrm>
              <a:off x="7400924" y="14500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9"/>
                  </a:lnTo>
                  <a:lnTo>
                    <a:pt x="100697" y="358507"/>
                  </a:lnTo>
                  <a:lnTo>
                    <a:pt x="62574" y="331659"/>
                  </a:lnTo>
                  <a:lnTo>
                    <a:pt x="32103" y="296335"/>
                  </a:lnTo>
                  <a:lnTo>
                    <a:pt x="11129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4" y="92572"/>
                  </a:lnTo>
                  <a:lnTo>
                    <a:pt x="55795" y="55796"/>
                  </a:lnTo>
                  <a:lnTo>
                    <a:pt x="92571" y="27095"/>
                  </a:lnTo>
                  <a:lnTo>
                    <a:pt x="135198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98B8F5B7-72A5-05D2-8D7B-795274C20D9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91424" y="1573847"/>
              <a:ext cx="19049" cy="133349"/>
            </a:xfrm>
            <a:prstGeom prst="rect">
              <a:avLst/>
            </a:prstGeom>
          </p:spPr>
        </p:pic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6CDFFD5A-B4B5-C4F0-B77F-DBBCEBF60651}"/>
                </a:ext>
              </a:extLst>
            </p:cNvPr>
            <p:cNvSpPr/>
            <p:nvPr/>
          </p:nvSpPr>
          <p:spPr>
            <a:xfrm>
              <a:off x="7400924" y="19834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8"/>
                  </a:lnTo>
                  <a:lnTo>
                    <a:pt x="100697" y="358507"/>
                  </a:lnTo>
                  <a:lnTo>
                    <a:pt x="62574" y="331659"/>
                  </a:lnTo>
                  <a:lnTo>
                    <a:pt x="32103" y="296335"/>
                  </a:lnTo>
                  <a:lnTo>
                    <a:pt x="11129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4" y="92572"/>
                  </a:lnTo>
                  <a:lnTo>
                    <a:pt x="55795" y="55796"/>
                  </a:lnTo>
                  <a:lnTo>
                    <a:pt x="92571" y="27095"/>
                  </a:lnTo>
                  <a:lnTo>
                    <a:pt x="135198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2E5EFA4A-83A4-5FF4-2C12-D805B9213175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799" y="2097722"/>
              <a:ext cx="104774" cy="152399"/>
            </a:xfrm>
            <a:prstGeom prst="rect">
              <a:avLst/>
            </a:prstGeom>
          </p:spPr>
        </p:pic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6B6CCAF0-B99F-DE3B-5D85-E3AC7E888244}"/>
                </a:ext>
              </a:extLst>
            </p:cNvPr>
            <p:cNvSpPr/>
            <p:nvPr/>
          </p:nvSpPr>
          <p:spPr>
            <a:xfrm>
              <a:off x="7400924" y="25168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9"/>
                  </a:lnTo>
                  <a:lnTo>
                    <a:pt x="100697" y="358507"/>
                  </a:lnTo>
                  <a:lnTo>
                    <a:pt x="62574" y="331659"/>
                  </a:lnTo>
                  <a:lnTo>
                    <a:pt x="32103" y="296335"/>
                  </a:lnTo>
                  <a:lnTo>
                    <a:pt x="11129" y="254667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4" y="92572"/>
                  </a:lnTo>
                  <a:lnTo>
                    <a:pt x="55795" y="55796"/>
                  </a:lnTo>
                  <a:lnTo>
                    <a:pt x="92571" y="27095"/>
                  </a:lnTo>
                  <a:lnTo>
                    <a:pt x="135198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>
              <a:extLst>
                <a:ext uri="{FF2B5EF4-FFF2-40B4-BE49-F238E27FC236}">
                  <a16:creationId xmlns:a16="http://schemas.microsoft.com/office/drawing/2014/main" id="{F8563A99-3C84-68CB-53CB-356277B1C10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24749" y="2631122"/>
              <a:ext cx="142874" cy="152399"/>
            </a:xfrm>
            <a:prstGeom prst="rect">
              <a:avLst/>
            </a:prstGeom>
          </p:spPr>
        </p:pic>
        <p:pic>
          <p:nvPicPr>
            <p:cNvPr id="30" name="object 30">
              <a:extLst>
                <a:ext uri="{FF2B5EF4-FFF2-40B4-BE49-F238E27FC236}">
                  <a16:creationId xmlns:a16="http://schemas.microsoft.com/office/drawing/2014/main" id="{87757109-B663-55E4-653A-12F27C35D9B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3799" y="3707447"/>
              <a:ext cx="123824" cy="133349"/>
            </a:xfrm>
            <a:prstGeom prst="rect">
              <a:avLst/>
            </a:prstGeom>
          </p:spPr>
        </p:pic>
      </p:grpSp>
      <p:sp>
        <p:nvSpPr>
          <p:cNvPr id="31" name="object 31">
            <a:extLst>
              <a:ext uri="{FF2B5EF4-FFF2-40B4-BE49-F238E27FC236}">
                <a16:creationId xmlns:a16="http://schemas.microsoft.com/office/drawing/2014/main" id="{B73FE968-C157-795A-D126-ECECBB089837}"/>
              </a:ext>
            </a:extLst>
          </p:cNvPr>
          <p:cNvSpPr txBox="1"/>
          <p:nvPr/>
        </p:nvSpPr>
        <p:spPr>
          <a:xfrm>
            <a:off x="7880252" y="2024083"/>
            <a:ext cx="1932821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도전과제 극복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61EEF511-A392-A175-F1AB-EFC0DF7114FB}"/>
              </a:ext>
            </a:extLst>
          </p:cNvPr>
          <p:cNvSpPr txBox="1"/>
          <p:nvPr/>
        </p:nvSpPr>
        <p:spPr>
          <a:xfrm>
            <a:off x="7880256" y="2557484"/>
            <a:ext cx="1464466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전략적 접근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D7E7B179-3623-A3AE-52E1-4F29AF0C5D8C}"/>
              </a:ext>
            </a:extLst>
          </p:cNvPr>
          <p:cNvSpPr txBox="1"/>
          <p:nvPr/>
        </p:nvSpPr>
        <p:spPr>
          <a:xfrm>
            <a:off x="7880252" y="3090884"/>
            <a:ext cx="1531377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시스템적 구축</a:t>
            </a:r>
            <a:endParaRPr sz="1350" dirty="0">
              <a:latin typeface="Malgun Gothic"/>
              <a:cs typeface="Malgun Gothic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9B90A322-573D-34A1-31D0-3755BC394B46}"/>
              </a:ext>
            </a:extLst>
          </p:cNvPr>
          <p:cNvSpPr txBox="1"/>
          <p:nvPr/>
        </p:nvSpPr>
        <p:spPr>
          <a:xfrm>
            <a:off x="7461159" y="4369709"/>
            <a:ext cx="695958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오늘</a:t>
            </a:r>
            <a:endParaRPr sz="1149" dirty="0">
              <a:latin typeface="Malgun Gothic"/>
              <a:cs typeface="Malgun Gothic"/>
            </a:endParaRPr>
          </a:p>
        </p:txBody>
      </p:sp>
      <p:pic>
        <p:nvPicPr>
          <p:cNvPr id="35" name="object 35">
            <a:extLst>
              <a:ext uri="{FF2B5EF4-FFF2-40B4-BE49-F238E27FC236}">
                <a16:creationId xmlns:a16="http://schemas.microsoft.com/office/drawing/2014/main" id="{D52E1EFD-606B-D2CD-7761-9AA3B5CD4846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743960" y="4218768"/>
            <a:ext cx="133348" cy="123825"/>
          </a:xfrm>
          <a:prstGeom prst="rect">
            <a:avLst/>
          </a:prstGeom>
        </p:spPr>
      </p:pic>
      <p:sp>
        <p:nvSpPr>
          <p:cNvPr id="36" name="object 36">
            <a:extLst>
              <a:ext uri="{FF2B5EF4-FFF2-40B4-BE49-F238E27FC236}">
                <a16:creationId xmlns:a16="http://schemas.microsoft.com/office/drawing/2014/main" id="{FA388FE6-7270-1BFF-2297-503E60A2CE8D}"/>
              </a:ext>
            </a:extLst>
          </p:cNvPr>
          <p:cNvSpPr txBox="1"/>
          <p:nvPr/>
        </p:nvSpPr>
        <p:spPr>
          <a:xfrm>
            <a:off x="8636901" y="4369711"/>
            <a:ext cx="618611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rgbClr val="4A5462"/>
                </a:solidFill>
                <a:latin typeface="Arial"/>
                <a:cs typeface="Arial"/>
              </a:rPr>
              <a:t>6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endParaRPr sz="1149" dirty="0">
              <a:latin typeface="Malgun Gothic"/>
              <a:cs typeface="Malgun Gothic"/>
            </a:endParaRPr>
          </a:p>
        </p:txBody>
      </p:sp>
      <p:pic>
        <p:nvPicPr>
          <p:cNvPr id="37" name="object 37">
            <a:extLst>
              <a:ext uri="{FF2B5EF4-FFF2-40B4-BE49-F238E27FC236}">
                <a16:creationId xmlns:a16="http://schemas.microsoft.com/office/drawing/2014/main" id="{85490865-B1E5-2D08-7DD6-6A7328B26F1C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048879" y="4218768"/>
            <a:ext cx="133348" cy="123825"/>
          </a:xfrm>
          <a:prstGeom prst="rect">
            <a:avLst/>
          </a:prstGeom>
        </p:spPr>
      </p:pic>
      <p:sp>
        <p:nvSpPr>
          <p:cNvPr id="38" name="object 38">
            <a:extLst>
              <a:ext uri="{FF2B5EF4-FFF2-40B4-BE49-F238E27FC236}">
                <a16:creationId xmlns:a16="http://schemas.microsoft.com/office/drawing/2014/main" id="{40DE8077-7B91-D081-1DDB-82124ECB47DD}"/>
              </a:ext>
            </a:extLst>
          </p:cNvPr>
          <p:cNvSpPr txBox="1"/>
          <p:nvPr/>
        </p:nvSpPr>
        <p:spPr>
          <a:xfrm>
            <a:off x="9888839" y="4369708"/>
            <a:ext cx="618611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rgbClr val="4A5462"/>
                </a:solidFill>
                <a:latin typeface="Arial"/>
                <a:cs typeface="Arial"/>
              </a:rPr>
              <a:t>18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개월</a:t>
            </a:r>
            <a:endParaRPr sz="1149" dirty="0">
              <a:latin typeface="Malgun Gothic"/>
              <a:cs typeface="Malgun Gothic"/>
            </a:endParaRPr>
          </a:p>
        </p:txBody>
      </p:sp>
      <p:pic>
        <p:nvPicPr>
          <p:cNvPr id="39" name="object 39">
            <a:extLst>
              <a:ext uri="{FF2B5EF4-FFF2-40B4-BE49-F238E27FC236}">
                <a16:creationId xmlns:a16="http://schemas.microsoft.com/office/drawing/2014/main" id="{45950986-EE9D-C41E-5371-77BED613DDC6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258550" y="4218768"/>
            <a:ext cx="142873" cy="123825"/>
          </a:xfrm>
          <a:prstGeom prst="rect">
            <a:avLst/>
          </a:prstGeom>
        </p:spPr>
      </p:pic>
      <p:sp>
        <p:nvSpPr>
          <p:cNvPr id="40" name="object 40">
            <a:extLst>
              <a:ext uri="{FF2B5EF4-FFF2-40B4-BE49-F238E27FC236}">
                <a16:creationId xmlns:a16="http://schemas.microsoft.com/office/drawing/2014/main" id="{2244CB24-9A86-0C5C-D650-AE8D230E6613}"/>
              </a:ext>
            </a:extLst>
          </p:cNvPr>
          <p:cNvSpPr txBox="1"/>
          <p:nvPr/>
        </p:nvSpPr>
        <p:spPr>
          <a:xfrm>
            <a:off x="11216975" y="4369709"/>
            <a:ext cx="489246" cy="194157"/>
          </a:xfrm>
          <a:prstGeom prst="rect">
            <a:avLst/>
          </a:prstGeom>
        </p:spPr>
        <p:txBody>
          <a:bodyPr vert="horz" wrap="square" lIns="0" tIns="17146" rIns="0" bIns="0" rtlCol="0">
            <a:spAutoFit/>
          </a:bodyPr>
          <a:lstStyle/>
          <a:p>
            <a:pPr marL="12700">
              <a:spcBef>
                <a:spcPts val="136"/>
              </a:spcBef>
            </a:pPr>
            <a:r>
              <a:rPr sz="1149" dirty="0">
                <a:solidFill>
                  <a:srgbClr val="4A5462"/>
                </a:solidFill>
                <a:latin typeface="Arial"/>
                <a:cs typeface="Arial"/>
              </a:rPr>
              <a:t>2</a:t>
            </a:r>
            <a:r>
              <a:rPr sz="1149" dirty="0">
                <a:solidFill>
                  <a:srgbClr val="4A5462"/>
                </a:solidFill>
                <a:latin typeface="Malgun Gothic"/>
                <a:cs typeface="Malgun Gothic"/>
              </a:rPr>
              <a:t>년</a:t>
            </a:r>
            <a:endParaRPr sz="1149" dirty="0">
              <a:latin typeface="Malgun Gothic"/>
              <a:cs typeface="Malgun Gothic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47922073-2EF5-1E74-01D5-71F3D96AF03C}"/>
              </a:ext>
            </a:extLst>
          </p:cNvPr>
          <p:cNvSpPr txBox="1"/>
          <p:nvPr/>
        </p:nvSpPr>
        <p:spPr>
          <a:xfrm>
            <a:off x="7562651" y="4919683"/>
            <a:ext cx="4172160" cy="22121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spcBef>
                <a:spcPts val="104"/>
              </a:spcBef>
            </a:pPr>
            <a:r>
              <a:rPr sz="1300" b="1" dirty="0">
                <a:solidFill>
                  <a:srgbClr val="374050"/>
                </a:solidFill>
                <a:latin typeface="Arial"/>
                <a:cs typeface="Arial"/>
              </a:rPr>
              <a:t>"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데이터 중심의 조직 문화 구축으로 </a:t>
            </a:r>
            <a:r>
              <a:rPr sz="1300" b="1" dirty="0">
                <a:solidFill>
                  <a:srgbClr val="374050"/>
                </a:solidFill>
                <a:latin typeface="Arial"/>
                <a:cs typeface="Arial"/>
              </a:rPr>
              <a:t>AI </a:t>
            </a:r>
            <a:r>
              <a:rPr sz="1350" b="1" dirty="0">
                <a:solidFill>
                  <a:srgbClr val="374050"/>
                </a:solidFill>
                <a:latin typeface="Malgun Gothic"/>
                <a:cs typeface="Malgun Gothic"/>
              </a:rPr>
              <a:t>가치 극대화</a:t>
            </a:r>
            <a:r>
              <a:rPr sz="1300" b="1" dirty="0">
                <a:solidFill>
                  <a:srgbClr val="374050"/>
                </a:solidFill>
                <a:latin typeface="Arial"/>
                <a:cs typeface="Arial"/>
              </a:rPr>
              <a:t>"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3DF39035-1365-9154-139C-206C0405312A}"/>
              </a:ext>
            </a:extLst>
          </p:cNvPr>
          <p:cNvSpPr/>
          <p:nvPr/>
        </p:nvSpPr>
        <p:spPr>
          <a:xfrm>
            <a:off x="457199" y="5609418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38099" y="304799"/>
                </a:moveTo>
                <a:lnTo>
                  <a:pt x="0" y="304799"/>
                </a:lnTo>
                <a:lnTo>
                  <a:pt x="0" y="0"/>
                </a:lnTo>
                <a:lnTo>
                  <a:pt x="38099" y="0"/>
                </a:lnTo>
                <a:lnTo>
                  <a:pt x="38099" y="304799"/>
                </a:lnTo>
                <a:close/>
              </a:path>
            </a:pathLst>
          </a:custGeom>
          <a:solidFill>
            <a:srgbClr val="F973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B32F32A5-70C9-06DE-BAF0-8BFBF0890668}"/>
              </a:ext>
            </a:extLst>
          </p:cNvPr>
          <p:cNvSpPr txBox="1"/>
          <p:nvPr/>
        </p:nvSpPr>
        <p:spPr>
          <a:xfrm>
            <a:off x="596899" y="5632482"/>
            <a:ext cx="3306028" cy="2348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89"/>
              </a:spcBef>
            </a:pP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대덕전자 </a:t>
            </a:r>
            <a:r>
              <a:rPr sz="1451" dirty="0">
                <a:solidFill>
                  <a:srgbClr val="4A5462"/>
                </a:solidFill>
                <a:latin typeface="Microsoft Sans Serif"/>
                <a:cs typeface="Microsoft Sans Serif"/>
              </a:rPr>
              <a:t>AI </a:t>
            </a:r>
            <a:r>
              <a:rPr sz="1350" dirty="0">
                <a:solidFill>
                  <a:srgbClr val="4A5462"/>
                </a:solidFill>
                <a:latin typeface="Malgun Gothic"/>
                <a:cs typeface="Malgun Gothic"/>
              </a:rPr>
              <a:t>트랜스폼 실행 계획</a:t>
            </a:r>
            <a:endParaRPr sz="1350" dirty="0">
              <a:latin typeface="Malgun Gothic"/>
              <a:cs typeface="Malgun Gothic"/>
            </a:endParaRPr>
          </a:p>
        </p:txBody>
      </p:sp>
      <p:grpSp>
        <p:nvGrpSpPr>
          <p:cNvPr id="44" name="object 44">
            <a:extLst>
              <a:ext uri="{FF2B5EF4-FFF2-40B4-BE49-F238E27FC236}">
                <a16:creationId xmlns:a16="http://schemas.microsoft.com/office/drawing/2014/main" id="{03C4D29D-2757-DFC0-BCA3-750C336C9820}"/>
              </a:ext>
            </a:extLst>
          </p:cNvPr>
          <p:cNvGrpSpPr/>
          <p:nvPr/>
        </p:nvGrpSpPr>
        <p:grpSpPr>
          <a:xfrm>
            <a:off x="7343784" y="4064147"/>
            <a:ext cx="4219575" cy="114300"/>
            <a:chOff x="7343775" y="3562350"/>
            <a:chExt cx="4219575" cy="114300"/>
          </a:xfrm>
        </p:grpSpPr>
        <p:pic>
          <p:nvPicPr>
            <p:cNvPr id="45" name="object 45">
              <a:extLst>
                <a:ext uri="{FF2B5EF4-FFF2-40B4-BE49-F238E27FC236}">
                  <a16:creationId xmlns:a16="http://schemas.microsoft.com/office/drawing/2014/main" id="{87A0E59C-FF49-8E7E-F383-0B7465DE191C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00925" y="3250248"/>
              <a:ext cx="4105274" cy="57149"/>
            </a:xfrm>
            <a:prstGeom prst="rect">
              <a:avLst/>
            </a:prstGeom>
          </p:spPr>
        </p:pic>
        <p:pic>
          <p:nvPicPr>
            <p:cNvPr id="46" name="object 46">
              <a:extLst>
                <a:ext uri="{FF2B5EF4-FFF2-40B4-BE49-F238E27FC236}">
                  <a16:creationId xmlns:a16="http://schemas.microsoft.com/office/drawing/2014/main" id="{EBFA2C24-33FF-B841-0ADD-AD898AB38923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43775" y="3221673"/>
              <a:ext cx="114299" cy="114299"/>
            </a:xfrm>
            <a:prstGeom prst="rect">
              <a:avLst/>
            </a:prstGeom>
          </p:spPr>
        </p:pic>
        <p:pic>
          <p:nvPicPr>
            <p:cNvPr id="47" name="object 47">
              <a:extLst>
                <a:ext uri="{FF2B5EF4-FFF2-40B4-BE49-F238E27FC236}">
                  <a16:creationId xmlns:a16="http://schemas.microsoft.com/office/drawing/2014/main" id="{F5EB50F0-EC43-DA4C-5BA8-26204675BEB5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696324" y="3221673"/>
              <a:ext cx="114299" cy="114299"/>
            </a:xfrm>
            <a:prstGeom prst="rect">
              <a:avLst/>
            </a:prstGeom>
          </p:spPr>
        </p:pic>
        <p:pic>
          <p:nvPicPr>
            <p:cNvPr id="48" name="object 48">
              <a:extLst>
                <a:ext uri="{FF2B5EF4-FFF2-40B4-BE49-F238E27FC236}">
                  <a16:creationId xmlns:a16="http://schemas.microsoft.com/office/drawing/2014/main" id="{2BAE489D-E503-FB97-2DB5-85F5447A20D8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48874" y="3221673"/>
              <a:ext cx="114299" cy="114299"/>
            </a:xfrm>
            <a:prstGeom prst="rect">
              <a:avLst/>
            </a:prstGeom>
          </p:spPr>
        </p:pic>
        <p:pic>
          <p:nvPicPr>
            <p:cNvPr id="49" name="object 49">
              <a:extLst>
                <a:ext uri="{FF2B5EF4-FFF2-40B4-BE49-F238E27FC236}">
                  <a16:creationId xmlns:a16="http://schemas.microsoft.com/office/drawing/2014/main" id="{5BFB0589-1AFB-9921-9299-ADEFCE0BC7FE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449050" y="3221673"/>
              <a:ext cx="114299" cy="114299"/>
            </a:xfrm>
            <a:prstGeom prst="rect">
              <a:avLst/>
            </a:prstGeom>
          </p:spPr>
        </p:pic>
      </p:grpSp>
      <p:pic>
        <p:nvPicPr>
          <p:cNvPr id="50" name="object 26">
            <a:extLst>
              <a:ext uri="{FF2B5EF4-FFF2-40B4-BE49-F238E27FC236}">
                <a16:creationId xmlns:a16="http://schemas.microsoft.com/office/drawing/2014/main" id="{FB54D755-5961-212A-4875-BC46923FCA79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0857" y="921470"/>
            <a:ext cx="11429999" cy="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26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259</TotalTime>
  <Words>4395</Words>
  <Application>Microsoft Office PowerPoint</Application>
  <PresentationFormat>사용자 지정</PresentationFormat>
  <Paragraphs>564</Paragraphs>
  <Slides>26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45" baseType="lpstr">
      <vt:lpstr>맑은 고딕</vt:lpstr>
      <vt:lpstr>맑은 고딕</vt:lpstr>
      <vt:lpstr>Malgun Gothic Semilight</vt:lpstr>
      <vt:lpstr>Arial</vt:lpstr>
      <vt:lpstr>Arial Black</vt:lpstr>
      <vt:lpstr>Berlin Sans FB</vt:lpstr>
      <vt:lpstr>Calibri</vt:lpstr>
      <vt:lpstr>Calibri Light</vt:lpstr>
      <vt:lpstr>Cambria</vt:lpstr>
      <vt:lpstr>Centaur</vt:lpstr>
      <vt:lpstr>Comic Sans MS</vt:lpstr>
      <vt:lpstr>Franklin Gothic Demi</vt:lpstr>
      <vt:lpstr>Franklin Gothic Heavy</vt:lpstr>
      <vt:lpstr>Lucida Sans</vt:lpstr>
      <vt:lpstr>Microsoft Sans Serif</vt:lpstr>
      <vt:lpstr>Sitka Text</vt:lpstr>
      <vt:lpstr>Tahoma</vt:lpstr>
      <vt:lpstr>Trebuchet MS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taeyuong park</dc:creator>
  <cp:lastModifiedBy>taeyuong park</cp:lastModifiedBy>
  <cp:revision>14</cp:revision>
  <dcterms:created xsi:type="dcterms:W3CDTF">2025-08-22T10:21:48Z</dcterms:created>
  <dcterms:modified xsi:type="dcterms:W3CDTF">2025-08-27T00:28:43Z</dcterms:modified>
</cp:coreProperties>
</file>